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29495a7fe14b2b" /><Relationship Type="http://schemas.openxmlformats.org/officeDocument/2006/relationships/extended-properties" Target="/docProps/app.xml" Id="R261af728db5a42f3" /><Relationship Type="http://schemas.openxmlformats.org/officeDocument/2006/relationships/officeDocument" Target="/ppt/presentation.xml" Id="Rba5f7b067df940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842169d8ee4943"/>
  </p:sldMasterIdLst>
  <p:notesMasterIdLst>
    <p:notesMasterId xmlns:r="http://schemas.openxmlformats.org/officeDocument/2006/relationships" r:id="R9b018f65a54442b8"/>
  </p:notesMasterIdLst>
  <p:sldIdLst>
    <p:sldId xmlns:r="http://schemas.openxmlformats.org/officeDocument/2006/relationships" id="256" r:id="R8b42bf4a98b543f1"/>
    <p:sldId xmlns:r="http://schemas.openxmlformats.org/officeDocument/2006/relationships" id="257" r:id="Re49efc5e203b4740"/>
    <p:sldId xmlns:r="http://schemas.openxmlformats.org/officeDocument/2006/relationships" id="258" r:id="R64463284c9964c44"/>
    <p:sldId xmlns:r="http://schemas.openxmlformats.org/officeDocument/2006/relationships" id="259" r:id="Rc57b8803151f4c0c"/>
    <p:sldId xmlns:r="http://schemas.openxmlformats.org/officeDocument/2006/relationships" id="260" r:id="Reb887a90dd694ff7"/>
    <p:sldId xmlns:r="http://schemas.openxmlformats.org/officeDocument/2006/relationships" id="261" r:id="R7a621ab140704184"/>
    <p:sldId xmlns:r="http://schemas.openxmlformats.org/officeDocument/2006/relationships" id="262" r:id="R098fbf39bd644eeb"/>
    <p:sldId xmlns:r="http://schemas.openxmlformats.org/officeDocument/2006/relationships" id="263" r:id="R22d7ba04d0a546c1"/>
    <p:sldId xmlns:r="http://schemas.openxmlformats.org/officeDocument/2006/relationships" id="264" r:id="Re034b640a1e947ae"/>
    <p:sldId xmlns:r="http://schemas.openxmlformats.org/officeDocument/2006/relationships" id="265" r:id="Rf8fc7756a4154dde"/>
    <p:sldId xmlns:r="http://schemas.openxmlformats.org/officeDocument/2006/relationships" id="266" r:id="R58b1d91dd5c04264"/>
    <p:sldId xmlns:r="http://schemas.openxmlformats.org/officeDocument/2006/relationships" id="267" r:id="R99ebb815150542ce"/>
    <p:sldId xmlns:r="http://schemas.openxmlformats.org/officeDocument/2006/relationships" id="268" r:id="R45547934104b4b59"/>
    <p:sldId xmlns:r="http://schemas.openxmlformats.org/officeDocument/2006/relationships" id="269" r:id="Rcb074a2683e9458e"/>
    <p:sldId xmlns:r="http://schemas.openxmlformats.org/officeDocument/2006/relationships" id="270" r:id="Rfbca314365de45d9"/>
    <p:sldId xmlns:r="http://schemas.openxmlformats.org/officeDocument/2006/relationships" id="271" r:id="Rd5f8340cdfc643c8"/>
    <p:sldId xmlns:r="http://schemas.openxmlformats.org/officeDocument/2006/relationships" id="272" r:id="R65db84b9c4de4f18"/>
    <p:sldId xmlns:r="http://schemas.openxmlformats.org/officeDocument/2006/relationships" id="273" r:id="Rb4a27ca558604231"/>
    <p:sldId xmlns:r="http://schemas.openxmlformats.org/officeDocument/2006/relationships" id="274" r:id="Rfe50c08bc45449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984031aa904adf" /><Relationship Type="http://schemas.openxmlformats.org/officeDocument/2006/relationships/slideMaster" Target="/ppt/slideMasters/slideMaster1.xml" Id="R64842169d8ee4943" /><Relationship Type="http://schemas.openxmlformats.org/officeDocument/2006/relationships/notesMaster" Target="/ppt/notesMasters/notesMaster1.xml" Id="R9b018f65a54442b8" /><Relationship Type="http://schemas.openxmlformats.org/officeDocument/2006/relationships/presProps" Target="/ppt/presProps.xml" Id="R301e37f4654f4b74" /><Relationship Type="http://schemas.openxmlformats.org/officeDocument/2006/relationships/viewProps" Target="/ppt/viewProps.xml" Id="Rba55c5f910b04619" /><Relationship Type="http://schemas.openxmlformats.org/officeDocument/2006/relationships/tableStyles" Target="/ppt/tableStyles.xml" Id="R75297b04147846b5" /><Relationship Type="http://schemas.openxmlformats.org/officeDocument/2006/relationships/slide" Target="/ppt/slides/slide1.xml" Id="R8b42bf4a98b543f1" /><Relationship Type="http://schemas.openxmlformats.org/officeDocument/2006/relationships/slide" Target="/ppt/slides/slide2.xml" Id="Re49efc5e203b4740" /><Relationship Type="http://schemas.openxmlformats.org/officeDocument/2006/relationships/slide" Target="/ppt/slides/slide3.xml" Id="R64463284c9964c44" /><Relationship Type="http://schemas.openxmlformats.org/officeDocument/2006/relationships/slide" Target="/ppt/slides/slide4.xml" Id="Rc57b8803151f4c0c" /><Relationship Type="http://schemas.openxmlformats.org/officeDocument/2006/relationships/slide" Target="/ppt/slides/slide5.xml" Id="Reb887a90dd694ff7" /><Relationship Type="http://schemas.openxmlformats.org/officeDocument/2006/relationships/slide" Target="/ppt/slides/slide6.xml" Id="R7a621ab140704184" /><Relationship Type="http://schemas.openxmlformats.org/officeDocument/2006/relationships/slide" Target="/ppt/slides/slide7.xml" Id="R098fbf39bd644eeb" /><Relationship Type="http://schemas.openxmlformats.org/officeDocument/2006/relationships/slide" Target="/ppt/slides/slide8.xml" Id="R22d7ba04d0a546c1" /><Relationship Type="http://schemas.openxmlformats.org/officeDocument/2006/relationships/slide" Target="/ppt/slides/slide9.xml" Id="Re034b640a1e947ae" /><Relationship Type="http://schemas.openxmlformats.org/officeDocument/2006/relationships/slide" Target="/ppt/slides/slide10.xml" Id="Rf8fc7756a4154dde" /><Relationship Type="http://schemas.openxmlformats.org/officeDocument/2006/relationships/slide" Target="/ppt/slides/slide11.xml" Id="R58b1d91dd5c04264" /><Relationship Type="http://schemas.openxmlformats.org/officeDocument/2006/relationships/slide" Target="/ppt/slides/slide12.xml" Id="R99ebb815150542ce" /><Relationship Type="http://schemas.openxmlformats.org/officeDocument/2006/relationships/slide" Target="/ppt/slides/slide13.xml" Id="R45547934104b4b59" /><Relationship Type="http://schemas.openxmlformats.org/officeDocument/2006/relationships/slide" Target="/ppt/slides/slide14.xml" Id="Rcb074a2683e9458e" /><Relationship Type="http://schemas.openxmlformats.org/officeDocument/2006/relationships/slide" Target="/ppt/slides/slide15.xml" Id="Rfbca314365de45d9" /><Relationship Type="http://schemas.openxmlformats.org/officeDocument/2006/relationships/slide" Target="/ppt/slides/slide16.xml" Id="Rd5f8340cdfc643c8" /><Relationship Type="http://schemas.openxmlformats.org/officeDocument/2006/relationships/slide" Target="/ppt/slides/slide17.xml" Id="R65db84b9c4de4f18" /><Relationship Type="http://schemas.openxmlformats.org/officeDocument/2006/relationships/slide" Target="/ppt/slides/slide18.xml" Id="Rb4a27ca558604231" /><Relationship Type="http://schemas.openxmlformats.org/officeDocument/2006/relationships/slide" Target="/ppt/slides/slide19.xml" Id="Rfe50c08bc454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2e523d4f24f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7e95c7eb31448a" /><Relationship Type="http://schemas.openxmlformats.org/officeDocument/2006/relationships/notesMaster" Target="/ppt/notesMasters/notesMaster1.xml" Id="R19e8b9381b4c41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7426710a1f4232" /><Relationship Type="http://schemas.openxmlformats.org/officeDocument/2006/relationships/notesMaster" Target="/ppt/notesMasters/notesMaster1.xml" Id="Rf5418e42152e43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02cc366724a9b" /><Relationship Type="http://schemas.openxmlformats.org/officeDocument/2006/relationships/notesMaster" Target="/ppt/notesMasters/notesMaster1.xml" Id="Rb9fdbe5709dc4b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b0fb1741504b5b" /><Relationship Type="http://schemas.openxmlformats.org/officeDocument/2006/relationships/notesMaster" Target="/ppt/notesMasters/notesMaster1.xml" Id="Rf8b3c7750b68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63c969b5e14dc5" /><Relationship Type="http://schemas.openxmlformats.org/officeDocument/2006/relationships/notesMaster" Target="/ppt/notesMasters/notesMaster1.xml" Id="Rf4f98360ded141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8bbdc428347ef" /><Relationship Type="http://schemas.openxmlformats.org/officeDocument/2006/relationships/notesMaster" Target="/ppt/notesMasters/notesMaster1.xml" Id="Re005187a335846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39875b3484626" /><Relationship Type="http://schemas.openxmlformats.org/officeDocument/2006/relationships/notesMaster" Target="/ppt/notesMasters/notesMaster1.xml" Id="Rc6975c73fce940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9b5c5f2c924a0f" /><Relationship Type="http://schemas.openxmlformats.org/officeDocument/2006/relationships/notesMaster" Target="/ppt/notesMasters/notesMaster1.xml" Id="R472d08c99fcc4d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d6853bba547af" /><Relationship Type="http://schemas.openxmlformats.org/officeDocument/2006/relationships/notesMaster" Target="/ppt/notesMasters/notesMaster1.xml" Id="R67f04994114441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c4190771ae4889" /><Relationship Type="http://schemas.openxmlformats.org/officeDocument/2006/relationships/notesMaster" Target="/ppt/notesMasters/notesMaster1.xml" Id="R9c2946159e2c4b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ce2963770f4f61" /><Relationship Type="http://schemas.openxmlformats.org/officeDocument/2006/relationships/notesMaster" Target="/ppt/notesMasters/notesMaster1.xml" Id="R3784759cae1942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d40c56f432402a" /><Relationship Type="http://schemas.openxmlformats.org/officeDocument/2006/relationships/notesMaster" Target="/ppt/notesMasters/notesMaster1.xml" Id="R092e64b138c748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8f4b4083194df8" /><Relationship Type="http://schemas.openxmlformats.org/officeDocument/2006/relationships/notesMaster" Target="/ppt/notesMasters/notesMaster1.xml" Id="R065c1c6c233e4e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8161d3aeb44e19" /><Relationship Type="http://schemas.openxmlformats.org/officeDocument/2006/relationships/notesMaster" Target="/ppt/notesMasters/notesMaster1.xml" Id="Rc2f2d9703fbf42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c3912e5223441e" /><Relationship Type="http://schemas.openxmlformats.org/officeDocument/2006/relationships/notesMaster" Target="/ppt/notesMasters/notesMaster1.xml" Id="R062b8ad8fb5345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aca053e0b44893" /><Relationship Type="http://schemas.openxmlformats.org/officeDocument/2006/relationships/notesMaster" Target="/ppt/notesMasters/notesMaster1.xml" Id="Rb4304fca53e147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c3e23f04fd4a1a" /><Relationship Type="http://schemas.openxmlformats.org/officeDocument/2006/relationships/notesMaster" Target="/ppt/notesMasters/notesMaster1.xml" Id="R0fceb39b0ad94f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6433fcf5ed40f5" /><Relationship Type="http://schemas.openxmlformats.org/officeDocument/2006/relationships/notesMaster" Target="/ppt/notesMasters/notesMaster1.xml" Id="Ra2455f4651304c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a3823a006e413f" /><Relationship Type="http://schemas.openxmlformats.org/officeDocument/2006/relationships/notesMaster" Target="/ppt/notesMasters/notesMaster1.xml" Id="R7879e81d1db2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thesis: the useful unit is not one model, but a governed system spanning multiple hospital data boundaries.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/Users/pradyundevarakonda/Developer/Dagents/docs/presentation/dagents-project-presentation.pptx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finance list is included to show that the local/global pattern is reusable beyond healthcare.</a:t>
            </a:r>
          </a:p>
          <a:p xmlns:a="http://schemas.openxmlformats.org/drawingml/2006/main">
            <a:r>
              <a:t>The rest of the deck focuses on sepsis because it stresses privacy, safety, heterogeneous sources, and cross-site governance at once.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these as global burden estimates, not expected outcomes for the proposed pilot.</a:t>
            </a:r>
          </a:p>
          <a:p xmlns:a="http://schemas.openxmlformats.org/drawingml/2006/main">
            <a:r>
              <a:t>The case study does not claim that an early-warning system will reduce mortality; that requires prospective clinical evidence.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https://www.who.int/news-room/fact-sheets/detail/sepsis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prediction task from the coordination system around it. A good model does not solve schema drift, hospital-specific policy, deployment ownership, rollback, or audit evidence.</a:t>
            </a:r>
          </a:p>
          <a:p xmlns:a="http://schemas.openxmlformats.org/drawingml/2006/main">
            <a:r>
              <a:t>Dagents addresses this as a control-plane problem: LMA owns the hospital boundary; GMA owns approved cross-site coordination; typed contracts make plans and outcomes inspectable.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/Users/pradyundevarakonda/Developer/Dagents/AGENTS.md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- /Users/pradyundevarakonda/Developer/Dagents/contracts/grpc/dagents/agents/v1/lma_gma.proto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the current model-service provides generic ML infrastructure and anomaly-model examples; a clinically valid sepsis model is new work.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- /Users/pradyundevarakonda/Developer/Dagents/services/pipeline-service/README.md</a:t>
            </a:r>
          </a:p>
          <a:p xmlns:a="http://schemas.openxmlformats.org/drawingml/2006/main">
            <a:r>
              <a:t>- /Users/pradyundevarakonda/Developer/Dagents/services/model-service/README.md</a:t>
            </a:r>
          </a:p>
          <a:p xmlns:a="http://schemas.openxmlformats.org/drawingml/2006/main">
            <a:r>
              <a:t>- /Users/pradyundevarakonda/Developer/Dagents/services/core-service/README.md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diagram is a proposed operating pattern, not a claim about every hospital.</a:t>
            </a:r>
          </a:p>
          <a:p xmlns:a="http://schemas.openxmlformats.org/drawingml/2006/main">
            <a:r>
              <a:t>The engineering problem is duplicated local stacks plus weak cross-site evidence and governance.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https://www.hhs.gov/hipaa/for-professionals/security/index.html</a:t>
            </a:r>
          </a:p>
          <a:p xmlns:a="http://schemas.openxmlformats.org/drawingml/2006/main">
            <a:r>
              <a:t>- https://hl7.org/fhir/R4/observation.html</a:t>
            </a:r>
          </a:p>
          <a:p xmlns:a="http://schemas.openxmlformats.org/drawingml/2006/main">
            <a:r>
              <a:t>- /Users/pradyundevarakonda/Developer/Dagents/docs/presentation/healthcare-case-study/diagrams/01-current-fragmentation.mmd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does not require a central raw-PHI lake.</a:t>
            </a:r>
          </a:p>
          <a:p xmlns:a="http://schemas.openxmlformats.org/drawingml/2006/main">
            <a:r>
              <a:t>The precise aggregation technique remains a design choice; the case study requires an approved minimum-data interface rather than promising a specific federated-learning algorithm.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- /Users/pradyundevarakonda/Developer/Dagents/contracts/grpc/dagents/agents/v1/lma_gma.proto</a:t>
            </a:r>
          </a:p>
          <a:p xmlns:a="http://schemas.openxmlformats.org/drawingml/2006/main">
            <a:r>
              <a:t>- /Users/pradyundevarakonda/Developer/Dagents/docs/presentation/healthcare-case-study/diagrams/02-dagents-target-architecture.mmd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clinician control and explainability. The LMA is an execution boundary, not an autonomous doctor.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- /Users/pradyundevarakonda/Developer/Dagents/docs/presentation/healthcare-case-study/diagrams/03-lma-functional-flow.mmd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GMA has registration, assimilated profiling, aggregate model execution, and deployment-planning concepts; durable production infrastructure remains future work.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- /Users/pradyundevarakonda/Developer/Dagents/contracts/grpc/dagents/agents/v1/lma_gma.proto</a:t>
            </a:r>
          </a:p>
          <a:p xmlns:a="http://schemas.openxmlformats.org/drawingml/2006/main">
            <a:r>
              <a:t>- /Users/pradyundevarakonda/Developer/Dagents/docs/presentation/healthcare-case-study/diagrams/04-gma-functional-flow.mmd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 and call out the denied or low-quality branch: it suppresses the output and still creates operational evidence.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- /Users/pradyundevarakonda/Developer/Dagents/docs/presentation/healthcare-case-study/diagrams/05-end-to-end-sequence.mmd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bridge between the proposed case and the actual repository: the control-plane verbs already exist even though their production hardening is incomplete.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/Users/pradyundevarakonda/Developer/Dagents/contracts/grpc/dagents/agents/v1/lma_gma.proto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saying Dagents is HIPAA compliant or SOC 2 compliant. The accurate claim is that its architecture creates reusable control and evidence points.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https://www.hhs.gov/hipaa/for-professionals/security/index.html</a:t>
            </a:r>
          </a:p>
          <a:p xmlns:a="http://schemas.openxmlformats.org/drawingml/2006/main">
            <a:r>
              <a:t>- https://www.hhs.gov/hipaa/for-professionals/security/laws-regulations/index.html</a:t>
            </a:r>
          </a:p>
          <a:p xmlns:a="http://schemas.openxmlformats.org/drawingml/2006/main">
            <a:r>
              <a:t>- https://www.aicpa-cima.com/resources/download/2017-trust-services-criteria-with-revised-points-of-focus-2022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matrix is deliberately split between framework mechanisms and residual responsibilities.</a:t>
            </a:r>
          </a:p>
          <a:p xmlns:a="http://schemas.openxmlformats.org/drawingml/2006/main">
            <a:r>
              <a:t>HIPAA minimum necessary has context-specific exceptions, including certain treatment disclosures; the deploying organization must make the legal determination.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https://www.hhs.gov/hipaa/for-professionals/privacy/guidance/minimum-necessary-requirement/index.html</a:t>
            </a:r>
          </a:p>
          <a:p xmlns:a="http://schemas.openxmlformats.org/drawingml/2006/main">
            <a:r>
              <a:t>- https://www.hhs.gov/hipaa/for-professionals/security/laws-regulations/index.html</a:t>
            </a:r>
          </a:p>
          <a:p xmlns:a="http://schemas.openxmlformats.org/drawingml/2006/main">
            <a:r>
              <a:t>- https://www.aicpa-cima.com/resources/download/2017-trust-services-criteria-with-revised-points-of-focus-2022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- https://hl7.org/fhir/R4/observation.html</a:t>
            </a:r>
          </a:p>
          <a:p xmlns:a="http://schemas.openxmlformats.org/drawingml/2006/main">
            <a:r>
              <a:t>- https://healthit.gov/standards-and-technology/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diagram is a proposed safety control flow, not a substitute for a clinical safety case or quality system.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- https://airc.nist.gov/airmf-resources/airmf/</a:t>
            </a:r>
          </a:p>
          <a:p xmlns:a="http://schemas.openxmlformats.org/drawingml/2006/main">
            <a:r>
              <a:t>- /Users/pradyundevarakonda/Developer/Dagents/docs/presentation/healthcare-case-study/diagrams/06-clinical-safety-gates.mmd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balanced effort argument: Dagents does not remove the hard clinical or compliance work; it prevents platform plumbing from being rebuilt for every site and use case.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- /Users/pradyundevarakonda/Developer/Dagents/services/core-service/README.md</a:t>
            </a:r>
          </a:p>
          <a:p xmlns:a="http://schemas.openxmlformats.org/drawingml/2006/main">
            <a:r>
              <a:t>- /Users/pradyundevarakonda/Developer/Dagents/services/pipeline-service/README.md</a:t>
            </a:r>
          </a:p>
          <a:p xmlns:a="http://schemas.openxmlformats.org/drawingml/2006/main">
            <a:r>
              <a:t>- /Users/pradyundevarakonda/Developer/Dagents/services/model-service/README.md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capability-fit comparison, not a benchmark. The strongest argument is composability: Dagents can call a federated-learning runtime, cloud MLOps service, or workflow engine rather than pretending to replace every component.</a:t>
            </a:r>
          </a:p>
          <a:p xmlns:a="http://schemas.openxmlformats.org/drawingml/2006/main">
            <a:r>
              <a:t>The trade-off is candid: Dagents has broader domain orchestration but less production maturity and requires healthcare-specific adapters, controls, and validation.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https://flower.ai/docs/framework/index.html</a:t>
            </a:r>
          </a:p>
          <a:p xmlns:a="http://schemas.openxmlformats.org/drawingml/2006/main">
            <a:r>
              <a:t>- https://nvidia.github.io/NVFlare/</a:t>
            </a:r>
          </a:p>
          <a:p xmlns:a="http://schemas.openxmlformats.org/drawingml/2006/main">
            <a:r>
              <a:t>- https://docs.aws.amazon.com/sagemaker/latest/dg/whatis.html</a:t>
            </a:r>
          </a:p>
          <a:p xmlns:a="http://schemas.openxmlformats.org/drawingml/2006/main">
            <a:r>
              <a:t>- https://learn.microsoft.com/en-us/azure/machine-learning/overview-what-is-azure-machine-learning</a:t>
            </a:r>
          </a:p>
          <a:p xmlns:a="http://schemas.openxmlformats.org/drawingml/2006/main">
            <a:r>
              <a:t>- https://www.kubeflow.org/docs/components/pipelines/concepts/pipeline/</a:t>
            </a:r>
          </a:p>
          <a:p xmlns:a="http://schemas.openxmlformats.org/drawingml/2006/main">
            <a:r>
              <a:t>- https://airflow.apache.org/docs/apache-airflow/stable/core-concepts/overview.html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promise a clinical go-live. The requested case is strongest as a research and shadow-mode pilot with explicit evidence gates.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- https://airc.nist.gov/airmf-resources/airmf/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fixed alert budget connects technical performance to clinician capacity and prevents a high-sensitivity result from hiding unusable alert volume.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- https://airc.nist.gov/airmf-resources/airmf/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opening: Dagents is compelling here because multiple regulated local boundaries need one coordinated, auditable execution model.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/Users/pradyundevarakonda/Developer/Dagents/docs/agents/lma-gma-architecture.md</a:t>
            </a:r>
          </a:p>
          <a:p xmlns:a="http://schemas.openxmlformats.org/drawingml/2006/main">
            <a:r>
              <a:t>- https://www.hhs.gov/hipaa/for-professionals/security/index.html</a:t>
            </a:r>
          </a:p>
          <a:p xmlns:a="http://schemas.openxmlformats.org/drawingml/2006/main">
            <a:r>
              <a:t>- https://www.aicpa-cima.com/resources/download/2017-trust-services-criteria-with-revised-points-of-focus-2022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898c2d91245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c28eef356c4721" /><Relationship Type="http://schemas.openxmlformats.org/officeDocument/2006/relationships/slideLayout" Target="/ppt/slideLayouts/slideLayout1.xml" Id="R67614aab3cfc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14aab3cfc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25c8582984931" /><Relationship Type="http://schemas.openxmlformats.org/officeDocument/2006/relationships/hyperlink" Target="https://github.com/pradyunuydarp/Dagents.git" TargetMode="External" Id="Ra3add75e59df4323" /><Relationship Type="http://schemas.openxmlformats.org/officeDocument/2006/relationships/notesSlide" Target="/ppt/notesSlides/notesSlide1.xml" Id="Rc3a70834cd9742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2eed871d437a" /><Relationship Type="http://schemas.openxmlformats.org/officeDocument/2006/relationships/notesSlide" Target="/ppt/notesSlides/notesSlide2.xml" Id="Rc30390f05c0544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b08f15da54522" /><Relationship Type="http://schemas.openxmlformats.org/officeDocument/2006/relationships/notesSlide" Target="/ppt/notesSlides/notesSlide3.xml" Id="R0168925234724b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d0897db1549b8" /><Relationship Type="http://schemas.openxmlformats.org/officeDocument/2006/relationships/notesSlide" Target="/ppt/notesSlides/notesSlide4.xml" Id="R66679813f93a44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37e2dd14b4a5f" /><Relationship Type="http://schemas.openxmlformats.org/officeDocument/2006/relationships/notesSlide" Target="/ppt/notesSlides/notesSlide5.xml" Id="Rc5971082028e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15f2b9a094c96" /><Relationship Type="http://schemas.openxmlformats.org/officeDocument/2006/relationships/image" Target="/ppt/media/image.png" Id="R5a74adbafa284f9a" /><Relationship Type="http://schemas.openxmlformats.org/officeDocument/2006/relationships/notesSlide" Target="/ppt/notesSlides/notesSlide6.xml" Id="R99fcf11e11c44b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c7c00a6f34e65" /><Relationship Type="http://schemas.openxmlformats.org/officeDocument/2006/relationships/image" Target="/ppt/media/image2.png" Id="R92985bf298014ca7" /><Relationship Type="http://schemas.openxmlformats.org/officeDocument/2006/relationships/notesSlide" Target="/ppt/notesSlides/notesSlide7.xml" Id="Re18b5f64f2f84f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477d8c3174d22" /><Relationship Type="http://schemas.openxmlformats.org/officeDocument/2006/relationships/notesSlide" Target="/ppt/notesSlides/notesSlide8.xml" Id="Rc64bd6e38e1a45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27f6547b645b9" /><Relationship Type="http://schemas.openxmlformats.org/officeDocument/2006/relationships/notesSlide" Target="/ppt/notesSlides/notesSlide9.xml" Id="R06f891610dd244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fc9bd11114c14" /><Relationship Type="http://schemas.openxmlformats.org/officeDocument/2006/relationships/image" Target="/ppt/media/image3.png" Id="Re5a07fb94cbc48fa" /><Relationship Type="http://schemas.openxmlformats.org/officeDocument/2006/relationships/notesSlide" Target="/ppt/notesSlides/notesSlide10.xml" Id="R91f99f800f4941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892bf77394642" /><Relationship Type="http://schemas.openxmlformats.org/officeDocument/2006/relationships/notesSlide" Target="/ppt/notesSlides/notesSlide11.xml" Id="R301491e0a2ab40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64ce179544228" /><Relationship Type="http://schemas.openxmlformats.org/officeDocument/2006/relationships/notesSlide" Target="/ppt/notesSlides/notesSlide12.xml" Id="Raf072bdf84d544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375539138409f" /><Relationship Type="http://schemas.openxmlformats.org/officeDocument/2006/relationships/notesSlide" Target="/ppt/notesSlides/notesSlide13.xml" Id="R1b6e28ce52a44d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001587b1349a0" /><Relationship Type="http://schemas.openxmlformats.org/officeDocument/2006/relationships/image" Target="/ppt/media/image4.png" Id="R1043be3997d04279" /><Relationship Type="http://schemas.openxmlformats.org/officeDocument/2006/relationships/notesSlide" Target="/ppt/notesSlides/notesSlide14.xml" Id="Rd657743072e44c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e1624bd90409f" /><Relationship Type="http://schemas.openxmlformats.org/officeDocument/2006/relationships/notesSlide" Target="/ppt/notesSlides/notesSlide15.xml" Id="Rafb3d7fc17b444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f020e0cda4031" /><Relationship Type="http://schemas.openxmlformats.org/officeDocument/2006/relationships/notesSlide" Target="/ppt/notesSlides/notesSlide16.xml" Id="R16544214b32748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144170b444399" /><Relationship Type="http://schemas.openxmlformats.org/officeDocument/2006/relationships/notesSlide" Target="/ppt/notesSlides/notesSlide17.xml" Id="Re6c68f48df3845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5ca56ef8b4deb" /><Relationship Type="http://schemas.openxmlformats.org/officeDocument/2006/relationships/notesSlide" Target="/ppt/notesSlides/notesSlide18.xml" Id="Rf00e50456bae4b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204339fa14b41" /><Relationship Type="http://schemas.openxmlformats.org/officeDocument/2006/relationships/notesSlide" Target="/ppt/notesSlides/notesSlide19.xml" Id="Rfac8ea1e91b043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hlinkClick xmlns:r="http://schemas.openxmlformats.org/officeDocument/2006/relationships" xmlns:a="http://schemas.openxmlformats.org/drawingml/2006/main" r:id="Ra3add75e59df4323"/>
            <a:extLst xmlns:a="http://schemas.openxmlformats.org/drawingml/2006/main">
              <a:ext uri="{FF2B5EF4-FFF2-40B4-BE49-F238E27FC236}">
                <a16:creationId xmlns:a16="http://schemas.microsoft.com/office/drawing/2014/main" id="{DBAD7086-21FE-4FD0-95D7-1188A3E8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684ED2-C417-447E-BC93-3DDECEBC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HEALTHCARE CASE STUDY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2AADAB-1301-46D6-B41A-E64CF809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Dagents</a:t>
            </a: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for Sepsis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E35700B-61E4-42B5-88FF-89C9CE76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A multi-hospital decision-support case: keep patient-level computation local, coordinate learning globally, and make every rollout traceable.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28D4DF1-5B75-4D5B-B480-0169FB7D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92024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Hospital data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0A53B9-A4E7-484F-8034-98A21393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4210050"/>
            <a:ext cx="192024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9525">
            <a:solidFill>
              <a:srgbClr val="2D5B7C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LMA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66A10A-F573-49D6-877E-CE49EE1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210050"/>
            <a:ext cx="192024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B4842B"/>
          </a:solidFill>
          <a:ln xmlns:a="http://schemas.openxmlformats.org/drawingml/2006/main" w="9525">
            <a:solidFill>
              <a:srgbClr val="B4842B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C63E76E-89CD-4533-B12B-BA23CA9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210050"/>
            <a:ext cx="192024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A34D3E"/>
          </a:solidFill>
          <a:ln xmlns:a="http://schemas.openxmlformats.org/drawingml/2006/main" w="9525">
            <a:solidFill>
              <a:srgbClr val="A34D3E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workflow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B2C03F-8B20-492A-AE4E-3EBDA27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4210050"/>
            <a:ext cx="192024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65549A"/>
          </a:solidFill>
          <a:ln xmlns:a="http://schemas.openxmlformats.org/drawingml/2006/main" w="9525">
            <a:solidFill>
              <a:srgbClr val="65549A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Governed rollout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BE66650-CFE7-4B7A-A510-5BEC7C13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Healthcare / 01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63BD50-1495-DE9C-D046-E7C5F535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230" y="6044625"/>
            <a:ext cx="35814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bg2">
                    <a:lumMod val="75000"/>
                  </a:schemeClr>
                </a:solidFill>
              </a:rPr>
              <a:t>Pradyun Devarakonda</a:t>
            </a:r>
          </a:p>
          <a:p xmlns:a="http://schemas.openxmlformats.org/drawingml/2006/main">
            <a:r>
              <a:rPr sz="1600">
                <a:solidFill>
                  <a:schemeClr val="bg2">
                    <a:lumMod val="75000"/>
                  </a:schemeClr>
                </a:solidFill>
              </a:rPr>
              <a:t>Professor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61663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45AB7B7-DB75-496C-AF33-7FDD3DC5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6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A0CB6B-1963-477D-B18C-AB79936C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1B"/>
          </a:solidFill>
          <a:ln xmlns:a="http://schemas.openxmlformats.org/drawingml/2006/main" w="9525">
            <a:solidFill>
              <a:srgbClr val="15201B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DOMAIN OPPORTUNITIES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EC1414-F0F6-4931-BEC7-D066275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Regulated domains need local execution and global coordination.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77BF40-0B73-4C09-A35E-0D4ED4D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Healthcare and finance share fragmented data, strict access boundaries, drifting models, and audit-heavy operations. The proposed deep dive is multi-hospital sepsis decision support.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66465F7-D72B-4FC0-8B6C-84B3DA6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59396F-9F48-4223-9DC1-50C44F9F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697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Healthcare: sepsis/deterioration, readmission, chronic monitoring, claims quality, and imaging-model drift.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3DD299-2942-409C-BFC4-E2056759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7C"/>
          </a:solidFill>
          <a:ln xmlns:a="http://schemas.openxmlformats.org/drawingml/2006/main" w="9525">
            <a:solidFill>
              <a:srgbClr val="2D5B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2482D2-0A91-47D9-A818-77C822FA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697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Finance: payment fraud, AML pattern detection, credit-risk drift, liquidity, and transaction-operations anomalies.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B5AE66C-3EE0-4B2E-9E99-FDA787C8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42B"/>
          </a:solidFill>
          <a:ln xmlns:a="http://schemas.openxmlformats.org/drawingml/2006/main" w="9525">
            <a:solidFill>
              <a:srgbClr val="B48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583A9C4-A310-4B43-8A33-95A416D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697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sepsis: bedside decisions must stay local while evidence and model governance improve across hospitals.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55E17F-99CE-40DB-9406-767DA14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D3E"/>
          </a:solidFill>
          <a:ln xmlns:a="http://schemas.openxmlformats.org/drawingml/2006/main" w="9525">
            <a:solidFill>
              <a:srgbClr val="A34D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126EEE6-1447-4276-909E-B92E08A9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697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Scope: retrospective and shadow-mode research first—no autonomous diagnosis or treatment.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F5ED820-7FB5-428B-8432-AE58353A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095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SELECTED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SEPSIS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04C1672-6BDD-43C0-9DA7-5B38D6D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0B2"/>
          </a:solidFill>
          <a:ln xmlns:a="http://schemas.openxmlformats.org/drawingml/2006/main" w="9525">
            <a:solidFill>
              <a:srgbClr val="C8C0B2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local evidence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13ADD2C-E510-4357-90C6-78A12612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095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9525">
            <a:solidFill>
              <a:srgbClr val="2D5B7C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consortium view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39024E7-A8F2-449F-B740-B0F40BDA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02</a:t>
            </a:r>
          </a:p>
        </p:txBody>
      </p:sp>
    </p:spTree>
    <p:extLst>
      <p:ext uri="{BB962C8B-B14F-4D97-AF65-F5344CB8AC3E}">
        <p14:creationId xmlns:p14="http://schemas.microsoft.com/office/powerpoint/2010/main" val="323325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WHY SEPSIS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Sepsis makes coordination a high-stakes problem.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disease burden is large; the operational challenge is turning scattered, time-sensitive signals into governed clinical support.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8366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48.9 million cases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6771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Published 2020 global estimate summarized by WHO.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8366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11 million deaths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26771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WHO reports roughly 20% of global deaths in the cited estimate.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2958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15 per 1,000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1363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Estimated hospitalized patients developing sepsis as a complication of care.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8328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1FA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2958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91363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Signals span EHRs, labs, devices, and workflows that vary by hospital.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Evidence: WHO Sepsis fact sheet, 3 May 2024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CORE PROBLEM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makes the missing coordination layer explicit.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problem is not only predicting sepsis; it is governing the path from local data to repeated multi-site action.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8366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Fragmented signals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6771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Different schemas, units, clocks, and quality rules. Dagents: SourceSpec plus LMA validation and profiling.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8366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Site-specific reality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26771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Patient mix, workflows, resources, and alert tolerance vary. Dagents: site-scoped LMAs plus GMA comparison.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2958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Control-plane sprawl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1363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Sites rebuild registration, scheduling, artifacts, deployment, and rollback. Dagents: shared contracts and services.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8328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1FA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2958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Evidence debt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91363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Lineage, approvals, overrides, and audit evidence arrive late. Dagents: versioned plans, runs, artifacts, and rollback records.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Consequence: duplicated engineering, slower rollout, uneven behavior—and no reliable cross-site learning loop / 04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479A346-CD14-411A-AFB6-6934DCA3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129DDB-6D69-4CA7-A898-3289B0DC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1B"/>
          </a:solidFill>
          <a:ln xmlns:a="http://schemas.openxmlformats.org/drawingml/2006/main" w="9525">
            <a:solidFill>
              <a:srgbClr val="15201B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FUNCTIONAL SCOPE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37BB917-2BF2-4DEC-9B37-1BA2E42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The case needs a reusable system—not only a prediction model.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704B30-3E55-43AC-B117-A3BC570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Five capability groups turn a candidate model into governed, multi-hospital clinical decision support.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13081A4-6899-453F-BDDB-D3AF6CA6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49"/>
            <a:ext cx="2076450" cy="16859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D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3E67488-16FF-4721-B16B-EED62464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764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Ingest + quality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FFA21E9-90FD-423B-94CD-5AE2604A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771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FHIR/HL7 adapters, source validation, canonical features, provenance, units, freshness, and missingness.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AEBE119-5A68-4F66-9ECE-171920DB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2076450" cy="1685924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D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92C0DF7-A365-4208-97B7-95B9C284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20764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9525">
            <a:solidFill>
              <a:srgbClr val="2D5B7C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execution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66C7E8-D30E-4F8F-A2A3-A470D406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1771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LMA profiles approved data, scores locally, suppresses unsafe runs, and records patient-level traces.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52E24A4-0141-4B37-8928-6916368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48"/>
            <a:ext cx="2076450" cy="16859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D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7327AB3-C9C1-4F2A-A6D0-10D7A4A6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20764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A34D3E"/>
          </a:solidFill>
          <a:ln xmlns:a="http://schemas.openxmlformats.org/drawingml/2006/main" w="9525">
            <a:solidFill>
              <a:srgbClr val="A34D3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workflow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2D56E01-AE91-43A1-8163-B51B0EF3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1771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Show recommendation basis, uncertainty, and limitations; capture acknowledgement, override, and outcome.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F730831-E735-4AF3-8B89-EC1D8BA5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1771650" cy="1685924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D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84B2B6C-E9FC-4DAE-AEEF-1C30741D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17716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coordination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3AE6955-92C1-481D-8741-E1B4ACD1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GMA registers sites, compares drift and calibration, and selects site-appropriate policies or bundles.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7DFFB37-32AB-426D-936F-2F09D610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49"/>
            <a:ext cx="1771650" cy="1685923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D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7216B4A-3BF2-4504-852C-8A99711E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17716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9525">
            <a:solidFill>
              <a:srgbClr val="2D5B7C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 + govern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55BB77E-A396-45E8-81E6-0554EE3E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Pipelines, artifacts, typed plans, signed rollouts, canaries, monitoring, rollback, and audit evidence.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E02936F-D2E1-4B65-BA8E-7DDEA9B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9"/>
          </a:solidFill>
          <a:ln xmlns:a="http://schemas.openxmlformats.org/drawingml/2006/main" w="9525">
            <a:solidFill>
              <a:srgbClr val="D5CDBF"/>
            </a:solidFill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Cross-cutting controls: security, privacy, lineage, versioning, policy gates, retention, and clinician accountability.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D41F84D-20B4-45ED-993A-A1BBBB1E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05</a:t>
            </a:r>
          </a:p>
        </p:txBody>
      </p:sp>
    </p:spTree>
    <p:extLst>
      <p:ext uri="{BB962C8B-B14F-4D97-AF65-F5344CB8AC3E}">
        <p14:creationId xmlns:p14="http://schemas.microsoft.com/office/powerpoint/2010/main" val="15791184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D55E98F-5E53-45A3-B710-C479446F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66EC36A-0FD9-442A-B7A1-A8DE348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1B"/>
          </a:solidFill>
          <a:ln xmlns:a="http://schemas.openxmlformats.org/drawingml/2006/main" w="9525">
            <a:solidFill>
              <a:srgbClr val="15201B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STATE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BD3491-C736-49FA-8A7C-16BB1802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Hospitals solve the same risk problem in isolated stacks.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D92106-81F4-40BC-9FDA-053D81E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Site-specific rules and vendors limit shared learning; raw protected health information cannot simply be centralized.</a:t>
            </a: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4adbafa284f9a"/>
          <a:stretch xmlns:a="http://schemas.openxmlformats.org/drawingml/2006/main"/>
        </p:blipFill>
        <p:spPr>
          <a:xfrm xmlns:a="http://schemas.openxmlformats.org/drawingml/2006/main">
            <a:off x="742950" y="2897757"/>
            <a:ext cx="10668000" cy="2319787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BC064B4-2A25-420C-912E-01DBA415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06</a:t>
            </a:r>
          </a:p>
        </p:txBody>
      </p:sp>
    </p:spTree>
    <p:extLst>
      <p:ext uri="{BB962C8B-B14F-4D97-AF65-F5344CB8AC3E}">
        <p14:creationId xmlns:p14="http://schemas.microsoft.com/office/powerpoint/2010/main" val="17963133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E53F3A-15C4-4E87-B1FC-FD206D4F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F7F3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B784829-7899-4AD9-909A-707E198C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1B"/>
          </a:solidFill>
          <a:ln xmlns:a="http://schemas.openxmlformats.org/drawingml/2006/main" w="9525">
            <a:solidFill>
              <a:srgbClr val="15201B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ARCHITECTURE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A7AFF5-32B7-4744-9598-EC73A05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Dagents scores locally and coordinates evidence globally.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70B3257-4C1E-4555-8FD9-857EDB8D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LMAs run inside hospital trust boundaries; the GMA receives approved summaries and returns governed, versioned bundles.</a:t>
            </a: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85bf298014ca7"/>
          <a:stretch xmlns:a="http://schemas.openxmlformats.org/drawingml/2006/main"/>
        </p:blipFill>
        <p:spPr>
          <a:xfrm xmlns:a="http://schemas.openxmlformats.org/drawingml/2006/main">
            <a:off x="571500" y="1936730"/>
            <a:ext cx="11049000" cy="3413164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F9A9093-40E4-42D4-AA15-CBE19544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Healthcare / 07</a:t>
            </a:r>
          </a:p>
        </p:txBody>
      </p:sp>
    </p:spTree>
    <p:extLst>
      <p:ext uri="{BB962C8B-B14F-4D97-AF65-F5344CB8AC3E}">
        <p14:creationId xmlns:p14="http://schemas.microsoft.com/office/powerpoint/2010/main" val="738132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LMA FLOW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LMA owns the patient-level decision-support loop.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local run validates scope and quality before scoring; the clinician retains decision authority.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Receive approved FHIR, HL7, database, or event-stream data inside the hospital boundary.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Check schema, units, provenance, freshness, cohort, consent or purpose scope, and missingness.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Run the approved local model; return risk, uncertainty, model version, and input basis.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59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1FA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1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1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Present evidence to a clinician; capture acknowledgement, deferral, override, action, and outcome.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9875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Only approved de-identified metrics and artifact pointers leave the hospital trust boundary.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Local execution / 08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GMA FLOW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GMA governs cross-hospital learning.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Aggregate coordination improves consistency without erasing hospital-specific populations, workflows, or risk tolerances.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Track each LMA identity, hospital scope, version, capability, and approved data-sharing policy.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ASSIMILATE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Accept approved profiles, performance metrics, run summaries, and artifact pointers with provenance.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Measure drift, calibration, subgroup behavior, alert burden, reliability, and configuration variance.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59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1FA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1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PLAN + ROLLOUT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1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Select site-appropriate bundles; compile plans, canary, monitor, pause, and roll back.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9875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The GMA coordinates the fleet; it does not make bedside decisions or ingest unrestricted raw PHI.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Global coordination / 09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3983AC-4FFD-4C61-B08D-BD31F49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RUN SEQUENCE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9198D90-F319-4493-8E9D-A05F3D8D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 local decision becomes a global learning signal.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FB141B7-813A-4C37-8DE6-81E737F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Policy and data-quality checks precede scoring; a clinician reviews the basis before any clinical workflow action.</a:t>
            </a:r>
          </a:p>
        </p:txBody>
      </p:sp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07fb94cbc48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00200"/>
            <a:ext cx="1046988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DCED8B-941D-493C-9D1F-BCF9B3A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Clinician-in-the-loop execution / 10</a:t>
            </a:r>
          </a:p>
        </p:txBody>
      </p:sp>
    </p:spTree>
    <p:extLst>
      <p:ext uri="{BB962C8B-B14F-4D97-AF65-F5344CB8AC3E}">
        <p14:creationId xmlns:p14="http://schemas.microsoft.com/office/powerpoint/2010/main" val="12583388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already has the required control-plane shape.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 contracts cover registration, profiling, model jobs, bundle synchronization, telemetry, and workload compilation.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GMA records hospital/LMA identity, scope, version, capability, and desired deployment state.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LMA profiles source-scoped records; GMA profiles approved assimilated evidence across sites.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Typed model-job requests identify task, model family, features, version, scope, and artifact prefix.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59" y="1874519"/>
            <a:ext cx="242316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1FA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1" y="2020824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1" y="2404872"/>
            <a:ext cx="2103120" cy="1901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Versioned bundles and plans coordinate desired state, deployment resources, health, and rollback.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9875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Production work: durable state, broker-backed delivery, signed bundles, idempotency, and immutable audit evidence.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Existing Dagents contracts / 11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CD648CF-CF55-43A3-BA43-EB8791CF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CB496F-1310-475C-A519-C8BA8F24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Compliance requires shared controls.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95AC7B1-6DBE-4302-9E28-BB63F17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can supply reusable technical enforcement and evidence; hospitals still own organizational, security, privacy, and clinical controls.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F423318-1869-493B-A37C-9D8807C2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329184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1FA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090CC2-FE5E-4144-BAB1-0D654DEF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37944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HIPAA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2B981C-D1C5-43B3-ACBD-9791320C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221992"/>
            <a:ext cx="2971800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support: local PHI boundary, scoped sources, run IDs. Still needed: IAM/MFA, encryption and keys, retention, risk analysis, incident response, BAAs.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8914DE6-27C2-4D94-B667-557896AC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91640"/>
            <a:ext cx="329184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CB7709-14E5-4061-8DC5-0E6C7701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1837944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SOC 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8CE9E10-F8E5-4106-95F5-F683B86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221992"/>
            <a:ext cx="2971800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support: deterministic plans, health checks, change/run evidence. Still needed: control owners, access reviews, vendor risk, incident evidence, CPA examination.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6B04290-7355-4C3D-A11F-9C14770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691640"/>
            <a:ext cx="329184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E90F19C-CA8E-4655-950F-AAC2224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837944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AI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E4295D3-D8DF-4565-A41A-39801B37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21992"/>
            <a:ext cx="2971800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support: model/version trace, explanation inputs, policy gates, rollback. Still needed: intended use, clinical validation, human factors, regulatory and safety governance.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8F717F3-1A00-49A6-B673-1840A77E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A production claim depends on implemented and operating controls—not architecture alone. SOC 2 is an attestation; HIPAA also includes administrative and physical safeguards.</a:t>
            </a:r>
          </a:p>
        </p:txBody>
      </p:sp>
    </p:spTree>
    <p:extLst>
      <p:ext uri="{BB962C8B-B14F-4D97-AF65-F5344CB8AC3E}">
        <p14:creationId xmlns:p14="http://schemas.microsoft.com/office/powerpoint/2010/main" val="11568938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RESPONSIBILITY MATRIX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enables evidence, not compliance.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implementation backlog should map each external obligation to a reusable Dagents mechanism and an accountable owner.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76479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6916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647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Dagents-aligned support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6916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7647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Production controls still required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0030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47345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HIPAA Security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0030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7345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Local boundary, scoped sources, versioned runs and plans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40030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47345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IAM/MFA, encryption and keys, audit controls, integrity, DR, incident response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8211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HIPAA Privacy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10896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8211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Approved feature contracts; aggregate-only GMA interface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10896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18211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Purpose/minimum-necessary policy, consent or authorization, retention and deletion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1762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89077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SOC 2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1762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89077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Repeatable deployments, service health, evidence and lineage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81762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89077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Control ownership, access/change/vendor reviews, operating evidence, CPA report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59943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CDS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52628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59943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Human decision point, model/input basis, validation metadata, rollback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452628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459943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Intended use, clinical validation, human factors, regulatory assessment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3494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30809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FHIR / USCDI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2349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3080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SourceSpec and canonical dataset boundaries fit adapter-based exchange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52349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53080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Profiles, terminology, conformance, provenance, patient matching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Control design aid—not a legal, audit, or regulatory conclusion / 13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A7E5CF1-98C4-4911-B38D-6AA56AF7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CLINICAL SAFETY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6E58C3-5BDC-4C3C-B532-C7CC9AF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action requires four explicit gates.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05D804F-184A-4B26-AE37-2DC08492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Authorization, data quality, model approval, and human review are explicit; monitoring can pause or roll back a bundle.</a:t>
            </a:r>
          </a:p>
        </p:txBody>
      </p:sp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3be3997d04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19" y="1828799"/>
            <a:ext cx="11351230" cy="22795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3F0D00-FA69-4E8E-AF3F-40ED69A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607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Start retrospectively, then shadow mode. Fail closed, record the reason, keep the clinician accountable, and link monitoring thresholds to a tested pause/rollback plan.</a:t>
            </a:r>
          </a:p>
        </p:txBody>
      </p:sp>
    </p:spTree>
    <p:extLst>
      <p:ext uri="{BB962C8B-B14F-4D97-AF65-F5344CB8AC3E}">
        <p14:creationId xmlns:p14="http://schemas.microsoft.com/office/powerpoint/2010/main" val="1042732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C8DBD12-B4E5-4D50-862A-EE952769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EFFORT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CA5135A-B7C2-4A3F-A4B9-1A19657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moves effort toward clinical validation.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4F016E-D41B-49E9-9DA2-D711153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framework adds discipline; the payoff grows with hospitals, models, deployments, and regulated consumers.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E8E996-E424-4293-8C1C-AF9D6E1A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2888589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5342B3-FAB8-43E7-96EC-D556D673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700784"/>
            <a:ext cx="2742285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Concern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52CF242-7638-4E68-8FA8-D78A0F42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509" y="162763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F779A8A-1ADC-407D-865C-BB8D994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661" y="170078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Reusable Dagents leverage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7467CD7-205E-45FC-9D3C-702CF160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194" y="162763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D5641A-7A5E-448B-8A7F-B8048286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346" y="170078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Case-specific or production work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0FEFA45-D8D3-4A9C-96A4-DF0C9604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82012"/>
            <a:ext cx="2888589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780A78-0661-4E04-B7B9-70E32540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455164"/>
            <a:ext cx="2742285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 boundary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1933A7-9FF4-435B-B5FF-A7C3853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509" y="238201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1842238-9A3F-4E78-B85C-E0D5506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661" y="245516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SourceSpec, validation, profiling, and local/global scope contracts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451E3A-FC4E-40B7-BC28-6148F8C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194" y="238201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74E3E5-309C-446F-98C9-71A8971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346" y="245516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Build FHIR/HL7 mappings, terminology, cohort, provenance, and patient matching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45E18DC-73DC-4E75-9B6E-E9FD5FA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2888589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18314E-8CA6-45E6-9DB4-5A0A01F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209544"/>
            <a:ext cx="2742285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Orchestration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AD4F55D-7290-4A1A-B1AA-1202B3E9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509" y="313639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9DA9AE-C9EA-4E8B-99E2-9C3D9CA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661" y="320954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pipelines, runs, agent registration, telemetry, and workload plans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859F6ED-810F-4C83-86D5-41384E8B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194" y="313639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BA3B850-E077-4340-B122-134E8C1E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346" y="320954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Add durable queues, retries, idempotency, replay, scheduling, and persistence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0906D7F-DE00-4FB9-B671-BE04D37B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90772"/>
            <a:ext cx="2888589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42AE019-BFA0-4AA7-AF8E-95A18B59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963924"/>
            <a:ext cx="2742285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ML lifecycle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1EAF58D-8638-4C52-B131-4FB89509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509" y="389077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CF9B0E1-A2E7-48D6-802D-BFA82A23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661" y="396392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model-job, artifact, evaluation, and versioning patterns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247C103-7BCD-4BBF-8FED-74868A3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194" y="389077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EA3D92-36D0-4F25-8F70-B08D576F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346" y="396392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Develop and clinically validate the sepsis model, thresholds, and monitoring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6C8D755-973E-4DFA-A9BB-4D1561BC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5152"/>
            <a:ext cx="2888589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838EB1B-F066-4BCF-8C4F-5B2A81D6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718304"/>
            <a:ext cx="2742285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B14006E-D9C0-4D92-BA26-C2AE0D78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509" y="464515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BC6A327-84A3-4C0C-92BA-5BF7E6A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661" y="471830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Docker/Kubernetes compilation and desired-state concepts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0C8831F0-7FE8-4CE5-9F5C-AC01B1C7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194" y="464515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9BC41C7-12CA-49DD-B21A-2842B47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346" y="471830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Harden secrets, signing, isolation, canaries, rollback, and disaster recovery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C08C939-B03B-40D8-A0AC-F9FECE41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99532"/>
            <a:ext cx="2888589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0428393-C352-48CE-8EE3-95676E46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472684"/>
            <a:ext cx="2742285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9B7E1E8-B494-4075-9967-EAC4445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509" y="539953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DCB4B39-747E-485F-8D7F-1DA41FF4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661" y="547268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Reuse typed plans, run IDs, policy gates, and lineage points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146F475-A664-45DE-8E1A-8D68FE14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194" y="5399532"/>
            <a:ext cx="4110685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E4A41FF-3F45-423C-AE62-D1955E6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346" y="5472684"/>
            <a:ext cx="3964381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Implement IAM, immutable logs, policies, training, audits, and clinical governance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75FBFE2-8640-4A2C-801D-9487E96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For one static model at one site, Dagents may be more infrastructure than necessary / 15</a:t>
            </a:r>
          </a:p>
        </p:txBody>
      </p:sp>
    </p:spTree>
    <p:extLst>
      <p:ext uri="{BB962C8B-B14F-4D97-AF65-F5344CB8AC3E}">
        <p14:creationId xmlns:p14="http://schemas.microsoft.com/office/powerpoint/2010/main" val="1134147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DECISION GUIDE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Where Dagents fits—and where other tools lead.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Choose it when one control plane must span multiple data boundaries, model families, and deployment targets.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76479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6916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647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teams choose it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6916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7647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Limit / Dagents fit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0030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47345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0030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7345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LMA/GMA boundary plus pipelines, model jobs, typed plans, and workload compilation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40030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47345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Broad reusable control plane; less mature; hardening and clinical adapters required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8211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Federated-learning toolkits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10896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8211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Flower / NVIDIA FLARE: distributed training, evaluation, privacy, and federation mechanics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10896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18211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Deeper FL, narrower lifecycle; use inside Dagents when collaborative training is needed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1762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89077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Managed MLOps SaaS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1762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89077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SageMaker AI / Azure ML: managed training, registries, endpoints, and monitoring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81762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89077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Fast cloud path; cloud coupling and hospital-boundary integration remain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59943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Workflow platforms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52628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59943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Airflow / Kubeflow: DAGs, retries, caching, and Kubernetes execution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452628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459943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Mature workflows; no native LMA/GMA scope, capability registry, or clinical governance contract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34940"/>
            <a:ext cx="2852928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308092"/>
            <a:ext cx="2706624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point SaaS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2349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3080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Fastest when a validated product already fits the exact workflow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5234940"/>
            <a:ext cx="405993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5308092"/>
            <a:ext cx="3913631" cy="5989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Narrow product/vendor boundary; Dagents fits multi-model, multi-site ownership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can complement these tools: it is the domain control plane around specialized runtimes / 16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3616C7F-5DE1-4780-8723-F2B4F47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PILOT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A26162-FC55-4072-9ED2-CB330866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 safe pilot proves value in five controlled phases.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087E13-600F-4E88-BC5E-106AEBF6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Evidence gates—not calendar dates—determine when the work advances from contracts to clinical use.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F383E6C-1657-4B5B-8879-7FC0AEC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2852928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815377-4277-4F34-B2E8-94C36D9C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64792"/>
            <a:ext cx="2706624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83170B6-5F27-4C0A-8103-AABE9756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9164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F474AA2-CC5C-4831-A728-17A70331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76479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6EF320-5BD6-4E93-BE04-B66DC0D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169164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5EAA19-880D-4305-B631-18BEDD80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176479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Evidence required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D077EF-7B73-4A48-BF93-BE2FF98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69820"/>
            <a:ext cx="2852928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130F56B-65E8-4B4D-AE87-7B800F1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442972"/>
            <a:ext cx="2706624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1. Define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4A7A60E-3308-46B9-8ED0-A94A1248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6982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7E2E768-B155-4108-A917-81CEC8D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4297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Intended use, cohort, outcome label, exclusions, sources, and governance owners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35302B5-AEFF-4AC3-A299-F08E8F3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36982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07A7815-5F24-4450-95EC-DD6BE872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244297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Approved case specification and canonical data contract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AE41A3F-8B3A-42AB-AA96-2BA4DC2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48000"/>
            <a:ext cx="2852928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4F5F03-3944-44F7-B5E4-9E1086F0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21152"/>
            <a:ext cx="2706624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2. Validate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AAA2085-00F1-42F1-853E-7AC03F18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4800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566ED5F-A66B-4934-ABC4-E83734BE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2115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Run retrospective LMAs separately at each hospital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EC5B3F9-6E5F-47E9-85B6-FB13ED30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304800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9212C95-D024-49DF-A483-9058E58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12115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Data-quality, calibration, subgroup, and baseline alert evidence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F6FE044-3348-4E4C-85FC-0F05D67F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6180"/>
            <a:ext cx="2852928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EC3BAFB-5BF5-4B01-8498-D3546837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9332"/>
            <a:ext cx="2706624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3. Shadow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2D6D3CF-7424-4D18-9890-24D76312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2618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47CA9F4-FF5F-4C24-A036-12A0C32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79933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Execute prospectively without showing recommendations to clinicians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9E31BD2-C02C-48F0-A0FE-5BBBB95B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372618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8121A96-7DBE-4B73-92D8-3623816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79933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Latency, reliability, alert volume, trace completeness, recovery results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0FC2832-250A-4D49-8EBF-4722A2F7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404360"/>
            <a:ext cx="2852928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3E1A0B1-652A-4252-85BC-BD3E5B3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77512"/>
            <a:ext cx="2706624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4. Pilot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74D9192-44C0-4A4A-AFE8-E45CE995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0436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0C880F6-2B6F-4633-8D56-D150FD6C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47751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Show evidence to clinicians under an approved protocol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40F8CA7-3636-4591-A377-3CB024D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440436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78A6AC6-8C69-48F4-9C9E-8763D38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47751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Workflow fit, burden, overrides, human factors, safety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C7DBE89-C515-4B02-83EF-50CDFCD8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82540"/>
            <a:ext cx="2852928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FD674F3-FB7C-44A9-A53F-62A85886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55692"/>
            <a:ext cx="2706624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5. Scale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5DED86A-8DF5-4D99-B9D6-C41B6D36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08254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44DD496-AB69-4A09-920B-2DFCCCC5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569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Let GMA compare sites; canary signed bundles and test rollback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B578E8A-A664-4A81-A466-F2903CA0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5082540"/>
            <a:ext cx="4059935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BEBE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2767822-8C6A-4AA1-9B75-C58DF72B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5155692"/>
            <a:ext cx="3913631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Consortium results plus security, privacy, regulatory, and audit readiness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1D0300A-8102-422A-B87C-10ACE4D3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No autonomous clinical action in the initial case study / 17</a:t>
            </a:r>
          </a:p>
        </p:txBody>
      </p:sp>
    </p:spTree>
    <p:extLst>
      <p:ext uri="{BB962C8B-B14F-4D97-AF65-F5344CB8AC3E}">
        <p14:creationId xmlns:p14="http://schemas.microsoft.com/office/powerpoint/2010/main" val="17056520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37744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4241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Judge the pilot on four kinds of evidence.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97840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Clinical performance alone is insufficient; safety, operations, and governance determine whether the system is usable and controllable.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E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8366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usefulness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6771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Discrimination and calibration; sensitivity and PPV at a fixed alert budget; lead time.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8366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Safety + equity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26771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Subgroup performance, alert burden, duplicates, acknowledgement, and override reasons.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E8D0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2958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Operational reliability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1363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Freshness, missingness, run success, inference latency, recovery, and rollback time.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83280"/>
            <a:ext cx="48920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1FA"/>
          </a:solidFill>
          <a:ln xmlns:a="http://schemas.openxmlformats.org/drawingml/2006/main" w="12700">
            <a:solidFill>
              <a:srgbClr val="B9C2B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29584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Governance evidence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913632"/>
            <a:ext cx="457200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Trace completeness, model/version coverage, access exceptions, and site-to-site variance.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36576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Targets follow measured baselines; this deck does not invent clinical outcomes / 18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BB9CCDB-CDB6-46D2-AAB1-924DC0F3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3BB2566-7613-48BE-B8F4-6418A62A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F9FC07-4330-4143-B79D-8612B56C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Use Dagents as the execution plane for a shadow-mode sepsis pilot.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CA9760-6385-4CDB-B187-EBB7C065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The project is valuable because it separates local patient computation from global coordination—and makes every plan, model, run, and rollout traceable.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EB072AB-1C19-4895-B0A7-4060EE0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95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4E"/>
          </a:solidFill>
          <a:ln xmlns:a="http://schemas.openxmlformats.org/drawingml/2006/main" w="9525">
            <a:solidFill>
              <a:srgbClr val="2E6F4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0D9345-3D90-4ADB-8B0E-AC46183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LMAs keep patient-level processing close to hospital-controlled data.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E22953-DC38-4E78-9226-CFA14AEE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7C"/>
          </a:solidFill>
          <a:ln xmlns:a="http://schemas.openxmlformats.org/drawingml/2006/main" w="9525">
            <a:solidFill>
              <a:srgbClr val="2D5B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01BC90-F2F2-4805-BA8E-271EFB53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242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GMA coordinates approved evidence without becoming a central raw-PHI lake.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3C595F4-C3FC-4AC3-9C61-8E944966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42B"/>
          </a:solidFill>
          <a:ln xmlns:a="http://schemas.openxmlformats.org/drawingml/2006/main" w="9525">
            <a:solidFill>
              <a:srgbClr val="B484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F788CBF-F21E-4EBF-9914-76AC84C9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Pipeline, model, core, and typed planner boundaries reduce duplicated platform work.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91B8C96-263A-43AE-AA7B-D08F672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D3E"/>
          </a:solidFill>
          <a:ln xmlns:a="http://schemas.openxmlformats.org/drawingml/2006/main" w="9525">
            <a:solidFill>
              <a:srgbClr val="A34D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29351B7-7389-422E-BC6A-7BB16FE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HIPAA and SOC 2 readiness becomes a concrete control backlog with reusable evidence points.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7051E74-2CCC-4F86-A1EB-E60028AC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76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9A"/>
          </a:solidFill>
          <a:ln xmlns:a="http://schemas.openxmlformats.org/drawingml/2006/main" w="9525">
            <a:solidFill>
              <a:srgbClr val="65549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8346266-EA9B-4C5E-A665-4242A626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validation, security operations, regulatory analysis, and human oversight remain essential.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813CCE-EE3F-4E16-87AA-303D37C0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Healthcare / 19</a:t>
            </a:r>
          </a:p>
        </p:txBody>
      </p:sp>
    </p:spTree>
    <p:extLst>
      <p:ext uri="{BB962C8B-B14F-4D97-AF65-F5344CB8AC3E}">
        <p14:creationId xmlns:p14="http://schemas.microsoft.com/office/powerpoint/2010/main" val="2484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2026-08-12T16:23:33.5520000Z</dcterms:created>
  <dcterms:modified xsi:type="dcterms:W3CDTF">2026-08-12T16:23:33.5520000Z</dcterms:modified>
</coreProperties>
</file>