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33"/>
    <p:restoredTop sz="94640"/>
  </p:normalViewPr>
  <p:slideViewPr>
    <p:cSldViewPr snapToGrid="0">
      <p:cViewPr varScale="1">
        <p:scale>
          <a:sx n="116" d="100"/>
          <a:sy n="116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central thesis: the useful unit is not one model, but a governed system spanning multiple hospital data boundaries.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/Users/pradyundevarakonda/Developer/Dagents/docs/presentation/dagents-project-presentation.pptx</a:t>
            </a:r>
          </a:p>
          <a:p>
            <a:r>
              <a:t>- /Users/pradyundevarakonda/Developer/Dagents/docs/agents/lma-gma-architecture.md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finance list is included to show that the local/global pattern is reusable beyond healthcare.</a:t>
            </a:r>
          </a:p>
          <a:p>
            <a:r>
              <a:t>The rest of the deck focuses on sepsis because it stresses privacy, safety, heterogeneous sources, and cross-site governance at once.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these as global burden estimates, not expected outcomes for the proposed pilot.</a:t>
            </a:r>
          </a:p>
          <a:p>
            <a:r>
              <a:t>The case study does not claim that an early-warning system will reduce mortality; that requires prospective clinical evidence.</a:t>
            </a:r>
          </a:p>
          <a:p>
            <a:endParaRPr/>
          </a:p>
          <a:p>
            <a:r>
              <a:t>[Sources]</a:t>
            </a:r>
          </a:p>
          <a:p>
            <a:r>
              <a:t>- https://www.who.int/news-room/fact-sheets/detail/sepsis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that the current model-service provides generic ML infrastructure and anomaly-model examples; a clinically valid sepsis model is new work.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/Users/pradyundevarakonda/Developer/Dagents/services/pipeline-service/README.md</a:t>
            </a:r>
          </a:p>
          <a:p>
            <a:r>
              <a:t>- /Users/pradyundevarakonda/Developer/Dagents/services/model-service/README.md</a:t>
            </a:r>
          </a:p>
          <a:p>
            <a:r>
              <a:t>- /Users/pradyundevarakonda/Developer/Dagents/services/core-service/README.md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diagram is a proposed operating pattern, not a claim about every hospital.</a:t>
            </a:r>
          </a:p>
          <a:p>
            <a:r>
              <a:t>The engineering problem is duplicated local stacks plus weak cross-site evidence and governance.</a:t>
            </a:r>
          </a:p>
          <a:p>
            <a:endParaRPr/>
          </a:p>
          <a:p>
            <a:r>
              <a:t>[Sources]</a:t>
            </a:r>
          </a:p>
          <a:p>
            <a:r>
              <a:t>- https://www.hhs.gov/hipaa/for-professionals/security/index.html</a:t>
            </a:r>
          </a:p>
          <a:p>
            <a:r>
              <a:t>- https://hl7.org/fhir/R4/observation.html</a:t>
            </a:r>
          </a:p>
          <a:p>
            <a:r>
              <a:t>- /Users/pradyundevarakonda/Developer/Dagents/docs/presentation/healthcare-case-study/diagrams/01-current-fragmentation.mmd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architecture does not require a central raw-PHI lake.</a:t>
            </a:r>
          </a:p>
          <a:p>
            <a:r>
              <a:t>The precise aggregation technique remains a design choice; the case study requires an approved minimum-data interface rather than promising a specific federated-learning algorithm.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/Users/pradyundevarakonda/Developer/Dagents/contracts/grpc/dagents/agents/v1/lma_gma.proto</a:t>
            </a:r>
          </a:p>
          <a:p>
            <a:r>
              <a:t>- /Users/pradyundevarakonda/Developer/Dagents/docs/presentation/healthcare-case-study/diagrams/02-dagents-target-architecture.mmd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clinician control and explainability. The LMA is an execution boundary, not an autonomous doctor.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/Users/pradyundevarakonda/Developer/Dagents/docs/presentation/healthcare-case-study/diagrams/03-lma-functional-flow.mmd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GMA has registration, assimilated profiling, aggregate model execution, and deployment-planning concepts; durable production infrastructure remains future work.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/Users/pradyundevarakonda/Developer/Dagents/contracts/grpc/dagents/agents/v1/lma_gma.proto</a:t>
            </a:r>
          </a:p>
          <a:p>
            <a:r>
              <a:t>- /Users/pradyundevarakonda/Developer/Dagents/docs/presentation/healthcare-case-study/diagrams/04-gma-functional-flow.mmd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from left to right and call out the denied or low-quality branch: it suppresses the output and still creates operational evidence.</a:t>
            </a:r>
          </a:p>
          <a:p>
            <a:endParaRPr/>
          </a:p>
          <a:p>
            <a:r>
              <a:t>[Sources]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/Users/pradyundevarakonda/Developer/Dagents/docs/presentation/healthcare-case-study/diagrams/05-end-to-end-sequence.mmd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the bridge between the proposed case and the actual repository: the control-plane verbs already exist even though their production hardening is incomplete.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/Users/pradyundevarakonda/Developer/Dagents/contracts/grpc/dagents/agents/v1/lma_gma.proto</a:t>
            </a:r>
          </a:p>
          <a:p>
            <a:r>
              <a:t>- /Users/pradyundevarakonda/Developer/Dagents/docs/agents/lma-gma-architecture.md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Avoid saying Dagents is HIPAA compliant or SOC 2 compliant. The accurate claim is that its architecture creates reusable control and evidence points.</a:t>
            </a:r>
          </a:p>
          <a:p>
            <a:endParaRPr/>
          </a:p>
          <a:p>
            <a:r>
              <a:t>[Sources]</a:t>
            </a:r>
          </a:p>
          <a:p>
            <a:r>
              <a:t>- https://www.hhs.gov/hipaa/for-professionals/security/index.html</a:t>
            </a:r>
          </a:p>
          <a:p>
            <a:r>
              <a:t>- https://www.hhs.gov/hipaa/for-professionals/security/laws-regulations/index.html</a:t>
            </a:r>
          </a:p>
          <a:p>
            <a:r>
              <a:t>- https://www.aicpa-cima.com/resources/download/2017-trust-services-criteria-with-revised-points-of-focus-2022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matrix is deliberately split between framework mechanisms and residual responsibilities.</a:t>
            </a:r>
          </a:p>
          <a:p>
            <a:r>
              <a:t>HIPAA minimum necessary has context-specific exceptions, including certain treatment disclosures; the deploying organization must make the legal determination.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https://www.hhs.gov/hipaa/for-professionals/privacy/guidance/minimum-necessary-requirement/index.html</a:t>
            </a:r>
          </a:p>
          <a:p>
            <a:r>
              <a:t>- https://www.hhs.gov/hipaa/for-professionals/security/laws-regulations/index.html</a:t>
            </a:r>
          </a:p>
          <a:p>
            <a:r>
              <a:t>- https://www.aicpa-cima.com/resources/download/2017-trust-services-criteria-with-revised-points-of-focus-2022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https://hl7.org/fhir/R4/observation.html</a:t>
            </a:r>
          </a:p>
          <a:p>
            <a:r>
              <a:t>- https://healthit.gov/standards-and-technology/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diagram is a proposed safety control flow, not a substitute for a clinical safety case or quality system.</a:t>
            </a:r>
          </a:p>
          <a:p>
            <a:endParaRPr/>
          </a:p>
          <a:p>
            <a:r>
              <a:t>[Sources]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https://airc.nist.gov/airmf-resources/airmf/</a:t>
            </a:r>
          </a:p>
          <a:p>
            <a:r>
              <a:t>- /Users/pradyundevarakonda/Developer/Dagents/docs/presentation/healthcare-case-study/diagrams/06-clinical-safety-gates.mmd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balanced effort argument: Dagents does not remove the hard clinical or compliance work; it prevents platform plumbing from being rebuilt for every site and use case.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/Users/pradyundevarakonda/Developer/Dagents/services/core-service/README.md</a:t>
            </a:r>
          </a:p>
          <a:p>
            <a:r>
              <a:t>- /Users/pradyundevarakonda/Developer/Dagents/services/pipeline-service/README.md</a:t>
            </a:r>
          </a:p>
          <a:p>
            <a:r>
              <a:t>- /Users/pradyundevarakonda/Developer/Dagents/services/model-service/README.md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promise a clinical go-live. The requested case is strongest as a research and shadow-mode pilot with explicit evidence gates.</a:t>
            </a:r>
          </a:p>
          <a:p>
            <a:endParaRPr/>
          </a:p>
          <a:p>
            <a:r>
              <a:t>[Sources]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https://airc.nist.gov/airmf-resources/airmf/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fixed alert budget connects technical performance to clinician capacity and prevents a high-sensitivity result from hiding unusable alert volume.</a:t>
            </a:r>
          </a:p>
          <a:p>
            <a:endParaRPr/>
          </a:p>
          <a:p>
            <a:r>
              <a:t>[Sources]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- https://airc.nist.gov/airmf-resources/airmf/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resolving the opening: Dagents is compelling here because multiple regulated local boundaries need one coordinated, auditable execution model.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https://www.hhs.gov/hipaa/for-professionals/security/index.html</a:t>
            </a:r>
          </a:p>
          <a:p>
            <a:r>
              <a:t>- https://www.aicpa-cima.com/resources/download/2017-trust-services-criteria-with-revised-points-of-focus-2022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dyunuydarp/Dagents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DBAD7086-21FE-4FD0-95D7-1188A3E82C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684ED2-C417-447E-BC93-3DDECEBC401B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619250" cy="24765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HEALTHCARE CASE STUDY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AADAB-1301-46D6-B41A-E64CF809AE50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8382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Dagents</a:t>
            </a:r>
            <a:r>
              <a:rPr sz="31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for Sepsis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5700B-61E4-42B5-88FF-89C9CE76EE4C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A multi-hospital decision-support case: keep patient-level computation local, coordinate learning globally, and make every rollout traceable.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8D4DF1-5B75-4D5B-B480-0169FB7D537F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Hospital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0A53B9-A4E7-484F-8034-98A213935481}"/>
              </a:ext>
            </a:extLst>
          </p:cNvPr>
          <p:cNvSpPr>
            <a:spLocks noGrp="1"/>
          </p:cNvSpPr>
          <p:nvPr/>
        </p:nvSpPr>
        <p:spPr>
          <a:xfrm>
            <a:off x="298704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66A10A-F573-49D6-877E-CE49EE18CAEE}"/>
              </a:ext>
            </a:extLst>
          </p:cNvPr>
          <p:cNvSpPr>
            <a:spLocks noGrp="1"/>
          </p:cNvSpPr>
          <p:nvPr/>
        </p:nvSpPr>
        <p:spPr>
          <a:xfrm>
            <a:off x="505968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63E76E-89CD-4533-B12B-BA23CA95D353}"/>
              </a:ext>
            </a:extLst>
          </p:cNvPr>
          <p:cNvSpPr>
            <a:spLocks noGrp="1"/>
          </p:cNvSpPr>
          <p:nvPr/>
        </p:nvSpPr>
        <p:spPr>
          <a:xfrm>
            <a:off x="713232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workflow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2C03F-8B20-492A-AE4E-3EBDA2782D40}"/>
              </a:ext>
            </a:extLst>
          </p:cNvPr>
          <p:cNvSpPr>
            <a:spLocks noGrp="1"/>
          </p:cNvSpPr>
          <p:nvPr/>
        </p:nvSpPr>
        <p:spPr>
          <a:xfrm>
            <a:off x="920496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Governed rollout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E66650-CFE7-4B7A-A510-5BEC7C131A06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Healthcare /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3BD50-1495-DE9C-D046-E7C5F535B0B9}"/>
              </a:ext>
            </a:extLst>
          </p:cNvPr>
          <p:cNvSpPr>
            <a:spLocks noGrp="1"/>
          </p:cNvSpPr>
          <p:nvPr/>
        </p:nvSpPr>
        <p:spPr>
          <a:xfrm>
            <a:off x="9525230" y="6044625"/>
            <a:ext cx="358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bg2">
                    <a:lumMod val="75000"/>
                  </a:schemeClr>
                </a:solidFill>
              </a:rPr>
              <a:t>Pradyun Devarakonda</a:t>
            </a:r>
          </a:p>
          <a:p>
            <a:r>
              <a:rPr sz="1600">
                <a:solidFill>
                  <a:schemeClr val="bg2">
                    <a:lumMod val="75000"/>
                  </a:schemeClr>
                </a:solidFill>
              </a:rPr>
              <a:t>Professor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166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5AB7B7-DB75-496C-AF33-7FDD3DC5DDB8}"/>
              </a:ext>
            </a:extLst>
          </p:cNvPr>
          <p:cNvSpPr>
            <a:spLocks noGrp="1"/>
          </p:cNvSpPr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0CB6B-1963-477D-B18C-AB79936C089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 OPPORTUNITIES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EC1414-F0F6-4931-BEC7-D0662752965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Regulated domains need local execution and global coordination.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7BF40-0B73-4C09-A35E-0D4ED4DD423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Healthcare and finance share fragmented data, strict access boundaries, drifting models, and audit-heavy operations. The proposed deep dive is multi-hospital sepsis decision support.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465F7-D72B-4FC0-8B6C-84B3DA6B0C7C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9396F-9F48-4223-9DC1-50C44F9FC983}"/>
              </a:ext>
            </a:extLst>
          </p:cNvPr>
          <p:cNvSpPr>
            <a:spLocks noGrp="1"/>
          </p:cNvSpPr>
          <p:nvPr/>
        </p:nvSpPr>
        <p:spPr>
          <a:xfrm>
            <a:off x="1162050" y="25527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Healthcare: sepsis/deterioration, readmission, chronic monitoring, claims quality, and imaging-model drift.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D299-2942-409C-BFC4-E2056759A9B7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482D2-0A91-47D9-A818-77C822FA6B14}"/>
              </a:ext>
            </a:extLst>
          </p:cNvPr>
          <p:cNvSpPr>
            <a:spLocks noGrp="1"/>
          </p:cNvSpPr>
          <p:nvPr/>
        </p:nvSpPr>
        <p:spPr>
          <a:xfrm>
            <a:off x="1162050" y="30861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Finance: payment fraud, AML pattern detection, credit-risk drift, liquidity, and transaction-operations anomalies.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AE66C-3EE0-4B2E-9E99-FDA787C86E27}"/>
              </a:ext>
            </a:extLst>
          </p:cNvPr>
          <p:cNvSpPr>
            <a:spLocks noGrp="1"/>
          </p:cNvSpPr>
          <p:nvPr/>
        </p:nvSpPr>
        <p:spPr>
          <a:xfrm>
            <a:off x="8953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3A9C4-A310-4B43-8A33-95A416DEEACF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sepsis: bedside decisions must stay local while evidence and model governance improve across hospitals.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55E17F-99CE-40DB-9406-767DA14F48F5}"/>
              </a:ext>
            </a:extLst>
          </p:cNvPr>
          <p:cNvSpPr>
            <a:spLocks noGrp="1"/>
          </p:cNvSpPr>
          <p:nvPr/>
        </p:nvSpPr>
        <p:spPr>
          <a:xfrm>
            <a:off x="895350" y="42195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6EEE6-1447-4276-909E-B92E08A9697B}"/>
              </a:ext>
            </a:extLst>
          </p:cNvPr>
          <p:cNvSpPr>
            <a:spLocks noGrp="1"/>
          </p:cNvSpPr>
          <p:nvPr/>
        </p:nvSpPr>
        <p:spPr>
          <a:xfrm>
            <a:off x="1162050" y="41529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Scope: retrospective and shadow-mode research first—no autonomous diagnosis or treatment.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5ED820-7FB5-428B-8432-AE58353A927D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SELECTED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C1672-6BDD-43C0-9DA7-5B38D6D9634F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75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3ADD2C-E510-4357-90C6-78A126127BF2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consortium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024E7-A8F2-449F-B740-B0F40BDA2C9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02</a:t>
            </a:r>
          </a:p>
        </p:txBody>
      </p:sp>
    </p:spTree>
    <p:extLst>
      <p:ext uri="{BB962C8B-B14F-4D97-AF65-F5344CB8AC3E}">
        <p14:creationId xmlns:p14="http://schemas.microsoft.com/office/powerpoint/2010/main" val="32332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WHY SEPSIS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Sepsis makes coordination a high-stakes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disease burden is large; the operational challenge is turning scattered, time-sensitive signals into governed clinical support.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48.9 million cases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Published 2020 global estimate summarized by WHO.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11 million deaths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WHO reports roughly 20% of global deaths in the cited estimate.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15 per 1,000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Estimated hospitalized patients developing sepsis as a complication of care.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Signals span EHRs, labs, devices, and workflows that vary by hospital.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Evidence: WHO Sepsis fact sheet, 3 May 2024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479A346-CD14-411A-AFB6-6934DCA38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29DDB-6D69-4CA7-A898-3289B0DC064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FUNCTIONAL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BB917-2BF2-4DEC-9B37-1BA2E428C27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The case needs a reusable system—not only a prediction model.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04B30-3E55-43AC-B117-A3BC57094B3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Five capability groups turn a candidate model into governed, multi-hospital clinical decision support.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3081A4-6899-453F-BDDB-D3AF6CA62CF7}"/>
              </a:ext>
            </a:extLst>
          </p:cNvPr>
          <p:cNvSpPr>
            <a:spLocks noGrp="1"/>
          </p:cNvSpPr>
          <p:nvPr/>
        </p:nvSpPr>
        <p:spPr>
          <a:xfrm>
            <a:off x="666750" y="2381249"/>
            <a:ext cx="2076450" cy="1685925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E67488-16FF-4721-B16B-EED624647858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Ingest + quality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A21E9-90FD-423B-94CD-5AE2604AE6C4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FHIR/HL7 adapters, source validation, canonical features, provenance, units, freshness, and missingness.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EBE119-5A68-4F66-9ECE-171920DB925C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168592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2C0DF7-A365-4208-97B7-95B9C2846808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6C7E8-D30E-4F8F-A2A3-A470D4067A7E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 profiles approved data, scores locally, suppresses unsafe runs, and records patient-level traces.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2E24A4-0141-4B37-8928-691636878792}"/>
              </a:ext>
            </a:extLst>
          </p:cNvPr>
          <p:cNvSpPr>
            <a:spLocks noGrp="1"/>
          </p:cNvSpPr>
          <p:nvPr/>
        </p:nvSpPr>
        <p:spPr>
          <a:xfrm>
            <a:off x="5276850" y="2381248"/>
            <a:ext cx="2076450" cy="1685925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327AB3-C9C1-4F2A-A6D0-10D7A4A645FF}"/>
              </a:ext>
            </a:extLst>
          </p:cNvPr>
          <p:cNvSpPr>
            <a:spLocks noGrp="1"/>
          </p:cNvSpPr>
          <p:nvPr/>
        </p:nvSpPr>
        <p:spPr>
          <a:xfrm>
            <a:off x="52768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56E01-AE91-43A1-8163-B51B0EF3698D}"/>
              </a:ext>
            </a:extLst>
          </p:cNvPr>
          <p:cNvSpPr>
            <a:spLocks noGrp="1"/>
          </p:cNvSpPr>
          <p:nvPr/>
        </p:nvSpPr>
        <p:spPr>
          <a:xfrm>
            <a:off x="54292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Show recommendation basis, uncertainty, and limitations; capture acknowledgement, override, and outcome.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730831-E735-4AF3-8B89-EC1D8BA5E7F2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168592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4B2B6C-E9FC-4DAE-AEEF-1C30741DD9A8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coordination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AE6955-92C1-481D-8741-E1B4ACD11D07}"/>
              </a:ext>
            </a:extLst>
          </p:cNvPr>
          <p:cNvSpPr>
            <a:spLocks noGrp="1"/>
          </p:cNvSpPr>
          <p:nvPr/>
        </p:nvSpPr>
        <p:spPr>
          <a:xfrm>
            <a:off x="773430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GMA registers sites, compares drift and calibration, and selects site-appropriate policies or bundles.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DFFB37-32AB-426D-936F-2F09D6103545}"/>
              </a:ext>
            </a:extLst>
          </p:cNvPr>
          <p:cNvSpPr>
            <a:spLocks noGrp="1"/>
          </p:cNvSpPr>
          <p:nvPr/>
        </p:nvSpPr>
        <p:spPr>
          <a:xfrm>
            <a:off x="9582150" y="2381249"/>
            <a:ext cx="1771650" cy="168592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7216B4A-3BF2-4504-852C-8A99711EC0E0}"/>
              </a:ext>
            </a:extLst>
          </p:cNvPr>
          <p:cNvSpPr>
            <a:spLocks noGrp="1"/>
          </p:cNvSpPr>
          <p:nvPr/>
        </p:nvSpPr>
        <p:spPr>
          <a:xfrm>
            <a:off x="958215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 + govern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BB77E-A396-45E8-81E6-0554EE3EAA7C}"/>
              </a:ext>
            </a:extLst>
          </p:cNvPr>
          <p:cNvSpPr>
            <a:spLocks noGrp="1"/>
          </p:cNvSpPr>
          <p:nvPr/>
        </p:nvSpPr>
        <p:spPr>
          <a:xfrm>
            <a:off x="973455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Pipelines, artifacts, typed plans, signed rollouts, canaries, monitoring, rollback, and audit evidence.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2936F-D2E1-4B65-BA8E-7DDEA9BF716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9620250" cy="742950"/>
          </a:xfrm>
          <a:prstGeom prst="rect">
            <a:avLst/>
          </a:prstGeom>
          <a:solidFill>
            <a:srgbClr val="ECE6D9"/>
          </a:solidFill>
          <a:ln w="9525">
            <a:solidFill>
              <a:srgbClr val="D5CDBF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Cross-cutting controls: security, privacy, lineage, versioning, policy gates, retention, and clinician accountability.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41F84D-20B4-45ED-993A-A1BBBB1ECECB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04</a:t>
            </a:r>
          </a:p>
        </p:txBody>
      </p:sp>
    </p:spTree>
    <p:extLst>
      <p:ext uri="{BB962C8B-B14F-4D97-AF65-F5344CB8AC3E}">
        <p14:creationId xmlns:p14="http://schemas.microsoft.com/office/powerpoint/2010/main" val="157911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55E98F-5E53-45A3-B710-C479446F57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6EC36A-0FD9-442A-B7A1-A8DE348F130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BD3491-C736-49FA-8A7C-16BB18027A7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Hospitals solve the same risk problem in isolated stacks.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D92106-81F4-40BC-9FDA-053D81E4CB4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Site-specific rules and vendors limit shared learning; raw protected health information cannot simply be centralized.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2897757"/>
            <a:ext cx="10668000" cy="2319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C064B4-2A25-420C-912E-01DBA415A96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05</a:t>
            </a:r>
          </a:p>
        </p:txBody>
      </p:sp>
    </p:spTree>
    <p:extLst>
      <p:ext uri="{BB962C8B-B14F-4D97-AF65-F5344CB8AC3E}">
        <p14:creationId xmlns:p14="http://schemas.microsoft.com/office/powerpoint/2010/main" val="179631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E53F3A-15C4-4E87-B1FC-FD206D4F9D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84829-7899-4AD9-909A-707E198CB69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7AFF5-32B7-4744-9598-EC73A05D289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scores locally and coordinates evidence globally.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B3257-4C1E-4555-8FD9-857EDB8DB61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LMAs run inside hospital trust boundaries; the GMA receives approved summaries and returns governed, versioned bundles.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936730"/>
            <a:ext cx="11049000" cy="34131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9A9093-40E4-42D4-AA15-CBE19544F380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06</a:t>
            </a:r>
          </a:p>
        </p:txBody>
      </p:sp>
    </p:spTree>
    <p:extLst>
      <p:ext uri="{BB962C8B-B14F-4D97-AF65-F5344CB8AC3E}">
        <p14:creationId xmlns:p14="http://schemas.microsoft.com/office/powerpoint/2010/main" val="73813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LMA owns the patient-level decision-support loop.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local run validates scope and quality before scoring; the clinician retains decision authority.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Receive approved FHIR, HL7, database, or event-stream data inside the hospital boundary.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Check schema, units, provenance, freshness, cohort, consent or purpose scope, and missingness.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Run the approved local model; return risk, uncertainty, model version, and input basis.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Present evidence to a clinician; capture acknowledgement, deferral, override, action, and outcome.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Only approved de-identified metrics and artifact pointers leave the hospital trust boundary.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Local execution / 07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GMA governs cross-hospital learning.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Aggregate coordination improves consistency without erasing hospital-specific populations, workflows, or risk tolerances.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Track each LMA identity, hospital scope, version, capability, and approved data-sharing policy.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ASSIMILATE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Accept approved profiles, performance metrics, run summaries, and artifact pointers with provenance.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Measure drift, calibration, subgroup behavior, alert burden, reliability, and configuration variance.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PLAN + ROLLOUT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Select site-appropriate bundles; compile plans, canary, monitor, pause, and roll back.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GMA coordinates the fleet; it does not make bedside decisions or ingest unrestricted raw PHI.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Global coordination / 08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3983AC-4FFD-4C61-B08D-BD31F49346E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RUN 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98D90-F319-4493-8E9D-A05F3D8D0580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local decision becomes a global learning signal.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141B7-813A-4C37-8DE6-81E737F86AA7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Policy and data-quality checks precede scoring; a clinician reviews the basis before any clinical workflow action.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10469880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CED8B-941D-493C-9D1F-BCF9B3A33F89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Clinician-in-the-loop execution / 09</a:t>
            </a:r>
          </a:p>
        </p:txBody>
      </p:sp>
    </p:spTree>
    <p:extLst>
      <p:ext uri="{BB962C8B-B14F-4D97-AF65-F5344CB8AC3E}">
        <p14:creationId xmlns:p14="http://schemas.microsoft.com/office/powerpoint/2010/main" val="125833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already has the required control-plane shape.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 contracts cover registration, profiling, model jobs, bundle synchronization, telemetry, and workload compilation.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records hospital/LMA identity, scope, version, capability, and desired deployment state.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profiles source-scoped records; GMA profiles approved assimilated evidence across sites.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Typed model-job requests identify task, model family, features, version, scope, and artifact prefix.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Versioned bundles and plans coordinate desired state, deployment resources, health, and rollback.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Production work: durable state, broker-backed delivery, signed bundles, idempotency, and immutable audit evidence.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Existing Dagents contracts / 10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D648CF-CF55-43A3-BA43-EB8791CF677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B496F-1310-475C-A519-C8BA8F24DD5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Compliance requires shared controls.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AC7B1-6DBE-4302-9E28-BB63F1715338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can supply reusable technical enforcement and evidence; hospitals still own organizational, security, privacy, and clinical controls.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423318-1869-493B-A37C-9D8807C2FB93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3291840" cy="20574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90CC2-FE5E-4144-BAB1-0D654DEF05B0}"/>
              </a:ext>
            </a:extLst>
          </p:cNvPr>
          <p:cNvSpPr>
            <a:spLocks noGrp="1"/>
          </p:cNvSpPr>
          <p:nvPr/>
        </p:nvSpPr>
        <p:spPr>
          <a:xfrm>
            <a:off x="896112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B981C-D1C5-43B3-ACBD-9791320C0E2A}"/>
              </a:ext>
            </a:extLst>
          </p:cNvPr>
          <p:cNvSpPr>
            <a:spLocks noGrp="1"/>
          </p:cNvSpPr>
          <p:nvPr/>
        </p:nvSpPr>
        <p:spPr>
          <a:xfrm>
            <a:off x="89611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local PHI boundary, scoped sources, run IDs. Still needed: IAM/MFA, encryption and keys, retention, risk analysis, incident response, BAAs.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914DE6-27C2-4D94-B667-557896AC0B67}"/>
              </a:ext>
            </a:extLst>
          </p:cNvPr>
          <p:cNvSpPr>
            <a:spLocks noGrp="1"/>
          </p:cNvSpPr>
          <p:nvPr/>
        </p:nvSpPr>
        <p:spPr>
          <a:xfrm>
            <a:off x="4434840" y="1691640"/>
            <a:ext cx="3291840" cy="20574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B7709-14E5-4061-8DC5-0E6C77010337}"/>
              </a:ext>
            </a:extLst>
          </p:cNvPr>
          <p:cNvSpPr>
            <a:spLocks noGrp="1"/>
          </p:cNvSpPr>
          <p:nvPr/>
        </p:nvSpPr>
        <p:spPr>
          <a:xfrm>
            <a:off x="4599431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SOC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9E10-F8E5-4106-95F5-F683B86639AB}"/>
              </a:ext>
            </a:extLst>
          </p:cNvPr>
          <p:cNvSpPr>
            <a:spLocks noGrp="1"/>
          </p:cNvSpPr>
          <p:nvPr/>
        </p:nvSpPr>
        <p:spPr>
          <a:xfrm>
            <a:off x="4599431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deterministic plans, health checks, change/run evidence. Still needed: control owners, access reviews, vendor risk, incident evidence, CPA examination.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B04290-7355-4C3D-A11F-9C147701D543}"/>
              </a:ext>
            </a:extLst>
          </p:cNvPr>
          <p:cNvSpPr>
            <a:spLocks noGrp="1"/>
          </p:cNvSpPr>
          <p:nvPr/>
        </p:nvSpPr>
        <p:spPr>
          <a:xfrm>
            <a:off x="8138160" y="1691640"/>
            <a:ext cx="3291840" cy="20574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0F19C-CA8E-4655-950F-AAC22240870F}"/>
              </a:ext>
            </a:extLst>
          </p:cNvPr>
          <p:cNvSpPr>
            <a:spLocks noGrp="1"/>
          </p:cNvSpPr>
          <p:nvPr/>
        </p:nvSpPr>
        <p:spPr>
          <a:xfrm>
            <a:off x="8302752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295D3-D8DF-4565-A41A-39801B37A06F}"/>
              </a:ext>
            </a:extLst>
          </p:cNvPr>
          <p:cNvSpPr>
            <a:spLocks noGrp="1"/>
          </p:cNvSpPr>
          <p:nvPr/>
        </p:nvSpPr>
        <p:spPr>
          <a:xfrm>
            <a:off x="830275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model/version trace, explanation inputs, policy gates, rollback. Still needed: intended use, clinical validation, human factors, regulatory and safety governance.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717F3-1A00-49A6-B673-1840A77E5987}"/>
              </a:ext>
            </a:extLst>
          </p:cNvPr>
          <p:cNvSpPr>
            <a:spLocks noGrp="1"/>
          </p:cNvSpPr>
          <p:nvPr/>
        </p:nvSpPr>
        <p:spPr>
          <a:xfrm>
            <a:off x="86868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A production claim depends on implemented and operating controls—not architecture alone. SOC 2 is an attestation; HIPAA also includes administrative and physical safeguards.</a:t>
            </a:r>
          </a:p>
        </p:txBody>
      </p:sp>
    </p:spTree>
    <p:extLst>
      <p:ext uri="{BB962C8B-B14F-4D97-AF65-F5344CB8AC3E}">
        <p14:creationId xmlns:p14="http://schemas.microsoft.com/office/powerpoint/2010/main" val="1156893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RESPONSIBILITY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enables evidence, not compliance.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implementation backlog should map each external obligation to a reusable Dagents mechanism and an accountable owner.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Dagents-aligned 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Production controls still required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 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Local boundary, scoped sources, versioned runs and plans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IAM/MFA, encryption and keys, audit controls, integrity, DR, incident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 Privacy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Approved feature contracts; aggregate-only GMA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Purpose/minimum-necessary policy, consent or authorization, retention and deletion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SOC 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Repeatable deployments, service health, evidence and lineage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 ownership, access/change/vendor reviews, operating evidence, CPA report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CDS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Human decision point, model/input basis, validation metadata, rollback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Intended use, clinical validation, human factors, regulatory assessment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FHIR / USCDI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SourceSpec and canonical dataset boundaries fit adapter-based exchange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Profiles, terminology, conformance, provenance, patient matching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 design aid—not a legal, audit, or regulatory conclusion / 12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E5CF1-98C4-4911-B38D-6AA56AF788E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CLINICAL 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E58C3-5BDC-4C3C-B532-C7CC9AF86624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action requires four explicit gates.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D804F-184A-4B26-AE37-2DC084922224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Authorization, data quality, model approval, and human review are explicit; monitoring can pause or roll back a bundle.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828799"/>
            <a:ext cx="11351230" cy="2279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F0D00-FA69-4E8E-AF3F-40ED69AECF31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Start retrospectively, then shadow mode. Fail closed, record the reason, keep the clinician accountable, and link monitoring thresholds to a tested pause/rollback plan.</a:t>
            </a:r>
          </a:p>
        </p:txBody>
      </p:sp>
    </p:spTree>
    <p:extLst>
      <p:ext uri="{BB962C8B-B14F-4D97-AF65-F5344CB8AC3E}">
        <p14:creationId xmlns:p14="http://schemas.microsoft.com/office/powerpoint/2010/main" val="1042732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DBD12-B4E5-4D50-862A-EE95276939B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EFFORT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5135A-B7C2-4A3F-A4B9-1A19657118BC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moves effort toward clinical validation.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F016E-D41B-49E9-9DA2-D7111539AAC2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framework adds discipline; the payoff grows with hospitals, models, deployments, and regulated consumers.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E996-E424-4293-8C1C-AF9D6E1AB446}"/>
              </a:ext>
            </a:extLst>
          </p:cNvPr>
          <p:cNvSpPr>
            <a:spLocks noGrp="1"/>
          </p:cNvSpPr>
          <p:nvPr/>
        </p:nvSpPr>
        <p:spPr>
          <a:xfrm>
            <a:off x="502920" y="1627632"/>
            <a:ext cx="2888589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42B3-FAB8-43E7-96EC-D556D6737311}"/>
              </a:ext>
            </a:extLst>
          </p:cNvPr>
          <p:cNvSpPr>
            <a:spLocks noGrp="1"/>
          </p:cNvSpPr>
          <p:nvPr/>
        </p:nvSpPr>
        <p:spPr>
          <a:xfrm>
            <a:off x="576072" y="17007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Concern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F242-7638-4E68-8FA8-D78A0F42581E}"/>
              </a:ext>
            </a:extLst>
          </p:cNvPr>
          <p:cNvSpPr>
            <a:spLocks noGrp="1"/>
          </p:cNvSpPr>
          <p:nvPr/>
        </p:nvSpPr>
        <p:spPr>
          <a:xfrm>
            <a:off x="3391509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79A8A-1ADC-407D-865C-BB8D994150C0}"/>
              </a:ext>
            </a:extLst>
          </p:cNvPr>
          <p:cNvSpPr>
            <a:spLocks noGrp="1"/>
          </p:cNvSpPr>
          <p:nvPr/>
        </p:nvSpPr>
        <p:spPr>
          <a:xfrm>
            <a:off x="3464661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Reusable Dagents leverage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67CD7-205E-45FC-9D3C-702CF1606E65}"/>
              </a:ext>
            </a:extLst>
          </p:cNvPr>
          <p:cNvSpPr>
            <a:spLocks noGrp="1"/>
          </p:cNvSpPr>
          <p:nvPr/>
        </p:nvSpPr>
        <p:spPr>
          <a:xfrm>
            <a:off x="7502194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641A-7A5E-448B-8A7F-B80482867BF1}"/>
              </a:ext>
            </a:extLst>
          </p:cNvPr>
          <p:cNvSpPr>
            <a:spLocks noGrp="1"/>
          </p:cNvSpPr>
          <p:nvPr/>
        </p:nvSpPr>
        <p:spPr>
          <a:xfrm>
            <a:off x="7575346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Case-specific or production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EFA45-D8D3-4A9C-96A4-DF0C960481D7}"/>
              </a:ext>
            </a:extLst>
          </p:cNvPr>
          <p:cNvSpPr>
            <a:spLocks noGrp="1"/>
          </p:cNvSpPr>
          <p:nvPr/>
        </p:nvSpPr>
        <p:spPr>
          <a:xfrm>
            <a:off x="502920" y="238201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80A78-0661-4E04-B7B9-70E32540089F}"/>
              </a:ext>
            </a:extLst>
          </p:cNvPr>
          <p:cNvSpPr>
            <a:spLocks noGrp="1"/>
          </p:cNvSpPr>
          <p:nvPr/>
        </p:nvSpPr>
        <p:spPr>
          <a:xfrm>
            <a:off x="576072" y="245516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 boundary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933A7-9FF4-435B-B5FF-A7C3853C93C5}"/>
              </a:ext>
            </a:extLst>
          </p:cNvPr>
          <p:cNvSpPr>
            <a:spLocks noGrp="1"/>
          </p:cNvSpPr>
          <p:nvPr/>
        </p:nvSpPr>
        <p:spPr>
          <a:xfrm>
            <a:off x="3391509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42238-9A3F-4E78-B85C-E0D55061F392}"/>
              </a:ext>
            </a:extLst>
          </p:cNvPr>
          <p:cNvSpPr>
            <a:spLocks noGrp="1"/>
          </p:cNvSpPr>
          <p:nvPr/>
        </p:nvSpPr>
        <p:spPr>
          <a:xfrm>
            <a:off x="3464661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SourceSpec, validation, profiling, and local/global scope contracts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51E3A-FC4E-40B7-BC28-6148F8CF2167}"/>
              </a:ext>
            </a:extLst>
          </p:cNvPr>
          <p:cNvSpPr>
            <a:spLocks noGrp="1"/>
          </p:cNvSpPr>
          <p:nvPr/>
        </p:nvSpPr>
        <p:spPr>
          <a:xfrm>
            <a:off x="7502194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4E3E5-309C-446F-98C9-71A8971D04D0}"/>
              </a:ext>
            </a:extLst>
          </p:cNvPr>
          <p:cNvSpPr>
            <a:spLocks noGrp="1"/>
          </p:cNvSpPr>
          <p:nvPr/>
        </p:nvSpPr>
        <p:spPr>
          <a:xfrm>
            <a:off x="7575346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Build FHIR/HL7 mappings, terminology, cohort, provenance, and patient matching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E18DC-73DC-4E75-9B6E-E9FD5FA926E0}"/>
              </a:ext>
            </a:extLst>
          </p:cNvPr>
          <p:cNvSpPr>
            <a:spLocks noGrp="1"/>
          </p:cNvSpPr>
          <p:nvPr/>
        </p:nvSpPr>
        <p:spPr>
          <a:xfrm>
            <a:off x="502920" y="313639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8314E-8CA6-45E6-9DB4-5A0A01FE4EF5}"/>
              </a:ext>
            </a:extLst>
          </p:cNvPr>
          <p:cNvSpPr>
            <a:spLocks noGrp="1"/>
          </p:cNvSpPr>
          <p:nvPr/>
        </p:nvSpPr>
        <p:spPr>
          <a:xfrm>
            <a:off x="576072" y="320954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4F55D-7290-4A1A-B1AA-1202B3E96581}"/>
              </a:ext>
            </a:extLst>
          </p:cNvPr>
          <p:cNvSpPr>
            <a:spLocks noGrp="1"/>
          </p:cNvSpPr>
          <p:nvPr/>
        </p:nvSpPr>
        <p:spPr>
          <a:xfrm>
            <a:off x="3391509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DA9AE-C9EA-4E8B-99E2-9C3D9CA6335A}"/>
              </a:ext>
            </a:extLst>
          </p:cNvPr>
          <p:cNvSpPr>
            <a:spLocks noGrp="1"/>
          </p:cNvSpPr>
          <p:nvPr/>
        </p:nvSpPr>
        <p:spPr>
          <a:xfrm>
            <a:off x="3464661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pipelines, runs, agent registration, telemetry, and workload plans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59F6ED-810F-4C83-86D5-41384E8BEAFA}"/>
              </a:ext>
            </a:extLst>
          </p:cNvPr>
          <p:cNvSpPr>
            <a:spLocks noGrp="1"/>
          </p:cNvSpPr>
          <p:nvPr/>
        </p:nvSpPr>
        <p:spPr>
          <a:xfrm>
            <a:off x="7502194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3B850-E077-4340-B122-134E8C1E3C94}"/>
              </a:ext>
            </a:extLst>
          </p:cNvPr>
          <p:cNvSpPr>
            <a:spLocks noGrp="1"/>
          </p:cNvSpPr>
          <p:nvPr/>
        </p:nvSpPr>
        <p:spPr>
          <a:xfrm>
            <a:off x="7575346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Add durable queues, retries, idempotency, replay, scheduling, and persistence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06D7F-DE00-4FB9-B671-BE04D37B5AED}"/>
              </a:ext>
            </a:extLst>
          </p:cNvPr>
          <p:cNvSpPr>
            <a:spLocks noGrp="1"/>
          </p:cNvSpPr>
          <p:nvPr/>
        </p:nvSpPr>
        <p:spPr>
          <a:xfrm>
            <a:off x="502920" y="389077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AE019-BFA0-4AA7-AF8E-95A18B590175}"/>
              </a:ext>
            </a:extLst>
          </p:cNvPr>
          <p:cNvSpPr>
            <a:spLocks noGrp="1"/>
          </p:cNvSpPr>
          <p:nvPr/>
        </p:nvSpPr>
        <p:spPr>
          <a:xfrm>
            <a:off x="576072" y="396392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ML lifecycle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AF58D-8638-4C52-B131-4FB895092805}"/>
              </a:ext>
            </a:extLst>
          </p:cNvPr>
          <p:cNvSpPr>
            <a:spLocks noGrp="1"/>
          </p:cNvSpPr>
          <p:nvPr/>
        </p:nvSpPr>
        <p:spPr>
          <a:xfrm>
            <a:off x="3391509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9B0E1-A2E7-48D6-802D-BFA82A23E450}"/>
              </a:ext>
            </a:extLst>
          </p:cNvPr>
          <p:cNvSpPr>
            <a:spLocks noGrp="1"/>
          </p:cNvSpPr>
          <p:nvPr/>
        </p:nvSpPr>
        <p:spPr>
          <a:xfrm>
            <a:off x="3464661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model-job, artifact, evaluation, and versioning patterns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7C103-7BCD-4BBF-8FED-74868A3C3695}"/>
              </a:ext>
            </a:extLst>
          </p:cNvPr>
          <p:cNvSpPr>
            <a:spLocks noGrp="1"/>
          </p:cNvSpPr>
          <p:nvPr/>
        </p:nvSpPr>
        <p:spPr>
          <a:xfrm>
            <a:off x="7502194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A3D92-36D0-4F25-8F70-B08D576FB91C}"/>
              </a:ext>
            </a:extLst>
          </p:cNvPr>
          <p:cNvSpPr>
            <a:spLocks noGrp="1"/>
          </p:cNvSpPr>
          <p:nvPr/>
        </p:nvSpPr>
        <p:spPr>
          <a:xfrm>
            <a:off x="7575346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Develop and clinically validate the sepsis model, thresholds, and monitoring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C8D755-973E-4DFA-A9BB-4D1561BC8F2D}"/>
              </a:ext>
            </a:extLst>
          </p:cNvPr>
          <p:cNvSpPr>
            <a:spLocks noGrp="1"/>
          </p:cNvSpPr>
          <p:nvPr/>
        </p:nvSpPr>
        <p:spPr>
          <a:xfrm>
            <a:off x="502920" y="464515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8EB1B-F066-4BCF-8C4F-5B2A81D6B611}"/>
              </a:ext>
            </a:extLst>
          </p:cNvPr>
          <p:cNvSpPr>
            <a:spLocks noGrp="1"/>
          </p:cNvSpPr>
          <p:nvPr/>
        </p:nvSpPr>
        <p:spPr>
          <a:xfrm>
            <a:off x="576072" y="471830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14006E-D9C0-4D92-BA26-C2AE0D7838DF}"/>
              </a:ext>
            </a:extLst>
          </p:cNvPr>
          <p:cNvSpPr>
            <a:spLocks noGrp="1"/>
          </p:cNvSpPr>
          <p:nvPr/>
        </p:nvSpPr>
        <p:spPr>
          <a:xfrm>
            <a:off x="3391509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6A327-84A3-4C0C-92BA-5BF7E6A77F30}"/>
              </a:ext>
            </a:extLst>
          </p:cNvPr>
          <p:cNvSpPr>
            <a:spLocks noGrp="1"/>
          </p:cNvSpPr>
          <p:nvPr/>
        </p:nvSpPr>
        <p:spPr>
          <a:xfrm>
            <a:off x="3464661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Docker/Kubernetes compilation and desired-state concepts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8831F0-7FE8-4CE5-9F5C-AC01B1C74153}"/>
              </a:ext>
            </a:extLst>
          </p:cNvPr>
          <p:cNvSpPr>
            <a:spLocks noGrp="1"/>
          </p:cNvSpPr>
          <p:nvPr/>
        </p:nvSpPr>
        <p:spPr>
          <a:xfrm>
            <a:off x="7502194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BC41C7-12CA-49DD-B21A-2842B470EEA6}"/>
              </a:ext>
            </a:extLst>
          </p:cNvPr>
          <p:cNvSpPr>
            <a:spLocks noGrp="1"/>
          </p:cNvSpPr>
          <p:nvPr/>
        </p:nvSpPr>
        <p:spPr>
          <a:xfrm>
            <a:off x="7575346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Harden secrets, signing, isolation, canaries, rollback, and disaster recovery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08C939-B03B-40D8-A0AC-F9FECE411770}"/>
              </a:ext>
            </a:extLst>
          </p:cNvPr>
          <p:cNvSpPr>
            <a:spLocks noGrp="1"/>
          </p:cNvSpPr>
          <p:nvPr/>
        </p:nvSpPr>
        <p:spPr>
          <a:xfrm>
            <a:off x="502920" y="539953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28393-C352-48CE-8EE3-95676E46C147}"/>
              </a:ext>
            </a:extLst>
          </p:cNvPr>
          <p:cNvSpPr>
            <a:spLocks noGrp="1"/>
          </p:cNvSpPr>
          <p:nvPr/>
        </p:nvSpPr>
        <p:spPr>
          <a:xfrm>
            <a:off x="576072" y="54726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B7E1E8-B494-4075-9967-EAC444533778}"/>
              </a:ext>
            </a:extLst>
          </p:cNvPr>
          <p:cNvSpPr>
            <a:spLocks noGrp="1"/>
          </p:cNvSpPr>
          <p:nvPr/>
        </p:nvSpPr>
        <p:spPr>
          <a:xfrm>
            <a:off x="3391509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CB4B39-747E-485F-8D7F-1DA41FF4926A}"/>
              </a:ext>
            </a:extLst>
          </p:cNvPr>
          <p:cNvSpPr>
            <a:spLocks noGrp="1"/>
          </p:cNvSpPr>
          <p:nvPr/>
        </p:nvSpPr>
        <p:spPr>
          <a:xfrm>
            <a:off x="3464661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typed plans, run IDs, policy gates, and lineage points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46F475-A664-45DE-8E1A-8D68FE14EB33}"/>
              </a:ext>
            </a:extLst>
          </p:cNvPr>
          <p:cNvSpPr>
            <a:spLocks noGrp="1"/>
          </p:cNvSpPr>
          <p:nvPr/>
        </p:nvSpPr>
        <p:spPr>
          <a:xfrm>
            <a:off x="7502194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4A41FF-3F45-423C-AE62-D1955E617499}"/>
              </a:ext>
            </a:extLst>
          </p:cNvPr>
          <p:cNvSpPr>
            <a:spLocks noGrp="1"/>
          </p:cNvSpPr>
          <p:nvPr/>
        </p:nvSpPr>
        <p:spPr>
          <a:xfrm>
            <a:off x="7575346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Implement IAM, immutable logs, policies, training, audits, and clinical governance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FBFE2-8640-4A2C-801D-9487E96EEB43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For one static model at one site, Dagents may be more infrastructure than necessary / 14</a:t>
            </a:r>
          </a:p>
        </p:txBody>
      </p:sp>
    </p:spTree>
    <p:extLst>
      <p:ext uri="{BB962C8B-B14F-4D97-AF65-F5344CB8AC3E}">
        <p14:creationId xmlns:p14="http://schemas.microsoft.com/office/powerpoint/2010/main" val="113414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16C7F-5DE1-4780-8723-F2B4F47C5526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PILOT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26162-FC55-4072-9ED2-CB330866CB7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safe pilot proves value in five controlled phases.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87E13-600F-4E88-BC5E-106AEBF65EB7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 gates—not calendar dates—determine when the work advances from contracts to clinical 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83E6C-1657-4B5B-8879-7FC0AEC261AE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2852928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15377-4277-4F34-B2E8-94C36D9C4436}"/>
              </a:ext>
            </a:extLst>
          </p:cNvPr>
          <p:cNvSpPr>
            <a:spLocks noGrp="1"/>
          </p:cNvSpPr>
          <p:nvPr/>
        </p:nvSpPr>
        <p:spPr>
          <a:xfrm>
            <a:off x="667512" y="17647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70B6-5F27-4C0A-8103-AABE975610F3}"/>
              </a:ext>
            </a:extLst>
          </p:cNvPr>
          <p:cNvSpPr>
            <a:spLocks noGrp="1"/>
          </p:cNvSpPr>
          <p:nvPr/>
        </p:nvSpPr>
        <p:spPr>
          <a:xfrm>
            <a:off x="3447288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4AA2-CC5C-4831-A728-17A703311F53}"/>
              </a:ext>
            </a:extLst>
          </p:cNvPr>
          <p:cNvSpPr>
            <a:spLocks noGrp="1"/>
          </p:cNvSpPr>
          <p:nvPr/>
        </p:nvSpPr>
        <p:spPr>
          <a:xfrm>
            <a:off x="3520440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EF320-5BD6-4E93-BE04-B66DC0DBE514}"/>
              </a:ext>
            </a:extLst>
          </p:cNvPr>
          <p:cNvSpPr>
            <a:spLocks noGrp="1"/>
          </p:cNvSpPr>
          <p:nvPr/>
        </p:nvSpPr>
        <p:spPr>
          <a:xfrm>
            <a:off x="7507224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EAA19-880D-4305-B631-18BEDD802D77}"/>
              </a:ext>
            </a:extLst>
          </p:cNvPr>
          <p:cNvSpPr>
            <a:spLocks noGrp="1"/>
          </p:cNvSpPr>
          <p:nvPr/>
        </p:nvSpPr>
        <p:spPr>
          <a:xfrm>
            <a:off x="7580376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D077EF-7B73-4A48-BF93-BE2FF98AD55C}"/>
              </a:ext>
            </a:extLst>
          </p:cNvPr>
          <p:cNvSpPr>
            <a:spLocks noGrp="1"/>
          </p:cNvSpPr>
          <p:nvPr/>
        </p:nvSpPr>
        <p:spPr>
          <a:xfrm>
            <a:off x="594360" y="236982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0F56B-65E8-4B4D-AE87-7B800F1570AE}"/>
              </a:ext>
            </a:extLst>
          </p:cNvPr>
          <p:cNvSpPr>
            <a:spLocks noGrp="1"/>
          </p:cNvSpPr>
          <p:nvPr/>
        </p:nvSpPr>
        <p:spPr>
          <a:xfrm>
            <a:off x="667512" y="244297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1. Define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7A60E-3308-46B9-8ED0-A94A1248497E}"/>
              </a:ext>
            </a:extLst>
          </p:cNvPr>
          <p:cNvSpPr>
            <a:spLocks noGrp="1"/>
          </p:cNvSpPr>
          <p:nvPr/>
        </p:nvSpPr>
        <p:spPr>
          <a:xfrm>
            <a:off x="3447288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2E768-B155-4108-A917-81CEC8DEFE13}"/>
              </a:ext>
            </a:extLst>
          </p:cNvPr>
          <p:cNvSpPr>
            <a:spLocks noGrp="1"/>
          </p:cNvSpPr>
          <p:nvPr/>
        </p:nvSpPr>
        <p:spPr>
          <a:xfrm>
            <a:off x="3520440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Intended use, cohort, outcome label, exclusions, sources, and governance owners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5302B5-AEFF-4AC3-A299-F08E8F36F866}"/>
              </a:ext>
            </a:extLst>
          </p:cNvPr>
          <p:cNvSpPr>
            <a:spLocks noGrp="1"/>
          </p:cNvSpPr>
          <p:nvPr/>
        </p:nvSpPr>
        <p:spPr>
          <a:xfrm>
            <a:off x="7507224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A7815-5F24-4450-95EC-DD6BE8725C25}"/>
              </a:ext>
            </a:extLst>
          </p:cNvPr>
          <p:cNvSpPr>
            <a:spLocks noGrp="1"/>
          </p:cNvSpPr>
          <p:nvPr/>
        </p:nvSpPr>
        <p:spPr>
          <a:xfrm>
            <a:off x="7580376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Approved case specification and canonical data contract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41A3F-8B3A-42AB-AA96-2BA4DC29AD3B}"/>
              </a:ext>
            </a:extLst>
          </p:cNvPr>
          <p:cNvSpPr>
            <a:spLocks noGrp="1"/>
          </p:cNvSpPr>
          <p:nvPr/>
        </p:nvSpPr>
        <p:spPr>
          <a:xfrm>
            <a:off x="594360" y="304800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F5F03-3944-44F7-B5E4-9E1086F02AB1}"/>
              </a:ext>
            </a:extLst>
          </p:cNvPr>
          <p:cNvSpPr>
            <a:spLocks noGrp="1"/>
          </p:cNvSpPr>
          <p:nvPr/>
        </p:nvSpPr>
        <p:spPr>
          <a:xfrm>
            <a:off x="667512" y="312115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2.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AA2085-00F1-42F1-853E-7AC03F183B23}"/>
              </a:ext>
            </a:extLst>
          </p:cNvPr>
          <p:cNvSpPr>
            <a:spLocks noGrp="1"/>
          </p:cNvSpPr>
          <p:nvPr/>
        </p:nvSpPr>
        <p:spPr>
          <a:xfrm>
            <a:off x="3447288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66ED5F-A66B-4934-ABC4-E83734BE467F}"/>
              </a:ext>
            </a:extLst>
          </p:cNvPr>
          <p:cNvSpPr>
            <a:spLocks noGrp="1"/>
          </p:cNvSpPr>
          <p:nvPr/>
        </p:nvSpPr>
        <p:spPr>
          <a:xfrm>
            <a:off x="3520440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Run retrospective LMAs separately at each hospital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C5B3F9-6E5F-47E9-85B6-FB13ED306D04}"/>
              </a:ext>
            </a:extLst>
          </p:cNvPr>
          <p:cNvSpPr>
            <a:spLocks noGrp="1"/>
          </p:cNvSpPr>
          <p:nvPr/>
        </p:nvSpPr>
        <p:spPr>
          <a:xfrm>
            <a:off x="7507224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212C95-D024-49DF-A483-9058E582E581}"/>
              </a:ext>
            </a:extLst>
          </p:cNvPr>
          <p:cNvSpPr>
            <a:spLocks noGrp="1"/>
          </p:cNvSpPr>
          <p:nvPr/>
        </p:nvSpPr>
        <p:spPr>
          <a:xfrm>
            <a:off x="7580376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Data-quality, calibration, subgroup, and baseline alert evidence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FE044-3348-4E4C-85FC-0F05D67F7015}"/>
              </a:ext>
            </a:extLst>
          </p:cNvPr>
          <p:cNvSpPr>
            <a:spLocks noGrp="1"/>
          </p:cNvSpPr>
          <p:nvPr/>
        </p:nvSpPr>
        <p:spPr>
          <a:xfrm>
            <a:off x="594360" y="372618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BAFB-5BF5-4B01-8498-D3546837CBE9}"/>
              </a:ext>
            </a:extLst>
          </p:cNvPr>
          <p:cNvSpPr>
            <a:spLocks noGrp="1"/>
          </p:cNvSpPr>
          <p:nvPr/>
        </p:nvSpPr>
        <p:spPr>
          <a:xfrm>
            <a:off x="667512" y="379933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3. Shadow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D6D3CF-7424-4D18-9890-24D763128CDA}"/>
              </a:ext>
            </a:extLst>
          </p:cNvPr>
          <p:cNvSpPr>
            <a:spLocks noGrp="1"/>
          </p:cNvSpPr>
          <p:nvPr/>
        </p:nvSpPr>
        <p:spPr>
          <a:xfrm>
            <a:off x="3447288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7CA9F4-FF5F-4C24-A036-12A0C3216696}"/>
              </a:ext>
            </a:extLst>
          </p:cNvPr>
          <p:cNvSpPr>
            <a:spLocks noGrp="1"/>
          </p:cNvSpPr>
          <p:nvPr/>
        </p:nvSpPr>
        <p:spPr>
          <a:xfrm>
            <a:off x="3520440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Execute prospectively without showing recommendations to clinicians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31BD2-C02C-48F0-A0FE-5BBBB95B0C51}"/>
              </a:ext>
            </a:extLst>
          </p:cNvPr>
          <p:cNvSpPr>
            <a:spLocks noGrp="1"/>
          </p:cNvSpPr>
          <p:nvPr/>
        </p:nvSpPr>
        <p:spPr>
          <a:xfrm>
            <a:off x="7507224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121A96-7DBE-4B73-92D8-36238161F7A4}"/>
              </a:ext>
            </a:extLst>
          </p:cNvPr>
          <p:cNvSpPr>
            <a:spLocks noGrp="1"/>
          </p:cNvSpPr>
          <p:nvPr/>
        </p:nvSpPr>
        <p:spPr>
          <a:xfrm>
            <a:off x="7580376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Latency, reliability, alert volume, trace completeness, recovery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FC2832-250A-4D49-8EBF-4722A2F7531D}"/>
              </a:ext>
            </a:extLst>
          </p:cNvPr>
          <p:cNvSpPr>
            <a:spLocks noGrp="1"/>
          </p:cNvSpPr>
          <p:nvPr/>
        </p:nvSpPr>
        <p:spPr>
          <a:xfrm>
            <a:off x="594360" y="440436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E1A0B1-652A-4252-85BC-BD3E5B3D5858}"/>
              </a:ext>
            </a:extLst>
          </p:cNvPr>
          <p:cNvSpPr>
            <a:spLocks noGrp="1"/>
          </p:cNvSpPr>
          <p:nvPr/>
        </p:nvSpPr>
        <p:spPr>
          <a:xfrm>
            <a:off x="667512" y="447751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4. Pilot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4D9192-44C0-4A4A-AFE8-E45CE995A1D6}"/>
              </a:ext>
            </a:extLst>
          </p:cNvPr>
          <p:cNvSpPr>
            <a:spLocks noGrp="1"/>
          </p:cNvSpPr>
          <p:nvPr/>
        </p:nvSpPr>
        <p:spPr>
          <a:xfrm>
            <a:off x="3447288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880F6-2B6F-4633-8D56-D150FD6C1945}"/>
              </a:ext>
            </a:extLst>
          </p:cNvPr>
          <p:cNvSpPr>
            <a:spLocks noGrp="1"/>
          </p:cNvSpPr>
          <p:nvPr/>
        </p:nvSpPr>
        <p:spPr>
          <a:xfrm>
            <a:off x="3520440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Show evidence to clinicians under an approved protocol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0F8CA7-3636-4591-A377-3CB024DBE12B}"/>
              </a:ext>
            </a:extLst>
          </p:cNvPr>
          <p:cNvSpPr>
            <a:spLocks noGrp="1"/>
          </p:cNvSpPr>
          <p:nvPr/>
        </p:nvSpPr>
        <p:spPr>
          <a:xfrm>
            <a:off x="7507224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8A6AC6-8C69-48F4-9C9E-8763D385948D}"/>
              </a:ext>
            </a:extLst>
          </p:cNvPr>
          <p:cNvSpPr>
            <a:spLocks noGrp="1"/>
          </p:cNvSpPr>
          <p:nvPr/>
        </p:nvSpPr>
        <p:spPr>
          <a:xfrm>
            <a:off x="7580376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Workflow fit, burden, overrides, human factors, safety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7DBE89-C515-4B02-83EF-50CDFCD86217}"/>
              </a:ext>
            </a:extLst>
          </p:cNvPr>
          <p:cNvSpPr>
            <a:spLocks noGrp="1"/>
          </p:cNvSpPr>
          <p:nvPr/>
        </p:nvSpPr>
        <p:spPr>
          <a:xfrm>
            <a:off x="594360" y="508254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674F3-FB7C-44A9-A53F-62A858865527}"/>
              </a:ext>
            </a:extLst>
          </p:cNvPr>
          <p:cNvSpPr>
            <a:spLocks noGrp="1"/>
          </p:cNvSpPr>
          <p:nvPr/>
        </p:nvSpPr>
        <p:spPr>
          <a:xfrm>
            <a:off x="667512" y="51556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5. Scale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DED86A-8DF5-4D99-B9D6-C41B6D36E250}"/>
              </a:ext>
            </a:extLst>
          </p:cNvPr>
          <p:cNvSpPr>
            <a:spLocks noGrp="1"/>
          </p:cNvSpPr>
          <p:nvPr/>
        </p:nvSpPr>
        <p:spPr>
          <a:xfrm>
            <a:off x="3447288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4DD496-AB69-4A09-920B-2DFCCCC582F8}"/>
              </a:ext>
            </a:extLst>
          </p:cNvPr>
          <p:cNvSpPr>
            <a:spLocks noGrp="1"/>
          </p:cNvSpPr>
          <p:nvPr/>
        </p:nvSpPr>
        <p:spPr>
          <a:xfrm>
            <a:off x="3520440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Let GMA compare sites; canary signed bundles and test rollback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578E8A-A664-4A81-A466-F2903CA08D64}"/>
              </a:ext>
            </a:extLst>
          </p:cNvPr>
          <p:cNvSpPr>
            <a:spLocks noGrp="1"/>
          </p:cNvSpPr>
          <p:nvPr/>
        </p:nvSpPr>
        <p:spPr>
          <a:xfrm>
            <a:off x="7507224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767822-8C6A-4AA1-9B75-C58DF72BBE26}"/>
              </a:ext>
            </a:extLst>
          </p:cNvPr>
          <p:cNvSpPr>
            <a:spLocks noGrp="1"/>
          </p:cNvSpPr>
          <p:nvPr/>
        </p:nvSpPr>
        <p:spPr>
          <a:xfrm>
            <a:off x="7580376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Consortium results plus security, privacy, regulatory, and audit readiness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D0300A-8102-422A-B87C-10ACE4D3BDF4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No autonomous clinical action in the initial case study / 15</a:t>
            </a:r>
          </a:p>
        </p:txBody>
      </p:sp>
    </p:spTree>
    <p:extLst>
      <p:ext uri="{BB962C8B-B14F-4D97-AF65-F5344CB8AC3E}">
        <p14:creationId xmlns:p14="http://schemas.microsoft.com/office/powerpoint/2010/main" val="1705652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Judge the pilot on four kinds of evidence.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Clinical performance alone is insufficient; safety, operations, and governance determine whether the system is usable and controllable.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usefulness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Discrimination and calibration; sensitivity and PPV at a fixed alert budget; lead time.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Safety + equity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Subgroup performance, alert burden, duplicates, acknowledgement, and override reasons.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Operational reliability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Freshness, missingness, run success, inference latency, recovery, and rollback time.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Governance evidence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Trace completeness, model/version coverage, access exceptions, and site-to-site variance.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Targets follow measured baselines; this deck does not invent clinical outcomes / 16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B9CCDB-CDB6-46D2-AAB1-924DC0F3ED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B2566-7613-48BE-B8F4-6418A62A468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F9FC07-4330-4143-B79D-8612B56C5543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Use Dagents as the execution plane for a shadow-mode sepsis pilot.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A9760-6385-4CDB-B187-EBB7C065B31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The project is valuable because it separates local patient computation from global coordination—and makes every plan, model, run, and rollout traceable.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072AB-1C19-4895-B0A7-4060EE04F0E8}"/>
              </a:ext>
            </a:extLst>
          </p:cNvPr>
          <p:cNvSpPr>
            <a:spLocks noGrp="1"/>
          </p:cNvSpPr>
          <p:nvPr/>
        </p:nvSpPr>
        <p:spPr>
          <a:xfrm>
            <a:off x="1238250" y="26955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D9345-3D90-4ADB-8B0E-AC4618397D62}"/>
              </a:ext>
            </a:extLst>
          </p:cNvPr>
          <p:cNvSpPr>
            <a:spLocks noGrp="1"/>
          </p:cNvSpPr>
          <p:nvPr/>
        </p:nvSpPr>
        <p:spPr>
          <a:xfrm>
            <a:off x="1504950" y="26289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LMAs keep patient-level processing close to hospital-controlled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22953-DC38-4E78-9226-CFA14AEE5151}"/>
              </a:ext>
            </a:extLst>
          </p:cNvPr>
          <p:cNvSpPr>
            <a:spLocks noGrp="1"/>
          </p:cNvSpPr>
          <p:nvPr/>
        </p:nvSpPr>
        <p:spPr>
          <a:xfrm>
            <a:off x="1238250" y="31908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1BC90-F2F2-4805-BA8E-271EFB531396}"/>
              </a:ext>
            </a:extLst>
          </p:cNvPr>
          <p:cNvSpPr>
            <a:spLocks noGrp="1"/>
          </p:cNvSpPr>
          <p:nvPr/>
        </p:nvSpPr>
        <p:spPr>
          <a:xfrm>
            <a:off x="1504950" y="31242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GMA coordinates approved evidence without becoming a central raw-PHI lake.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595F4-C3FC-4AC3-9C61-8E944966915E}"/>
              </a:ext>
            </a:extLst>
          </p:cNvPr>
          <p:cNvSpPr>
            <a:spLocks noGrp="1"/>
          </p:cNvSpPr>
          <p:nvPr/>
        </p:nvSpPr>
        <p:spPr>
          <a:xfrm>
            <a:off x="12382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88CBF-F21E-4EBF-9914-76AC84C9ADCD}"/>
              </a:ext>
            </a:extLst>
          </p:cNvPr>
          <p:cNvSpPr>
            <a:spLocks noGrp="1"/>
          </p:cNvSpPr>
          <p:nvPr/>
        </p:nvSpPr>
        <p:spPr>
          <a:xfrm>
            <a:off x="1504950" y="36195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Pipeline, model, core, and typed planner boundaries reduce duplicated platform work.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B8C96-263A-43AE-AA7B-D08F672A8504}"/>
              </a:ext>
            </a:extLst>
          </p:cNvPr>
          <p:cNvSpPr>
            <a:spLocks noGrp="1"/>
          </p:cNvSpPr>
          <p:nvPr/>
        </p:nvSpPr>
        <p:spPr>
          <a:xfrm>
            <a:off x="1238250" y="41814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351B7-7389-422E-BC6A-7BB16FE694F4}"/>
              </a:ext>
            </a:extLst>
          </p:cNvPr>
          <p:cNvSpPr>
            <a:spLocks noGrp="1"/>
          </p:cNvSpPr>
          <p:nvPr/>
        </p:nvSpPr>
        <p:spPr>
          <a:xfrm>
            <a:off x="1504950" y="41148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HIPAA and SOC 2 readiness becomes a concrete control backlog with reusable evidence points.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051E74-2CCC-4F86-A1EB-E60028ACCA68}"/>
              </a:ext>
            </a:extLst>
          </p:cNvPr>
          <p:cNvSpPr>
            <a:spLocks noGrp="1"/>
          </p:cNvSpPr>
          <p:nvPr/>
        </p:nvSpPr>
        <p:spPr>
          <a:xfrm>
            <a:off x="1238250" y="4676775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46266-EA9B-4C5E-A665-4242A6261EA6}"/>
              </a:ext>
            </a:extLst>
          </p:cNvPr>
          <p:cNvSpPr>
            <a:spLocks noGrp="1"/>
          </p:cNvSpPr>
          <p:nvPr/>
        </p:nvSpPr>
        <p:spPr>
          <a:xfrm>
            <a:off x="1504950" y="46101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validation, security operations, regulatory analysis, and human oversight remain essential.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13CCE-EE3F-4E16-87AA-303D37C09902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Healthcare / 17</a:t>
            </a:r>
          </a:p>
        </p:txBody>
      </p:sp>
    </p:spTree>
    <p:extLst>
      <p:ext uri="{BB962C8B-B14F-4D97-AF65-F5344CB8AC3E}">
        <p14:creationId xmlns:p14="http://schemas.microsoft.com/office/powerpoint/2010/main" val="24842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3243</Words>
  <Application>Microsoft Macintosh PowerPoint</Application>
  <DocSecurity>0</DocSecurity>
  <PresentationFormat>Widescreen</PresentationFormat>
  <Paragraphs>334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IMT2022525 Devarakonda Pradyun</cp:lastModifiedBy>
  <cp:revision>2</cp:revision>
  <dcterms:created xsi:type="dcterms:W3CDTF">2026-08-10T05:53:42Z</dcterms:created>
  <dcterms:modified xsi:type="dcterms:W3CDTF">2026-08-10T07:04:22Z</dcterms:modified>
</cp:coreProperties>
</file>