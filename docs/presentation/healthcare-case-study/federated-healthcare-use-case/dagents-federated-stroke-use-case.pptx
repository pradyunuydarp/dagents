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1" r:id="rId42"/>
    <p:sldId id="292" r:id="rId43"/>
    <p:sldId id="293" r:id="rId44"/>
    <p:sldId id="294" r:id="rId45"/>
    <p:sldId id="295" r:id="rId46"/>
    <p:sldId id="296" r:id="rId47"/>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proposal uses stroke triage as the concrete federated healthcare case.</a:t>
            </a:r>
          </a:p>
          <a:p>
            <a:r>
              <a:t>Hospitals keep patient records and brain scans local. Dagents coordinates approved jobs, evidence, versions, and recoverable releases around a specialist federated-learning engine.</a:t>
            </a:r>
          </a:p>
          <a:p>
            <a:endParaRPr/>
          </a:p>
          <a:p>
            <a:r>
              <a:t>[Sources]</a:t>
            </a:r>
          </a:p>
          <a:p>
            <a:r>
              <a:t>- https://www.cdc.gov/stroke/signs-symptoms/index.html</a:t>
            </a:r>
          </a:p>
          <a:p>
            <a:r>
              <a:t>- https://www.fda.gov/news-events/press-announcements/fda-permits-marketing-clinical-decision-support-software-alerting-providers-potential-stroke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Federated learning reduces raw-data collection, but individual model updates may expose information. Secure aggregation and privacy analysis are separate requirements.</a:t>
            </a:r>
          </a:p>
          <a:p>
            <a:endParaRPr/>
          </a:p>
          <a:p>
            <a:r>
              <a:t>[Sources]</a:t>
            </a:r>
          </a:p>
          <a:p>
            <a:r>
              <a:t>- https://research.google/pubs/practical-secure-aggregation-for-privacy-preserving-machine-learning/</a:t>
            </a:r>
          </a:p>
          <a:p>
            <a:r>
              <a:t>- https://research.google/blog/distributed-differential-privacy-for-federated-learning/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responsibilities rather than components. The clinical committee defines the approved study and decides whether a candidate may be released. The consortium operator starts approved rounds and reviews evidence.</a:t>
            </a:r>
          </a:p>
          <a:p>
            <a:r>
              <a:t>At each hospital, the LMA checks the signed job and approved local data view. The federated runtime performs the distributed training or evaluation. Clinicians remain the users of the approved workflow, not passive recipients of an automatic model decision.</a:t>
            </a:r>
          </a:p>
          <a:p>
            <a:endParaRPr/>
          </a:p>
          <a:p>
            <a:r>
              <a:t>[Sources]</a:t>
            </a:r>
          </a:p>
          <a:p>
            <a:r>
              <a:t>- /Users/pradyundevarakonda/Developer/Dagents/docs/agents/lma-gma-architecture.md</a:t>
            </a:r>
          </a:p>
          <a:p>
            <a:r>
              <a:t>- https://nvflare.readthedocs.io/en/main/system_architecture/system_architecture.html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complete operating path. It begins with an approved question and ends with monitoring or rollback. A model candidate is only an intermediate result.</a:t>
            </a:r>
          </a:p>
          <a:p>
            <a:r>
              <a:t>The important stop points are local approval, minimum participating hospitals, cross-site validation, and human release approval. If any stop point fails, the current approved model stays in service.</a:t>
            </a:r>
          </a:p>
          <a:p>
            <a:endParaRPr/>
          </a:p>
          <a:p>
            <a:r>
              <a:t>[Sources]</a:t>
            </a:r>
          </a:p>
          <a:p>
            <a:r>
              <a:t>- /Users/pradyundevarakonda/Developer/Dagents/docs/agents/lma-gma-architecture.md</a:t>
            </a:r>
          </a:p>
          <a:p>
            <a:r>
              <a:t>- https://nvflare.readthedocs.io/en/main/system_architecture/system_architecture.html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GMA opens a round only after the study contract, eligible hospitals, model version, and stop rules are approved. FLARE then handles the federation protocol and task exchange.</a:t>
            </a:r>
          </a:p>
          <a:p>
            <a:r>
              <a:t>Each LMA checks the signer, code, purpose, and local source view before any work runs. Raw patient records stay inside the hospital. Only the approved contribution and small measures leave the site.</a:t>
            </a:r>
          </a:p>
          <a:p>
            <a:endParaRPr/>
          </a:p>
          <a:p>
            <a:r>
              <a:t>[Sources]</a:t>
            </a:r>
          </a:p>
          <a:p>
            <a:r>
              <a:t>- /Users/pradyundevarakonda/Developer/Dagents/docs/agents/lma-gma-architecture.md</a:t>
            </a:r>
          </a:p>
          <a:p>
            <a:r>
              <a:t>- https://nvflare.readthedocs.io/en/main/system_architecture/system_architecture.html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candidate is sent back to participating hospitals for local evaluation. Sites return approved quality and safety measures, not their patient records.</a:t>
            </a:r>
          </a:p>
          <a:p>
            <a:r>
              <a:t>Dagents assembles the evidence package. The clinical committee approves a limited release only when the agreed gates pass. Otherwise, the candidate is rejected and the current model remains active.</a:t>
            </a:r>
          </a:p>
          <a:p>
            <a:endParaRPr/>
          </a:p>
          <a:p>
            <a:r>
              <a:t>[Sources]</a:t>
            </a:r>
          </a:p>
          <a:p>
            <a:r>
              <a:t>- /Users/pradyundevarakonda/Developer/Dagents/docs/agents/lma-gma-architecture.md</a:t>
            </a:r>
          </a:p>
          <a:p>
            <a:r>
              <a:t>- https://nvflare.readthedocs.io/en/main/system_architecture/system_architecture.html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Stroke is used because fast recognition and treatment matter, but the first study remains retrospective and silent.</a:t>
            </a:r>
          </a:p>
          <a:p>
            <a:r>
              <a:t>FDA-cleared stroke triage software provides a useful boundary: workflow triage can run in parallel with standard care and does not replace full image review or clinical judgment.</a:t>
            </a:r>
          </a:p>
          <a:p>
            <a:endParaRPr/>
          </a:p>
          <a:p>
            <a:r>
              <a:t>[Sources]</a:t>
            </a:r>
          </a:p>
          <a:p>
            <a:r>
              <a:t>- https://www.cdc.gov/stroke/signs-symptoms/index.html</a:t>
            </a:r>
          </a:p>
          <a:p>
            <a:r>
              <a:t>- https://www.cdc.gov/stroke/treatment/index.html</a:t>
            </a:r>
          </a:p>
          <a:p>
            <a:r>
              <a:t>- https://www.fda.gov/news-events/press-announcements/fda-permits-marketing-clinical-decision-support-software-alerting-providers-potential-stroke</a:t>
            </a:r>
          </a:p>
          <a:p>
            <a:r>
              <a:t>- https://www.accessdata.fda.gov/cdrh_docs/pdf21/K211179.pdf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diagram is a proposed architecture. The GMA coordinates round and release state; a specialist engine performs secure aggregation; every hospital retains its raw data and detailed trace.</a:t>
            </a:r>
          </a:p>
          <a:p>
            <a:endParaRPr/>
          </a:p>
          <a:p>
            <a:r>
              <a:t>[Sources]</a:t>
            </a:r>
          </a:p>
          <a:p>
            <a:r>
              <a:t>- /Users/pradyundevarakonda/Developer/Dagents/docs/agents/lma-gma-architecture.md</a:t>
            </a:r>
          </a:p>
          <a:p>
            <a:r>
              <a:t>- https://developer.nvidia.com/blog/creating-robust-and-generalizable-ai-models-with-nvidia-flare/</a:t>
            </a:r>
          </a:p>
          <a:p>
            <a:r>
              <a:t>- https://research.google/pubs/practical-secure-aggregation-for-privacy-preserving-machine-learning/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lifecycle deliberately borrows baseline, catalog, integrity, and restore concepts from enterprise backup operations. A model update is not assumed trustworthy merely because it is incremental.</a:t>
            </a:r>
          </a:p>
          <a:p>
            <a:endParaRPr/>
          </a:p>
          <a:p>
            <a:r>
              <a:t>[Sources]</a:t>
            </a:r>
          </a:p>
          <a:p>
            <a:r>
              <a:t>- https://helpcenter.veeam.com/docs/vdc/userguide/aws_backup_chain_ec2.html</a:t>
            </a:r>
          </a:p>
          <a:p>
            <a:r>
              <a:t>- https://helpcenter.veeam.com/docs/vbr/userguide/backup_health_check.html</a:t>
            </a:r>
          </a:p>
          <a:p>
            <a:r>
              <a:t>- https://www.cisa.gov/stopransomware/ransomware-guide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NVIDIA FLARE documents client-side privacy policies and site-controlled execution. NVIDIA also demonstrates local code acceptance using hashes or digital signatures.</a:t>
            </a:r>
          </a:p>
          <a:p>
            <a:endParaRPr/>
          </a:p>
          <a:p>
            <a:r>
              <a:t>[Sources]</a:t>
            </a:r>
          </a:p>
          <a:p>
            <a:r>
              <a:t>- /Users/pradyundevarakonda/Developer/Dagents/dagents/lma/README.md</a:t>
            </a:r>
          </a:p>
          <a:p>
            <a:r>
              <a:t>- https://developer.nvidia.com/blog/federated-learning-from-simulation-to-production-with-nvidia-flare/</a:t>
            </a:r>
          </a:p>
          <a:p>
            <a:r>
              <a:t>- https://developer.nvidia.com/blog/?p=71033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extends the current GMA role. The repository has registration and model-run patterns, but not a production federated round controller or secure aggregator.</a:t>
            </a:r>
          </a:p>
          <a:p>
            <a:endParaRPr/>
          </a:p>
          <a:p>
            <a:r>
              <a:t>[Sources]</a:t>
            </a:r>
          </a:p>
          <a:p>
            <a:r>
              <a:t>- /Users/pradyundevarakonda/Developer/Dagents/dagents/gma/README.md</a:t>
            </a:r>
          </a:p>
          <a:p>
            <a:r>
              <a:t>- /Users/pradyundevarakonda/Developer/Dagents/contracts/grpc/dagents/agents/v1/lma_gma.proto</a:t>
            </a:r>
          </a:p>
          <a:p>
            <a:r>
              <a:t>- https://research.google/pubs/practical-secure-aggregation-for-privacy-preserving-machine-learning/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Federated analytics reveals approved aggregates rather than training updates. Database federation supplies logical access to remote sources and may still move or expose detailed results. Backup is an operations analogy.</a:t>
            </a:r>
          </a:p>
          <a:p>
            <a:endParaRPr/>
          </a:p>
          <a:p>
            <a:r>
              <a:t>[Sources]</a:t>
            </a:r>
          </a:p>
          <a:p>
            <a:r>
              <a:t>- https://research.google/blog/federated-analytics-collaborative-data-science-without-data-collection/</a:t>
            </a:r>
          </a:p>
          <a:p>
            <a:r>
              <a:t>- https://www.ibm.com/docs/en/db2/11.1.0?topic=federation-federated-systems</a:t>
            </a:r>
          </a:p>
          <a:p>
            <a:r>
              <a:t>- https://helpcenter.veeam.com/docs/vbr/userguide/backup_architecture.html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EXAM stands for Electronic Medical Record Chest X-ray AI Model. The researchers used a patient's first chest X-ray plus 19 structured record features to estimate whether oxygen support would be needed 24 or 72 hours after arrival at the emergency department.</a:t>
            </a:r>
          </a:p>
          <a:p>
            <a:r>
              <a:t>AUC is a common measure of how well a model separates higher-risk from lower-risk cases. A value of 1.0 is perfect separation and 0.5 is close to chance. The paper reported average AUC above 0.92, but this was a COVID-19 research study. It does not prove stroke performance, clinical safety, or regulatory approval for Dagents.</a:t>
            </a:r>
          </a:p>
          <a:p>
            <a:endParaRPr/>
          </a:p>
          <a:p>
            <a:r>
              <a:t>[Sources]</a:t>
            </a:r>
          </a:p>
          <a:p>
            <a:r>
              <a:t>- https://www.nature.com/articles/s41591-021-01506-3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NVIDIA FLARE supports simulator-to-production workflows, federated statistics, client-side privacy policies, and customizable controllers. NVIDIA also documents site-side code acceptance using hashes or signatures.</a:t>
            </a:r>
          </a:p>
          <a:p>
            <a:endParaRPr/>
          </a:p>
          <a:p>
            <a:r>
              <a:t>[Sources]</a:t>
            </a:r>
          </a:p>
          <a:p>
            <a:r>
              <a:t>- https://developer.nvidia.com/blog/federated-learning-from-simulation-to-production-with-nvidia-flare/</a:t>
            </a:r>
          </a:p>
          <a:p>
            <a:r>
              <a:t>- https://developer.nvidia.com/blog/?p=71033</a:t>
            </a:r>
          </a:p>
          <a:p>
            <a:r>
              <a:t>- https://www.nature.com/articles/s41591-021-01506-3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Veeam documents a central server, source-side data movers, incremental chains, restore points, and backup health checks. CISA and NIST emphasize protected backups and regularly tested recovery.</a:t>
            </a:r>
          </a:p>
          <a:p>
            <a:endParaRPr/>
          </a:p>
          <a:p>
            <a:r>
              <a:t>[Sources]</a:t>
            </a:r>
          </a:p>
          <a:p>
            <a:r>
              <a:t>- https://helpcenter.veeam.com/docs/vbr/userguide/backup_architecture.html</a:t>
            </a:r>
          </a:p>
          <a:p>
            <a:r>
              <a:t>- https://helpcenter.veeam.com/docs/vdc/userguide/aws_backup_chain_ec2.html</a:t>
            </a:r>
          </a:p>
          <a:p>
            <a:r>
              <a:t>- https://helpcenter.veeam.com/docs/vbr/userguide/backup_health_check.html</a:t>
            </a:r>
          </a:p>
          <a:p>
            <a:r>
              <a:t>- https://www.cisa.gov/stopransomware/ransomware-guide</a:t>
            </a:r>
          </a:p>
          <a:p>
            <a:r>
              <a:t>- https://csrc.nist.gov/pubs/other/2020/04/24/protecting-data-from-ransomware-and-other-data-los/final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distinguishes existing Dagents service boundaries from the proposed federated engine and signed registry extensions.</a:t>
            </a:r>
          </a:p>
          <a:p>
            <a:endParaRPr/>
          </a:p>
          <a:p>
            <a:r>
              <a:t>[Sources]</a:t>
            </a:r>
          </a:p>
          <a:p>
            <a:r>
              <a:t>- /Users/pradyundevarakonda/Developer/Dagents/AGENTS.md</a:t>
            </a:r>
          </a:p>
          <a:p>
            <a:r>
              <a:t>- /Users/pradyundevarakonda/Developer/Dagents/docs/agents/lma-gma-architecture.md</a:t>
            </a:r>
          </a:p>
          <a:p>
            <a:r>
              <a:t>- /Users/pradyundevarakonda/Developer/Dagents/services/pipeline-service/README.md</a:t>
            </a:r>
          </a:p>
          <a:p>
            <a:r>
              <a:t>- /Users/pradyundevarakonda/Developer/Dagents/services/model-service/README.md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Dagents can be an abstraction over FLARE because the clinical study, site eligibility, round contract, evidence package, and release decision do not need to expose every FLARE-specific detail. An adapter translates the stable Dagents contract into a FLARE job.</a:t>
            </a:r>
          </a:p>
          <a:p>
            <a:r>
              <a:t>Dagents also runs in parallel with FLARE at the hospital. The LMA checks purpose, identity, code, and local source access. The FLARE client handles protocol tasks and returns the approved contribution. Neither component replaces the other.</a:t>
            </a:r>
          </a:p>
          <a:p>
            <a:endParaRPr/>
          </a:p>
          <a:p>
            <a:r>
              <a:t>[Sources]</a:t>
            </a:r>
          </a:p>
          <a:p>
            <a:r>
              <a:t>- /Users/pradyundevarakonda/Developer/Dagents/docs/agents/lma-gma-architecture.md</a:t>
            </a:r>
          </a:p>
          <a:p>
            <a:r>
              <a:t>- https://nvflare.readthedocs.io/en/main/system_architecture/system_architecture.html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FLARE is the specialist execution layer. Its server controller and client APIs run tasks, collect site contributions, aggregate them, and support cross-site validation and privacy workflows.</a:t>
            </a:r>
          </a:p>
          <a:p>
            <a:r>
              <a:t>Dagents is the healthcare workflow and governance layer. Its GMA and LMA boundaries define which sites and source views are allowed, track evidence, and control release and rollback. A stable contract lets Dagents use FLARE today without making the healthcare workflow depend on one runtime forever.</a:t>
            </a:r>
          </a:p>
          <a:p>
            <a:endParaRPr/>
          </a:p>
          <a:p>
            <a:r>
              <a:t>[Sources]</a:t>
            </a:r>
          </a:p>
          <a:p>
            <a:r>
              <a:t>- https://nvflare.readthedocs.io/en/main/system_architecture/system_architecture.html</a:t>
            </a:r>
          </a:p>
          <a:p>
            <a:r>
              <a:t>- /Users/pradyundevarakonda/Developer/Dagents/docs/agents/lma-gma-architecture.md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Keeping records local can reduce data movement, but it does not make a system HIPAA compliant, SOC 2 audited, or medically approved.</a:t>
            </a:r>
          </a:p>
          <a:p>
            <a:r>
              <a:t>For the stroke pilot, each hospital still needs privacy, security, clinical-safety, human-factors, and regulatory work before any care use.</a:t>
            </a:r>
          </a:p>
          <a:p>
            <a:endParaRPr/>
          </a:p>
          <a:p>
            <a:r>
              <a:t>[Sources]</a:t>
            </a:r>
          </a:p>
          <a:p>
            <a:r>
              <a:t>- https://www.hhs.gov/hipaa/for-professionals/security/index.html</a:t>
            </a:r>
          </a:p>
          <a:p>
            <a:r>
              <a:t>- https://www.aicpa-cima.com/resources/download/2017-trust-services-criteria-with-revised-points-of-focus-2022</a:t>
            </a:r>
          </a:p>
          <a:p>
            <a:r>
              <a:t>- https://www.fda.gov/news-events/press-announcements/fda-permits-marketing-clinical-decision-support-software-alerting-providers-potential-stroke</a:t>
            </a:r>
          </a:p>
          <a:p>
            <a:r>
              <a:t>- https://www.accessdata.fda.gov/cdrh_docs/pdf21/K211179.pdf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code-approval gate is supported by NVIDIA's example of hospital-side job acceptance based on code hashes or signatures. Secure aggregation requires a threshold and does not replace all privacy or security controls.</a:t>
            </a:r>
          </a:p>
          <a:p>
            <a:endParaRPr/>
          </a:p>
          <a:p>
            <a:r>
              <a:t>[Sources]</a:t>
            </a:r>
          </a:p>
          <a:p>
            <a:r>
              <a:t>- https://developer.nvidia.com/blog/?p=71033</a:t>
            </a:r>
          </a:p>
          <a:p>
            <a:r>
              <a:t>- https://research.google/pubs/practical-secure-aggregation-for-privacy-preserving-machine-learning/</a:t>
            </a:r>
          </a:p>
          <a:p>
            <a:r>
              <a:t>- https://research.google/blog/distributed-differential-privacy-for-federated-learning/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architectural pros-and-cons comparison, not a vendor benchmark. Dagents is strongest when paired with a specialist federated-learning engine; its main tradeoff is integration and operational ownership.</a:t>
            </a:r>
          </a:p>
          <a:p>
            <a:endParaRPr/>
          </a:p>
          <a:p>
            <a:r>
              <a:t>[Sources]</a:t>
            </a:r>
          </a:p>
          <a:p>
            <a:r>
              <a:t>- /Users/pradyundevarakonda/Developer/Dagents/AGENTS.md</a:t>
            </a:r>
          </a:p>
          <a:p>
            <a:r>
              <a:t>- /Users/pradyundevarakonda/Developer/Dagents/docs/agents/lma-gma-architecture.md</a:t>
            </a:r>
          </a:p>
          <a:p>
            <a:r>
              <a:t>- https://developer.nvidia.com/blog/creating-robust-and-generalizable-ai-models-with-nvidia-flare/</a:t>
            </a:r>
          </a:p>
          <a:p>
            <a:r>
              <a:t>- https://research.google/blog/federated-analytics-collaborative-data-science-without-data-collection/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roadmap starts with a precise stroke-triage question and federated analytics. Training is enabled only after common meaning, small-message exchange, privacy thresholds, and recovery are proven.</a:t>
            </a:r>
          </a:p>
          <a:p>
            <a:endParaRPr/>
          </a:p>
          <a:p>
            <a:r>
              <a:t>[Sources]</a:t>
            </a:r>
          </a:p>
          <a:p>
            <a:r>
              <a:t>- https://www.cdc.gov/stroke/treatment/index.html</a:t>
            </a:r>
          </a:p>
          <a:p>
            <a:r>
              <a:t>- https://www.accessdata.fda.gov/cdrh_docs/pdf21/K211179.pdf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evaluation groups combine clinical-model evidence, data minimization, distributed-operations reliability, and backup-inspired recovery assurance.</a:t>
            </a:r>
          </a:p>
          <a:p>
            <a:endParaRPr/>
          </a:p>
          <a:p>
            <a:r>
              <a:t>[Sources]</a:t>
            </a:r>
          </a:p>
          <a:p>
            <a:r>
              <a:t>- https://www.nature.com/articles/s41591-021-01506-3</a:t>
            </a:r>
          </a:p>
          <a:p>
            <a:r>
              <a:t>- https://research.google/blog/distributed-differential-privacy-for-federated-learning/</a:t>
            </a:r>
          </a:p>
          <a:p>
            <a:r>
              <a:t>- https://www.cisa.gov/stopransomware/ransomware-guide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Recommendation: use Dagents as the governed orchestration and release layer around a specialist federated-learning engine.</a:t>
            </a:r>
          </a:p>
          <a:p>
            <a:r>
              <a:t>Begin with federated analytics and a silent stroke-triage workflow study. Require local approval, protected aggregation where justified, signed releases, and tested rollback before training or clinician-facing use.</a:t>
            </a:r>
          </a:p>
          <a:p>
            <a:endParaRPr/>
          </a:p>
          <a:p>
            <a:r>
              <a:t>[Sources]</a:t>
            </a:r>
          </a:p>
          <a:p>
            <a:r>
              <a:t>- https://www.accessdata.fda.gov/cdrh_docs/pdf21/K211179.pdf</a:t>
            </a:r>
          </a:p>
          <a:p>
            <a:r>
              <a:t>- /Users/pradyundevarakonda/Developer/Dagents/docs/agents/lma-gma-architecture.md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these as working definitions for the presentation. Federated database behavior is based on IBM Db2 federation; backup language is used only as an operations analogy.</a:t>
            </a:r>
          </a:p>
          <a:p>
            <a:endParaRPr/>
          </a:p>
          <a:p>
            <a:r>
              <a:t>[Sources]</a:t>
            </a:r>
          </a:p>
          <a:p>
            <a:r>
              <a:t>- https://research.google/pubs/communication-efficient-learning-of-deep-networks-from-decentralized-data/</a:t>
            </a:r>
          </a:p>
          <a:p>
            <a:r>
              <a:t>- https://research.google/blog/federated-analytics-collaborative-data-science-without-data-collection/</a:t>
            </a:r>
          </a:p>
          <a:p>
            <a:r>
              <a:t>- https://www.ibm.com/docs/en/db2/11.1.0?topic=federation-federated-systems</a:t>
            </a:r>
          </a:p>
          <a:p>
            <a:r>
              <a:t>- https://research.google/pubs/practical-secure-aggregation-for-privacy-preserving-machine-learning/</a:t>
            </a:r>
          </a:p>
          <a:p>
            <a:r>
              <a:t>- https://helpcenter.veeam.com/docs/vdc/userguide/aws_backup_chain_ec2.html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appendix is designed to replace a separate introductory course for this presentation. It explains the few concepts needed to understand the proposed architecture and to answer basic questions.</a:t>
            </a:r>
          </a:p>
          <a:p>
            <a:r>
              <a:t>The main distinction is simple: NVIDIA FLARE is a specialist runtime for distributed or federated computing. Dagents is the reusable control, policy, evidence, deployment, and recovery layer around that runtime.</a:t>
            </a:r>
          </a:p>
          <a:p>
            <a:endParaRPr/>
          </a:p>
          <a:p>
            <a:r>
              <a:t>[Sources]</a:t>
            </a:r>
          </a:p>
          <a:p>
            <a:r>
              <a:t>- https://github.com/NVIDIA/NVFlare</a:t>
            </a:r>
          </a:p>
          <a:p>
            <a:r>
              <a:t>- https://nvflare.readthedocs.io/en/main/system_architecture/system_architecture.html</a:t>
            </a:r>
          </a:p>
          <a:p>
            <a:r>
              <a:t>- /Users/pradyundevarakonda/Developer/Dagents/docs/agents/lma-gma-architecture.md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Federated AI is the umbrella. Federated learning is one member of that family and specifically improves a shared model from locally computed updates.</a:t>
            </a:r>
          </a:p>
          <a:p>
            <a:r>
              <a:t>Federated analytics produces shared counts or measures without training a model. A federated database offers remote query access and can still move detailed results. Secure aggregation and differential privacy are protection techniques, not synonyms for federated learning.</a:t>
            </a:r>
          </a:p>
          <a:p>
            <a:r>
              <a:t>Ask two questions whenever someone says federated: what is computed locally, and exactly what is allowed to leave each site?</a:t>
            </a:r>
          </a:p>
          <a:p>
            <a:endParaRPr/>
          </a:p>
          <a:p>
            <a:r>
              <a:t>[Sources]</a:t>
            </a:r>
          </a:p>
          <a:p>
            <a:r>
              <a:t>- https://github.com/NVIDIA/NVFlare</a:t>
            </a:r>
          </a:p>
          <a:p>
            <a:r>
              <a:t>- https://research.google/pubs/communication-efficient-learning-of-deep-networks-from-decentralized-data/</a:t>
            </a:r>
          </a:p>
          <a:p>
            <a:r>
              <a:t>- https://research.google/pubs/practical-secure-aggregation-for-privacy-preserving-machine-learning/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FLARE stands for NVIDIA Federated Learning Application Runtime Environment. NVIDIA describes it as an open-source, extensible Python SDK for adapting machine-learning and other collaborative-computing workflows to a federated setting.</a:t>
            </a:r>
          </a:p>
          <a:p>
            <a:r>
              <a:t>Its component architecture supports server-side workflows, client-side execution, several machine-learning frameworks, federated statistics, multiple aggregation algorithms, privacy mechanisms, and deployment from simulation to production.</a:t>
            </a:r>
          </a:p>
          <a:p>
            <a:r>
              <a:t>What FLARE does not supply is just as important: the validated stroke model, the clinical intended use, hospital governance, HIPAA compliance, or the Dagents product-level release contract.</a:t>
            </a:r>
          </a:p>
          <a:p>
            <a:endParaRPr/>
          </a:p>
          <a:p>
            <a:r>
              <a:t>[Sources]</a:t>
            </a:r>
          </a:p>
          <a:p>
            <a:r>
              <a:t>- https://github.com/NVIDIA/NVFlare</a:t>
            </a:r>
          </a:p>
          <a:p>
            <a:r>
              <a:t>- https://nvflare.readthedocs.io/en/main/system_architecture/system_architecture.html</a:t>
            </a:r>
          </a:p>
          <a:p>
            <a:r>
              <a:t>- https://nvflare.readthedocs.io/en/main/system_architecture/security_overview.html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Job Recipe is FLARE's higher-level way to describe a complete job. At runtime, a server-side Controller creates tasks and processes results.</a:t>
            </a:r>
          </a:p>
          <a:p>
            <a:r>
              <a:t>On each client, an Executor or the higher-level Client API connects the FLARE runtime to local training or evaluation code. Recent FLARE APIs commonly exchange model state and lightweight metadata through FLModel; lower-level applications may use Shareable and FLContext concepts.</a:t>
            </a:r>
          </a:p>
          <a:p>
            <a:r>
              <a:t>For a professor-level discussion, the four bold terms are enough: job, controller, task, and executor. The rest is implementation detail until the project is built.</a:t>
            </a:r>
          </a:p>
          <a:p>
            <a:endParaRPr/>
          </a:p>
          <a:p>
            <a:r>
              <a:t>[Sources]</a:t>
            </a:r>
          </a:p>
          <a:p>
            <a:r>
              <a:t>- https://nvflare.readthedocs.io/en/main/programming_guide/flare_api_evolution.html</a:t>
            </a:r>
          </a:p>
          <a:p>
            <a:r>
              <a:t>- https://nvflare.readthedocs.io/en/main/system_architecture/system_architecture.html</a:t>
            </a:r>
          </a:p>
          <a:p>
            <a:r>
              <a:t>- https://github.com/NVIDIA/NVFlare/blob/main/examples/hello-world/README.md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FLARE uses a task-based interaction model. The Controller creates work; clients request tasks, execute them locally, and return results. The Controller processes those results to advance or stop the workflow.</a:t>
            </a:r>
          </a:p>
          <a:p>
            <a:r>
              <a:t>A well-governed round records the input model, code, selected sites, completed sites, privacy settings, aggregate result, evaluation status, and reason for stopping. Dagents can wrap these details in a reusable round and evidence contract.</a:t>
            </a:r>
          </a:p>
          <a:p>
            <a:r>
              <a:t>If too few sites complete, a privacy threshold is missed, or validation fails, the round should stop without producing a release.</a:t>
            </a:r>
          </a:p>
          <a:p>
            <a:endParaRPr/>
          </a:p>
          <a:p>
            <a:r>
              <a:t>[Sources]</a:t>
            </a:r>
          </a:p>
          <a:p>
            <a:r>
              <a:t>- https://nvflare.readthedocs.io/en/main/system_architecture/system_architecture.html</a:t>
            </a:r>
          </a:p>
          <a:p>
            <a:r>
              <a:t>- https://nvflare.readthedocs.io/en/main/programming_guide/flare_api_evolution.html</a:t>
            </a:r>
          </a:p>
          <a:p>
            <a:r>
              <a:t>- /Users/pradyundevarakonda/Developer/Dagents/docs/agents/lma-gma-architecture.md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Federated Averaging, or FedAvg, is the most useful first mental model for aggregation. Each participant trains the same starting model locally and sends a model update. The server computes a weighted average of those updates.</a:t>
            </a:r>
          </a:p>
          <a:p>
            <a:r>
              <a:t>The weighting is often based on the amount of local training data, but production systems may add caps, clipping, reliability checks, fairness constraints, or choose a different algorithm entirely.</a:t>
            </a:r>
          </a:p>
          <a:p>
            <a:r>
              <a:t>FedAvg explains how a candidate can be created without centralizing training rows. It does not, by itself, guarantee privacy, security, fairness, or clinical usefulness.</a:t>
            </a:r>
          </a:p>
          <a:p>
            <a:endParaRPr/>
          </a:p>
          <a:p>
            <a:r>
              <a:t>[Sources]</a:t>
            </a:r>
          </a:p>
          <a:p>
            <a:r>
              <a:t>- https://research.google/pubs/communication-efficient-learning-of-deep-networks-from-decentralized-data/</a:t>
            </a:r>
          </a:p>
          <a:p>
            <a:r>
              <a:t>- https://github.com/NVIDIA/NVFlare/blob/main/examples/hello-world/README.md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Secure aggregation lets a server recover an aggregate without reading each participant's individual contribution, provided the protocol's threshold and assumptions are satisfied.</a:t>
            </a:r>
          </a:p>
          <a:p>
            <a:r>
              <a:t>Differential privacy limits how strongly an individual sample or participant can affect a released result. FLARE documents client-side filters and training-time DP-SGD approaches with clipping, noise, and privacy accounting.</a:t>
            </a:r>
          </a:p>
          <a:p>
            <a:r>
              <a:t>Mutual TLS, signatures, authorization, audit, secure aggregation, and differential privacy protect different parts of the system. A healthcare deployment usually needs several of them plus the hospital's existing security program.</a:t>
            </a:r>
          </a:p>
          <a:p>
            <a:endParaRPr/>
          </a:p>
          <a:p>
            <a:r>
              <a:t>[Sources]</a:t>
            </a:r>
          </a:p>
          <a:p>
            <a:r>
              <a:t>- https://research.google/pubs/practical-secure-aggregation-for-privacy-preserving-machine-learning/</a:t>
            </a:r>
          </a:p>
          <a:p>
            <a:r>
              <a:t>- https://nvflare.readthedocs.io/en/main/system_architecture/security_overview.html</a:t>
            </a:r>
          </a:p>
          <a:p>
            <a:r>
              <a:t>- https://nvflare.readthedocs.io/en/main/user_guide/admin_guide/security/differential_privacy.html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Simulator mode is the fastest environment and runs a federation locally for algorithm and job development. POC mode uses separate local processes to exercise more realistic behavior.</a:t>
            </a:r>
          </a:p>
          <a:p>
            <a:r>
              <a:t>Production mode distributes provisioned server and client systems across real machines and uses production identity and communication controls. It also introduces real firewalls, certificates, administrators, availability requirements, and recovery work.</a:t>
            </a:r>
          </a:p>
          <a:p>
            <a:r>
              <a:t>The same job succeeding in all three modes is useful, but production deployment still needs hospital approval, security testing, privacy review, operational monitoring, and clinical validation.</a:t>
            </a:r>
          </a:p>
          <a:p>
            <a:endParaRPr/>
          </a:p>
          <a:p>
            <a:r>
              <a:t>[Sources]</a:t>
            </a:r>
          </a:p>
          <a:p>
            <a:r>
              <a:t>- https://nvflare.readthedocs.io/en/main/run_mode.html</a:t>
            </a:r>
          </a:p>
          <a:p>
            <a:r>
              <a:t>- https://nvflare.readthedocs.io/en/main/system_architecture/system_architecture.html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seed or global model is the model state entering a round. A local model update is the mathematical change produced by one site. Aggregation creates a candidate global model.</a:t>
            </a:r>
          </a:p>
          <a:p>
            <a:r>
              <a:t>A candidate is not a release. It needs cross-site validation, privacy and security checks, clinical review, a signed version, and a recovery plan.</a:t>
            </a:r>
          </a:p>
          <a:p>
            <a:r>
              <a:t>Dropout is normal in distributed systems. The round definition should state how many sites must complete and what happens when the quorum or minimum participant threshold is missed.</a:t>
            </a:r>
          </a:p>
          <a:p>
            <a:endParaRPr/>
          </a:p>
          <a:p>
            <a:r>
              <a:t>[Sources]</a:t>
            </a:r>
          </a:p>
          <a:p>
            <a:r>
              <a:t>- https://nvflare.readthedocs.io/en/main/system_architecture/system_architecture.html</a:t>
            </a:r>
          </a:p>
          <a:p>
            <a:r>
              <a:t>- https://research.google/pubs/communication-efficient-learning-of-deep-networks-from-decentralized-data/</a:t>
            </a:r>
          </a:p>
          <a:p>
            <a:r>
              <a:t>- https://research.google/pubs/practical-secure-aggregation-for-privacy-preserving-machine-learning/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asked to summarize NVIDIA FLARE in one sentence: it is an open-source runtime that coordinates server-side workflows and client-side local computation for federated jobs.</a:t>
            </a:r>
          </a:p>
          <a:p>
            <a:r>
              <a:t>If asked why Dagents is still needed: FLARE executes the federation, while Dagents supplies reusable hospital boundaries, product contracts, deployment planning, policy, evidence, release governance, and rollback across use cases.</a:t>
            </a:r>
          </a:p>
          <a:p>
            <a:r>
              <a:t>If asked whether federated learning is automatically private or compliant: no. Keeping raw data local is useful, but updates, code, identities, infrastructure, and final models still need layered controls and proof.</a:t>
            </a:r>
          </a:p>
          <a:p>
            <a:endParaRPr/>
          </a:p>
          <a:p>
            <a:r>
              <a:t>[Sources]</a:t>
            </a:r>
          </a:p>
          <a:p>
            <a:r>
              <a:t>- https://github.com/NVIDIA/NVFlare</a:t>
            </a:r>
          </a:p>
          <a:p>
            <a:r>
              <a:t>- https://nvflare.readthedocs.io/en/main/system_architecture/security_overview.html</a:t>
            </a:r>
          </a:p>
          <a:p>
            <a:r>
              <a:t>- https://nvflare.readthedocs.io/en/main/run_mode.html</a:t>
            </a:r>
          </a:p>
          <a:p>
            <a:r>
              <a:t>- /Users/pradyundevarakonda/Developer/Dagents/docs/agents/lma-gma-architecture.md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pradyunuydarp/Dagents.gi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github.com/pradyunuydarp/Dagents.gi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hlinkClick r:id="rId3"/>
            <a:extLst>
              <a:ext uri="{FF2B5EF4-FFF2-40B4-BE49-F238E27FC236}">
                <a16:creationId xmlns:a16="http://schemas.microsoft.com/office/drawing/2014/main" id="{DBAD7086-21FE-4FD0-95D7-1188A3E82C59}"/>
              </a:ext>
            </a:extLst>
          </p:cNvPr>
          <p:cNvSpPr>
            <a:spLocks noGrp="1"/>
          </p:cNvSpPr>
          <p:nvPr/>
        </p:nvSpPr>
        <p:spPr>
          <a:xfrm>
            <a:off x="0" y="0"/>
            <a:ext cx="12192000" cy="6858000"/>
          </a:xfrm>
          <a:prstGeom prst="rect">
            <a:avLst/>
          </a:prstGeom>
          <a:solidFill>
            <a:srgbClr val="111815"/>
          </a:solidFill>
          <a:ln w="9525">
            <a:solidFill>
              <a:srgbClr val="111815"/>
            </a:solidFill>
          </a:ln>
        </p:spPr>
        <p:txBody>
          <a:bodyPr/>
          <a:lstStyle/>
          <a:p>
            <a:endParaRPr/>
          </a:p>
        </p:txBody>
      </p:sp>
      <p:sp>
        <p:nvSpPr>
          <p:cNvPr id="2" name="Rectangle 1">
            <a:extLst>
              <a:ext uri="{FF2B5EF4-FFF2-40B4-BE49-F238E27FC236}">
                <a16:creationId xmlns:a16="http://schemas.microsoft.com/office/drawing/2014/main" id="{50684ED2-C417-447E-BC93-3DDECEBC401B}"/>
              </a:ext>
            </a:extLst>
          </p:cNvPr>
          <p:cNvSpPr>
            <a:spLocks noGrp="1"/>
          </p:cNvSpPr>
          <p:nvPr/>
        </p:nvSpPr>
        <p:spPr>
          <a:xfrm>
            <a:off x="666750" y="533400"/>
            <a:ext cx="1619250" cy="247650"/>
          </a:xfrm>
          <a:prstGeom prst="rect">
            <a:avLst/>
          </a:prstGeom>
          <a:solidFill>
            <a:srgbClr val="2E6F4E"/>
          </a:solidFill>
          <a:ln w="9525">
            <a:solidFill>
              <a:srgbClr val="2E6F4E"/>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FEDERATED HEALTHCARE USE CASE</a:t>
            </a:r>
          </a:p>
        </p:txBody>
      </p:sp>
      <p:sp>
        <p:nvSpPr>
          <p:cNvPr id="3" name="Rectangle 2">
            <a:extLst>
              <a:ext uri="{FF2B5EF4-FFF2-40B4-BE49-F238E27FC236}">
                <a16:creationId xmlns:a16="http://schemas.microsoft.com/office/drawing/2014/main" id="{002AADAB-1301-46D6-B41A-E64CF809AE50}"/>
              </a:ext>
            </a:extLst>
          </p:cNvPr>
          <p:cNvSpPr>
            <a:spLocks noGrp="1"/>
          </p:cNvSpPr>
          <p:nvPr/>
        </p:nvSpPr>
        <p:spPr>
          <a:xfrm>
            <a:off x="666750" y="1200150"/>
            <a:ext cx="8382000" cy="1238250"/>
          </a:xfrm>
          <a:prstGeom prst="rect">
            <a:avLst/>
          </a:prstGeom>
          <a:noFill/>
          <a:ln w="0">
            <a:noFill/>
          </a:ln>
        </p:spPr>
        <p:txBody>
          <a:bodyPr lIns="0" tIns="0" rIns="0" bIns="0" anchor="t"/>
          <a:lstStyle/>
          <a:p>
            <a:pPr algn="l">
              <a:buNone/>
              <a:defRPr sz="3150" b="0">
                <a:solidFill>
                  <a:srgbClr val="FFFFFF"/>
                </a:solidFill>
                <a:latin typeface="Georgia"/>
                <a:ea typeface="Georgia"/>
                <a:cs typeface="Georgia"/>
              </a:defRPr>
            </a:pPr>
            <a:r>
              <a:rPr sz="3150" b="0">
                <a:solidFill>
                  <a:srgbClr val="FFFFFF"/>
                </a:solidFill>
                <a:latin typeface="Georgia"/>
                <a:ea typeface="Georgia"/>
                <a:cs typeface="Georgia"/>
              </a:rPr>
              <a:t>Dagents for Federated Stroke Triage</a:t>
            </a:r>
          </a:p>
        </p:txBody>
      </p:sp>
      <p:sp>
        <p:nvSpPr>
          <p:cNvPr id="4" name="Rectangle 3">
            <a:extLst>
              <a:ext uri="{FF2B5EF4-FFF2-40B4-BE49-F238E27FC236}">
                <a16:creationId xmlns:a16="http://schemas.microsoft.com/office/drawing/2014/main" id="{4E35700B-61E4-42B5-88FF-89C9CE76EE4C}"/>
              </a:ext>
            </a:extLst>
          </p:cNvPr>
          <p:cNvSpPr>
            <a:spLocks noGrp="1"/>
          </p:cNvSpPr>
          <p:nvPr/>
        </p:nvSpPr>
        <p:spPr>
          <a:xfrm>
            <a:off x="704850" y="2724150"/>
            <a:ext cx="7239000" cy="590550"/>
          </a:xfrm>
          <a:prstGeom prst="rect">
            <a:avLst/>
          </a:prstGeom>
          <a:noFill/>
          <a:ln w="0">
            <a:noFill/>
          </a:ln>
        </p:spPr>
        <p:txBody>
          <a:bodyPr lIns="0" tIns="0" rIns="0" bIns="0" anchor="t"/>
          <a:lstStyle/>
          <a:p>
            <a:pPr algn="l">
              <a:buNone/>
              <a:defRPr sz="1500" b="0">
                <a:solidFill>
                  <a:srgbClr val="C6D2CB"/>
                </a:solidFill>
                <a:latin typeface="Aptos"/>
                <a:ea typeface="Aptos"/>
                <a:cs typeface="Aptos"/>
              </a:defRPr>
            </a:pPr>
            <a:r>
              <a:rPr sz="1500">
                <a:solidFill>
                  <a:srgbClr val="C6D2CB"/>
                </a:solidFill>
                <a:latin typeface="Aptos"/>
                <a:ea typeface="Aptos"/>
                <a:cs typeface="Aptos"/>
              </a:rPr>
              <a:t>Send a signed stroke-triage model to hospitals, train and evaluate locally, aggregate protected updates, and release only after cross-site review.</a:t>
            </a:r>
          </a:p>
        </p:txBody>
      </p:sp>
      <p:sp>
        <p:nvSpPr>
          <p:cNvPr id="5" name="Rounded Rectangle 4">
            <a:extLst>
              <a:ext uri="{FF2B5EF4-FFF2-40B4-BE49-F238E27FC236}">
                <a16:creationId xmlns:a16="http://schemas.microsoft.com/office/drawing/2014/main" id="{528D4DF1-5B75-4D5B-B480-0169FB7D537F}"/>
              </a:ext>
            </a:extLst>
          </p:cNvPr>
          <p:cNvSpPr>
            <a:spLocks noGrp="1"/>
          </p:cNvSpPr>
          <p:nvPr/>
        </p:nvSpPr>
        <p:spPr>
          <a:xfrm>
            <a:off x="914400" y="4210050"/>
            <a:ext cx="1920240" cy="647700"/>
          </a:xfrm>
          <a:prstGeom prst="roundRect">
            <a:avLst>
              <a:gd name="adj" fmla="val 5882"/>
            </a:avLst>
          </a:prstGeom>
          <a:solidFill>
            <a:srgbClr val="2E6F4E"/>
          </a:solidFill>
          <a:ln w="9525">
            <a:solidFill>
              <a:srgbClr val="2E6F4E"/>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Seed model</a:t>
            </a:r>
          </a:p>
        </p:txBody>
      </p:sp>
      <p:sp>
        <p:nvSpPr>
          <p:cNvPr id="6" name="Rounded Rectangle 5">
            <a:extLst>
              <a:ext uri="{FF2B5EF4-FFF2-40B4-BE49-F238E27FC236}">
                <a16:creationId xmlns:a16="http://schemas.microsoft.com/office/drawing/2014/main" id="{D60A53B9-A4E7-484F-8034-98A213935481}"/>
              </a:ext>
            </a:extLst>
          </p:cNvPr>
          <p:cNvSpPr>
            <a:spLocks noGrp="1"/>
          </p:cNvSpPr>
          <p:nvPr/>
        </p:nvSpPr>
        <p:spPr>
          <a:xfrm>
            <a:off x="2987040" y="4210050"/>
            <a:ext cx="1920240" cy="647700"/>
          </a:xfrm>
          <a:prstGeom prst="roundRect">
            <a:avLst>
              <a:gd name="adj" fmla="val 5882"/>
            </a:avLst>
          </a:prstGeom>
          <a:solidFill>
            <a:srgbClr val="2D5B7C"/>
          </a:solidFill>
          <a:ln w="9525">
            <a:solidFill>
              <a:srgbClr val="2D5B7C"/>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Local LMAs</a:t>
            </a:r>
          </a:p>
        </p:txBody>
      </p:sp>
      <p:sp>
        <p:nvSpPr>
          <p:cNvPr id="7" name="Rounded Rectangle 6">
            <a:extLst>
              <a:ext uri="{FF2B5EF4-FFF2-40B4-BE49-F238E27FC236}">
                <a16:creationId xmlns:a16="http://schemas.microsoft.com/office/drawing/2014/main" id="{5566A10A-F573-49D6-877E-CE49EE18CAEE}"/>
              </a:ext>
            </a:extLst>
          </p:cNvPr>
          <p:cNvSpPr>
            <a:spLocks noGrp="1"/>
          </p:cNvSpPr>
          <p:nvPr/>
        </p:nvSpPr>
        <p:spPr>
          <a:xfrm>
            <a:off x="5059680" y="4210050"/>
            <a:ext cx="1920240" cy="647700"/>
          </a:xfrm>
          <a:prstGeom prst="roundRect">
            <a:avLst>
              <a:gd name="adj" fmla="val 5882"/>
            </a:avLst>
          </a:prstGeom>
          <a:solidFill>
            <a:srgbClr val="B4842B"/>
          </a:solidFill>
          <a:ln w="9525">
            <a:solidFill>
              <a:srgbClr val="B4842B"/>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Protected updates</a:t>
            </a:r>
          </a:p>
        </p:txBody>
      </p:sp>
      <p:sp>
        <p:nvSpPr>
          <p:cNvPr id="8" name="Rounded Rectangle 7">
            <a:extLst>
              <a:ext uri="{FF2B5EF4-FFF2-40B4-BE49-F238E27FC236}">
                <a16:creationId xmlns:a16="http://schemas.microsoft.com/office/drawing/2014/main" id="{5C63E76E-89CD-4533-B12B-BA23CA95D353}"/>
              </a:ext>
            </a:extLst>
          </p:cNvPr>
          <p:cNvSpPr>
            <a:spLocks noGrp="1"/>
          </p:cNvSpPr>
          <p:nvPr/>
        </p:nvSpPr>
        <p:spPr>
          <a:xfrm>
            <a:off x="7132320" y="4210050"/>
            <a:ext cx="1920240" cy="647700"/>
          </a:xfrm>
          <a:prstGeom prst="roundRect">
            <a:avLst>
              <a:gd name="adj" fmla="val 5882"/>
            </a:avLst>
          </a:prstGeom>
          <a:solidFill>
            <a:srgbClr val="A34D3E"/>
          </a:solidFill>
          <a:ln w="9525">
            <a:solidFill>
              <a:srgbClr val="A34D3E"/>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Global review</a:t>
            </a:r>
          </a:p>
        </p:txBody>
      </p:sp>
      <p:sp>
        <p:nvSpPr>
          <p:cNvPr id="9" name="Rounded Rectangle 8">
            <a:extLst>
              <a:ext uri="{FF2B5EF4-FFF2-40B4-BE49-F238E27FC236}">
                <a16:creationId xmlns:a16="http://schemas.microsoft.com/office/drawing/2014/main" id="{B0B2C03F-8B20-492A-AE4E-3EBDA2782D40}"/>
              </a:ext>
            </a:extLst>
          </p:cNvPr>
          <p:cNvSpPr>
            <a:spLocks noGrp="1"/>
          </p:cNvSpPr>
          <p:nvPr/>
        </p:nvSpPr>
        <p:spPr>
          <a:xfrm>
            <a:off x="9204960" y="4210050"/>
            <a:ext cx="1920240" cy="647700"/>
          </a:xfrm>
          <a:prstGeom prst="roundRect">
            <a:avLst>
              <a:gd name="adj" fmla="val 5882"/>
            </a:avLst>
          </a:prstGeom>
          <a:solidFill>
            <a:srgbClr val="65549A"/>
          </a:solidFill>
          <a:ln w="9525">
            <a:solidFill>
              <a:srgbClr val="65549A"/>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Signed release</a:t>
            </a:r>
          </a:p>
        </p:txBody>
      </p:sp>
      <p:sp>
        <p:nvSpPr>
          <p:cNvPr id="11" name="Rectangle 10">
            <a:extLst>
              <a:ext uri="{FF2B5EF4-FFF2-40B4-BE49-F238E27FC236}">
                <a16:creationId xmlns:a16="http://schemas.microsoft.com/office/drawing/2014/main" id="{6BE66650-CFE7-4B7A-A510-5BEC7C131A06}"/>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94A39A"/>
                </a:solidFill>
                <a:latin typeface="Aptos"/>
                <a:ea typeface="Aptos"/>
                <a:cs typeface="Aptos"/>
              </a:defRPr>
            </a:pPr>
            <a:r>
              <a:rPr sz="825" b="0">
                <a:solidFill>
                  <a:srgbClr val="94A39A"/>
                </a:solidFill>
                <a:latin typeface="Aptos"/>
                <a:ea typeface="Aptos"/>
                <a:cs typeface="Aptos"/>
              </a:rPr>
              <a:t>Dagents Federated Healthcare / 01</a:t>
            </a:r>
          </a:p>
        </p:txBody>
      </p:sp>
      <p:sp>
        <p:nvSpPr>
          <p:cNvPr id="13" name="TextBox 12">
            <a:extLst>
              <a:ext uri="{FF2B5EF4-FFF2-40B4-BE49-F238E27FC236}">
                <a16:creationId xmlns:a16="http://schemas.microsoft.com/office/drawing/2014/main" id="{4063BD50-1495-DE9C-D046-E7C5F535B0B9}"/>
              </a:ext>
            </a:extLst>
          </p:cNvPr>
          <p:cNvSpPr>
            <a:spLocks noGrp="1"/>
          </p:cNvSpPr>
          <p:nvPr/>
        </p:nvSpPr>
        <p:spPr>
          <a:xfrm>
            <a:off x="9525230" y="6044625"/>
            <a:ext cx="3581400" cy="338554"/>
          </a:xfrm>
          <a:prstGeom prst="rect">
            <a:avLst/>
          </a:prstGeom>
          <a:noFill/>
        </p:spPr>
        <p:txBody>
          <a:bodyPr wrap="square">
            <a:spAutoFit/>
          </a:bodyPr>
          <a:lstStyle/>
          <a:p>
            <a:r>
              <a:rPr sz="1600">
                <a:solidFill>
                  <a:schemeClr val="bg2">
                    <a:lumMod val="75000"/>
                  </a:schemeClr>
                </a:solidFill>
              </a:rPr>
              <a:t>Pradyun Devarakonda</a:t>
            </a:r>
          </a:p>
        </p:txBody>
      </p:sp>
    </p:spTree>
    <p:extLst>
      <p:ext uri="{BB962C8B-B14F-4D97-AF65-F5344CB8AC3E}">
        <p14:creationId xmlns:p14="http://schemas.microsoft.com/office/powerpoint/2010/main" val="1861663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7D0897-00AD-4965-8CE2-0C3E3BDAA895}"/>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THE PROBLEM</a:t>
            </a:r>
          </a:p>
        </p:txBody>
      </p:sp>
      <p:sp>
        <p:nvSpPr>
          <p:cNvPr id="3" name="TextBox 2">
            <a:extLst>
              <a:ext uri="{FF2B5EF4-FFF2-40B4-BE49-F238E27FC236}">
                <a16:creationId xmlns:a16="http://schemas.microsoft.com/office/drawing/2014/main" id="{F19EF4B8-D416-44CC-8F0F-CD690DE62B0E}"/>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Pooling raw hospital records is not the only way to learn.</a:t>
            </a:r>
          </a:p>
        </p:txBody>
      </p:sp>
      <p:sp>
        <p:nvSpPr>
          <p:cNvPr id="4" name="TextBox 3">
            <a:extLst>
              <a:ext uri="{FF2B5EF4-FFF2-40B4-BE49-F238E27FC236}">
                <a16:creationId xmlns:a16="http://schemas.microsoft.com/office/drawing/2014/main" id="{BE5C6F23-B794-41CB-9828-0309755B56BA}"/>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The system must handle data boundaries, site differences, update privacy, and safe operations—not just model accuracy.</a:t>
            </a:r>
          </a:p>
        </p:txBody>
      </p:sp>
      <p:sp>
        <p:nvSpPr>
          <p:cNvPr id="5" name="Rounded Rectangle 4">
            <a:extLst>
              <a:ext uri="{FF2B5EF4-FFF2-40B4-BE49-F238E27FC236}">
                <a16:creationId xmlns:a16="http://schemas.microsoft.com/office/drawing/2014/main" id="{B185A7CA-8862-4A59-84A7-D6796384C0A0}"/>
              </a:ext>
            </a:extLst>
          </p:cNvPr>
          <p:cNvSpPr>
            <a:spLocks noGrp="1"/>
          </p:cNvSpPr>
          <p:nvPr/>
        </p:nvSpPr>
        <p:spPr>
          <a:xfrm>
            <a:off x="777240" y="1737360"/>
            <a:ext cx="4892040" cy="11430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A6ABA7-B17F-4F9D-95AC-A9AD1840DA5F}"/>
              </a:ext>
            </a:extLst>
          </p:cNvPr>
          <p:cNvSpPr>
            <a:spLocks noGrp="1"/>
          </p:cNvSpPr>
          <p:nvPr/>
        </p:nvSpPr>
        <p:spPr>
          <a:xfrm>
            <a:off x="94183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Data cannot simply move</a:t>
            </a:r>
          </a:p>
        </p:txBody>
      </p:sp>
      <p:sp>
        <p:nvSpPr>
          <p:cNvPr id="7" name="TextBox 6">
            <a:extLst>
              <a:ext uri="{FF2B5EF4-FFF2-40B4-BE49-F238E27FC236}">
                <a16:creationId xmlns:a16="http://schemas.microsoft.com/office/drawing/2014/main" id="{A16C6DE5-10AC-4D7B-A902-BE1A4B95FA97}"/>
              </a:ext>
            </a:extLst>
          </p:cNvPr>
          <p:cNvSpPr>
            <a:spLocks noGrp="1"/>
          </p:cNvSpPr>
          <p:nvPr/>
        </p:nvSpPr>
        <p:spPr>
          <a:xfrm>
            <a:off x="94183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Privacy, contracts, sovereignty, and breach risk make a central patient-data copy a poor default.</a:t>
            </a:r>
          </a:p>
        </p:txBody>
      </p:sp>
      <p:sp>
        <p:nvSpPr>
          <p:cNvPr id="8" name="Rounded Rectangle 7">
            <a:extLst>
              <a:ext uri="{FF2B5EF4-FFF2-40B4-BE49-F238E27FC236}">
                <a16:creationId xmlns:a16="http://schemas.microsoft.com/office/drawing/2014/main" id="{DB689BD0-DEBE-4890-84C2-52C9C0F87691}"/>
              </a:ext>
            </a:extLst>
          </p:cNvPr>
          <p:cNvSpPr>
            <a:spLocks noGrp="1"/>
          </p:cNvSpPr>
          <p:nvPr/>
        </p:nvSpPr>
        <p:spPr>
          <a:xfrm>
            <a:off x="6217920" y="1737360"/>
            <a:ext cx="4892040" cy="11430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2C22423-3633-4CFF-9783-DEDD0DB789E8}"/>
              </a:ext>
            </a:extLst>
          </p:cNvPr>
          <p:cNvSpPr>
            <a:spLocks noGrp="1"/>
          </p:cNvSpPr>
          <p:nvPr/>
        </p:nvSpPr>
        <p:spPr>
          <a:xfrm>
            <a:off x="638251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Hospitals do not match</a:t>
            </a:r>
          </a:p>
        </p:txBody>
      </p:sp>
      <p:sp>
        <p:nvSpPr>
          <p:cNvPr id="10" name="TextBox 9">
            <a:extLst>
              <a:ext uri="{FF2B5EF4-FFF2-40B4-BE49-F238E27FC236}">
                <a16:creationId xmlns:a16="http://schemas.microsoft.com/office/drawing/2014/main" id="{38C7BA40-A629-4F2C-9946-C9AFDE739862}"/>
              </a:ext>
            </a:extLst>
          </p:cNvPr>
          <p:cNvSpPr>
            <a:spLocks noGrp="1"/>
          </p:cNvSpPr>
          <p:nvPr/>
        </p:nvSpPr>
        <p:spPr>
          <a:xfrm>
            <a:off x="638251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Populations, units, systems, labels, and workflows differ. One global setting may not fit every site.</a:t>
            </a:r>
          </a:p>
        </p:txBody>
      </p:sp>
      <p:sp>
        <p:nvSpPr>
          <p:cNvPr id="11" name="Rounded Rectangle 10">
            <a:extLst>
              <a:ext uri="{FF2B5EF4-FFF2-40B4-BE49-F238E27FC236}">
                <a16:creationId xmlns:a16="http://schemas.microsoft.com/office/drawing/2014/main" id="{E5CF9E1F-B30B-4AF0-BFE2-3E3E214ECC1C}"/>
              </a:ext>
            </a:extLst>
          </p:cNvPr>
          <p:cNvSpPr>
            <a:spLocks noGrp="1"/>
          </p:cNvSpPr>
          <p:nvPr/>
        </p:nvSpPr>
        <p:spPr>
          <a:xfrm>
            <a:off x="777240" y="3383280"/>
            <a:ext cx="4892040" cy="114300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B6C606A-7A36-4A56-AE5F-ED90CCBB9865}"/>
              </a:ext>
            </a:extLst>
          </p:cNvPr>
          <p:cNvSpPr>
            <a:spLocks noGrp="1"/>
          </p:cNvSpPr>
          <p:nvPr/>
        </p:nvSpPr>
        <p:spPr>
          <a:xfrm>
            <a:off x="94183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Updates can still leak</a:t>
            </a:r>
          </a:p>
        </p:txBody>
      </p:sp>
      <p:sp>
        <p:nvSpPr>
          <p:cNvPr id="13" name="TextBox 12">
            <a:extLst>
              <a:ext uri="{FF2B5EF4-FFF2-40B4-BE49-F238E27FC236}">
                <a16:creationId xmlns:a16="http://schemas.microsoft.com/office/drawing/2014/main" id="{0E2DE3C6-7B14-47CE-984B-4FEA66D42DD9}"/>
              </a:ext>
            </a:extLst>
          </p:cNvPr>
          <p:cNvSpPr>
            <a:spLocks noGrp="1"/>
          </p:cNvSpPr>
          <p:nvPr/>
        </p:nvSpPr>
        <p:spPr>
          <a:xfrm>
            <a:off x="94183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Weights and gradients are not automatically anonymous. Aggregation and privacy controls still matter.</a:t>
            </a:r>
          </a:p>
        </p:txBody>
      </p:sp>
      <p:sp>
        <p:nvSpPr>
          <p:cNvPr id="14" name="Rounded Rectangle 13">
            <a:extLst>
              <a:ext uri="{FF2B5EF4-FFF2-40B4-BE49-F238E27FC236}">
                <a16:creationId xmlns:a16="http://schemas.microsoft.com/office/drawing/2014/main" id="{02068F01-5A1E-4CA8-BAC8-5916EBED6DE1}"/>
              </a:ext>
            </a:extLst>
          </p:cNvPr>
          <p:cNvSpPr>
            <a:spLocks noGrp="1"/>
          </p:cNvSpPr>
          <p:nvPr/>
        </p:nvSpPr>
        <p:spPr>
          <a:xfrm>
            <a:off x="6217920" y="3383280"/>
            <a:ext cx="4892040" cy="11430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FF3519E-A7D4-4C26-97BE-CCD863D217C3}"/>
              </a:ext>
            </a:extLst>
          </p:cNvPr>
          <p:cNvSpPr>
            <a:spLocks noGrp="1"/>
          </p:cNvSpPr>
          <p:nvPr/>
        </p:nvSpPr>
        <p:spPr>
          <a:xfrm>
            <a:off x="638251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Operations decide safety</a:t>
            </a:r>
          </a:p>
        </p:txBody>
      </p:sp>
      <p:sp>
        <p:nvSpPr>
          <p:cNvPr id="16" name="TextBox 15">
            <a:extLst>
              <a:ext uri="{FF2B5EF4-FFF2-40B4-BE49-F238E27FC236}">
                <a16:creationId xmlns:a16="http://schemas.microsoft.com/office/drawing/2014/main" id="{A348AC81-5D4F-4221-91E2-2B61032AA866}"/>
              </a:ext>
            </a:extLst>
          </p:cNvPr>
          <p:cNvSpPr>
            <a:spLocks noGrp="1"/>
          </p:cNvSpPr>
          <p:nvPr/>
        </p:nvSpPr>
        <p:spPr>
          <a:xfrm>
            <a:off x="638251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Identity, code approval, retries, versions, evidence, canaries, and rollback determine whether learning is controllable.</a:t>
            </a:r>
          </a:p>
        </p:txBody>
      </p:sp>
      <p:sp>
        <p:nvSpPr>
          <p:cNvPr id="17" name="TextBox 16">
            <a:extLst>
              <a:ext uri="{FF2B5EF4-FFF2-40B4-BE49-F238E27FC236}">
                <a16:creationId xmlns:a16="http://schemas.microsoft.com/office/drawing/2014/main" id="{0189CDBE-DBE1-4102-896D-D470C23C8EA5}"/>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The use case is distributed learning plus governed operations / 02</a:t>
            </a:r>
          </a:p>
        </p:txBody>
      </p:sp>
    </p:spTree>
    <p:extLst>
      <p:ext uri="{BB962C8B-B14F-4D97-AF65-F5344CB8AC3E}">
        <p14:creationId xmlns:p14="http://schemas.microsoft.com/office/powerpoint/2010/main" val="1152305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0E53F3A-15C4-4E87-B1FC-FD206D4F9D8E}"/>
              </a:ext>
            </a:extLst>
          </p:cNvPr>
          <p:cNvSpPr>
            <a:spLocks noGrp="1"/>
          </p:cNvSpPr>
          <p:nvPr/>
        </p:nvSpPr>
        <p:spPr>
          <a:xfrm>
            <a:off x="0" y="0"/>
            <a:ext cx="12192000" cy="6858000"/>
          </a:xfrm>
          <a:prstGeom prst="rect">
            <a:avLst/>
          </a:prstGeom>
          <a:solidFill>
            <a:srgbClr val="F7F3EA"/>
          </a:solidFill>
          <a:ln w="9525">
            <a:solidFill>
              <a:srgbClr val="F7F3EA"/>
            </a:solidFill>
          </a:ln>
        </p:spPr>
        <p:txBody>
          <a:bodyPr/>
          <a:lstStyle/>
          <a:p>
            <a:endParaRPr/>
          </a:p>
        </p:txBody>
      </p:sp>
      <p:sp>
        <p:nvSpPr>
          <p:cNvPr id="2" name="Rectangle 1">
            <a:extLst>
              <a:ext uri="{FF2B5EF4-FFF2-40B4-BE49-F238E27FC236}">
                <a16:creationId xmlns:a16="http://schemas.microsoft.com/office/drawing/2014/main" id="{AB784829-7899-4AD9-909A-707E198CB695}"/>
              </a:ext>
            </a:extLst>
          </p:cNvPr>
          <p:cNvSpPr>
            <a:spLocks noGrp="1"/>
          </p:cNvSpPr>
          <p:nvPr/>
        </p:nvSpPr>
        <p:spPr>
          <a:xfrm>
            <a:off x="666750" y="400050"/>
            <a:ext cx="1619250" cy="238125"/>
          </a:xfrm>
          <a:prstGeom prst="rect">
            <a:avLst/>
          </a:prstGeom>
          <a:solidFill>
            <a:srgbClr val="15201B"/>
          </a:solidFill>
          <a:ln w="9525">
            <a:solidFill>
              <a:srgbClr val="15201B"/>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USE CASE</a:t>
            </a:r>
          </a:p>
        </p:txBody>
      </p:sp>
      <p:sp>
        <p:nvSpPr>
          <p:cNvPr id="3" name="Rectangle 2">
            <a:extLst>
              <a:ext uri="{FF2B5EF4-FFF2-40B4-BE49-F238E27FC236}">
                <a16:creationId xmlns:a16="http://schemas.microsoft.com/office/drawing/2014/main" id="{EEA7AFF5-32B7-4744-9598-EC73A05D2890}"/>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The system has clear actors, permissions, and outcomes.</a:t>
            </a:r>
          </a:p>
        </p:txBody>
      </p:sp>
      <p:sp>
        <p:nvSpPr>
          <p:cNvPr id="4" name="Rectangle 3">
            <a:extLst>
              <a:ext uri="{FF2B5EF4-FFF2-40B4-BE49-F238E27FC236}">
                <a16:creationId xmlns:a16="http://schemas.microsoft.com/office/drawing/2014/main" id="{270B3257-4C1E-4555-8FD9-857EDB8DB616}"/>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5E6B64"/>
                </a:solidFill>
                <a:latin typeface="Aptos"/>
                <a:ea typeface="Aptos"/>
                <a:cs typeface="Aptos"/>
              </a:defRPr>
            </a:pPr>
            <a:r>
              <a:rPr sz="1200" b="0">
                <a:solidFill>
                  <a:srgbClr val="5E6B64"/>
                </a:solidFill>
                <a:latin typeface="Aptos"/>
                <a:ea typeface="Aptos"/>
                <a:cs typeface="Aptos"/>
              </a:rPr>
              <a:t>The hospital keeps control of local data. Dagents governs the study and release. The federated runtime performs the distributed job.</a:t>
            </a:r>
          </a:p>
        </p:txBody>
      </p:sp>
      <p:pic>
        <p:nvPicPr>
          <p:cNvPr id="14" name="Picture 4"/>
          <p:cNvPicPr>
            <a:picLocks noChangeAspect="1"/>
          </p:cNvPicPr>
          <p:nvPr/>
        </p:nvPicPr>
        <p:blipFill>
          <a:blip r:embed="rId3"/>
          <a:stretch/>
        </p:blipFill>
        <p:spPr>
          <a:xfrm>
            <a:off x="0" y="0"/>
            <a:ext cx="9525" cy="9525"/>
          </a:xfrm>
          <a:prstGeom prst="rect">
            <a:avLst/>
          </a:prstGeom>
        </p:spPr>
      </p:pic>
      <p:sp>
        <p:nvSpPr>
          <p:cNvPr id="6" name="Rectangle 5">
            <a:extLst>
              <a:ext uri="{FF2B5EF4-FFF2-40B4-BE49-F238E27FC236}">
                <a16:creationId xmlns:a16="http://schemas.microsoft.com/office/drawing/2014/main" id="{AF9A9093-40E4-42D4-AA15-CBE19544F380}"/>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5E6B64"/>
                </a:solidFill>
                <a:latin typeface="Aptos"/>
                <a:ea typeface="Aptos"/>
                <a:cs typeface="Aptos"/>
              </a:defRPr>
            </a:pPr>
            <a:r>
              <a:rPr sz="825" b="0">
                <a:solidFill>
                  <a:srgbClr val="5E6B64"/>
                </a:solidFill>
                <a:latin typeface="Aptos"/>
                <a:ea typeface="Aptos"/>
                <a:cs typeface="Aptos"/>
              </a:rPr>
              <a:t>Opening functional story / 03</a:t>
            </a:r>
          </a:p>
        </p:txBody>
      </p:sp>
      <p:pic>
        <p:nvPicPr>
          <p:cNvPr id="16" name="Picture 15"/>
          <p:cNvPicPr>
            <a:picLocks noChangeAspect="1"/>
          </p:cNvPicPr>
          <p:nvPr/>
        </p:nvPicPr>
        <p:blipFill>
          <a:blip r:embed="rId4"/>
          <a:stretch/>
        </p:blipFill>
        <p:spPr>
          <a:xfrm>
            <a:off x="1031779" y="1952625"/>
            <a:ext cx="10128441" cy="4238625"/>
          </a:xfrm>
          <a:prstGeom prst="rect">
            <a:avLst/>
          </a:prstGeom>
        </p:spPr>
      </p:pic>
    </p:spTree>
    <p:extLst>
      <p:ext uri="{BB962C8B-B14F-4D97-AF65-F5344CB8AC3E}">
        <p14:creationId xmlns:p14="http://schemas.microsoft.com/office/powerpoint/2010/main" val="738132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0E53F3A-15C4-4E87-B1FC-FD206D4F9D8E}"/>
              </a:ext>
            </a:extLst>
          </p:cNvPr>
          <p:cNvSpPr>
            <a:spLocks noGrp="1"/>
          </p:cNvSpPr>
          <p:nvPr/>
        </p:nvSpPr>
        <p:spPr>
          <a:xfrm>
            <a:off x="0" y="0"/>
            <a:ext cx="12192000" cy="6858000"/>
          </a:xfrm>
          <a:prstGeom prst="rect">
            <a:avLst/>
          </a:prstGeom>
          <a:solidFill>
            <a:srgbClr val="F7F3EA"/>
          </a:solidFill>
          <a:ln w="9525">
            <a:solidFill>
              <a:srgbClr val="F7F3EA"/>
            </a:solidFill>
          </a:ln>
        </p:spPr>
        <p:txBody>
          <a:bodyPr/>
          <a:lstStyle/>
          <a:p>
            <a:endParaRPr/>
          </a:p>
        </p:txBody>
      </p:sp>
      <p:sp>
        <p:nvSpPr>
          <p:cNvPr id="2" name="Rectangle 1">
            <a:extLst>
              <a:ext uri="{FF2B5EF4-FFF2-40B4-BE49-F238E27FC236}">
                <a16:creationId xmlns:a16="http://schemas.microsoft.com/office/drawing/2014/main" id="{AB784829-7899-4AD9-909A-707E198CB695}"/>
              </a:ext>
            </a:extLst>
          </p:cNvPr>
          <p:cNvSpPr>
            <a:spLocks noGrp="1"/>
          </p:cNvSpPr>
          <p:nvPr/>
        </p:nvSpPr>
        <p:spPr>
          <a:xfrm>
            <a:off x="666750" y="400050"/>
            <a:ext cx="1619250" cy="238125"/>
          </a:xfrm>
          <a:prstGeom prst="rect">
            <a:avLst/>
          </a:prstGeom>
          <a:solidFill>
            <a:srgbClr val="15201B"/>
          </a:solidFill>
          <a:ln w="9525">
            <a:solidFill>
              <a:srgbClr val="15201B"/>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FUNCTIONAL FLOW</a:t>
            </a:r>
          </a:p>
        </p:txBody>
      </p:sp>
      <p:sp>
        <p:nvSpPr>
          <p:cNvPr id="3" name="Rectangle 2">
            <a:extLst>
              <a:ext uri="{FF2B5EF4-FFF2-40B4-BE49-F238E27FC236}">
                <a16:creationId xmlns:a16="http://schemas.microsoft.com/office/drawing/2014/main" id="{EEA7AFF5-32B7-4744-9598-EC73A05D2890}"/>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Every round follows one visible path with explicit stop points.</a:t>
            </a:r>
          </a:p>
        </p:txBody>
      </p:sp>
      <p:sp>
        <p:nvSpPr>
          <p:cNvPr id="4" name="Rectangle 3">
            <a:extLst>
              <a:ext uri="{FF2B5EF4-FFF2-40B4-BE49-F238E27FC236}">
                <a16:creationId xmlns:a16="http://schemas.microsoft.com/office/drawing/2014/main" id="{270B3257-4C1E-4555-8FD9-857EDB8DB616}"/>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5E6B64"/>
                </a:solidFill>
                <a:latin typeface="Aptos"/>
                <a:ea typeface="Aptos"/>
                <a:cs typeface="Aptos"/>
              </a:defRPr>
            </a:pPr>
            <a:r>
              <a:rPr sz="1200" b="0">
                <a:solidFill>
                  <a:srgbClr val="5E6B64"/>
                </a:solidFill>
                <a:latin typeface="Aptos"/>
                <a:ea typeface="Aptos"/>
                <a:cs typeface="Aptos"/>
              </a:rPr>
              <a:t>A failed local check, missing quorum, or failed release gate keeps the current approved model in service.</a:t>
            </a:r>
          </a:p>
        </p:txBody>
      </p:sp>
      <p:pic>
        <p:nvPicPr>
          <p:cNvPr id="14" name="Picture 4"/>
          <p:cNvPicPr>
            <a:picLocks noChangeAspect="1"/>
          </p:cNvPicPr>
          <p:nvPr/>
        </p:nvPicPr>
        <p:blipFill>
          <a:blip r:embed="rId3"/>
          <a:stretch/>
        </p:blipFill>
        <p:spPr>
          <a:xfrm>
            <a:off x="0" y="0"/>
            <a:ext cx="9525" cy="9525"/>
          </a:xfrm>
          <a:prstGeom prst="rect">
            <a:avLst/>
          </a:prstGeom>
        </p:spPr>
      </p:pic>
      <p:sp>
        <p:nvSpPr>
          <p:cNvPr id="6" name="Rectangle 5">
            <a:extLst>
              <a:ext uri="{FF2B5EF4-FFF2-40B4-BE49-F238E27FC236}">
                <a16:creationId xmlns:a16="http://schemas.microsoft.com/office/drawing/2014/main" id="{AF9A9093-40E4-42D4-AA15-CBE19544F380}"/>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5E6B64"/>
                </a:solidFill>
                <a:latin typeface="Aptos"/>
                <a:ea typeface="Aptos"/>
                <a:cs typeface="Aptos"/>
              </a:defRPr>
            </a:pPr>
            <a:r>
              <a:rPr sz="825" b="0">
                <a:solidFill>
                  <a:srgbClr val="5E6B64"/>
                </a:solidFill>
                <a:latin typeface="Aptos"/>
                <a:ea typeface="Aptos"/>
                <a:cs typeface="Aptos"/>
              </a:rPr>
              <a:t>Opening functional story / 04</a:t>
            </a:r>
          </a:p>
        </p:txBody>
      </p:sp>
      <p:pic>
        <p:nvPicPr>
          <p:cNvPr id="16" name="Picture 15"/>
          <p:cNvPicPr>
            <a:picLocks noChangeAspect="1"/>
          </p:cNvPicPr>
          <p:nvPr/>
        </p:nvPicPr>
        <p:blipFill>
          <a:blip r:embed="rId4"/>
          <a:stretch/>
        </p:blipFill>
        <p:spPr>
          <a:xfrm>
            <a:off x="1297062" y="2095500"/>
            <a:ext cx="9597877" cy="3905250"/>
          </a:xfrm>
          <a:prstGeom prst="rect">
            <a:avLst/>
          </a:prstGeom>
        </p:spPr>
      </p:pic>
    </p:spTree>
    <p:extLst>
      <p:ext uri="{BB962C8B-B14F-4D97-AF65-F5344CB8AC3E}">
        <p14:creationId xmlns:p14="http://schemas.microsoft.com/office/powerpoint/2010/main" val="738132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0E53F3A-15C4-4E87-B1FC-FD206D4F9D8E}"/>
              </a:ext>
            </a:extLst>
          </p:cNvPr>
          <p:cNvSpPr>
            <a:spLocks noGrp="1"/>
          </p:cNvSpPr>
          <p:nvPr/>
        </p:nvSpPr>
        <p:spPr>
          <a:xfrm>
            <a:off x="0" y="0"/>
            <a:ext cx="12192000" cy="6858000"/>
          </a:xfrm>
          <a:prstGeom prst="rect">
            <a:avLst/>
          </a:prstGeom>
          <a:solidFill>
            <a:srgbClr val="F7F3EA"/>
          </a:solidFill>
          <a:ln w="9525">
            <a:solidFill>
              <a:srgbClr val="F7F3EA"/>
            </a:solidFill>
          </a:ln>
        </p:spPr>
        <p:txBody>
          <a:bodyPr/>
          <a:lstStyle/>
          <a:p>
            <a:endParaRPr/>
          </a:p>
        </p:txBody>
      </p:sp>
      <p:sp>
        <p:nvSpPr>
          <p:cNvPr id="2" name="Rectangle 1">
            <a:extLst>
              <a:ext uri="{FF2B5EF4-FFF2-40B4-BE49-F238E27FC236}">
                <a16:creationId xmlns:a16="http://schemas.microsoft.com/office/drawing/2014/main" id="{AB784829-7899-4AD9-909A-707E198CB695}"/>
              </a:ext>
            </a:extLst>
          </p:cNvPr>
          <p:cNvSpPr>
            <a:spLocks noGrp="1"/>
          </p:cNvSpPr>
          <p:nvPr/>
        </p:nvSpPr>
        <p:spPr>
          <a:xfrm>
            <a:off x="666750" y="400050"/>
            <a:ext cx="1619250" cy="238125"/>
          </a:xfrm>
          <a:prstGeom prst="rect">
            <a:avLst/>
          </a:prstGeom>
          <a:solidFill>
            <a:srgbClr val="15201B"/>
          </a:solidFill>
          <a:ln w="9525">
            <a:solidFill>
              <a:srgbClr val="15201B"/>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SEQUENCE 1 OF 2</a:t>
            </a:r>
          </a:p>
        </p:txBody>
      </p:sp>
      <p:sp>
        <p:nvSpPr>
          <p:cNvPr id="3" name="Rectangle 2">
            <a:extLst>
              <a:ext uri="{FF2B5EF4-FFF2-40B4-BE49-F238E27FC236}">
                <a16:creationId xmlns:a16="http://schemas.microsoft.com/office/drawing/2014/main" id="{EEA7AFF5-32B7-4744-9598-EC73A05D2890}"/>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A federated round creates a candidate without pooling patient records.</a:t>
            </a:r>
          </a:p>
        </p:txBody>
      </p:sp>
      <p:sp>
        <p:nvSpPr>
          <p:cNvPr id="4" name="Rectangle 3">
            <a:extLst>
              <a:ext uri="{FF2B5EF4-FFF2-40B4-BE49-F238E27FC236}">
                <a16:creationId xmlns:a16="http://schemas.microsoft.com/office/drawing/2014/main" id="{270B3257-4C1E-4555-8FD9-857EDB8DB616}"/>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5E6B64"/>
                </a:solidFill>
                <a:latin typeface="Aptos"/>
                <a:ea typeface="Aptos"/>
                <a:cs typeface="Aptos"/>
              </a:defRPr>
            </a:pPr>
            <a:r>
              <a:rPr sz="1200" b="0">
                <a:solidFill>
                  <a:srgbClr val="5E6B64"/>
                </a:solidFill>
                <a:latin typeface="Aptos"/>
                <a:ea typeface="Aptos"/>
                <a:cs typeface="Aptos"/>
              </a:rPr>
              <a:t>Dagents approves and tracks the round. FLARE coordinates the job. Each LMA checks and runs work beside local data.</a:t>
            </a:r>
          </a:p>
        </p:txBody>
      </p:sp>
      <p:pic>
        <p:nvPicPr>
          <p:cNvPr id="14" name="Picture 4"/>
          <p:cNvPicPr>
            <a:picLocks noChangeAspect="1"/>
          </p:cNvPicPr>
          <p:nvPr/>
        </p:nvPicPr>
        <p:blipFill>
          <a:blip r:embed="rId3"/>
          <a:stretch/>
        </p:blipFill>
        <p:spPr>
          <a:xfrm>
            <a:off x="0" y="0"/>
            <a:ext cx="9525" cy="9525"/>
          </a:xfrm>
          <a:prstGeom prst="rect">
            <a:avLst/>
          </a:prstGeom>
        </p:spPr>
      </p:pic>
      <p:sp>
        <p:nvSpPr>
          <p:cNvPr id="6" name="Rectangle 5">
            <a:extLst>
              <a:ext uri="{FF2B5EF4-FFF2-40B4-BE49-F238E27FC236}">
                <a16:creationId xmlns:a16="http://schemas.microsoft.com/office/drawing/2014/main" id="{AF9A9093-40E4-42D4-AA15-CBE19544F380}"/>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5E6B64"/>
                </a:solidFill>
                <a:latin typeface="Aptos"/>
                <a:ea typeface="Aptos"/>
                <a:cs typeface="Aptos"/>
              </a:defRPr>
            </a:pPr>
            <a:r>
              <a:rPr sz="825" b="0">
                <a:solidFill>
                  <a:srgbClr val="5E6B64"/>
                </a:solidFill>
                <a:latin typeface="Aptos"/>
                <a:ea typeface="Aptos"/>
                <a:cs typeface="Aptos"/>
              </a:rPr>
              <a:t>Opening functional story / 05</a:t>
            </a:r>
          </a:p>
        </p:txBody>
      </p:sp>
      <p:pic>
        <p:nvPicPr>
          <p:cNvPr id="16" name="Picture 15"/>
          <p:cNvPicPr>
            <a:picLocks noChangeAspect="1"/>
          </p:cNvPicPr>
          <p:nvPr/>
        </p:nvPicPr>
        <p:blipFill>
          <a:blip r:embed="rId4"/>
          <a:stretch/>
        </p:blipFill>
        <p:spPr>
          <a:xfrm>
            <a:off x="2107345" y="1952625"/>
            <a:ext cx="7977310" cy="4238625"/>
          </a:xfrm>
          <a:prstGeom prst="rect">
            <a:avLst/>
          </a:prstGeom>
        </p:spPr>
      </p:pic>
    </p:spTree>
    <p:extLst>
      <p:ext uri="{BB962C8B-B14F-4D97-AF65-F5344CB8AC3E}">
        <p14:creationId xmlns:p14="http://schemas.microsoft.com/office/powerpoint/2010/main" val="738132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0E53F3A-15C4-4E87-B1FC-FD206D4F9D8E}"/>
              </a:ext>
            </a:extLst>
          </p:cNvPr>
          <p:cNvSpPr>
            <a:spLocks noGrp="1"/>
          </p:cNvSpPr>
          <p:nvPr/>
        </p:nvSpPr>
        <p:spPr>
          <a:xfrm>
            <a:off x="0" y="0"/>
            <a:ext cx="12192000" cy="6858000"/>
          </a:xfrm>
          <a:prstGeom prst="rect">
            <a:avLst/>
          </a:prstGeom>
          <a:solidFill>
            <a:srgbClr val="F7F3EA"/>
          </a:solidFill>
          <a:ln w="9525">
            <a:solidFill>
              <a:srgbClr val="F7F3EA"/>
            </a:solidFill>
          </a:ln>
        </p:spPr>
        <p:txBody>
          <a:bodyPr/>
          <a:lstStyle/>
          <a:p>
            <a:endParaRPr/>
          </a:p>
        </p:txBody>
      </p:sp>
      <p:sp>
        <p:nvSpPr>
          <p:cNvPr id="2" name="Rectangle 1">
            <a:extLst>
              <a:ext uri="{FF2B5EF4-FFF2-40B4-BE49-F238E27FC236}">
                <a16:creationId xmlns:a16="http://schemas.microsoft.com/office/drawing/2014/main" id="{AB784829-7899-4AD9-909A-707E198CB695}"/>
              </a:ext>
            </a:extLst>
          </p:cNvPr>
          <p:cNvSpPr>
            <a:spLocks noGrp="1"/>
          </p:cNvSpPr>
          <p:nvPr/>
        </p:nvSpPr>
        <p:spPr>
          <a:xfrm>
            <a:off x="666750" y="400050"/>
            <a:ext cx="1619250" cy="238125"/>
          </a:xfrm>
          <a:prstGeom prst="rect">
            <a:avLst/>
          </a:prstGeom>
          <a:solidFill>
            <a:srgbClr val="15201B"/>
          </a:solidFill>
          <a:ln w="9525">
            <a:solidFill>
              <a:srgbClr val="15201B"/>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SEQUENCE 2 OF 2</a:t>
            </a:r>
          </a:p>
        </p:txBody>
      </p:sp>
      <p:sp>
        <p:nvSpPr>
          <p:cNvPr id="3" name="Rectangle 2">
            <a:extLst>
              <a:ext uri="{FF2B5EF4-FFF2-40B4-BE49-F238E27FC236}">
                <a16:creationId xmlns:a16="http://schemas.microsoft.com/office/drawing/2014/main" id="{EEA7AFF5-32B7-4744-9598-EC73A05D2890}"/>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A candidate becomes a release only after cross-site review.</a:t>
            </a:r>
          </a:p>
        </p:txBody>
      </p:sp>
      <p:sp>
        <p:nvSpPr>
          <p:cNvPr id="4" name="Rectangle 3">
            <a:extLst>
              <a:ext uri="{FF2B5EF4-FFF2-40B4-BE49-F238E27FC236}">
                <a16:creationId xmlns:a16="http://schemas.microsoft.com/office/drawing/2014/main" id="{270B3257-4C1E-4555-8FD9-857EDB8DB616}"/>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5E6B64"/>
                </a:solidFill>
                <a:latin typeface="Aptos"/>
                <a:ea typeface="Aptos"/>
                <a:cs typeface="Aptos"/>
              </a:defRPr>
            </a:pPr>
            <a:r>
              <a:rPr sz="1200" b="0">
                <a:solidFill>
                  <a:srgbClr val="5E6B64"/>
                </a:solidFill>
                <a:latin typeface="Aptos"/>
                <a:ea typeface="Aptos"/>
                <a:cs typeface="Aptos"/>
              </a:rPr>
              <a:t>Hospitals return local quality measures. The committee either approves a limited release or keeps the current model.</a:t>
            </a:r>
          </a:p>
        </p:txBody>
      </p:sp>
      <p:pic>
        <p:nvPicPr>
          <p:cNvPr id="14" name="Picture 4"/>
          <p:cNvPicPr>
            <a:picLocks noChangeAspect="1"/>
          </p:cNvPicPr>
          <p:nvPr/>
        </p:nvPicPr>
        <p:blipFill>
          <a:blip r:embed="rId3"/>
          <a:stretch/>
        </p:blipFill>
        <p:spPr>
          <a:xfrm>
            <a:off x="0" y="0"/>
            <a:ext cx="9525" cy="9525"/>
          </a:xfrm>
          <a:prstGeom prst="rect">
            <a:avLst/>
          </a:prstGeom>
        </p:spPr>
      </p:pic>
      <p:sp>
        <p:nvSpPr>
          <p:cNvPr id="6" name="Rectangle 5">
            <a:extLst>
              <a:ext uri="{FF2B5EF4-FFF2-40B4-BE49-F238E27FC236}">
                <a16:creationId xmlns:a16="http://schemas.microsoft.com/office/drawing/2014/main" id="{AF9A9093-40E4-42D4-AA15-CBE19544F380}"/>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5E6B64"/>
                </a:solidFill>
                <a:latin typeface="Aptos"/>
                <a:ea typeface="Aptos"/>
                <a:cs typeface="Aptos"/>
              </a:defRPr>
            </a:pPr>
            <a:r>
              <a:rPr sz="825" b="0">
                <a:solidFill>
                  <a:srgbClr val="5E6B64"/>
                </a:solidFill>
                <a:latin typeface="Aptos"/>
                <a:ea typeface="Aptos"/>
                <a:cs typeface="Aptos"/>
              </a:rPr>
              <a:t>Opening functional story / 06</a:t>
            </a:r>
          </a:p>
        </p:txBody>
      </p:sp>
      <p:pic>
        <p:nvPicPr>
          <p:cNvPr id="16" name="Picture 15"/>
          <p:cNvPicPr>
            <a:picLocks noChangeAspect="1"/>
          </p:cNvPicPr>
          <p:nvPr/>
        </p:nvPicPr>
        <p:blipFill>
          <a:blip r:embed="rId4"/>
          <a:stretch/>
        </p:blipFill>
        <p:spPr>
          <a:xfrm>
            <a:off x="2626469" y="2000250"/>
            <a:ext cx="6939063" cy="4143375"/>
          </a:xfrm>
          <a:prstGeom prst="rect">
            <a:avLst/>
          </a:prstGeom>
        </p:spPr>
      </p:pic>
    </p:spTree>
    <p:extLst>
      <p:ext uri="{BB962C8B-B14F-4D97-AF65-F5344CB8AC3E}">
        <p14:creationId xmlns:p14="http://schemas.microsoft.com/office/powerpoint/2010/main" val="738132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7D0897-00AD-4965-8CE2-0C3E3BDAA895}"/>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USE-CASE BOUNDARY</a:t>
            </a:r>
          </a:p>
        </p:txBody>
      </p:sp>
      <p:sp>
        <p:nvSpPr>
          <p:cNvPr id="3" name="TextBox 2">
            <a:extLst>
              <a:ext uri="{FF2B5EF4-FFF2-40B4-BE49-F238E27FC236}">
                <a16:creationId xmlns:a16="http://schemas.microsoft.com/office/drawing/2014/main" id="{F19EF4B8-D416-44CC-8F0F-CD690DE62B0E}"/>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Start narrow enough to prove the whole system.</a:t>
            </a:r>
          </a:p>
        </p:txBody>
      </p:sp>
      <p:sp>
        <p:nvSpPr>
          <p:cNvPr id="4" name="TextBox 3">
            <a:extLst>
              <a:ext uri="{FF2B5EF4-FFF2-40B4-BE49-F238E27FC236}">
                <a16:creationId xmlns:a16="http://schemas.microsoft.com/office/drawing/2014/main" id="{BE5C6F23-B794-41CB-9828-0309755B56BA}"/>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Illustrative research pilot: five hospitals, emergency and stroke pathways, past-scan testing followed by silent workflow evaluation.</a:t>
            </a:r>
          </a:p>
        </p:txBody>
      </p:sp>
      <p:sp>
        <p:nvSpPr>
          <p:cNvPr id="5" name="Rounded Rectangle 4">
            <a:extLst>
              <a:ext uri="{FF2B5EF4-FFF2-40B4-BE49-F238E27FC236}">
                <a16:creationId xmlns:a16="http://schemas.microsoft.com/office/drawing/2014/main" id="{B185A7CA-8862-4A59-84A7-D6796384C0A0}"/>
              </a:ext>
            </a:extLst>
          </p:cNvPr>
          <p:cNvSpPr>
            <a:spLocks noGrp="1"/>
          </p:cNvSpPr>
          <p:nvPr/>
        </p:nvSpPr>
        <p:spPr>
          <a:xfrm>
            <a:off x="777240" y="1737360"/>
            <a:ext cx="4892040" cy="11430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A6ABA7-B17F-4F9D-95AC-A9AD1840DA5F}"/>
              </a:ext>
            </a:extLst>
          </p:cNvPr>
          <p:cNvSpPr>
            <a:spLocks noGrp="1"/>
          </p:cNvSpPr>
          <p:nvPr/>
        </p:nvSpPr>
        <p:spPr>
          <a:xfrm>
            <a:off x="94183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One clinical question</a:t>
            </a:r>
          </a:p>
        </p:txBody>
      </p:sp>
      <p:sp>
        <p:nvSpPr>
          <p:cNvPr id="7" name="TextBox 6">
            <a:extLst>
              <a:ext uri="{FF2B5EF4-FFF2-40B4-BE49-F238E27FC236}">
                <a16:creationId xmlns:a16="http://schemas.microsoft.com/office/drawing/2014/main" id="{A16C6DE5-10AC-4D7B-A902-BE1A4B95FA97}"/>
              </a:ext>
            </a:extLst>
          </p:cNvPr>
          <p:cNvSpPr>
            <a:spLocks noGrp="1"/>
          </p:cNvSpPr>
          <p:nvPr/>
        </p:nvSpPr>
        <p:spPr>
          <a:xfrm>
            <a:off x="941832" y="2267712"/>
            <a:ext cx="4572000" cy="640080"/>
          </a:xfrm>
          <a:prstGeom prst="rect">
            <a:avLst/>
          </a:prstGeom>
          <a:noFill/>
        </p:spPr>
        <p:txBody>
          <a:bodyPr wrap="square">
            <a:spAutoFit/>
          </a:bodyPr>
          <a:lstStyle/>
          <a:p>
            <a:pPr algn="l">
              <a:buNone/>
            </a:pPr>
            <a:r>
              <a:rPr sz="1200" b="0">
                <a:solidFill>
                  <a:srgbClr val="53635B"/>
                </a:solidFill>
                <a:latin typeface="Aptos"/>
                <a:ea typeface="Aptos"/>
                <a:cs typeface="Aptos"/>
              </a:rPr>
              <a:t>Can a model help prioritize suspected-stroke scans for faster specialist review? A clinical committee defines inputs, output, exclusions, and safe use.</a:t>
            </a:r>
          </a:p>
        </p:txBody>
      </p:sp>
      <p:sp>
        <p:nvSpPr>
          <p:cNvPr id="8" name="Rounded Rectangle 7">
            <a:extLst>
              <a:ext uri="{FF2B5EF4-FFF2-40B4-BE49-F238E27FC236}">
                <a16:creationId xmlns:a16="http://schemas.microsoft.com/office/drawing/2014/main" id="{DB689BD0-DEBE-4890-84C2-52C9C0F87691}"/>
              </a:ext>
            </a:extLst>
          </p:cNvPr>
          <p:cNvSpPr>
            <a:spLocks noGrp="1"/>
          </p:cNvSpPr>
          <p:nvPr/>
        </p:nvSpPr>
        <p:spPr>
          <a:xfrm>
            <a:off x="6217920" y="1737360"/>
            <a:ext cx="4892040" cy="11430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2C22423-3633-4CFF-9783-DEDD0DB789E8}"/>
              </a:ext>
            </a:extLst>
          </p:cNvPr>
          <p:cNvSpPr>
            <a:spLocks noGrp="1"/>
          </p:cNvSpPr>
          <p:nvPr/>
        </p:nvSpPr>
        <p:spPr>
          <a:xfrm>
            <a:off x="638251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Approved seed</a:t>
            </a:r>
          </a:p>
        </p:txBody>
      </p:sp>
      <p:sp>
        <p:nvSpPr>
          <p:cNvPr id="10" name="TextBox 9">
            <a:extLst>
              <a:ext uri="{FF2B5EF4-FFF2-40B4-BE49-F238E27FC236}">
                <a16:creationId xmlns:a16="http://schemas.microsoft.com/office/drawing/2014/main" id="{38C7BA40-A629-4F2C-9946-C9AFDE739862}"/>
              </a:ext>
            </a:extLst>
          </p:cNvPr>
          <p:cNvSpPr>
            <a:spLocks noGrp="1"/>
          </p:cNvSpPr>
          <p:nvPr/>
        </p:nvSpPr>
        <p:spPr>
          <a:xfrm>
            <a:off x="6382512" y="2267712"/>
            <a:ext cx="4572000" cy="640080"/>
          </a:xfrm>
          <a:prstGeom prst="rect">
            <a:avLst/>
          </a:prstGeom>
          <a:noFill/>
        </p:spPr>
        <p:txBody>
          <a:bodyPr wrap="square">
            <a:spAutoFit/>
          </a:bodyPr>
          <a:lstStyle/>
          <a:p>
            <a:pPr algn="l">
              <a:buNone/>
            </a:pPr>
            <a:r>
              <a:rPr sz="1200" b="0">
                <a:solidFill>
                  <a:srgbClr val="53635B"/>
                </a:solidFill>
                <a:latin typeface="Aptos"/>
                <a:ea typeface="Aptos"/>
                <a:cs typeface="Aptos"/>
              </a:rPr>
              <a:t>Start from public, de-identified, consented, synthetic, or otherwise permitted data—not a central copy of hospital records.</a:t>
            </a:r>
          </a:p>
        </p:txBody>
      </p:sp>
      <p:sp>
        <p:nvSpPr>
          <p:cNvPr id="11" name="Rounded Rectangle 10">
            <a:extLst>
              <a:ext uri="{FF2B5EF4-FFF2-40B4-BE49-F238E27FC236}">
                <a16:creationId xmlns:a16="http://schemas.microsoft.com/office/drawing/2014/main" id="{E5CF9E1F-B30B-4AF0-BFE2-3E3E214ECC1C}"/>
              </a:ext>
            </a:extLst>
          </p:cNvPr>
          <p:cNvSpPr>
            <a:spLocks noGrp="1"/>
          </p:cNvSpPr>
          <p:nvPr/>
        </p:nvSpPr>
        <p:spPr>
          <a:xfrm>
            <a:off x="777240" y="3383280"/>
            <a:ext cx="4892040" cy="114300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B6C606A-7A36-4A56-AE5F-ED90CCBB9865}"/>
              </a:ext>
            </a:extLst>
          </p:cNvPr>
          <p:cNvSpPr>
            <a:spLocks noGrp="1"/>
          </p:cNvSpPr>
          <p:nvPr/>
        </p:nvSpPr>
        <p:spPr>
          <a:xfrm>
            <a:off x="94183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No automatic care</a:t>
            </a:r>
          </a:p>
        </p:txBody>
      </p:sp>
      <p:sp>
        <p:nvSpPr>
          <p:cNvPr id="13" name="TextBox 12">
            <a:extLst>
              <a:ext uri="{FF2B5EF4-FFF2-40B4-BE49-F238E27FC236}">
                <a16:creationId xmlns:a16="http://schemas.microsoft.com/office/drawing/2014/main" id="{0E2DE3C6-7B14-47CE-984B-4FEA66D42DD9}"/>
              </a:ext>
            </a:extLst>
          </p:cNvPr>
          <p:cNvSpPr>
            <a:spLocks noGrp="1"/>
          </p:cNvSpPr>
          <p:nvPr/>
        </p:nvSpPr>
        <p:spPr>
          <a:xfrm>
            <a:off x="94183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Past scans and silent mode first. No diagnosis, treatment, or queue removal without a separate approved study.</a:t>
            </a:r>
          </a:p>
        </p:txBody>
      </p:sp>
      <p:sp>
        <p:nvSpPr>
          <p:cNvPr id="14" name="Rounded Rectangle 13">
            <a:extLst>
              <a:ext uri="{FF2B5EF4-FFF2-40B4-BE49-F238E27FC236}">
                <a16:creationId xmlns:a16="http://schemas.microsoft.com/office/drawing/2014/main" id="{02068F01-5A1E-4CA8-BAC8-5916EBED6DE1}"/>
              </a:ext>
            </a:extLst>
          </p:cNvPr>
          <p:cNvSpPr>
            <a:spLocks noGrp="1"/>
          </p:cNvSpPr>
          <p:nvPr/>
        </p:nvSpPr>
        <p:spPr>
          <a:xfrm>
            <a:off x="6217920" y="3383280"/>
            <a:ext cx="4892040" cy="11430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FF3519E-A7D4-4C26-97BE-CCD863D217C3}"/>
              </a:ext>
            </a:extLst>
          </p:cNvPr>
          <p:cNvSpPr>
            <a:spLocks noGrp="1"/>
          </p:cNvSpPr>
          <p:nvPr/>
        </p:nvSpPr>
        <p:spPr>
          <a:xfrm>
            <a:off x="638251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One condition</a:t>
            </a:r>
          </a:p>
        </p:txBody>
      </p:sp>
      <p:sp>
        <p:nvSpPr>
          <p:cNvPr id="16" name="TextBox 15">
            <a:extLst>
              <a:ext uri="{FF2B5EF4-FFF2-40B4-BE49-F238E27FC236}">
                <a16:creationId xmlns:a16="http://schemas.microsoft.com/office/drawing/2014/main" id="{A348AC81-5D4F-4221-91E2-2B61032AA866}"/>
              </a:ext>
            </a:extLst>
          </p:cNvPr>
          <p:cNvSpPr>
            <a:spLocks noGrp="1"/>
          </p:cNvSpPr>
          <p:nvPr/>
        </p:nvSpPr>
        <p:spPr>
          <a:xfrm>
            <a:off x="6382512" y="3913632"/>
            <a:ext cx="4572000" cy="640080"/>
          </a:xfrm>
          <a:prstGeom prst="rect">
            <a:avLst/>
          </a:prstGeom>
          <a:noFill/>
        </p:spPr>
        <p:txBody>
          <a:bodyPr wrap="square">
            <a:spAutoFit/>
          </a:bodyPr>
          <a:lstStyle/>
          <a:p>
            <a:pPr algn="l">
              <a:buNone/>
            </a:pPr>
            <a:r>
              <a:rPr sz="1200" b="0">
                <a:solidFill>
                  <a:srgbClr val="53635B"/>
                </a:solidFill>
                <a:latin typeface="Aptos"/>
                <a:ea typeface="Aptos"/>
                <a:cs typeface="Aptos"/>
              </a:rPr>
              <a:t>Later cases could cover heart attack, sudden kidney injury, breathing decline, or diabetic emergency. Each needs its own model, workflow, owner, and safety evidence.</a:t>
            </a:r>
          </a:p>
        </p:txBody>
      </p:sp>
      <p:sp>
        <p:nvSpPr>
          <p:cNvPr id="17" name="TextBox 16">
            <a:extLst>
              <a:ext uri="{FF2B5EF4-FFF2-40B4-BE49-F238E27FC236}">
                <a16:creationId xmlns:a16="http://schemas.microsoft.com/office/drawing/2014/main" id="{0189CDBE-DBE1-4102-896D-D470C23C8EA5}"/>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Proposed research boundary—not a clinical or regulatory conclusion / 07</a:t>
            </a:r>
          </a:p>
        </p:txBody>
      </p:sp>
    </p:spTree>
    <p:extLst>
      <p:ext uri="{BB962C8B-B14F-4D97-AF65-F5344CB8AC3E}">
        <p14:creationId xmlns:p14="http://schemas.microsoft.com/office/powerpoint/2010/main" val="1152305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0E53F3A-15C4-4E87-B1FC-FD206D4F9D8E}"/>
              </a:ext>
            </a:extLst>
          </p:cNvPr>
          <p:cNvSpPr>
            <a:spLocks noGrp="1"/>
          </p:cNvSpPr>
          <p:nvPr/>
        </p:nvSpPr>
        <p:spPr>
          <a:xfrm>
            <a:off x="0" y="0"/>
            <a:ext cx="12192000" cy="6858000"/>
          </a:xfrm>
          <a:prstGeom prst="rect">
            <a:avLst/>
          </a:prstGeom>
          <a:solidFill>
            <a:srgbClr val="F7F3EA"/>
          </a:solidFill>
          <a:ln w="9525">
            <a:solidFill>
              <a:srgbClr val="F7F3EA"/>
            </a:solidFill>
          </a:ln>
        </p:spPr>
        <p:txBody>
          <a:bodyPr/>
          <a:lstStyle/>
          <a:p>
            <a:endParaRPr/>
          </a:p>
        </p:txBody>
      </p:sp>
      <p:sp>
        <p:nvSpPr>
          <p:cNvPr id="2" name="Rectangle 1">
            <a:extLst>
              <a:ext uri="{FF2B5EF4-FFF2-40B4-BE49-F238E27FC236}">
                <a16:creationId xmlns:a16="http://schemas.microsoft.com/office/drawing/2014/main" id="{AB784829-7899-4AD9-909A-707E198CB695}"/>
              </a:ext>
            </a:extLst>
          </p:cNvPr>
          <p:cNvSpPr>
            <a:spLocks noGrp="1"/>
          </p:cNvSpPr>
          <p:nvPr/>
        </p:nvSpPr>
        <p:spPr>
          <a:xfrm>
            <a:off x="666750" y="400050"/>
            <a:ext cx="1619250" cy="238125"/>
          </a:xfrm>
          <a:prstGeom prst="rect">
            <a:avLst/>
          </a:prstGeom>
          <a:solidFill>
            <a:srgbClr val="15201B"/>
          </a:solidFill>
          <a:ln w="9525">
            <a:solidFill>
              <a:srgbClr val="15201B"/>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FEDERATED ARCHITECTURE</a:t>
            </a:r>
          </a:p>
        </p:txBody>
      </p:sp>
      <p:sp>
        <p:nvSpPr>
          <p:cNvPr id="3" name="Rectangle 2">
            <a:extLst>
              <a:ext uri="{FF2B5EF4-FFF2-40B4-BE49-F238E27FC236}">
                <a16:creationId xmlns:a16="http://schemas.microsoft.com/office/drawing/2014/main" id="{EEA7AFF5-32B7-4744-9598-EC73A05D2890}"/>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Dagents controls the round; a federated engine aggregates.</a:t>
            </a:r>
          </a:p>
        </p:txBody>
      </p:sp>
      <p:sp>
        <p:nvSpPr>
          <p:cNvPr id="4" name="Rectangle 3">
            <a:extLst>
              <a:ext uri="{FF2B5EF4-FFF2-40B4-BE49-F238E27FC236}">
                <a16:creationId xmlns:a16="http://schemas.microsoft.com/office/drawing/2014/main" id="{270B3257-4C1E-4555-8FD9-857EDB8DB616}"/>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5E6B64"/>
                </a:solidFill>
                <a:latin typeface="Aptos"/>
                <a:ea typeface="Aptos"/>
                <a:cs typeface="Aptos"/>
              </a:defRPr>
            </a:pPr>
            <a:r>
              <a:rPr sz="1200" b="0">
                <a:solidFill>
                  <a:srgbClr val="5E6B64"/>
                </a:solidFill>
                <a:latin typeface="Aptos"/>
                <a:ea typeface="Aptos"/>
                <a:cs typeface="Aptos"/>
              </a:rPr>
              <a:t>Signed jobs go out, protected updates come back, and raw records plus patient-level traces stay at each hospital.</a:t>
            </a:r>
          </a:p>
        </p:txBody>
      </p:sp>
      <p:pic>
        <p:nvPicPr>
          <p:cNvPr id="13" name="Picture 4"/>
          <p:cNvPicPr>
            <a:picLocks noChangeAspect="1"/>
          </p:cNvPicPr>
          <p:nvPr/>
        </p:nvPicPr>
        <p:blipFill>
          <a:blip r:embed="rId3"/>
          <a:stretch/>
        </p:blipFill>
        <p:spPr>
          <a:xfrm>
            <a:off x="571500" y="2473067"/>
            <a:ext cx="11049000" cy="2340490"/>
          </a:xfrm>
          <a:prstGeom prst="rect">
            <a:avLst/>
          </a:prstGeom>
        </p:spPr>
      </p:pic>
      <p:sp>
        <p:nvSpPr>
          <p:cNvPr id="6" name="Rectangle 5">
            <a:extLst>
              <a:ext uri="{FF2B5EF4-FFF2-40B4-BE49-F238E27FC236}">
                <a16:creationId xmlns:a16="http://schemas.microsoft.com/office/drawing/2014/main" id="{AF9A9093-40E4-42D4-AA15-CBE19544F380}"/>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5E6B64"/>
                </a:solidFill>
                <a:latin typeface="Aptos"/>
                <a:ea typeface="Aptos"/>
                <a:cs typeface="Aptos"/>
              </a:defRPr>
            </a:pPr>
            <a:r>
              <a:rPr sz="825" b="0">
                <a:solidFill>
                  <a:srgbClr val="5E6B64"/>
                </a:solidFill>
                <a:latin typeface="Aptos"/>
                <a:ea typeface="Aptos"/>
                <a:cs typeface="Aptos"/>
              </a:rPr>
              <a:t>Federated control and data boundaries / 08</a:t>
            </a:r>
          </a:p>
        </p:txBody>
      </p:sp>
    </p:spTree>
    <p:extLst>
      <p:ext uri="{BB962C8B-B14F-4D97-AF65-F5344CB8AC3E}">
        <p14:creationId xmlns:p14="http://schemas.microsoft.com/office/powerpoint/2010/main" val="73813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7D1158-DC0C-4870-9A1F-691F8C825EE8}"/>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RELEASE LIFECYCLE</a:t>
            </a:r>
          </a:p>
        </p:txBody>
      </p:sp>
      <p:sp>
        <p:nvSpPr>
          <p:cNvPr id="3" name="TextBox 2">
            <a:extLst>
              <a:ext uri="{FF2B5EF4-FFF2-40B4-BE49-F238E27FC236}">
                <a16:creationId xmlns:a16="http://schemas.microsoft.com/office/drawing/2014/main" id="{84656273-0838-4E98-9C35-87AA81425751}"/>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Treat every model version as a recoverable release.</a:t>
            </a:r>
          </a:p>
        </p:txBody>
      </p:sp>
      <p:sp>
        <p:nvSpPr>
          <p:cNvPr id="4" name="TextBox 3">
            <a:extLst>
              <a:ext uri="{FF2B5EF4-FFF2-40B4-BE49-F238E27FC236}">
                <a16:creationId xmlns:a16="http://schemas.microsoft.com/office/drawing/2014/main" id="{54FDD751-E4A4-4D59-8F78-D01EFE7D22D5}"/>
              </a:ext>
            </a:extLst>
          </p:cNvPr>
          <p:cNvSpPr>
            <a:spLocks noGrp="1"/>
          </p:cNvSpPr>
          <p:nvPr/>
        </p:nvSpPr>
        <p:spPr>
          <a:xfrm>
            <a:off x="566928" y="1225296"/>
            <a:ext cx="9784080" cy="411480"/>
          </a:xfrm>
          <a:prstGeom prst="rect">
            <a:avLst/>
          </a:prstGeom>
          <a:noFill/>
        </p:spPr>
        <p:txBody>
          <a:bodyPr wrap="square">
            <a:spAutoFit/>
          </a:bodyPr>
          <a:lstStyle/>
          <a:p>
            <a:pPr algn="l">
              <a:buNone/>
            </a:pPr>
            <a:r>
              <a:rPr sz="1400" b="0">
                <a:solidFill>
                  <a:srgbClr val="53635B"/>
                </a:solidFill>
                <a:latin typeface="Aptos"/>
                <a:ea typeface="Aptos"/>
                <a:cs typeface="Aptos"/>
              </a:rPr>
              <a:t>Federated training creates candidates; governance creates releases.</a:t>
            </a:r>
          </a:p>
        </p:txBody>
      </p:sp>
      <p:sp>
        <p:nvSpPr>
          <p:cNvPr id="5" name="Rounded Rectangle 4">
            <a:extLst>
              <a:ext uri="{FF2B5EF4-FFF2-40B4-BE49-F238E27FC236}">
                <a16:creationId xmlns:a16="http://schemas.microsoft.com/office/drawing/2014/main" id="{4FE36FB3-EF4F-4471-8C0C-A6391FFA5999}"/>
              </a:ext>
            </a:extLst>
          </p:cNvPr>
          <p:cNvSpPr>
            <a:spLocks noGrp="1"/>
          </p:cNvSpPr>
          <p:nvPr/>
        </p:nvSpPr>
        <p:spPr>
          <a:xfrm>
            <a:off x="685800" y="1874519"/>
            <a:ext cx="2423160" cy="256032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C154123-D6D6-43E5-8E10-D9956C94BDCE}"/>
              </a:ext>
            </a:extLst>
          </p:cNvPr>
          <p:cNvSpPr>
            <a:spLocks noGrp="1"/>
          </p:cNvSpPr>
          <p:nvPr/>
        </p:nvSpPr>
        <p:spPr>
          <a:xfrm>
            <a:off x="85039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BASELINE</a:t>
            </a:r>
          </a:p>
        </p:txBody>
      </p:sp>
      <p:sp>
        <p:nvSpPr>
          <p:cNvPr id="7" name="TextBox 6">
            <a:extLst>
              <a:ext uri="{FF2B5EF4-FFF2-40B4-BE49-F238E27FC236}">
                <a16:creationId xmlns:a16="http://schemas.microsoft.com/office/drawing/2014/main" id="{10E5C917-0DA9-4A9D-81A2-91E6CAEF835A}"/>
              </a:ext>
            </a:extLst>
          </p:cNvPr>
          <p:cNvSpPr>
            <a:spLocks noGrp="1"/>
          </p:cNvSpPr>
          <p:nvPr/>
        </p:nvSpPr>
        <p:spPr>
          <a:xfrm>
            <a:off x="85039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Record the seed model, code, features, dependencies, intended use, approved sites, and safe fallback.</a:t>
            </a:r>
          </a:p>
        </p:txBody>
      </p:sp>
      <p:sp>
        <p:nvSpPr>
          <p:cNvPr id="8" name="TextBox 7">
            <a:extLst>
              <a:ext uri="{FF2B5EF4-FFF2-40B4-BE49-F238E27FC236}">
                <a16:creationId xmlns:a16="http://schemas.microsoft.com/office/drawing/2014/main" id="{283583F2-18F8-47B5-B953-1BE32838718A}"/>
              </a:ext>
            </a:extLst>
          </p:cNvPr>
          <p:cNvSpPr>
            <a:spLocks noGrp="1"/>
          </p:cNvSpPr>
          <p:nvPr/>
        </p:nvSpPr>
        <p:spPr>
          <a:xfrm>
            <a:off x="315468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9" name="Rounded Rectangle 8">
            <a:extLst>
              <a:ext uri="{FF2B5EF4-FFF2-40B4-BE49-F238E27FC236}">
                <a16:creationId xmlns:a16="http://schemas.microsoft.com/office/drawing/2014/main" id="{B7B06795-DCE9-4C8D-B015-25CADBD41A99}"/>
              </a:ext>
            </a:extLst>
          </p:cNvPr>
          <p:cNvSpPr>
            <a:spLocks noGrp="1"/>
          </p:cNvSpPr>
          <p:nvPr/>
        </p:nvSpPr>
        <p:spPr>
          <a:xfrm>
            <a:off x="3474720" y="1874519"/>
            <a:ext cx="2423160" cy="256032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B360983-67AA-4183-B04A-ACC05DF791ED}"/>
              </a:ext>
            </a:extLst>
          </p:cNvPr>
          <p:cNvSpPr>
            <a:spLocks noGrp="1"/>
          </p:cNvSpPr>
          <p:nvPr/>
        </p:nvSpPr>
        <p:spPr>
          <a:xfrm>
            <a:off x="363931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INCREMENT</a:t>
            </a:r>
          </a:p>
        </p:txBody>
      </p:sp>
      <p:sp>
        <p:nvSpPr>
          <p:cNvPr id="11" name="TextBox 10">
            <a:extLst>
              <a:ext uri="{FF2B5EF4-FFF2-40B4-BE49-F238E27FC236}">
                <a16:creationId xmlns:a16="http://schemas.microsoft.com/office/drawing/2014/main" id="{B4D09C7A-CE49-4C0C-BAB7-7F16C2331F9C}"/>
              </a:ext>
            </a:extLst>
          </p:cNvPr>
          <p:cNvSpPr>
            <a:spLocks noGrp="1"/>
          </p:cNvSpPr>
          <p:nvPr/>
        </p:nvSpPr>
        <p:spPr>
          <a:xfrm>
            <a:off x="363931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Create a round manifest; collect bounded updates and approved aggregate results.</a:t>
            </a:r>
          </a:p>
        </p:txBody>
      </p:sp>
      <p:sp>
        <p:nvSpPr>
          <p:cNvPr id="12" name="TextBox 11">
            <a:extLst>
              <a:ext uri="{FF2B5EF4-FFF2-40B4-BE49-F238E27FC236}">
                <a16:creationId xmlns:a16="http://schemas.microsoft.com/office/drawing/2014/main" id="{388FFCDD-207D-447E-AD8D-0C3AEB782266}"/>
              </a:ext>
            </a:extLst>
          </p:cNvPr>
          <p:cNvSpPr>
            <a:spLocks noGrp="1"/>
          </p:cNvSpPr>
          <p:nvPr/>
        </p:nvSpPr>
        <p:spPr>
          <a:xfrm>
            <a:off x="594360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3" name="Rounded Rectangle 12">
            <a:extLst>
              <a:ext uri="{FF2B5EF4-FFF2-40B4-BE49-F238E27FC236}">
                <a16:creationId xmlns:a16="http://schemas.microsoft.com/office/drawing/2014/main" id="{0F266D72-A8AA-4D4D-B477-7E6D7F171E6D}"/>
              </a:ext>
            </a:extLst>
          </p:cNvPr>
          <p:cNvSpPr>
            <a:spLocks noGrp="1"/>
          </p:cNvSpPr>
          <p:nvPr/>
        </p:nvSpPr>
        <p:spPr>
          <a:xfrm>
            <a:off x="6263640" y="1874519"/>
            <a:ext cx="2423160" cy="256032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C4BA714-596E-48B7-B7FB-8173266FCE0E}"/>
              </a:ext>
            </a:extLst>
          </p:cNvPr>
          <p:cNvSpPr>
            <a:spLocks noGrp="1"/>
          </p:cNvSpPr>
          <p:nvPr/>
        </p:nvSpPr>
        <p:spPr>
          <a:xfrm>
            <a:off x="6428231"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VERIFY</a:t>
            </a:r>
          </a:p>
        </p:txBody>
      </p:sp>
      <p:sp>
        <p:nvSpPr>
          <p:cNvPr id="15" name="TextBox 14">
            <a:extLst>
              <a:ext uri="{FF2B5EF4-FFF2-40B4-BE49-F238E27FC236}">
                <a16:creationId xmlns:a16="http://schemas.microsoft.com/office/drawing/2014/main" id="{7A1A9390-FE67-4674-85D7-F68E58244653}"/>
              </a:ext>
            </a:extLst>
          </p:cNvPr>
          <p:cNvSpPr>
            <a:spLocks noGrp="1"/>
          </p:cNvSpPr>
          <p:nvPr/>
        </p:nvSpPr>
        <p:spPr>
          <a:xfrm>
            <a:off x="642823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Re-evaluate at every site; check privacy, performance, subgroup, integrity, and operational gates.</a:t>
            </a:r>
          </a:p>
        </p:txBody>
      </p:sp>
      <p:sp>
        <p:nvSpPr>
          <p:cNvPr id="16" name="TextBox 15">
            <a:extLst>
              <a:ext uri="{FF2B5EF4-FFF2-40B4-BE49-F238E27FC236}">
                <a16:creationId xmlns:a16="http://schemas.microsoft.com/office/drawing/2014/main" id="{FD7B0A54-6410-4C3C-9E18-B02B32C485DB}"/>
              </a:ext>
            </a:extLst>
          </p:cNvPr>
          <p:cNvSpPr>
            <a:spLocks noGrp="1"/>
          </p:cNvSpPr>
          <p:nvPr/>
        </p:nvSpPr>
        <p:spPr>
          <a:xfrm>
            <a:off x="873252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7" name="Rounded Rectangle 16">
            <a:extLst>
              <a:ext uri="{FF2B5EF4-FFF2-40B4-BE49-F238E27FC236}">
                <a16:creationId xmlns:a16="http://schemas.microsoft.com/office/drawing/2014/main" id="{507F04C6-72CF-4D13-82CA-222128D1F2CF}"/>
              </a:ext>
            </a:extLst>
          </p:cNvPr>
          <p:cNvSpPr>
            <a:spLocks noGrp="1"/>
          </p:cNvSpPr>
          <p:nvPr/>
        </p:nvSpPr>
        <p:spPr>
          <a:xfrm>
            <a:off x="9052559" y="1874519"/>
            <a:ext cx="2423160" cy="256032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EE6E707-0227-4865-8B3F-1C65728A0F1A}"/>
              </a:ext>
            </a:extLst>
          </p:cNvPr>
          <p:cNvSpPr>
            <a:spLocks noGrp="1"/>
          </p:cNvSpPr>
          <p:nvPr/>
        </p:nvSpPr>
        <p:spPr>
          <a:xfrm>
            <a:off x="9217151" y="2020824"/>
            <a:ext cx="2103120" cy="548640"/>
          </a:xfrm>
          <a:prstGeom prst="rect">
            <a:avLst/>
          </a:prstGeom>
          <a:noFill/>
        </p:spPr>
        <p:txBody>
          <a:bodyPr wrap="square">
            <a:spAutoFit/>
          </a:bodyPr>
          <a:lstStyle/>
          <a:p>
            <a:pPr algn="l">
              <a:buNone/>
            </a:pPr>
            <a:r>
              <a:rPr sz="1500" b="1">
                <a:solidFill>
                  <a:srgbClr val="15201B"/>
                </a:solidFill>
                <a:latin typeface="Aptos"/>
                <a:ea typeface="Aptos"/>
                <a:cs typeface="Aptos"/>
              </a:rPr>
              <a:t>RELEASE OR RESTORE</a:t>
            </a:r>
          </a:p>
        </p:txBody>
      </p:sp>
      <p:sp>
        <p:nvSpPr>
          <p:cNvPr id="19" name="TextBox 18">
            <a:extLst>
              <a:ext uri="{FF2B5EF4-FFF2-40B4-BE49-F238E27FC236}">
                <a16:creationId xmlns:a16="http://schemas.microsoft.com/office/drawing/2014/main" id="{8A8E6459-BE37-4D1A-BC1C-440076936B49}"/>
              </a:ext>
            </a:extLst>
          </p:cNvPr>
          <p:cNvSpPr>
            <a:spLocks noGrp="1"/>
          </p:cNvSpPr>
          <p:nvPr/>
        </p:nvSpPr>
        <p:spPr>
          <a:xfrm>
            <a:off x="921715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Sign a candidate for a small rollout—or keep and restore the last known-good model and settings.</a:t>
            </a:r>
          </a:p>
        </p:txBody>
      </p:sp>
      <p:sp>
        <p:nvSpPr>
          <p:cNvPr id="20" name="TextBox 19">
            <a:extLst>
              <a:ext uri="{FF2B5EF4-FFF2-40B4-BE49-F238E27FC236}">
                <a16:creationId xmlns:a16="http://schemas.microsoft.com/office/drawing/2014/main" id="{3E002B24-9FFE-495E-9B87-E5DD1FE8718C}"/>
              </a:ext>
            </a:extLst>
          </p:cNvPr>
          <p:cNvSpPr>
            <a:spLocks noGrp="1"/>
          </p:cNvSpPr>
          <p:nvPr/>
        </p:nvSpPr>
        <p:spPr>
          <a:xfrm>
            <a:off x="914400" y="4800600"/>
            <a:ext cx="9875520" cy="822960"/>
          </a:xfrm>
          <a:prstGeom prst="rect">
            <a:avLst/>
          </a:prstGeom>
          <a:noFill/>
        </p:spPr>
        <p:txBody>
          <a:bodyPr wrap="square">
            <a:spAutoFit/>
          </a:bodyPr>
          <a:lstStyle/>
          <a:p>
            <a:pPr>
              <a:buNone/>
              <a:defRPr sz="1500">
                <a:solidFill>
                  <a:srgbClr val="15201B"/>
                </a:solidFill>
                <a:latin typeface="Aptos"/>
                <a:ea typeface="Aptos"/>
                <a:cs typeface="Aptos"/>
              </a:defRPr>
            </a:pPr>
            <a:r>
              <a:t>No candidate silently replaces the approved model.</a:t>
            </a:r>
          </a:p>
        </p:txBody>
      </p:sp>
      <p:sp>
        <p:nvSpPr>
          <p:cNvPr id="21" name="TextBox 20">
            <a:extLst>
              <a:ext uri="{FF2B5EF4-FFF2-40B4-BE49-F238E27FC236}">
                <a16:creationId xmlns:a16="http://schemas.microsoft.com/office/drawing/2014/main" id="{85564141-C074-4DC7-BBE3-D0FC1209659F}"/>
              </a:ext>
            </a:extLst>
          </p:cNvPr>
          <p:cNvSpPr>
            <a:spLocks noGrp="1"/>
          </p:cNvSpPr>
          <p:nvPr/>
        </p:nvSpPr>
        <p:spPr>
          <a:xfrm>
            <a:off x="566928" y="6355080"/>
            <a:ext cx="3657600" cy="228600"/>
          </a:xfrm>
          <a:prstGeom prst="rect">
            <a:avLst/>
          </a:prstGeom>
          <a:noFill/>
        </p:spPr>
        <p:txBody>
          <a:bodyPr wrap="square">
            <a:spAutoFit/>
          </a:bodyPr>
          <a:lstStyle/>
          <a:p>
            <a:pPr algn="l">
              <a:buNone/>
            </a:pPr>
            <a:r>
              <a:rPr sz="800" b="0">
                <a:solidFill>
                  <a:srgbClr val="53635B"/>
                </a:solidFill>
                <a:latin typeface="Aptos"/>
                <a:ea typeface="Aptos"/>
                <a:cs typeface="Aptos"/>
              </a:rPr>
              <a:t>Versioned release lifecycle / 09</a:t>
            </a:r>
          </a:p>
        </p:txBody>
      </p:sp>
    </p:spTree>
    <p:extLst>
      <p:ext uri="{BB962C8B-B14F-4D97-AF65-F5344CB8AC3E}">
        <p14:creationId xmlns:p14="http://schemas.microsoft.com/office/powerpoint/2010/main" val="1530383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7D1158-DC0C-4870-9A1F-691F8C825EE8}"/>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LOCAL AGENT (LMA)</a:t>
            </a:r>
          </a:p>
        </p:txBody>
      </p:sp>
      <p:sp>
        <p:nvSpPr>
          <p:cNvPr id="3" name="TextBox 2">
            <a:extLst>
              <a:ext uri="{FF2B5EF4-FFF2-40B4-BE49-F238E27FC236}">
                <a16:creationId xmlns:a16="http://schemas.microsoft.com/office/drawing/2014/main" id="{84656273-0838-4E98-9C35-87AA81425751}"/>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The LMA is the hospital’s enforcement point.</a:t>
            </a:r>
          </a:p>
        </p:txBody>
      </p:sp>
      <p:sp>
        <p:nvSpPr>
          <p:cNvPr id="4" name="TextBox 3">
            <a:extLst>
              <a:ext uri="{FF2B5EF4-FFF2-40B4-BE49-F238E27FC236}">
                <a16:creationId xmlns:a16="http://schemas.microsoft.com/office/drawing/2014/main" id="{54FDD751-E4A4-4D59-8F78-D01EFE7D22D5}"/>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It accepts only approved jobs, touches only approved fields, and keeps the detailed trace under hospital control.</a:t>
            </a:r>
          </a:p>
        </p:txBody>
      </p:sp>
      <p:sp>
        <p:nvSpPr>
          <p:cNvPr id="5" name="Rounded Rectangle 4">
            <a:extLst>
              <a:ext uri="{FF2B5EF4-FFF2-40B4-BE49-F238E27FC236}">
                <a16:creationId xmlns:a16="http://schemas.microsoft.com/office/drawing/2014/main" id="{4FE36FB3-EF4F-4471-8C0C-A6391FFA5999}"/>
              </a:ext>
            </a:extLst>
          </p:cNvPr>
          <p:cNvSpPr>
            <a:spLocks noGrp="1"/>
          </p:cNvSpPr>
          <p:nvPr/>
        </p:nvSpPr>
        <p:spPr>
          <a:xfrm>
            <a:off x="685800" y="1874519"/>
            <a:ext cx="2423160" cy="256032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C154123-D6D6-43E5-8E10-D9956C94BDCE}"/>
              </a:ext>
            </a:extLst>
          </p:cNvPr>
          <p:cNvSpPr>
            <a:spLocks noGrp="1"/>
          </p:cNvSpPr>
          <p:nvPr/>
        </p:nvSpPr>
        <p:spPr>
          <a:xfrm>
            <a:off x="85039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VERIFY JOB</a:t>
            </a:r>
          </a:p>
        </p:txBody>
      </p:sp>
      <p:sp>
        <p:nvSpPr>
          <p:cNvPr id="7" name="TextBox 6">
            <a:extLst>
              <a:ext uri="{FF2B5EF4-FFF2-40B4-BE49-F238E27FC236}">
                <a16:creationId xmlns:a16="http://schemas.microsoft.com/office/drawing/2014/main" id="{10E5C917-0DA9-4A9D-81A2-91E6CAEF835A}"/>
              </a:ext>
            </a:extLst>
          </p:cNvPr>
          <p:cNvSpPr>
            <a:spLocks noGrp="1"/>
          </p:cNvSpPr>
          <p:nvPr/>
        </p:nvSpPr>
        <p:spPr>
          <a:xfrm>
            <a:off x="85039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Check signer, code hash, dependencies, condition, allowed fields, privacy settings, and local approval. The hospital may reject.</a:t>
            </a:r>
          </a:p>
        </p:txBody>
      </p:sp>
      <p:sp>
        <p:nvSpPr>
          <p:cNvPr id="8" name="TextBox 7">
            <a:extLst>
              <a:ext uri="{FF2B5EF4-FFF2-40B4-BE49-F238E27FC236}">
                <a16:creationId xmlns:a16="http://schemas.microsoft.com/office/drawing/2014/main" id="{283583F2-18F8-47B5-B953-1BE32838718A}"/>
              </a:ext>
            </a:extLst>
          </p:cNvPr>
          <p:cNvSpPr>
            <a:spLocks noGrp="1"/>
          </p:cNvSpPr>
          <p:nvPr/>
        </p:nvSpPr>
        <p:spPr>
          <a:xfrm>
            <a:off x="315468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9" name="Rounded Rectangle 8">
            <a:extLst>
              <a:ext uri="{FF2B5EF4-FFF2-40B4-BE49-F238E27FC236}">
                <a16:creationId xmlns:a16="http://schemas.microsoft.com/office/drawing/2014/main" id="{B7B06795-DCE9-4C8D-B015-25CADBD41A99}"/>
              </a:ext>
            </a:extLst>
          </p:cNvPr>
          <p:cNvSpPr>
            <a:spLocks noGrp="1"/>
          </p:cNvSpPr>
          <p:nvPr/>
        </p:nvSpPr>
        <p:spPr>
          <a:xfrm>
            <a:off x="3474720" y="1874519"/>
            <a:ext cx="2423160" cy="256032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B360983-67AA-4183-B04A-ACC05DF791ED}"/>
              </a:ext>
            </a:extLst>
          </p:cNvPr>
          <p:cNvSpPr>
            <a:spLocks noGrp="1"/>
          </p:cNvSpPr>
          <p:nvPr/>
        </p:nvSpPr>
        <p:spPr>
          <a:xfrm>
            <a:off x="363931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PREPARE LOCALLY</a:t>
            </a:r>
          </a:p>
        </p:txBody>
      </p:sp>
      <p:sp>
        <p:nvSpPr>
          <p:cNvPr id="11" name="TextBox 10">
            <a:extLst>
              <a:ext uri="{FF2B5EF4-FFF2-40B4-BE49-F238E27FC236}">
                <a16:creationId xmlns:a16="http://schemas.microsoft.com/office/drawing/2014/main" id="{B4D09C7A-CE49-4C0C-BAB7-7F16C2331F9C}"/>
              </a:ext>
            </a:extLst>
          </p:cNvPr>
          <p:cNvSpPr>
            <a:spLocks noGrp="1"/>
          </p:cNvSpPr>
          <p:nvPr/>
        </p:nvSpPr>
        <p:spPr>
          <a:xfrm>
            <a:off x="363931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Build the approved feature view; validate units, time windows, missingness, cohort, and label availability.</a:t>
            </a:r>
          </a:p>
        </p:txBody>
      </p:sp>
      <p:sp>
        <p:nvSpPr>
          <p:cNvPr id="12" name="TextBox 11">
            <a:extLst>
              <a:ext uri="{FF2B5EF4-FFF2-40B4-BE49-F238E27FC236}">
                <a16:creationId xmlns:a16="http://schemas.microsoft.com/office/drawing/2014/main" id="{388FFCDD-207D-447E-AD8D-0C3AEB782266}"/>
              </a:ext>
            </a:extLst>
          </p:cNvPr>
          <p:cNvSpPr>
            <a:spLocks noGrp="1"/>
          </p:cNvSpPr>
          <p:nvPr/>
        </p:nvSpPr>
        <p:spPr>
          <a:xfrm>
            <a:off x="594360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3" name="Rounded Rectangle 12">
            <a:extLst>
              <a:ext uri="{FF2B5EF4-FFF2-40B4-BE49-F238E27FC236}">
                <a16:creationId xmlns:a16="http://schemas.microsoft.com/office/drawing/2014/main" id="{0F266D72-A8AA-4D4D-B477-7E6D7F171E6D}"/>
              </a:ext>
            </a:extLst>
          </p:cNvPr>
          <p:cNvSpPr>
            <a:spLocks noGrp="1"/>
          </p:cNvSpPr>
          <p:nvPr/>
        </p:nvSpPr>
        <p:spPr>
          <a:xfrm>
            <a:off x="6263640" y="1874519"/>
            <a:ext cx="2423160" cy="256032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C4BA714-596E-48B7-B7FB-8173266FCE0E}"/>
              </a:ext>
            </a:extLst>
          </p:cNvPr>
          <p:cNvSpPr>
            <a:spLocks noGrp="1"/>
          </p:cNvSpPr>
          <p:nvPr/>
        </p:nvSpPr>
        <p:spPr>
          <a:xfrm>
            <a:off x="6428231" y="2020824"/>
            <a:ext cx="2103120" cy="548640"/>
          </a:xfrm>
          <a:prstGeom prst="rect">
            <a:avLst/>
          </a:prstGeom>
          <a:noFill/>
        </p:spPr>
        <p:txBody>
          <a:bodyPr wrap="square">
            <a:spAutoFit/>
          </a:bodyPr>
          <a:lstStyle/>
          <a:p>
            <a:pPr algn="l">
              <a:buNone/>
            </a:pPr>
            <a:r>
              <a:rPr sz="1500" b="1">
                <a:solidFill>
                  <a:srgbClr val="15201B"/>
                </a:solidFill>
                <a:latin typeface="Aptos"/>
                <a:ea typeface="Aptos"/>
                <a:cs typeface="Aptos"/>
              </a:rPr>
              <a:t>TRAIN + EVALUATE</a:t>
            </a:r>
          </a:p>
        </p:txBody>
      </p:sp>
      <p:sp>
        <p:nvSpPr>
          <p:cNvPr id="15" name="TextBox 14">
            <a:extLst>
              <a:ext uri="{FF2B5EF4-FFF2-40B4-BE49-F238E27FC236}">
                <a16:creationId xmlns:a16="http://schemas.microsoft.com/office/drawing/2014/main" id="{7A1A9390-FE67-4674-85D7-F68E58244653}"/>
              </a:ext>
            </a:extLst>
          </p:cNvPr>
          <p:cNvSpPr>
            <a:spLocks noGrp="1"/>
          </p:cNvSpPr>
          <p:nvPr/>
        </p:nvSpPr>
        <p:spPr>
          <a:xfrm>
            <a:off x="642823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Run an isolated workload, calculate local measures, and clip or bound the site contribution.</a:t>
            </a:r>
          </a:p>
        </p:txBody>
      </p:sp>
      <p:sp>
        <p:nvSpPr>
          <p:cNvPr id="16" name="TextBox 15">
            <a:extLst>
              <a:ext uri="{FF2B5EF4-FFF2-40B4-BE49-F238E27FC236}">
                <a16:creationId xmlns:a16="http://schemas.microsoft.com/office/drawing/2014/main" id="{FD7B0A54-6410-4C3C-9E18-B02B32C485DB}"/>
              </a:ext>
            </a:extLst>
          </p:cNvPr>
          <p:cNvSpPr>
            <a:spLocks noGrp="1"/>
          </p:cNvSpPr>
          <p:nvPr/>
        </p:nvSpPr>
        <p:spPr>
          <a:xfrm>
            <a:off x="873252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7" name="Rounded Rectangle 16">
            <a:extLst>
              <a:ext uri="{FF2B5EF4-FFF2-40B4-BE49-F238E27FC236}">
                <a16:creationId xmlns:a16="http://schemas.microsoft.com/office/drawing/2014/main" id="{507F04C6-72CF-4D13-82CA-222128D1F2CF}"/>
              </a:ext>
            </a:extLst>
          </p:cNvPr>
          <p:cNvSpPr>
            <a:spLocks noGrp="1"/>
          </p:cNvSpPr>
          <p:nvPr/>
        </p:nvSpPr>
        <p:spPr>
          <a:xfrm>
            <a:off x="9052559" y="1874519"/>
            <a:ext cx="2423160" cy="256032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EE6E707-0227-4865-8B3F-1C65728A0F1A}"/>
              </a:ext>
            </a:extLst>
          </p:cNvPr>
          <p:cNvSpPr>
            <a:spLocks noGrp="1"/>
          </p:cNvSpPr>
          <p:nvPr/>
        </p:nvSpPr>
        <p:spPr>
          <a:xfrm>
            <a:off x="9217151"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PUBLISH MINIMUM</a:t>
            </a:r>
          </a:p>
        </p:txBody>
      </p:sp>
      <p:sp>
        <p:nvSpPr>
          <p:cNvPr id="19" name="TextBox 18">
            <a:extLst>
              <a:ext uri="{FF2B5EF4-FFF2-40B4-BE49-F238E27FC236}">
                <a16:creationId xmlns:a16="http://schemas.microsoft.com/office/drawing/2014/main" id="{8A8E6459-BE37-4D1A-BC1C-440076936B49}"/>
              </a:ext>
            </a:extLst>
          </p:cNvPr>
          <p:cNvSpPr>
            <a:spLocks noGrp="1"/>
          </p:cNvSpPr>
          <p:nvPr/>
        </p:nvSpPr>
        <p:spPr>
          <a:xfrm>
            <a:off x="921715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Send only the protected update, allowed measures, status, versions, and a local evidence pointer.</a:t>
            </a:r>
          </a:p>
        </p:txBody>
      </p:sp>
      <p:sp>
        <p:nvSpPr>
          <p:cNvPr id="20" name="TextBox 19">
            <a:extLst>
              <a:ext uri="{FF2B5EF4-FFF2-40B4-BE49-F238E27FC236}">
                <a16:creationId xmlns:a16="http://schemas.microsoft.com/office/drawing/2014/main" id="{3E002B24-9FFE-495E-9B87-E5DD1FE8718C}"/>
              </a:ext>
            </a:extLst>
          </p:cNvPr>
          <p:cNvSpPr>
            <a:spLocks noGrp="1"/>
          </p:cNvSpPr>
          <p:nvPr/>
        </p:nvSpPr>
        <p:spPr>
          <a:xfrm>
            <a:off x="914400" y="4800600"/>
            <a:ext cx="9875520" cy="822960"/>
          </a:xfrm>
          <a:prstGeom prst="rect">
            <a:avLst/>
          </a:prstGeom>
          <a:noFill/>
        </p:spPr>
        <p:txBody>
          <a:bodyPr wrap="square">
            <a:spAutoFit/>
          </a:bodyPr>
          <a:lstStyle/>
          <a:p>
            <a:pPr>
              <a:buNone/>
              <a:defRPr sz="1500">
                <a:solidFill>
                  <a:srgbClr val="15201B"/>
                </a:solidFill>
                <a:latin typeface="Aptos"/>
                <a:ea typeface="Aptos"/>
                <a:cs typeface="Aptos"/>
              </a:defRPr>
            </a:pPr>
            <a:r>
              <a:t>Detailed records, features, and patient-level predictions never belong in the GMA result.</a:t>
            </a:r>
          </a:p>
        </p:txBody>
      </p:sp>
      <p:sp>
        <p:nvSpPr>
          <p:cNvPr id="21" name="TextBox 20">
            <a:extLst>
              <a:ext uri="{FF2B5EF4-FFF2-40B4-BE49-F238E27FC236}">
                <a16:creationId xmlns:a16="http://schemas.microsoft.com/office/drawing/2014/main" id="{85564141-C074-4DC7-BBE3-D0FC1209659F}"/>
              </a:ext>
            </a:extLst>
          </p:cNvPr>
          <p:cNvSpPr>
            <a:spLocks noGrp="1"/>
          </p:cNvSpPr>
          <p:nvPr/>
        </p:nvSpPr>
        <p:spPr>
          <a:xfrm>
            <a:off x="566928" y="6355080"/>
            <a:ext cx="3657600" cy="228600"/>
          </a:xfrm>
          <a:prstGeom prst="rect">
            <a:avLst/>
          </a:prstGeom>
          <a:noFill/>
        </p:spPr>
        <p:txBody>
          <a:bodyPr wrap="square">
            <a:spAutoFit/>
          </a:bodyPr>
          <a:lstStyle/>
          <a:p>
            <a:pPr algn="l">
              <a:buNone/>
            </a:pPr>
            <a:r>
              <a:rPr sz="800" b="0">
                <a:solidFill>
                  <a:srgbClr val="53635B"/>
                </a:solidFill>
                <a:latin typeface="Aptos"/>
                <a:ea typeface="Aptos"/>
                <a:cs typeface="Aptos"/>
              </a:rPr>
              <a:t>Hospital-local execution boundary / 10</a:t>
            </a:r>
          </a:p>
        </p:txBody>
      </p:sp>
    </p:spTree>
    <p:extLst>
      <p:ext uri="{BB962C8B-B14F-4D97-AF65-F5344CB8AC3E}">
        <p14:creationId xmlns:p14="http://schemas.microsoft.com/office/powerpoint/2010/main" val="1530383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7D1158-DC0C-4870-9A1F-691F8C825EE8}"/>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GLOBAL AGENT (GMA)</a:t>
            </a:r>
          </a:p>
        </p:txBody>
      </p:sp>
      <p:sp>
        <p:nvSpPr>
          <p:cNvPr id="3" name="TextBox 2">
            <a:extLst>
              <a:ext uri="{FF2B5EF4-FFF2-40B4-BE49-F238E27FC236}">
                <a16:creationId xmlns:a16="http://schemas.microsoft.com/office/drawing/2014/main" id="{84656273-0838-4E98-9C35-87AA81425751}"/>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The GMA controls participation, rounds, and releases.</a:t>
            </a:r>
          </a:p>
        </p:txBody>
      </p:sp>
      <p:sp>
        <p:nvSpPr>
          <p:cNvPr id="4" name="TextBox 3">
            <a:extLst>
              <a:ext uri="{FF2B5EF4-FFF2-40B4-BE49-F238E27FC236}">
                <a16:creationId xmlns:a16="http://schemas.microsoft.com/office/drawing/2014/main" id="{54FDD751-E4A4-4D59-8F78-D01EFE7D22D5}"/>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It coordinates the federation; it does not become a raw patient database.</a:t>
            </a:r>
          </a:p>
        </p:txBody>
      </p:sp>
      <p:sp>
        <p:nvSpPr>
          <p:cNvPr id="5" name="Rounded Rectangle 4">
            <a:extLst>
              <a:ext uri="{FF2B5EF4-FFF2-40B4-BE49-F238E27FC236}">
                <a16:creationId xmlns:a16="http://schemas.microsoft.com/office/drawing/2014/main" id="{4FE36FB3-EF4F-4471-8C0C-A6391FFA5999}"/>
              </a:ext>
            </a:extLst>
          </p:cNvPr>
          <p:cNvSpPr>
            <a:spLocks noGrp="1"/>
          </p:cNvSpPr>
          <p:nvPr/>
        </p:nvSpPr>
        <p:spPr>
          <a:xfrm>
            <a:off x="685800" y="1874519"/>
            <a:ext cx="2423160" cy="256032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C154123-D6D6-43E5-8E10-D9956C94BDCE}"/>
              </a:ext>
            </a:extLst>
          </p:cNvPr>
          <p:cNvSpPr>
            <a:spLocks noGrp="1"/>
          </p:cNvSpPr>
          <p:nvPr/>
        </p:nvSpPr>
        <p:spPr>
          <a:xfrm>
            <a:off x="85039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REGISTER</a:t>
            </a:r>
          </a:p>
        </p:txBody>
      </p:sp>
      <p:sp>
        <p:nvSpPr>
          <p:cNvPr id="7" name="TextBox 6">
            <a:extLst>
              <a:ext uri="{FF2B5EF4-FFF2-40B4-BE49-F238E27FC236}">
                <a16:creationId xmlns:a16="http://schemas.microsoft.com/office/drawing/2014/main" id="{10E5C917-0DA9-4A9D-81A2-91E6CAEF835A}"/>
              </a:ext>
            </a:extLst>
          </p:cNvPr>
          <p:cNvSpPr>
            <a:spLocks noGrp="1"/>
          </p:cNvSpPr>
          <p:nvPr/>
        </p:nvSpPr>
        <p:spPr>
          <a:xfrm>
            <a:off x="85039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Track each hospital, LMA, approved use, capability, schema version, certificate, and sharing rule.</a:t>
            </a:r>
          </a:p>
        </p:txBody>
      </p:sp>
      <p:sp>
        <p:nvSpPr>
          <p:cNvPr id="8" name="TextBox 7">
            <a:extLst>
              <a:ext uri="{FF2B5EF4-FFF2-40B4-BE49-F238E27FC236}">
                <a16:creationId xmlns:a16="http://schemas.microsoft.com/office/drawing/2014/main" id="{283583F2-18F8-47B5-B953-1BE32838718A}"/>
              </a:ext>
            </a:extLst>
          </p:cNvPr>
          <p:cNvSpPr>
            <a:spLocks noGrp="1"/>
          </p:cNvSpPr>
          <p:nvPr/>
        </p:nvSpPr>
        <p:spPr>
          <a:xfrm>
            <a:off x="315468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9" name="Rounded Rectangle 8">
            <a:extLst>
              <a:ext uri="{FF2B5EF4-FFF2-40B4-BE49-F238E27FC236}">
                <a16:creationId xmlns:a16="http://schemas.microsoft.com/office/drawing/2014/main" id="{B7B06795-DCE9-4C8D-B015-25CADBD41A99}"/>
              </a:ext>
            </a:extLst>
          </p:cNvPr>
          <p:cNvSpPr>
            <a:spLocks noGrp="1"/>
          </p:cNvSpPr>
          <p:nvPr/>
        </p:nvSpPr>
        <p:spPr>
          <a:xfrm>
            <a:off x="3474720" y="1874519"/>
            <a:ext cx="2423160" cy="256032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B360983-67AA-4183-B04A-ACC05DF791ED}"/>
              </a:ext>
            </a:extLst>
          </p:cNvPr>
          <p:cNvSpPr>
            <a:spLocks noGrp="1"/>
          </p:cNvSpPr>
          <p:nvPr/>
        </p:nvSpPr>
        <p:spPr>
          <a:xfrm>
            <a:off x="363931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PLAN ROUND</a:t>
            </a:r>
          </a:p>
        </p:txBody>
      </p:sp>
      <p:sp>
        <p:nvSpPr>
          <p:cNvPr id="11" name="TextBox 10">
            <a:extLst>
              <a:ext uri="{FF2B5EF4-FFF2-40B4-BE49-F238E27FC236}">
                <a16:creationId xmlns:a16="http://schemas.microsoft.com/office/drawing/2014/main" id="{B4D09C7A-CE49-4C0C-BAB7-7F16C2331F9C}"/>
              </a:ext>
            </a:extLst>
          </p:cNvPr>
          <p:cNvSpPr>
            <a:spLocks noGrp="1"/>
          </p:cNvSpPr>
          <p:nvPr/>
        </p:nvSpPr>
        <p:spPr>
          <a:xfrm>
            <a:off x="363931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Choose participants, minimum threshold, seed version, privacy profile, evaluation plan, and stop conditions.</a:t>
            </a:r>
          </a:p>
        </p:txBody>
      </p:sp>
      <p:sp>
        <p:nvSpPr>
          <p:cNvPr id="12" name="TextBox 11">
            <a:extLst>
              <a:ext uri="{FF2B5EF4-FFF2-40B4-BE49-F238E27FC236}">
                <a16:creationId xmlns:a16="http://schemas.microsoft.com/office/drawing/2014/main" id="{388FFCDD-207D-447E-AD8D-0C3AEB782266}"/>
              </a:ext>
            </a:extLst>
          </p:cNvPr>
          <p:cNvSpPr>
            <a:spLocks noGrp="1"/>
          </p:cNvSpPr>
          <p:nvPr/>
        </p:nvSpPr>
        <p:spPr>
          <a:xfrm>
            <a:off x="594360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3" name="Rounded Rectangle 12">
            <a:extLst>
              <a:ext uri="{FF2B5EF4-FFF2-40B4-BE49-F238E27FC236}">
                <a16:creationId xmlns:a16="http://schemas.microsoft.com/office/drawing/2014/main" id="{0F266D72-A8AA-4D4D-B477-7E6D7F171E6D}"/>
              </a:ext>
            </a:extLst>
          </p:cNvPr>
          <p:cNvSpPr>
            <a:spLocks noGrp="1"/>
          </p:cNvSpPr>
          <p:nvPr/>
        </p:nvSpPr>
        <p:spPr>
          <a:xfrm>
            <a:off x="6263640" y="1874519"/>
            <a:ext cx="2423160" cy="256032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C4BA714-596E-48B7-B7FB-8173266FCE0E}"/>
              </a:ext>
            </a:extLst>
          </p:cNvPr>
          <p:cNvSpPr>
            <a:spLocks noGrp="1"/>
          </p:cNvSpPr>
          <p:nvPr/>
        </p:nvSpPr>
        <p:spPr>
          <a:xfrm>
            <a:off x="6428231" y="2020824"/>
            <a:ext cx="2103120" cy="548640"/>
          </a:xfrm>
          <a:prstGeom prst="rect">
            <a:avLst/>
          </a:prstGeom>
          <a:noFill/>
        </p:spPr>
        <p:txBody>
          <a:bodyPr wrap="square">
            <a:spAutoFit/>
          </a:bodyPr>
          <a:lstStyle/>
          <a:p>
            <a:pPr algn="l">
              <a:buNone/>
            </a:pPr>
            <a:r>
              <a:rPr sz="1500" b="1">
                <a:solidFill>
                  <a:srgbClr val="15201B"/>
                </a:solidFill>
                <a:latin typeface="Aptos"/>
                <a:ea typeface="Aptos"/>
                <a:cs typeface="Aptos"/>
              </a:rPr>
              <a:t>COORDINATE</a:t>
            </a:r>
          </a:p>
        </p:txBody>
      </p:sp>
      <p:sp>
        <p:nvSpPr>
          <p:cNvPr id="15" name="TextBox 14">
            <a:extLst>
              <a:ext uri="{FF2B5EF4-FFF2-40B4-BE49-F238E27FC236}">
                <a16:creationId xmlns:a16="http://schemas.microsoft.com/office/drawing/2014/main" id="{7A1A9390-FE67-4674-85D7-F68E58244653}"/>
              </a:ext>
            </a:extLst>
          </p:cNvPr>
          <p:cNvSpPr>
            <a:spLocks noGrp="1"/>
          </p:cNvSpPr>
          <p:nvPr/>
        </p:nvSpPr>
        <p:spPr>
          <a:xfrm>
            <a:off x="642823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Send signed jobs; track acknowledgements, timeouts, dropouts, retries, cancellation, and aggregate status.</a:t>
            </a:r>
          </a:p>
        </p:txBody>
      </p:sp>
      <p:sp>
        <p:nvSpPr>
          <p:cNvPr id="16" name="TextBox 15">
            <a:extLst>
              <a:ext uri="{FF2B5EF4-FFF2-40B4-BE49-F238E27FC236}">
                <a16:creationId xmlns:a16="http://schemas.microsoft.com/office/drawing/2014/main" id="{FD7B0A54-6410-4C3C-9E18-B02B32C485DB}"/>
              </a:ext>
            </a:extLst>
          </p:cNvPr>
          <p:cNvSpPr>
            <a:spLocks noGrp="1"/>
          </p:cNvSpPr>
          <p:nvPr/>
        </p:nvSpPr>
        <p:spPr>
          <a:xfrm>
            <a:off x="873252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7" name="Rounded Rectangle 16">
            <a:extLst>
              <a:ext uri="{FF2B5EF4-FFF2-40B4-BE49-F238E27FC236}">
                <a16:creationId xmlns:a16="http://schemas.microsoft.com/office/drawing/2014/main" id="{507F04C6-72CF-4D13-82CA-222128D1F2CF}"/>
              </a:ext>
            </a:extLst>
          </p:cNvPr>
          <p:cNvSpPr>
            <a:spLocks noGrp="1"/>
          </p:cNvSpPr>
          <p:nvPr/>
        </p:nvSpPr>
        <p:spPr>
          <a:xfrm>
            <a:off x="9052559" y="1874519"/>
            <a:ext cx="2423160" cy="256032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EE6E707-0227-4865-8B3F-1C65728A0F1A}"/>
              </a:ext>
            </a:extLst>
          </p:cNvPr>
          <p:cNvSpPr>
            <a:spLocks noGrp="1"/>
          </p:cNvSpPr>
          <p:nvPr/>
        </p:nvSpPr>
        <p:spPr>
          <a:xfrm>
            <a:off x="9217151" y="2020824"/>
            <a:ext cx="2103120" cy="548640"/>
          </a:xfrm>
          <a:prstGeom prst="rect">
            <a:avLst/>
          </a:prstGeom>
          <a:noFill/>
        </p:spPr>
        <p:txBody>
          <a:bodyPr wrap="square">
            <a:spAutoFit/>
          </a:bodyPr>
          <a:lstStyle/>
          <a:p>
            <a:pPr algn="l">
              <a:buNone/>
            </a:pPr>
            <a:r>
              <a:rPr sz="1500" b="1">
                <a:solidFill>
                  <a:srgbClr val="15201B"/>
                </a:solidFill>
                <a:latin typeface="Aptos"/>
                <a:ea typeface="Aptos"/>
                <a:cs typeface="Aptos"/>
              </a:rPr>
              <a:t>RELEASE + ROLLBACK</a:t>
            </a:r>
          </a:p>
        </p:txBody>
      </p:sp>
      <p:sp>
        <p:nvSpPr>
          <p:cNvPr id="19" name="TextBox 18">
            <a:extLst>
              <a:ext uri="{FF2B5EF4-FFF2-40B4-BE49-F238E27FC236}">
                <a16:creationId xmlns:a16="http://schemas.microsoft.com/office/drawing/2014/main" id="{8A8E6459-BE37-4D1A-BC1C-440076936B49}"/>
              </a:ext>
            </a:extLst>
          </p:cNvPr>
          <p:cNvSpPr>
            <a:spLocks noGrp="1"/>
          </p:cNvSpPr>
          <p:nvPr/>
        </p:nvSpPr>
        <p:spPr>
          <a:xfrm>
            <a:off x="921715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Collect cross-site evidence, sign a canary release, watch health, or restore the known-good version.</a:t>
            </a:r>
          </a:p>
        </p:txBody>
      </p:sp>
      <p:sp>
        <p:nvSpPr>
          <p:cNvPr id="20" name="TextBox 19">
            <a:extLst>
              <a:ext uri="{FF2B5EF4-FFF2-40B4-BE49-F238E27FC236}">
                <a16:creationId xmlns:a16="http://schemas.microsoft.com/office/drawing/2014/main" id="{3E002B24-9FFE-495E-9B87-E5DD1FE8718C}"/>
              </a:ext>
            </a:extLst>
          </p:cNvPr>
          <p:cNvSpPr>
            <a:spLocks noGrp="1"/>
          </p:cNvSpPr>
          <p:nvPr/>
        </p:nvSpPr>
        <p:spPr>
          <a:xfrm>
            <a:off x="914400" y="4800600"/>
            <a:ext cx="9875520" cy="822960"/>
          </a:xfrm>
          <a:prstGeom prst="rect">
            <a:avLst/>
          </a:prstGeom>
          <a:noFill/>
        </p:spPr>
        <p:txBody>
          <a:bodyPr wrap="square">
            <a:spAutoFit/>
          </a:bodyPr>
          <a:lstStyle/>
          <a:p>
            <a:pPr>
              <a:buNone/>
              <a:defRPr sz="1500">
                <a:solidFill>
                  <a:srgbClr val="15201B"/>
                </a:solidFill>
                <a:latin typeface="Aptos"/>
                <a:ea typeface="Aptos"/>
                <a:cs typeface="Aptos"/>
              </a:defRPr>
            </a:pPr>
            <a:r>
              <a:t>When secure aggregation is required, the GMA should not read any hospital’s individual update.</a:t>
            </a:r>
          </a:p>
        </p:txBody>
      </p:sp>
      <p:sp>
        <p:nvSpPr>
          <p:cNvPr id="21" name="TextBox 20">
            <a:extLst>
              <a:ext uri="{FF2B5EF4-FFF2-40B4-BE49-F238E27FC236}">
                <a16:creationId xmlns:a16="http://schemas.microsoft.com/office/drawing/2014/main" id="{85564141-C074-4DC7-BBE3-D0FC1209659F}"/>
              </a:ext>
            </a:extLst>
          </p:cNvPr>
          <p:cNvSpPr>
            <a:spLocks noGrp="1"/>
          </p:cNvSpPr>
          <p:nvPr/>
        </p:nvSpPr>
        <p:spPr>
          <a:xfrm>
            <a:off x="566928" y="6355080"/>
            <a:ext cx="3657600" cy="228600"/>
          </a:xfrm>
          <a:prstGeom prst="rect">
            <a:avLst/>
          </a:prstGeom>
          <a:noFill/>
        </p:spPr>
        <p:txBody>
          <a:bodyPr wrap="square">
            <a:spAutoFit/>
          </a:bodyPr>
          <a:lstStyle/>
          <a:p>
            <a:pPr algn="l">
              <a:buNone/>
            </a:pPr>
            <a:r>
              <a:rPr sz="800" b="0">
                <a:solidFill>
                  <a:srgbClr val="53635B"/>
                </a:solidFill>
                <a:latin typeface="Aptos"/>
                <a:ea typeface="Aptos"/>
                <a:cs typeface="Aptos"/>
              </a:rPr>
              <a:t>Federated control plane / 11</a:t>
            </a:r>
          </a:p>
        </p:txBody>
      </p:sp>
    </p:spTree>
    <p:extLst>
      <p:ext uri="{BB962C8B-B14F-4D97-AF65-F5344CB8AC3E}">
        <p14:creationId xmlns:p14="http://schemas.microsoft.com/office/powerpoint/2010/main" val="1530383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4E8989-E57F-4626-85F5-D8BB0621247D}"/>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METHOD BOUNDARIES</a:t>
            </a:r>
          </a:p>
        </p:txBody>
      </p:sp>
      <p:sp>
        <p:nvSpPr>
          <p:cNvPr id="3" name="TextBox 2">
            <a:extLst>
              <a:ext uri="{FF2B5EF4-FFF2-40B4-BE49-F238E27FC236}">
                <a16:creationId xmlns:a16="http://schemas.microsoft.com/office/drawing/2014/main" id="{CFE5C766-C07D-40C3-8F6C-307209C139EF}"/>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Four ‘federated’ ideas solve different problems.</a:t>
            </a:r>
          </a:p>
        </p:txBody>
      </p:sp>
      <p:sp>
        <p:nvSpPr>
          <p:cNvPr id="4" name="TextBox 3">
            <a:extLst>
              <a:ext uri="{FF2B5EF4-FFF2-40B4-BE49-F238E27FC236}">
                <a16:creationId xmlns:a16="http://schemas.microsoft.com/office/drawing/2014/main" id="{1C1B5261-56CE-4F96-91CB-9740E59EC576}"/>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Use them together, but do not treat the names as interchangeable.</a:t>
            </a:r>
          </a:p>
        </p:txBody>
      </p:sp>
      <p:sp>
        <p:nvSpPr>
          <p:cNvPr id="5" name="Rectangle 4">
            <a:extLst>
              <a:ext uri="{FF2B5EF4-FFF2-40B4-BE49-F238E27FC236}">
                <a16:creationId xmlns:a16="http://schemas.microsoft.com/office/drawing/2014/main" id="{E7F1805F-EF62-40CE-BCC7-2EA7A166CF07}"/>
              </a:ext>
            </a:extLst>
          </p:cNvPr>
          <p:cNvSpPr>
            <a:spLocks noGrp="1"/>
          </p:cNvSpPr>
          <p:nvPr/>
        </p:nvSpPr>
        <p:spPr>
          <a:xfrm>
            <a:off x="548640" y="1691640"/>
            <a:ext cx="2852928" cy="70866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D4D3499-D0BC-4ABC-A3C7-D355723F9CAF}"/>
              </a:ext>
            </a:extLst>
          </p:cNvPr>
          <p:cNvSpPr>
            <a:spLocks noGrp="1"/>
          </p:cNvSpPr>
          <p:nvPr/>
        </p:nvSpPr>
        <p:spPr>
          <a:xfrm>
            <a:off x="621792" y="1764792"/>
            <a:ext cx="2706624" cy="598932"/>
          </a:xfrm>
          <a:prstGeom prst="rect">
            <a:avLst/>
          </a:prstGeom>
          <a:noFill/>
        </p:spPr>
        <p:txBody>
          <a:bodyPr wrap="square">
            <a:spAutoFit/>
          </a:bodyPr>
          <a:lstStyle/>
          <a:p>
            <a:pPr algn="l">
              <a:buNone/>
            </a:pPr>
            <a:r>
              <a:rPr sz="1100" b="1">
                <a:solidFill>
                  <a:srgbClr val="15201B"/>
                </a:solidFill>
                <a:latin typeface="Aptos"/>
                <a:ea typeface="Aptos"/>
                <a:cs typeface="Aptos"/>
              </a:rPr>
              <a:t>Method</a:t>
            </a:r>
          </a:p>
        </p:txBody>
      </p:sp>
      <p:sp>
        <p:nvSpPr>
          <p:cNvPr id="7" name="Rectangle 6">
            <a:extLst>
              <a:ext uri="{FF2B5EF4-FFF2-40B4-BE49-F238E27FC236}">
                <a16:creationId xmlns:a16="http://schemas.microsoft.com/office/drawing/2014/main" id="{9068C4C9-3A06-4D8E-9457-27812CB3FD93}"/>
              </a:ext>
            </a:extLst>
          </p:cNvPr>
          <p:cNvSpPr>
            <a:spLocks noGrp="1"/>
          </p:cNvSpPr>
          <p:nvPr/>
        </p:nvSpPr>
        <p:spPr>
          <a:xfrm>
            <a:off x="3401568" y="1691640"/>
            <a:ext cx="4059935" cy="70866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068EDBD8-A00D-4F14-B5B3-60D7F12E8467}"/>
              </a:ext>
            </a:extLst>
          </p:cNvPr>
          <p:cNvSpPr>
            <a:spLocks noGrp="1"/>
          </p:cNvSpPr>
          <p:nvPr/>
        </p:nvSpPr>
        <p:spPr>
          <a:xfrm>
            <a:off x="3474720" y="1764792"/>
            <a:ext cx="3913631" cy="598932"/>
          </a:xfrm>
          <a:prstGeom prst="rect">
            <a:avLst/>
          </a:prstGeom>
          <a:noFill/>
        </p:spPr>
        <p:txBody>
          <a:bodyPr wrap="square">
            <a:spAutoFit/>
          </a:bodyPr>
          <a:lstStyle/>
          <a:p>
            <a:pPr algn="l">
              <a:buNone/>
            </a:pPr>
            <a:r>
              <a:rPr sz="1100" b="1">
                <a:solidFill>
                  <a:srgbClr val="15201B"/>
                </a:solidFill>
                <a:latin typeface="Aptos"/>
                <a:ea typeface="Aptos"/>
                <a:cs typeface="Aptos"/>
              </a:rPr>
              <a:t>What it does</a:t>
            </a:r>
          </a:p>
        </p:txBody>
      </p:sp>
      <p:sp>
        <p:nvSpPr>
          <p:cNvPr id="9" name="Rectangle 8">
            <a:extLst>
              <a:ext uri="{FF2B5EF4-FFF2-40B4-BE49-F238E27FC236}">
                <a16:creationId xmlns:a16="http://schemas.microsoft.com/office/drawing/2014/main" id="{E5E3E1CA-6083-4A33-8D95-CA2C3D0D0CAE}"/>
              </a:ext>
            </a:extLst>
          </p:cNvPr>
          <p:cNvSpPr>
            <a:spLocks noGrp="1"/>
          </p:cNvSpPr>
          <p:nvPr/>
        </p:nvSpPr>
        <p:spPr>
          <a:xfrm>
            <a:off x="7461504" y="1691640"/>
            <a:ext cx="4059935" cy="70866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19FA0D1-4AF6-4EE6-BCBF-ED4B4BA258E3}"/>
              </a:ext>
            </a:extLst>
          </p:cNvPr>
          <p:cNvSpPr>
            <a:spLocks noGrp="1"/>
          </p:cNvSpPr>
          <p:nvPr/>
        </p:nvSpPr>
        <p:spPr>
          <a:xfrm>
            <a:off x="7534656" y="1764792"/>
            <a:ext cx="3913631" cy="598932"/>
          </a:xfrm>
          <a:prstGeom prst="rect">
            <a:avLst/>
          </a:prstGeom>
          <a:noFill/>
        </p:spPr>
        <p:txBody>
          <a:bodyPr wrap="square">
            <a:spAutoFit/>
          </a:bodyPr>
          <a:lstStyle/>
          <a:p>
            <a:pPr algn="l">
              <a:buNone/>
            </a:pPr>
            <a:r>
              <a:rPr sz="1100" b="1">
                <a:solidFill>
                  <a:srgbClr val="15201B"/>
                </a:solidFill>
                <a:latin typeface="Aptos"/>
                <a:ea typeface="Aptos"/>
                <a:cs typeface="Aptos"/>
              </a:rPr>
              <a:t>Dagents role / important limit</a:t>
            </a:r>
          </a:p>
        </p:txBody>
      </p:sp>
      <p:sp>
        <p:nvSpPr>
          <p:cNvPr id="11" name="Rectangle 10">
            <a:extLst>
              <a:ext uri="{FF2B5EF4-FFF2-40B4-BE49-F238E27FC236}">
                <a16:creationId xmlns:a16="http://schemas.microsoft.com/office/drawing/2014/main" id="{6A044D66-81C0-4F26-A06F-E69907D2A2C4}"/>
              </a:ext>
            </a:extLst>
          </p:cNvPr>
          <p:cNvSpPr>
            <a:spLocks noGrp="1"/>
          </p:cNvSpPr>
          <p:nvPr/>
        </p:nvSpPr>
        <p:spPr>
          <a:xfrm>
            <a:off x="548640" y="240030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2E5DD4A-EB51-4AD5-A0CA-86FC255DDF91}"/>
              </a:ext>
            </a:extLst>
          </p:cNvPr>
          <p:cNvSpPr>
            <a:spLocks noGrp="1"/>
          </p:cNvSpPr>
          <p:nvPr/>
        </p:nvSpPr>
        <p:spPr>
          <a:xfrm>
            <a:off x="621792" y="247345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Federated learning</a:t>
            </a:r>
          </a:p>
        </p:txBody>
      </p:sp>
      <p:sp>
        <p:nvSpPr>
          <p:cNvPr id="13" name="Rectangle 12">
            <a:extLst>
              <a:ext uri="{FF2B5EF4-FFF2-40B4-BE49-F238E27FC236}">
                <a16:creationId xmlns:a16="http://schemas.microsoft.com/office/drawing/2014/main" id="{1A848C07-0190-44A9-94C2-153602F25B14}"/>
              </a:ext>
            </a:extLst>
          </p:cNvPr>
          <p:cNvSpPr>
            <a:spLocks noGrp="1"/>
          </p:cNvSpPr>
          <p:nvPr/>
        </p:nvSpPr>
        <p:spPr>
          <a:xfrm>
            <a:off x="3401568" y="240030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CF75CCE3-CCB8-45CB-9D13-41B0F49DB43B}"/>
              </a:ext>
            </a:extLst>
          </p:cNvPr>
          <p:cNvSpPr>
            <a:spLocks noGrp="1"/>
          </p:cNvSpPr>
          <p:nvPr/>
        </p:nvSpPr>
        <p:spPr>
          <a:xfrm>
            <a:off x="3474720" y="247345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Trains a shared model from updates computed at each hospital</a:t>
            </a:r>
          </a:p>
        </p:txBody>
      </p:sp>
      <p:sp>
        <p:nvSpPr>
          <p:cNvPr id="15" name="Rectangle 14">
            <a:extLst>
              <a:ext uri="{FF2B5EF4-FFF2-40B4-BE49-F238E27FC236}">
                <a16:creationId xmlns:a16="http://schemas.microsoft.com/office/drawing/2014/main" id="{9ADD7280-F293-4742-A23C-F4BA857B98C4}"/>
              </a:ext>
            </a:extLst>
          </p:cNvPr>
          <p:cNvSpPr>
            <a:spLocks noGrp="1"/>
          </p:cNvSpPr>
          <p:nvPr/>
        </p:nvSpPr>
        <p:spPr>
          <a:xfrm>
            <a:off x="7461504" y="240030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5B7D715B-A37D-41DE-8799-5723E13FBB3B}"/>
              </a:ext>
            </a:extLst>
          </p:cNvPr>
          <p:cNvSpPr>
            <a:spLocks noGrp="1"/>
          </p:cNvSpPr>
          <p:nvPr/>
        </p:nvSpPr>
        <p:spPr>
          <a:xfrm>
            <a:off x="7534656" y="247345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Use a specialist FL engine; Dagents coordinates jobs, evidence, releases, and rollback</a:t>
            </a:r>
          </a:p>
        </p:txBody>
      </p:sp>
      <p:sp>
        <p:nvSpPr>
          <p:cNvPr id="17" name="Rectangle 16">
            <a:extLst>
              <a:ext uri="{FF2B5EF4-FFF2-40B4-BE49-F238E27FC236}">
                <a16:creationId xmlns:a16="http://schemas.microsoft.com/office/drawing/2014/main" id="{946B42DB-0925-4B13-9BDF-D84C345503F4}"/>
              </a:ext>
            </a:extLst>
          </p:cNvPr>
          <p:cNvSpPr>
            <a:spLocks noGrp="1"/>
          </p:cNvSpPr>
          <p:nvPr/>
        </p:nvSpPr>
        <p:spPr>
          <a:xfrm>
            <a:off x="548640" y="310896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D76EFD7-E340-4FB2-BC76-B94625762EF7}"/>
              </a:ext>
            </a:extLst>
          </p:cNvPr>
          <p:cNvSpPr>
            <a:spLocks noGrp="1"/>
          </p:cNvSpPr>
          <p:nvPr/>
        </p:nvSpPr>
        <p:spPr>
          <a:xfrm>
            <a:off x="621792" y="318211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Federated analytics</a:t>
            </a:r>
          </a:p>
        </p:txBody>
      </p:sp>
      <p:sp>
        <p:nvSpPr>
          <p:cNvPr id="19" name="Rectangle 18">
            <a:extLst>
              <a:ext uri="{FF2B5EF4-FFF2-40B4-BE49-F238E27FC236}">
                <a16:creationId xmlns:a16="http://schemas.microsoft.com/office/drawing/2014/main" id="{44769EAF-01DB-4FB3-A301-3E373765833F}"/>
              </a:ext>
            </a:extLst>
          </p:cNvPr>
          <p:cNvSpPr>
            <a:spLocks noGrp="1"/>
          </p:cNvSpPr>
          <p:nvPr/>
        </p:nvSpPr>
        <p:spPr>
          <a:xfrm>
            <a:off x="3401568" y="310896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0E32270-6044-458E-9EA3-F00CDCD3710F}"/>
              </a:ext>
            </a:extLst>
          </p:cNvPr>
          <p:cNvSpPr>
            <a:spLocks noGrp="1"/>
          </p:cNvSpPr>
          <p:nvPr/>
        </p:nvSpPr>
        <p:spPr>
          <a:xfrm>
            <a:off x="3474720" y="318211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Computes local counts, statistics, and evaluation; reveals approved aggregates</a:t>
            </a:r>
          </a:p>
        </p:txBody>
      </p:sp>
      <p:sp>
        <p:nvSpPr>
          <p:cNvPr id="21" name="Rectangle 20">
            <a:extLst>
              <a:ext uri="{FF2B5EF4-FFF2-40B4-BE49-F238E27FC236}">
                <a16:creationId xmlns:a16="http://schemas.microsoft.com/office/drawing/2014/main" id="{C17CC1B5-E443-4F95-95D5-DB135876C29E}"/>
              </a:ext>
            </a:extLst>
          </p:cNvPr>
          <p:cNvSpPr>
            <a:spLocks noGrp="1"/>
          </p:cNvSpPr>
          <p:nvPr/>
        </p:nvSpPr>
        <p:spPr>
          <a:xfrm>
            <a:off x="7461504" y="310896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8F98D1C9-37AF-4BEA-91FB-A63BEF14D797}"/>
              </a:ext>
            </a:extLst>
          </p:cNvPr>
          <p:cNvSpPr>
            <a:spLocks noGrp="1"/>
          </p:cNvSpPr>
          <p:nvPr/>
        </p:nvSpPr>
        <p:spPr>
          <a:xfrm>
            <a:off x="7534656" y="318211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Best first phase; small groups and repeated queries can still reveal sensitive facts</a:t>
            </a:r>
          </a:p>
        </p:txBody>
      </p:sp>
      <p:sp>
        <p:nvSpPr>
          <p:cNvPr id="23" name="Rectangle 22">
            <a:extLst>
              <a:ext uri="{FF2B5EF4-FFF2-40B4-BE49-F238E27FC236}">
                <a16:creationId xmlns:a16="http://schemas.microsoft.com/office/drawing/2014/main" id="{3E5F381D-1153-47FA-A0BB-109C5DD96653}"/>
              </a:ext>
            </a:extLst>
          </p:cNvPr>
          <p:cNvSpPr>
            <a:spLocks noGrp="1"/>
          </p:cNvSpPr>
          <p:nvPr/>
        </p:nvSpPr>
        <p:spPr>
          <a:xfrm>
            <a:off x="548640" y="381762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FAF97B7-0EC7-492E-8216-12B43368AEDD}"/>
              </a:ext>
            </a:extLst>
          </p:cNvPr>
          <p:cNvSpPr>
            <a:spLocks noGrp="1"/>
          </p:cNvSpPr>
          <p:nvPr/>
        </p:nvSpPr>
        <p:spPr>
          <a:xfrm>
            <a:off x="621792" y="389077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Federated database</a:t>
            </a:r>
          </a:p>
        </p:txBody>
      </p:sp>
      <p:sp>
        <p:nvSpPr>
          <p:cNvPr id="25" name="Rectangle 24">
            <a:extLst>
              <a:ext uri="{FF2B5EF4-FFF2-40B4-BE49-F238E27FC236}">
                <a16:creationId xmlns:a16="http://schemas.microsoft.com/office/drawing/2014/main" id="{A1E449BD-0545-4D14-92B0-C0C03BBAFF33}"/>
              </a:ext>
            </a:extLst>
          </p:cNvPr>
          <p:cNvSpPr>
            <a:spLocks noGrp="1"/>
          </p:cNvSpPr>
          <p:nvPr/>
        </p:nvSpPr>
        <p:spPr>
          <a:xfrm>
            <a:off x="3401568" y="381762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B8A814C-2F17-404B-A854-B3C72CE13365}"/>
              </a:ext>
            </a:extLst>
          </p:cNvPr>
          <p:cNvSpPr>
            <a:spLocks noGrp="1"/>
          </p:cNvSpPr>
          <p:nvPr/>
        </p:nvSpPr>
        <p:spPr>
          <a:xfrm>
            <a:off x="3474720" y="389077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Offers one query layer across remote sources and can push work to the source</a:t>
            </a:r>
          </a:p>
        </p:txBody>
      </p:sp>
      <p:sp>
        <p:nvSpPr>
          <p:cNvPr id="27" name="Rectangle 26">
            <a:extLst>
              <a:ext uri="{FF2B5EF4-FFF2-40B4-BE49-F238E27FC236}">
                <a16:creationId xmlns:a16="http://schemas.microsoft.com/office/drawing/2014/main" id="{BB1C8B34-EAA6-4DE3-B12F-AA600A1B12A1}"/>
              </a:ext>
            </a:extLst>
          </p:cNvPr>
          <p:cNvSpPr>
            <a:spLocks noGrp="1"/>
          </p:cNvSpPr>
          <p:nvPr/>
        </p:nvSpPr>
        <p:spPr>
          <a:xfrm>
            <a:off x="7461504" y="381762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7CCB038B-9458-4F3C-B60D-C76CC950198B}"/>
              </a:ext>
            </a:extLst>
          </p:cNvPr>
          <p:cNvSpPr>
            <a:spLocks noGrp="1"/>
          </p:cNvSpPr>
          <p:nvPr/>
        </p:nvSpPr>
        <p:spPr>
          <a:xfrm>
            <a:off x="7534656" y="389077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Useful inside a hospital; unrestricted cross-site patient queries are out of scope</a:t>
            </a:r>
          </a:p>
        </p:txBody>
      </p:sp>
      <p:sp>
        <p:nvSpPr>
          <p:cNvPr id="29" name="Rectangle 28">
            <a:extLst>
              <a:ext uri="{FF2B5EF4-FFF2-40B4-BE49-F238E27FC236}">
                <a16:creationId xmlns:a16="http://schemas.microsoft.com/office/drawing/2014/main" id="{58BFFB0F-F26A-4B25-BDDE-4A02E13B10D4}"/>
              </a:ext>
            </a:extLst>
          </p:cNvPr>
          <p:cNvSpPr>
            <a:spLocks noGrp="1"/>
          </p:cNvSpPr>
          <p:nvPr/>
        </p:nvSpPr>
        <p:spPr>
          <a:xfrm>
            <a:off x="548640" y="452628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BF68200-F02A-4EF6-8662-A4CB7975F2EB}"/>
              </a:ext>
            </a:extLst>
          </p:cNvPr>
          <p:cNvSpPr>
            <a:spLocks noGrp="1"/>
          </p:cNvSpPr>
          <p:nvPr/>
        </p:nvSpPr>
        <p:spPr>
          <a:xfrm>
            <a:off x="621792" y="459943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Central warehouse</a:t>
            </a:r>
          </a:p>
        </p:txBody>
      </p:sp>
      <p:sp>
        <p:nvSpPr>
          <p:cNvPr id="31" name="Rectangle 30">
            <a:extLst>
              <a:ext uri="{FF2B5EF4-FFF2-40B4-BE49-F238E27FC236}">
                <a16:creationId xmlns:a16="http://schemas.microsoft.com/office/drawing/2014/main" id="{D2033B15-3D32-4139-9093-C3EC0D52C72B}"/>
              </a:ext>
            </a:extLst>
          </p:cNvPr>
          <p:cNvSpPr>
            <a:spLocks noGrp="1"/>
          </p:cNvSpPr>
          <p:nvPr/>
        </p:nvSpPr>
        <p:spPr>
          <a:xfrm>
            <a:off x="3401568" y="452628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1EB4A3BF-0609-4D48-BB1C-CAAF8C3117CD}"/>
              </a:ext>
            </a:extLst>
          </p:cNvPr>
          <p:cNvSpPr>
            <a:spLocks noGrp="1"/>
          </p:cNvSpPr>
          <p:nvPr/>
        </p:nvSpPr>
        <p:spPr>
          <a:xfrm>
            <a:off x="3474720" y="459943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Copies data into one place for central processing and analytics</a:t>
            </a:r>
          </a:p>
        </p:txBody>
      </p:sp>
      <p:sp>
        <p:nvSpPr>
          <p:cNvPr id="33" name="Rectangle 32">
            <a:extLst>
              <a:ext uri="{FF2B5EF4-FFF2-40B4-BE49-F238E27FC236}">
                <a16:creationId xmlns:a16="http://schemas.microsoft.com/office/drawing/2014/main" id="{A4367BC6-3FF2-4B63-8123-85C14F4AE04D}"/>
              </a:ext>
            </a:extLst>
          </p:cNvPr>
          <p:cNvSpPr>
            <a:spLocks noGrp="1"/>
          </p:cNvSpPr>
          <p:nvPr/>
        </p:nvSpPr>
        <p:spPr>
          <a:xfrm>
            <a:off x="7461504" y="452628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D5117802-2B97-47AE-A1C3-A536E4CCB58D}"/>
              </a:ext>
            </a:extLst>
          </p:cNvPr>
          <p:cNvSpPr>
            <a:spLocks noGrp="1"/>
          </p:cNvSpPr>
          <p:nvPr/>
        </p:nvSpPr>
        <p:spPr>
          <a:xfrm>
            <a:off x="7534656" y="459943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Useful for some needs, but not a required dependency for this time-sensitive path</a:t>
            </a:r>
          </a:p>
        </p:txBody>
      </p:sp>
      <p:sp>
        <p:nvSpPr>
          <p:cNvPr id="35" name="Rectangle 34">
            <a:extLst>
              <a:ext uri="{FF2B5EF4-FFF2-40B4-BE49-F238E27FC236}">
                <a16:creationId xmlns:a16="http://schemas.microsoft.com/office/drawing/2014/main" id="{D6EFD778-B6C6-47AA-84F1-9B01BBEC5F74}"/>
              </a:ext>
            </a:extLst>
          </p:cNvPr>
          <p:cNvSpPr>
            <a:spLocks noGrp="1"/>
          </p:cNvSpPr>
          <p:nvPr/>
        </p:nvSpPr>
        <p:spPr>
          <a:xfrm>
            <a:off x="548640" y="523494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C51FE5C2-7C69-4B76-AFAD-6C3053287881}"/>
              </a:ext>
            </a:extLst>
          </p:cNvPr>
          <p:cNvSpPr>
            <a:spLocks noGrp="1"/>
          </p:cNvSpPr>
          <p:nvPr/>
        </p:nvSpPr>
        <p:spPr>
          <a:xfrm>
            <a:off x="621792" y="530809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Backup patterns</a:t>
            </a:r>
          </a:p>
        </p:txBody>
      </p:sp>
      <p:sp>
        <p:nvSpPr>
          <p:cNvPr id="37" name="Rectangle 36">
            <a:extLst>
              <a:ext uri="{FF2B5EF4-FFF2-40B4-BE49-F238E27FC236}">
                <a16:creationId xmlns:a16="http://schemas.microsoft.com/office/drawing/2014/main" id="{07A16C5C-A3F7-4D95-919C-C36CB3FC5A8D}"/>
              </a:ext>
            </a:extLst>
          </p:cNvPr>
          <p:cNvSpPr>
            <a:spLocks noGrp="1"/>
          </p:cNvSpPr>
          <p:nvPr/>
        </p:nvSpPr>
        <p:spPr>
          <a:xfrm>
            <a:off x="3401568" y="523494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4CA9917C-CB0F-42EF-A94E-9F39FAF1E497}"/>
              </a:ext>
            </a:extLst>
          </p:cNvPr>
          <p:cNvSpPr>
            <a:spLocks noGrp="1"/>
          </p:cNvSpPr>
          <p:nvPr/>
        </p:nvSpPr>
        <p:spPr>
          <a:xfrm>
            <a:off x="3474720" y="530809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Protect versions with baselines, increments, catalogs, checks, and recovery</a:t>
            </a:r>
          </a:p>
        </p:txBody>
      </p:sp>
      <p:sp>
        <p:nvSpPr>
          <p:cNvPr id="39" name="Rectangle 38">
            <a:extLst>
              <a:ext uri="{FF2B5EF4-FFF2-40B4-BE49-F238E27FC236}">
                <a16:creationId xmlns:a16="http://schemas.microsoft.com/office/drawing/2014/main" id="{DB1E8843-AA41-4085-AB1E-55C106CB7396}"/>
              </a:ext>
            </a:extLst>
          </p:cNvPr>
          <p:cNvSpPr>
            <a:spLocks noGrp="1"/>
          </p:cNvSpPr>
          <p:nvPr/>
        </p:nvSpPr>
        <p:spPr>
          <a:xfrm>
            <a:off x="7461504" y="523494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3A852803-0465-4E91-BB33-E4EA6A463B73}"/>
              </a:ext>
            </a:extLst>
          </p:cNvPr>
          <p:cNvSpPr>
            <a:spLocks noGrp="1"/>
          </p:cNvSpPr>
          <p:nvPr/>
        </p:nvSpPr>
        <p:spPr>
          <a:xfrm>
            <a:off x="7534656" y="530809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Operations model only; backup software does not train or validate a clinical model</a:t>
            </a:r>
          </a:p>
        </p:txBody>
      </p:sp>
      <p:sp>
        <p:nvSpPr>
          <p:cNvPr id="41" name="TextBox 40">
            <a:extLst>
              <a:ext uri="{FF2B5EF4-FFF2-40B4-BE49-F238E27FC236}">
                <a16:creationId xmlns:a16="http://schemas.microsoft.com/office/drawing/2014/main" id="{745CA374-23DB-499D-BD95-A09CAB022F85}"/>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Federation is a design family—not a single product or guarantee / 12</a:t>
            </a:r>
          </a:p>
        </p:txBody>
      </p:sp>
    </p:spTree>
    <p:extLst>
      <p:ext uri="{BB962C8B-B14F-4D97-AF65-F5344CB8AC3E}">
        <p14:creationId xmlns:p14="http://schemas.microsoft.com/office/powerpoint/2010/main" val="201909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7D0897-00AD-4965-8CE2-0C3E3BDAA895}"/>
              </a:ext>
            </a:extLst>
          </p:cNvPr>
          <p:cNvSpPr>
            <a:spLocks noGrp="1"/>
          </p:cNvSpPr>
          <p:nvPr/>
        </p:nvSpPr>
        <p:spPr>
          <a:xfrm>
            <a:off x="548640" y="320040"/>
            <a:ext cx="3143250" cy="487680"/>
          </a:xfrm>
          <a:prstGeom prst="rect">
            <a:avLst/>
          </a:prstGeom>
          <a:noFill/>
        </p:spPr>
        <p:txBody>
          <a:bodyPr wrap="square">
            <a:spAutoFit/>
          </a:bodyPr>
          <a:lstStyle/>
          <a:p>
            <a:pPr algn="l">
              <a:buNone/>
            </a:pPr>
            <a:r>
              <a:rPr sz="1300" b="1">
                <a:solidFill>
                  <a:srgbClr val="53635B"/>
                </a:solidFill>
                <a:latin typeface="Aptos"/>
                <a:ea typeface="Aptos"/>
                <a:cs typeface="Aptos"/>
              </a:rPr>
              <a:t>NVIDIA FLARE CASE STUDY</a:t>
            </a:r>
          </a:p>
        </p:txBody>
      </p:sp>
      <p:sp>
        <p:nvSpPr>
          <p:cNvPr id="3" name="TextBox 2">
            <a:extLst>
              <a:ext uri="{FF2B5EF4-FFF2-40B4-BE49-F238E27FC236}">
                <a16:creationId xmlns:a16="http://schemas.microsoft.com/office/drawing/2014/main" id="{F19EF4B8-D416-44CC-8F0F-CD690DE62B0E}"/>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EXAM was a federated COVID-19 outcome study.</a:t>
            </a:r>
          </a:p>
        </p:txBody>
      </p:sp>
      <p:sp>
        <p:nvSpPr>
          <p:cNvPr id="4" name="TextBox 3">
            <a:extLst>
              <a:ext uri="{FF2B5EF4-FFF2-40B4-BE49-F238E27FC236}">
                <a16:creationId xmlns:a16="http://schemas.microsoft.com/office/drawing/2014/main" id="{BE5C6F23-B794-41CB-9828-0309755B56BA}"/>
              </a:ext>
            </a:extLst>
          </p:cNvPr>
          <p:cNvSpPr>
            <a:spLocks noGrp="1"/>
          </p:cNvSpPr>
          <p:nvPr/>
        </p:nvSpPr>
        <p:spPr>
          <a:xfrm>
            <a:off x="566928" y="1225296"/>
            <a:ext cx="9784080" cy="518160"/>
          </a:xfrm>
          <a:prstGeom prst="rect">
            <a:avLst/>
          </a:prstGeom>
          <a:noFill/>
        </p:spPr>
        <p:txBody>
          <a:bodyPr wrap="square">
            <a:spAutoFit/>
          </a:bodyPr>
          <a:lstStyle/>
          <a:p>
            <a:pPr algn="l">
              <a:buNone/>
            </a:pPr>
            <a:r>
              <a:rPr lang="en-US" sz="1400" b="0" dirty="0">
                <a:solidFill>
                  <a:srgbClr val="53635B"/>
                </a:solidFill>
                <a:latin typeface="Aptos"/>
                <a:ea typeface="Aptos"/>
                <a:cs typeface="Aptos"/>
              </a:rPr>
              <a:t>‘</a:t>
            </a:r>
            <a:r>
              <a:rPr sz="1400" b="0" dirty="0">
                <a:solidFill>
                  <a:srgbClr val="53635B"/>
                </a:solidFill>
                <a:latin typeface="Aptos"/>
                <a:ea typeface="Aptos"/>
                <a:cs typeface="Aptos"/>
              </a:rPr>
              <a:t>Electronic Medical Record Chest X-ray AI Model</a:t>
            </a:r>
            <a:r>
              <a:rPr lang="en-US" sz="1400" b="0" dirty="0">
                <a:solidFill>
                  <a:srgbClr val="53635B"/>
                </a:solidFill>
                <a:latin typeface="Aptos"/>
                <a:ea typeface="Aptos"/>
                <a:cs typeface="Aptos"/>
              </a:rPr>
              <a:t>'</a:t>
            </a:r>
            <a:r>
              <a:rPr sz="1400" b="0" dirty="0">
                <a:solidFill>
                  <a:srgbClr val="53635B"/>
                </a:solidFill>
                <a:latin typeface="Aptos"/>
                <a:ea typeface="Aptos"/>
                <a:cs typeface="Aptos"/>
              </a:rPr>
              <a:t>. It predicted oxygen needs 24 and 72 hours after emergency-department presentation.</a:t>
            </a:r>
          </a:p>
        </p:txBody>
      </p:sp>
      <p:sp>
        <p:nvSpPr>
          <p:cNvPr id="5" name="Rounded Rectangle 4">
            <a:extLst>
              <a:ext uri="{FF2B5EF4-FFF2-40B4-BE49-F238E27FC236}">
                <a16:creationId xmlns:a16="http://schemas.microsoft.com/office/drawing/2014/main" id="{B185A7CA-8862-4A59-84A7-D6796384C0A0}"/>
              </a:ext>
            </a:extLst>
          </p:cNvPr>
          <p:cNvSpPr>
            <a:spLocks noGrp="1"/>
          </p:cNvSpPr>
          <p:nvPr/>
        </p:nvSpPr>
        <p:spPr>
          <a:xfrm>
            <a:off x="777240" y="1737360"/>
            <a:ext cx="4892040" cy="11430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A6ABA7-B17F-4F9D-95AC-A9AD1840DA5F}"/>
              </a:ext>
            </a:extLst>
          </p:cNvPr>
          <p:cNvSpPr>
            <a:spLocks noGrp="1"/>
          </p:cNvSpPr>
          <p:nvPr/>
        </p:nvSpPr>
        <p:spPr>
          <a:xfrm>
            <a:off x="94183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20 institutions, 16,148 cases</a:t>
            </a:r>
          </a:p>
        </p:txBody>
      </p:sp>
      <p:sp>
        <p:nvSpPr>
          <p:cNvPr id="7" name="TextBox 6">
            <a:extLst>
              <a:ext uri="{FF2B5EF4-FFF2-40B4-BE49-F238E27FC236}">
                <a16:creationId xmlns:a16="http://schemas.microsoft.com/office/drawing/2014/main" id="{A16C6DE5-10AC-4D7B-A902-BE1A4B95FA97}"/>
              </a:ext>
            </a:extLst>
          </p:cNvPr>
          <p:cNvSpPr>
            <a:spLocks noGrp="1"/>
          </p:cNvSpPr>
          <p:nvPr/>
        </p:nvSpPr>
        <p:spPr>
          <a:xfrm>
            <a:off x="94183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Hospitals and research sites across several countries trained and tested one shared research model.</a:t>
            </a:r>
          </a:p>
        </p:txBody>
      </p:sp>
      <p:sp>
        <p:nvSpPr>
          <p:cNvPr id="8" name="Rounded Rectangle 7">
            <a:extLst>
              <a:ext uri="{FF2B5EF4-FFF2-40B4-BE49-F238E27FC236}">
                <a16:creationId xmlns:a16="http://schemas.microsoft.com/office/drawing/2014/main" id="{DB689BD0-DEBE-4890-84C2-52C9C0F87691}"/>
              </a:ext>
            </a:extLst>
          </p:cNvPr>
          <p:cNvSpPr>
            <a:spLocks noGrp="1"/>
          </p:cNvSpPr>
          <p:nvPr/>
        </p:nvSpPr>
        <p:spPr>
          <a:xfrm>
            <a:off x="6217920" y="1737360"/>
            <a:ext cx="4892040" cy="11430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2C22423-3633-4CFF-9783-DEDD0DB789E8}"/>
              </a:ext>
            </a:extLst>
          </p:cNvPr>
          <p:cNvSpPr>
            <a:spLocks noGrp="1"/>
          </p:cNvSpPr>
          <p:nvPr/>
        </p:nvSpPr>
        <p:spPr>
          <a:xfrm>
            <a:off x="638251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What the model used</a:t>
            </a:r>
          </a:p>
        </p:txBody>
      </p:sp>
      <p:sp>
        <p:nvSpPr>
          <p:cNvPr id="10" name="TextBox 9">
            <a:extLst>
              <a:ext uri="{FF2B5EF4-FFF2-40B4-BE49-F238E27FC236}">
                <a16:creationId xmlns:a16="http://schemas.microsoft.com/office/drawing/2014/main" id="{38C7BA40-A629-4F2C-9946-C9AFDE739862}"/>
              </a:ext>
            </a:extLst>
          </p:cNvPr>
          <p:cNvSpPr>
            <a:spLocks noGrp="1"/>
          </p:cNvSpPr>
          <p:nvPr/>
        </p:nvSpPr>
        <p:spPr>
          <a:xfrm>
            <a:off x="6382512" y="2267712"/>
            <a:ext cx="4572000" cy="640080"/>
          </a:xfrm>
          <a:prstGeom prst="rect">
            <a:avLst/>
          </a:prstGeom>
          <a:noFill/>
        </p:spPr>
        <p:txBody>
          <a:bodyPr wrap="square">
            <a:spAutoFit/>
          </a:bodyPr>
          <a:lstStyle/>
          <a:p>
            <a:pPr algn="l">
              <a:buNone/>
            </a:pPr>
            <a:r>
              <a:rPr sz="1200" b="0">
                <a:solidFill>
                  <a:srgbClr val="53635B"/>
                </a:solidFill>
                <a:latin typeface="Aptos"/>
                <a:ea typeface="Aptos"/>
                <a:cs typeface="Aptos"/>
              </a:rPr>
              <a:t>Each site used its first emergency-department chest X-ray plus 19 approved record features such as vital signs, laboratory values, and age.</a:t>
            </a:r>
          </a:p>
        </p:txBody>
      </p:sp>
      <p:sp>
        <p:nvSpPr>
          <p:cNvPr id="11" name="Rounded Rectangle 10">
            <a:extLst>
              <a:ext uri="{FF2B5EF4-FFF2-40B4-BE49-F238E27FC236}">
                <a16:creationId xmlns:a16="http://schemas.microsoft.com/office/drawing/2014/main" id="{E5CF9E1F-B30B-4AF0-BFE2-3E3E214ECC1C}"/>
              </a:ext>
            </a:extLst>
          </p:cNvPr>
          <p:cNvSpPr>
            <a:spLocks noGrp="1"/>
          </p:cNvSpPr>
          <p:nvPr/>
        </p:nvSpPr>
        <p:spPr>
          <a:xfrm>
            <a:off x="777240" y="3383280"/>
            <a:ext cx="4892040" cy="114300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B6C606A-7A36-4A56-AE5F-ED90CCBB9865}"/>
              </a:ext>
            </a:extLst>
          </p:cNvPr>
          <p:cNvSpPr>
            <a:spLocks noGrp="1"/>
          </p:cNvSpPr>
          <p:nvPr/>
        </p:nvSpPr>
        <p:spPr>
          <a:xfrm>
            <a:off x="94183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How federation worked</a:t>
            </a:r>
          </a:p>
        </p:txBody>
      </p:sp>
      <p:sp>
        <p:nvSpPr>
          <p:cNvPr id="13" name="TextBox 12">
            <a:extLst>
              <a:ext uri="{FF2B5EF4-FFF2-40B4-BE49-F238E27FC236}">
                <a16:creationId xmlns:a16="http://schemas.microsoft.com/office/drawing/2014/main" id="{0E2DE3C6-7B14-47CE-984B-4FEA66D42DD9}"/>
              </a:ext>
            </a:extLst>
          </p:cNvPr>
          <p:cNvSpPr>
            <a:spLocks noGrp="1"/>
          </p:cNvSpPr>
          <p:nvPr/>
        </p:nvSpPr>
        <p:spPr>
          <a:xfrm>
            <a:off x="94183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Sites trained locally. A central server combined model updates. Raw site datasets were not copied into one repository.</a:t>
            </a:r>
          </a:p>
        </p:txBody>
      </p:sp>
      <p:sp>
        <p:nvSpPr>
          <p:cNvPr id="14" name="Rounded Rectangle 13">
            <a:extLst>
              <a:ext uri="{FF2B5EF4-FFF2-40B4-BE49-F238E27FC236}">
                <a16:creationId xmlns:a16="http://schemas.microsoft.com/office/drawing/2014/main" id="{02068F01-5A1E-4CA8-BAC8-5916EBED6DE1}"/>
              </a:ext>
            </a:extLst>
          </p:cNvPr>
          <p:cNvSpPr>
            <a:spLocks noGrp="1"/>
          </p:cNvSpPr>
          <p:nvPr/>
        </p:nvSpPr>
        <p:spPr>
          <a:xfrm>
            <a:off x="6217920" y="3383280"/>
            <a:ext cx="4892040" cy="11430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FF3519E-A7D4-4C26-97BE-CCD863D217C3}"/>
              </a:ext>
            </a:extLst>
          </p:cNvPr>
          <p:cNvSpPr>
            <a:spLocks noGrp="1"/>
          </p:cNvSpPr>
          <p:nvPr/>
        </p:nvSpPr>
        <p:spPr>
          <a:xfrm>
            <a:off x="638251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What the paper reported</a:t>
            </a:r>
          </a:p>
        </p:txBody>
      </p:sp>
      <p:sp>
        <p:nvSpPr>
          <p:cNvPr id="16" name="TextBox 15">
            <a:extLst>
              <a:ext uri="{FF2B5EF4-FFF2-40B4-BE49-F238E27FC236}">
                <a16:creationId xmlns:a16="http://schemas.microsoft.com/office/drawing/2014/main" id="{A348AC81-5D4F-4221-91E2-2B61032AA866}"/>
              </a:ext>
            </a:extLst>
          </p:cNvPr>
          <p:cNvSpPr>
            <a:spLocks noGrp="1"/>
          </p:cNvSpPr>
          <p:nvPr/>
        </p:nvSpPr>
        <p:spPr>
          <a:xfrm>
            <a:off x="6382512" y="3913632"/>
            <a:ext cx="4572000" cy="640080"/>
          </a:xfrm>
          <a:prstGeom prst="rect">
            <a:avLst/>
          </a:prstGeom>
          <a:noFill/>
        </p:spPr>
        <p:txBody>
          <a:bodyPr wrap="square">
            <a:spAutoFit/>
          </a:bodyPr>
          <a:lstStyle/>
          <a:p>
            <a:pPr algn="l">
              <a:buNone/>
            </a:pPr>
            <a:r>
              <a:rPr sz="1200" b="0">
                <a:solidFill>
                  <a:srgbClr val="53635B"/>
                </a:solidFill>
                <a:latin typeface="Aptos"/>
                <a:ea typeface="Aptos"/>
                <a:cs typeface="Aptos"/>
              </a:rPr>
              <a:t>Average AUC was above 0.92. For the 24-hour task, the federated model improved average AUC by 16% and average generalizability by 38% versus site-only models.</a:t>
            </a:r>
          </a:p>
        </p:txBody>
      </p:sp>
      <p:sp>
        <p:nvSpPr>
          <p:cNvPr id="17" name="TextBox 16">
            <a:extLst>
              <a:ext uri="{FF2B5EF4-FFF2-40B4-BE49-F238E27FC236}">
                <a16:creationId xmlns:a16="http://schemas.microsoft.com/office/drawing/2014/main" id="{0189CDBE-DBE1-4102-896D-D470C23C8EA5}"/>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Nature Medicine, 2021. COVID-19 research evidence, not a stroke result or regulatory approval.</a:t>
            </a:r>
          </a:p>
        </p:txBody>
      </p:sp>
    </p:spTree>
    <p:extLst>
      <p:ext uri="{BB962C8B-B14F-4D97-AF65-F5344CB8AC3E}">
        <p14:creationId xmlns:p14="http://schemas.microsoft.com/office/powerpoint/2010/main" val="1152305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7D0897-00AD-4965-8CE2-0C3E3BDAA895}"/>
              </a:ext>
            </a:extLst>
          </p:cNvPr>
          <p:cNvSpPr>
            <a:spLocks noGrp="1"/>
          </p:cNvSpPr>
          <p:nvPr/>
        </p:nvSpPr>
        <p:spPr>
          <a:xfrm>
            <a:off x="548640" y="320040"/>
            <a:ext cx="2377440" cy="487680"/>
          </a:xfrm>
          <a:prstGeom prst="rect">
            <a:avLst/>
          </a:prstGeom>
          <a:noFill/>
        </p:spPr>
        <p:txBody>
          <a:bodyPr wrap="square">
            <a:spAutoFit/>
          </a:bodyPr>
          <a:lstStyle/>
          <a:p>
            <a:pPr algn="l">
              <a:buNone/>
            </a:pPr>
            <a:r>
              <a:rPr sz="1300" b="1">
                <a:solidFill>
                  <a:srgbClr val="53635B"/>
                </a:solidFill>
                <a:latin typeface="Aptos"/>
                <a:ea typeface="Aptos"/>
                <a:cs typeface="Aptos"/>
              </a:rPr>
              <a:t>WHAT DAGENTS SHOULD LEARN</a:t>
            </a:r>
          </a:p>
        </p:txBody>
      </p:sp>
      <p:sp>
        <p:nvSpPr>
          <p:cNvPr id="3" name="TextBox 2">
            <a:extLst>
              <a:ext uri="{FF2B5EF4-FFF2-40B4-BE49-F238E27FC236}">
                <a16:creationId xmlns:a16="http://schemas.microsoft.com/office/drawing/2014/main" id="{F19EF4B8-D416-44CC-8F0F-CD690DE62B0E}"/>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The lesson is the operating model, not the brand.</a:t>
            </a:r>
          </a:p>
        </p:txBody>
      </p:sp>
      <p:sp>
        <p:nvSpPr>
          <p:cNvPr id="4" name="TextBox 3">
            <a:extLst>
              <a:ext uri="{FF2B5EF4-FFF2-40B4-BE49-F238E27FC236}">
                <a16:creationId xmlns:a16="http://schemas.microsoft.com/office/drawing/2014/main" id="{BE5C6F23-B794-41CB-9828-0309755B56BA}"/>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A real healthcare federation needs repeatable experiments, site workers, evaluation, privacy controls, and release governance.</a:t>
            </a:r>
          </a:p>
        </p:txBody>
      </p:sp>
      <p:sp>
        <p:nvSpPr>
          <p:cNvPr id="5" name="Rounded Rectangle 4">
            <a:extLst>
              <a:ext uri="{FF2B5EF4-FFF2-40B4-BE49-F238E27FC236}">
                <a16:creationId xmlns:a16="http://schemas.microsoft.com/office/drawing/2014/main" id="{B185A7CA-8862-4A59-84A7-D6796384C0A0}"/>
              </a:ext>
            </a:extLst>
          </p:cNvPr>
          <p:cNvSpPr>
            <a:spLocks noGrp="1"/>
          </p:cNvSpPr>
          <p:nvPr/>
        </p:nvSpPr>
        <p:spPr>
          <a:xfrm>
            <a:off x="777240" y="1737360"/>
            <a:ext cx="4892040" cy="11430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A6ABA7-B17F-4F9D-95AC-A9AD1840DA5F}"/>
              </a:ext>
            </a:extLst>
          </p:cNvPr>
          <p:cNvSpPr>
            <a:spLocks noGrp="1"/>
          </p:cNvSpPr>
          <p:nvPr/>
        </p:nvSpPr>
        <p:spPr>
          <a:xfrm>
            <a:off x="94183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Many traceable rounds</a:t>
            </a:r>
          </a:p>
        </p:txBody>
      </p:sp>
      <p:sp>
        <p:nvSpPr>
          <p:cNvPr id="7" name="TextBox 6">
            <a:extLst>
              <a:ext uri="{FF2B5EF4-FFF2-40B4-BE49-F238E27FC236}">
                <a16:creationId xmlns:a16="http://schemas.microsoft.com/office/drawing/2014/main" id="{A16C6DE5-10AC-4D7B-A902-BE1A4B95FA97}"/>
              </a:ext>
            </a:extLst>
          </p:cNvPr>
          <p:cNvSpPr>
            <a:spLocks noGrp="1"/>
          </p:cNvSpPr>
          <p:nvPr/>
        </p:nvSpPr>
        <p:spPr>
          <a:xfrm>
            <a:off x="94183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The EXAM study ran many experiments. Dagents needs durable round state, inputs, outputs, versions, and reasons.</a:t>
            </a:r>
          </a:p>
        </p:txBody>
      </p:sp>
      <p:sp>
        <p:nvSpPr>
          <p:cNvPr id="8" name="Rounded Rectangle 7">
            <a:extLst>
              <a:ext uri="{FF2B5EF4-FFF2-40B4-BE49-F238E27FC236}">
                <a16:creationId xmlns:a16="http://schemas.microsoft.com/office/drawing/2014/main" id="{DB689BD0-DEBE-4890-84C2-52C9C0F87691}"/>
              </a:ext>
            </a:extLst>
          </p:cNvPr>
          <p:cNvSpPr>
            <a:spLocks noGrp="1"/>
          </p:cNvSpPr>
          <p:nvPr/>
        </p:nvSpPr>
        <p:spPr>
          <a:xfrm>
            <a:off x="6217920" y="1737360"/>
            <a:ext cx="4892040" cy="11430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2C22423-3633-4CFF-9783-DEDD0DB789E8}"/>
              </a:ext>
            </a:extLst>
          </p:cNvPr>
          <p:cNvSpPr>
            <a:spLocks noGrp="1"/>
          </p:cNvSpPr>
          <p:nvPr/>
        </p:nvSpPr>
        <p:spPr>
          <a:xfrm>
            <a:off x="638251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Local site capability</a:t>
            </a:r>
          </a:p>
        </p:txBody>
      </p:sp>
      <p:sp>
        <p:nvSpPr>
          <p:cNvPr id="10" name="TextBox 9">
            <a:extLst>
              <a:ext uri="{FF2B5EF4-FFF2-40B4-BE49-F238E27FC236}">
                <a16:creationId xmlns:a16="http://schemas.microsoft.com/office/drawing/2014/main" id="{38C7BA40-A629-4F2C-9946-C9AFDE739862}"/>
              </a:ext>
            </a:extLst>
          </p:cNvPr>
          <p:cNvSpPr>
            <a:spLocks noGrp="1"/>
          </p:cNvSpPr>
          <p:nvPr/>
        </p:nvSpPr>
        <p:spPr>
          <a:xfrm>
            <a:off x="638251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Each hospital needs approved compute, data preparation, training, evaluation, and evidence storage.</a:t>
            </a:r>
          </a:p>
        </p:txBody>
      </p:sp>
      <p:sp>
        <p:nvSpPr>
          <p:cNvPr id="11" name="Rounded Rectangle 10">
            <a:extLst>
              <a:ext uri="{FF2B5EF4-FFF2-40B4-BE49-F238E27FC236}">
                <a16:creationId xmlns:a16="http://schemas.microsoft.com/office/drawing/2014/main" id="{E5CF9E1F-B30B-4AF0-BFE2-3E3E214ECC1C}"/>
              </a:ext>
            </a:extLst>
          </p:cNvPr>
          <p:cNvSpPr>
            <a:spLocks noGrp="1"/>
          </p:cNvSpPr>
          <p:nvPr/>
        </p:nvSpPr>
        <p:spPr>
          <a:xfrm>
            <a:off x="777240" y="3383280"/>
            <a:ext cx="4892040" cy="114300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B6C606A-7A36-4A56-AE5F-ED90CCBB9865}"/>
              </a:ext>
            </a:extLst>
          </p:cNvPr>
          <p:cNvSpPr>
            <a:spLocks noGrp="1"/>
          </p:cNvSpPr>
          <p:nvPr/>
        </p:nvSpPr>
        <p:spPr>
          <a:xfrm>
            <a:off x="94183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Heterogeneity stays</a:t>
            </a:r>
          </a:p>
        </p:txBody>
      </p:sp>
      <p:sp>
        <p:nvSpPr>
          <p:cNvPr id="13" name="TextBox 12">
            <a:extLst>
              <a:ext uri="{FF2B5EF4-FFF2-40B4-BE49-F238E27FC236}">
                <a16:creationId xmlns:a16="http://schemas.microsoft.com/office/drawing/2014/main" id="{0E2DE3C6-7B14-47CE-984B-4FEA66D42DD9}"/>
              </a:ext>
            </a:extLst>
          </p:cNvPr>
          <p:cNvSpPr>
            <a:spLocks noGrp="1"/>
          </p:cNvSpPr>
          <p:nvPr/>
        </p:nvSpPr>
        <p:spPr>
          <a:xfrm>
            <a:off x="94183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Shared features do not erase site differences. Every candidate needs site-level and group-level evaluation.</a:t>
            </a:r>
          </a:p>
        </p:txBody>
      </p:sp>
      <p:sp>
        <p:nvSpPr>
          <p:cNvPr id="14" name="Rounded Rectangle 13">
            <a:extLst>
              <a:ext uri="{FF2B5EF4-FFF2-40B4-BE49-F238E27FC236}">
                <a16:creationId xmlns:a16="http://schemas.microsoft.com/office/drawing/2014/main" id="{02068F01-5A1E-4CA8-BAC8-5916EBED6DE1}"/>
              </a:ext>
            </a:extLst>
          </p:cNvPr>
          <p:cNvSpPr>
            <a:spLocks noGrp="1"/>
          </p:cNvSpPr>
          <p:nvPr/>
        </p:nvSpPr>
        <p:spPr>
          <a:xfrm>
            <a:off x="6217920" y="3383280"/>
            <a:ext cx="4892040" cy="11430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FF3519E-A7D4-4C26-97BE-CCD863D217C3}"/>
              </a:ext>
            </a:extLst>
          </p:cNvPr>
          <p:cNvSpPr>
            <a:spLocks noGrp="1"/>
          </p:cNvSpPr>
          <p:nvPr/>
        </p:nvSpPr>
        <p:spPr>
          <a:xfrm>
            <a:off x="638251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Code + privacy approval</a:t>
            </a:r>
          </a:p>
        </p:txBody>
      </p:sp>
      <p:sp>
        <p:nvSpPr>
          <p:cNvPr id="16" name="TextBox 15">
            <a:extLst>
              <a:ext uri="{FF2B5EF4-FFF2-40B4-BE49-F238E27FC236}">
                <a16:creationId xmlns:a16="http://schemas.microsoft.com/office/drawing/2014/main" id="{A348AC81-5D4F-4221-91E2-2B61032AA866}"/>
              </a:ext>
            </a:extLst>
          </p:cNvPr>
          <p:cNvSpPr>
            <a:spLocks noGrp="1"/>
          </p:cNvSpPr>
          <p:nvPr/>
        </p:nvSpPr>
        <p:spPr>
          <a:xfrm>
            <a:off x="638251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Hospitals should verify job code and data access; secure aggregation and privacy controls remain separate work.</a:t>
            </a:r>
          </a:p>
        </p:txBody>
      </p:sp>
      <p:sp>
        <p:nvSpPr>
          <p:cNvPr id="17" name="TextBox 16">
            <a:extLst>
              <a:ext uri="{FF2B5EF4-FFF2-40B4-BE49-F238E27FC236}">
                <a16:creationId xmlns:a16="http://schemas.microsoft.com/office/drawing/2014/main" id="{0189CDBE-DBE1-4102-896D-D470C23C8EA5}"/>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Integrate NVIDIA FLARE or an equivalent runtime; keep Dagents as the reusable governance and orchestration layer / 14</a:t>
            </a:r>
          </a:p>
        </p:txBody>
      </p:sp>
    </p:spTree>
    <p:extLst>
      <p:ext uri="{BB962C8B-B14F-4D97-AF65-F5344CB8AC3E}">
        <p14:creationId xmlns:p14="http://schemas.microsoft.com/office/powerpoint/2010/main" val="1152305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7D0897-00AD-4965-8CE2-0C3E3BDAA895}"/>
              </a:ext>
            </a:extLst>
          </p:cNvPr>
          <p:cNvSpPr>
            <a:spLocks noGrp="1"/>
          </p:cNvSpPr>
          <p:nvPr/>
        </p:nvSpPr>
        <p:spPr>
          <a:xfrm>
            <a:off x="548640" y="320040"/>
            <a:ext cx="2377440" cy="487680"/>
          </a:xfrm>
          <a:prstGeom prst="rect">
            <a:avLst/>
          </a:prstGeom>
          <a:noFill/>
        </p:spPr>
        <p:txBody>
          <a:bodyPr wrap="square">
            <a:spAutoFit/>
          </a:bodyPr>
          <a:lstStyle/>
          <a:p>
            <a:pPr algn="l">
              <a:buNone/>
            </a:pPr>
            <a:r>
              <a:rPr sz="1300" b="1">
                <a:solidFill>
                  <a:srgbClr val="53635B"/>
                </a:solidFill>
                <a:latin typeface="Aptos"/>
                <a:ea typeface="Aptos"/>
                <a:cs typeface="Aptos"/>
              </a:rPr>
              <a:t>ENTERPRISE BACKUP LESSONS</a:t>
            </a:r>
          </a:p>
        </p:txBody>
      </p:sp>
      <p:sp>
        <p:nvSpPr>
          <p:cNvPr id="3" name="TextBox 2">
            <a:extLst>
              <a:ext uri="{FF2B5EF4-FFF2-40B4-BE49-F238E27FC236}">
                <a16:creationId xmlns:a16="http://schemas.microsoft.com/office/drawing/2014/main" id="{F19EF4B8-D416-44CC-8F0F-CD690DE62B0E}"/>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Backup patterns make model releases safer.</a:t>
            </a:r>
          </a:p>
        </p:txBody>
      </p:sp>
      <p:sp>
        <p:nvSpPr>
          <p:cNvPr id="4" name="TextBox 3">
            <a:extLst>
              <a:ext uri="{FF2B5EF4-FFF2-40B4-BE49-F238E27FC236}">
                <a16:creationId xmlns:a16="http://schemas.microsoft.com/office/drawing/2014/main" id="{BE5C6F23-B794-41CB-9828-0309755B56BA}"/>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Borrow central policy, local workers, integrity checks, and recovery—not the idea that an update is automatically trustworthy.</a:t>
            </a:r>
          </a:p>
        </p:txBody>
      </p:sp>
      <p:sp>
        <p:nvSpPr>
          <p:cNvPr id="5" name="Rounded Rectangle 4">
            <a:extLst>
              <a:ext uri="{FF2B5EF4-FFF2-40B4-BE49-F238E27FC236}">
                <a16:creationId xmlns:a16="http://schemas.microsoft.com/office/drawing/2014/main" id="{B185A7CA-8862-4A59-84A7-D6796384C0A0}"/>
              </a:ext>
            </a:extLst>
          </p:cNvPr>
          <p:cNvSpPr>
            <a:spLocks noGrp="1"/>
          </p:cNvSpPr>
          <p:nvPr/>
        </p:nvSpPr>
        <p:spPr>
          <a:xfrm>
            <a:off x="777240" y="1737360"/>
            <a:ext cx="4892040" cy="11430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A6ABA7-B17F-4F9D-95AC-A9AD1840DA5F}"/>
              </a:ext>
            </a:extLst>
          </p:cNvPr>
          <p:cNvSpPr>
            <a:spLocks noGrp="1"/>
          </p:cNvSpPr>
          <p:nvPr/>
        </p:nvSpPr>
        <p:spPr>
          <a:xfrm>
            <a:off x="94183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Baseline + increments</a:t>
            </a:r>
          </a:p>
        </p:txBody>
      </p:sp>
      <p:sp>
        <p:nvSpPr>
          <p:cNvPr id="7" name="TextBox 6">
            <a:extLst>
              <a:ext uri="{FF2B5EF4-FFF2-40B4-BE49-F238E27FC236}">
                <a16:creationId xmlns:a16="http://schemas.microsoft.com/office/drawing/2014/main" id="{A16C6DE5-10AC-4D7B-A902-BE1A4B95FA97}"/>
              </a:ext>
            </a:extLst>
          </p:cNvPr>
          <p:cNvSpPr>
            <a:spLocks noGrp="1"/>
          </p:cNvSpPr>
          <p:nvPr/>
        </p:nvSpPr>
        <p:spPr>
          <a:xfrm>
            <a:off x="94183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A full backup plus changed blocks maps to a signed seed package plus bounded round updates.</a:t>
            </a:r>
          </a:p>
        </p:txBody>
      </p:sp>
      <p:sp>
        <p:nvSpPr>
          <p:cNvPr id="8" name="Rounded Rectangle 7">
            <a:extLst>
              <a:ext uri="{FF2B5EF4-FFF2-40B4-BE49-F238E27FC236}">
                <a16:creationId xmlns:a16="http://schemas.microsoft.com/office/drawing/2014/main" id="{DB689BD0-DEBE-4890-84C2-52C9C0F87691}"/>
              </a:ext>
            </a:extLst>
          </p:cNvPr>
          <p:cNvSpPr>
            <a:spLocks noGrp="1"/>
          </p:cNvSpPr>
          <p:nvPr/>
        </p:nvSpPr>
        <p:spPr>
          <a:xfrm>
            <a:off x="6217920" y="1737360"/>
            <a:ext cx="4892040" cy="11430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2C22423-3633-4CFF-9783-DEDD0DB789E8}"/>
              </a:ext>
            </a:extLst>
          </p:cNvPr>
          <p:cNvSpPr>
            <a:spLocks noGrp="1"/>
          </p:cNvSpPr>
          <p:nvPr/>
        </p:nvSpPr>
        <p:spPr>
          <a:xfrm>
            <a:off x="638251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Catalog + lineage</a:t>
            </a:r>
          </a:p>
        </p:txBody>
      </p:sp>
      <p:sp>
        <p:nvSpPr>
          <p:cNvPr id="10" name="TextBox 9">
            <a:extLst>
              <a:ext uri="{FF2B5EF4-FFF2-40B4-BE49-F238E27FC236}">
                <a16:creationId xmlns:a16="http://schemas.microsoft.com/office/drawing/2014/main" id="{38C7BA40-A629-4F2C-9946-C9AFDE739862}"/>
              </a:ext>
            </a:extLst>
          </p:cNvPr>
          <p:cNvSpPr>
            <a:spLocks noGrp="1"/>
          </p:cNvSpPr>
          <p:nvPr/>
        </p:nvSpPr>
        <p:spPr>
          <a:xfrm>
            <a:off x="638251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A backup catalog maps to model, code, feature-contract, round, participant, candidate, and release history.</a:t>
            </a:r>
          </a:p>
        </p:txBody>
      </p:sp>
      <p:sp>
        <p:nvSpPr>
          <p:cNvPr id="11" name="Rounded Rectangle 10">
            <a:extLst>
              <a:ext uri="{FF2B5EF4-FFF2-40B4-BE49-F238E27FC236}">
                <a16:creationId xmlns:a16="http://schemas.microsoft.com/office/drawing/2014/main" id="{E5CF9E1F-B30B-4AF0-BFE2-3E3E214ECC1C}"/>
              </a:ext>
            </a:extLst>
          </p:cNvPr>
          <p:cNvSpPr>
            <a:spLocks noGrp="1"/>
          </p:cNvSpPr>
          <p:nvPr/>
        </p:nvSpPr>
        <p:spPr>
          <a:xfrm>
            <a:off x="777240" y="3383280"/>
            <a:ext cx="4892040" cy="114300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B6C606A-7A36-4A56-AE5F-ED90CCBB9865}"/>
              </a:ext>
            </a:extLst>
          </p:cNvPr>
          <p:cNvSpPr>
            <a:spLocks noGrp="1"/>
          </p:cNvSpPr>
          <p:nvPr/>
        </p:nvSpPr>
        <p:spPr>
          <a:xfrm>
            <a:off x="94183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Integrity checks</a:t>
            </a:r>
          </a:p>
        </p:txBody>
      </p:sp>
      <p:sp>
        <p:nvSpPr>
          <p:cNvPr id="13" name="TextBox 12">
            <a:extLst>
              <a:ext uri="{FF2B5EF4-FFF2-40B4-BE49-F238E27FC236}">
                <a16:creationId xmlns:a16="http://schemas.microsoft.com/office/drawing/2014/main" id="{0E2DE3C6-7B14-47CE-984B-4FEA66D42DD9}"/>
              </a:ext>
            </a:extLst>
          </p:cNvPr>
          <p:cNvSpPr>
            <a:spLocks noGrp="1"/>
          </p:cNvSpPr>
          <p:nvPr/>
        </p:nvSpPr>
        <p:spPr>
          <a:xfrm>
            <a:off x="94183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Checksums, signatures, reproducible evaluation, and locked releases detect corruption or silent change.</a:t>
            </a:r>
          </a:p>
        </p:txBody>
      </p:sp>
      <p:sp>
        <p:nvSpPr>
          <p:cNvPr id="14" name="Rounded Rectangle 13">
            <a:extLst>
              <a:ext uri="{FF2B5EF4-FFF2-40B4-BE49-F238E27FC236}">
                <a16:creationId xmlns:a16="http://schemas.microsoft.com/office/drawing/2014/main" id="{02068F01-5A1E-4CA8-BAC8-5916EBED6DE1}"/>
              </a:ext>
            </a:extLst>
          </p:cNvPr>
          <p:cNvSpPr>
            <a:spLocks noGrp="1"/>
          </p:cNvSpPr>
          <p:nvPr/>
        </p:nvSpPr>
        <p:spPr>
          <a:xfrm>
            <a:off x="6217920" y="3383280"/>
            <a:ext cx="4892040" cy="11430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FF3519E-A7D4-4C26-97BE-CCD863D217C3}"/>
              </a:ext>
            </a:extLst>
          </p:cNvPr>
          <p:cNvSpPr>
            <a:spLocks noGrp="1"/>
          </p:cNvSpPr>
          <p:nvPr/>
        </p:nvSpPr>
        <p:spPr>
          <a:xfrm>
            <a:off x="6384417" y="3529584"/>
            <a:ext cx="4570095" cy="320040"/>
          </a:xfrm>
          <a:prstGeom prst="rect">
            <a:avLst/>
          </a:prstGeom>
          <a:noFill/>
        </p:spPr>
        <p:txBody>
          <a:bodyPr wrap="square">
            <a:spAutoFit/>
          </a:bodyPr>
          <a:lstStyle/>
          <a:p>
            <a:pPr algn="l">
              <a:buNone/>
            </a:pPr>
            <a:r>
              <a:rPr sz="1500" b="1">
                <a:solidFill>
                  <a:srgbClr val="15201B"/>
                </a:solidFill>
                <a:latin typeface="Aptos"/>
                <a:ea typeface="Aptos"/>
                <a:cs typeface="Aptos"/>
              </a:rPr>
              <a:t>Restore drills</a:t>
            </a:r>
          </a:p>
        </p:txBody>
      </p:sp>
      <p:sp>
        <p:nvSpPr>
          <p:cNvPr id="16" name="TextBox 15">
            <a:extLst>
              <a:ext uri="{FF2B5EF4-FFF2-40B4-BE49-F238E27FC236}">
                <a16:creationId xmlns:a16="http://schemas.microsoft.com/office/drawing/2014/main" id="{A348AC81-5D4F-4221-91E2-2B61032AA866}"/>
              </a:ext>
            </a:extLst>
          </p:cNvPr>
          <p:cNvSpPr>
            <a:spLocks noGrp="1"/>
          </p:cNvSpPr>
          <p:nvPr/>
        </p:nvSpPr>
        <p:spPr>
          <a:xfrm>
            <a:off x="638251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A rollback plan is incomplete until teams regularly prove that the known-good model can be restored.</a:t>
            </a:r>
          </a:p>
        </p:txBody>
      </p:sp>
      <p:sp>
        <p:nvSpPr>
          <p:cNvPr id="17" name="TextBox 16">
            <a:extLst>
              <a:ext uri="{FF2B5EF4-FFF2-40B4-BE49-F238E27FC236}">
                <a16:creationId xmlns:a16="http://schemas.microsoft.com/office/drawing/2014/main" id="{0189CDBE-DBE1-4102-896D-D470C23C8EA5}"/>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Seed → bounded updates → verified candidate → immutable release → tested rollback / 15</a:t>
            </a:r>
          </a:p>
        </p:txBody>
      </p:sp>
    </p:spTree>
    <p:extLst>
      <p:ext uri="{BB962C8B-B14F-4D97-AF65-F5344CB8AC3E}">
        <p14:creationId xmlns:p14="http://schemas.microsoft.com/office/powerpoint/2010/main" val="1152305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479A346-CD14-411A-AFB6-6934DCA382C6}"/>
              </a:ext>
            </a:extLst>
          </p:cNvPr>
          <p:cNvSpPr>
            <a:spLocks noGrp="1"/>
          </p:cNvSpPr>
          <p:nvPr/>
        </p:nvSpPr>
        <p:spPr>
          <a:xfrm>
            <a:off x="0" y="0"/>
            <a:ext cx="12192000" cy="6858000"/>
          </a:xfrm>
          <a:prstGeom prst="rect">
            <a:avLst/>
          </a:prstGeom>
          <a:solidFill>
            <a:srgbClr val="F7F3EA"/>
          </a:solidFill>
          <a:ln w="9525">
            <a:solidFill>
              <a:srgbClr val="F7F3EA"/>
            </a:solidFill>
          </a:ln>
        </p:spPr>
        <p:txBody>
          <a:bodyPr/>
          <a:lstStyle/>
          <a:p>
            <a:endParaRPr/>
          </a:p>
        </p:txBody>
      </p:sp>
      <p:sp>
        <p:nvSpPr>
          <p:cNvPr id="2" name="Rectangle 1">
            <a:extLst>
              <a:ext uri="{FF2B5EF4-FFF2-40B4-BE49-F238E27FC236}">
                <a16:creationId xmlns:a16="http://schemas.microsoft.com/office/drawing/2014/main" id="{B6129DDB-6D69-4CA7-A898-3289B0DC0648}"/>
              </a:ext>
            </a:extLst>
          </p:cNvPr>
          <p:cNvSpPr>
            <a:spLocks noGrp="1"/>
          </p:cNvSpPr>
          <p:nvPr/>
        </p:nvSpPr>
        <p:spPr>
          <a:xfrm>
            <a:off x="666750" y="400050"/>
            <a:ext cx="1619250" cy="238125"/>
          </a:xfrm>
          <a:prstGeom prst="rect">
            <a:avLst/>
          </a:prstGeom>
          <a:solidFill>
            <a:srgbClr val="15201B"/>
          </a:solidFill>
          <a:ln w="9525">
            <a:solidFill>
              <a:srgbClr val="15201B"/>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DAGENTS MAPPING</a:t>
            </a:r>
          </a:p>
        </p:txBody>
      </p:sp>
      <p:sp>
        <p:nvSpPr>
          <p:cNvPr id="3" name="Rectangle 2">
            <a:extLst>
              <a:ext uri="{FF2B5EF4-FFF2-40B4-BE49-F238E27FC236}">
                <a16:creationId xmlns:a16="http://schemas.microsoft.com/office/drawing/2014/main" id="{E37BB917-2BF2-4DEC-9B37-1BA2E428C27D}"/>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Dagents supplies the control plane around specialist federation.</a:t>
            </a:r>
          </a:p>
        </p:txBody>
      </p:sp>
      <p:sp>
        <p:nvSpPr>
          <p:cNvPr id="4" name="Rectangle 3">
            <a:extLst>
              <a:ext uri="{FF2B5EF4-FFF2-40B4-BE49-F238E27FC236}">
                <a16:creationId xmlns:a16="http://schemas.microsoft.com/office/drawing/2014/main" id="{24704B30-3E55-43AC-B117-A3BC57094B39}"/>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5E6B64"/>
                </a:solidFill>
                <a:latin typeface="Aptos"/>
                <a:ea typeface="Aptos"/>
                <a:cs typeface="Aptos"/>
              </a:defRPr>
            </a:pPr>
            <a:r>
              <a:rPr sz="1200" b="0">
                <a:solidFill>
                  <a:srgbClr val="5E6B64"/>
                </a:solidFill>
                <a:latin typeface="Aptos"/>
                <a:ea typeface="Aptos"/>
                <a:cs typeface="Aptos"/>
              </a:rPr>
              <a:t>Five framework capabilities compose the use case; no single service is the whole solution.</a:t>
            </a:r>
          </a:p>
        </p:txBody>
      </p:sp>
      <p:sp>
        <p:nvSpPr>
          <p:cNvPr id="5" name="Rounded Rectangle 4">
            <a:extLst>
              <a:ext uri="{FF2B5EF4-FFF2-40B4-BE49-F238E27FC236}">
                <a16:creationId xmlns:a16="http://schemas.microsoft.com/office/drawing/2014/main" id="{A13081A4-6899-453F-BDDB-D3AF6CA62CF7}"/>
              </a:ext>
            </a:extLst>
          </p:cNvPr>
          <p:cNvSpPr>
            <a:spLocks noGrp="1"/>
          </p:cNvSpPr>
          <p:nvPr/>
        </p:nvSpPr>
        <p:spPr>
          <a:xfrm>
            <a:off x="666750" y="2381249"/>
            <a:ext cx="2076450" cy="1685925"/>
          </a:xfrm>
          <a:prstGeom prst="roundRect">
            <a:avLst>
              <a:gd name="adj" fmla="val 2667"/>
            </a:avLst>
          </a:prstGeom>
          <a:solidFill>
            <a:srgbClr val="FFFFFF"/>
          </a:solidFill>
          <a:ln w="9525">
            <a:solidFill>
              <a:srgbClr val="D5CDBF"/>
            </a:solidFill>
          </a:ln>
        </p:spPr>
        <p:txBody>
          <a:bodyPr/>
          <a:lstStyle/>
          <a:p>
            <a:endParaRPr/>
          </a:p>
        </p:txBody>
      </p:sp>
      <p:sp>
        <p:nvSpPr>
          <p:cNvPr id="6" name="Rounded Rectangle 5">
            <a:extLst>
              <a:ext uri="{FF2B5EF4-FFF2-40B4-BE49-F238E27FC236}">
                <a16:creationId xmlns:a16="http://schemas.microsoft.com/office/drawing/2014/main" id="{E3E67488-16FF-4721-B16B-EED624647858}"/>
              </a:ext>
            </a:extLst>
          </p:cNvPr>
          <p:cNvSpPr>
            <a:spLocks noGrp="1"/>
          </p:cNvSpPr>
          <p:nvPr/>
        </p:nvSpPr>
        <p:spPr>
          <a:xfrm>
            <a:off x="666750" y="2381250"/>
            <a:ext cx="2076450" cy="361950"/>
          </a:xfrm>
          <a:prstGeom prst="roundRect">
            <a:avLst>
              <a:gd name="adj" fmla="val 10526"/>
            </a:avLst>
          </a:prstGeom>
          <a:solidFill>
            <a:srgbClr val="2E6F4E"/>
          </a:solidFill>
          <a:ln w="9525">
            <a:solidFill>
              <a:srgbClr val="2E6F4E"/>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LMA near the data</a:t>
            </a:r>
          </a:p>
        </p:txBody>
      </p:sp>
      <p:sp>
        <p:nvSpPr>
          <p:cNvPr id="7" name="Rectangle 6">
            <a:extLst>
              <a:ext uri="{FF2B5EF4-FFF2-40B4-BE49-F238E27FC236}">
                <a16:creationId xmlns:a16="http://schemas.microsoft.com/office/drawing/2014/main" id="{3FFA21E9-90FD-423B-94CD-5AE2604AE6C4}"/>
              </a:ext>
            </a:extLst>
          </p:cNvPr>
          <p:cNvSpPr>
            <a:spLocks noGrp="1"/>
          </p:cNvSpPr>
          <p:nvPr/>
        </p:nvSpPr>
        <p:spPr>
          <a:xfrm>
            <a:off x="819150" y="2895600"/>
            <a:ext cx="17716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Verify the job, build local features, train or evaluate, keep detailed evidence, and publish the minimum result.</a:t>
            </a:r>
          </a:p>
        </p:txBody>
      </p:sp>
      <p:sp>
        <p:nvSpPr>
          <p:cNvPr id="8" name="Rounded Rectangle 7">
            <a:extLst>
              <a:ext uri="{FF2B5EF4-FFF2-40B4-BE49-F238E27FC236}">
                <a16:creationId xmlns:a16="http://schemas.microsoft.com/office/drawing/2014/main" id="{BAEBE119-5A68-4F66-9ECE-171920DB925C}"/>
              </a:ext>
            </a:extLst>
          </p:cNvPr>
          <p:cNvSpPr>
            <a:spLocks noGrp="1"/>
          </p:cNvSpPr>
          <p:nvPr/>
        </p:nvSpPr>
        <p:spPr>
          <a:xfrm>
            <a:off x="2971800" y="2381250"/>
            <a:ext cx="2076450" cy="1685924"/>
          </a:xfrm>
          <a:prstGeom prst="roundRect">
            <a:avLst>
              <a:gd name="adj" fmla="val 2667"/>
            </a:avLst>
          </a:prstGeom>
          <a:solidFill>
            <a:srgbClr val="FFFFFF"/>
          </a:solidFill>
          <a:ln w="9525">
            <a:solidFill>
              <a:srgbClr val="D5CDBF"/>
            </a:solidFill>
          </a:ln>
        </p:spPr>
        <p:txBody>
          <a:bodyPr/>
          <a:lstStyle/>
          <a:p>
            <a:endParaRPr/>
          </a:p>
        </p:txBody>
      </p:sp>
      <p:sp>
        <p:nvSpPr>
          <p:cNvPr id="9" name="Rounded Rectangle 8">
            <a:extLst>
              <a:ext uri="{FF2B5EF4-FFF2-40B4-BE49-F238E27FC236}">
                <a16:creationId xmlns:a16="http://schemas.microsoft.com/office/drawing/2014/main" id="{D92C0DF7-A365-4208-97B7-95B9C2846808}"/>
              </a:ext>
            </a:extLst>
          </p:cNvPr>
          <p:cNvSpPr>
            <a:spLocks noGrp="1"/>
          </p:cNvSpPr>
          <p:nvPr/>
        </p:nvSpPr>
        <p:spPr>
          <a:xfrm>
            <a:off x="2971800" y="2381250"/>
            <a:ext cx="2076450" cy="361950"/>
          </a:xfrm>
          <a:prstGeom prst="roundRect">
            <a:avLst>
              <a:gd name="adj" fmla="val 10526"/>
            </a:avLst>
          </a:prstGeom>
          <a:solidFill>
            <a:srgbClr val="2D5B7C"/>
          </a:solidFill>
          <a:ln w="9525">
            <a:solidFill>
              <a:srgbClr val="2D5B7C"/>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Pipeline plans</a:t>
            </a:r>
          </a:p>
        </p:txBody>
      </p:sp>
      <p:sp>
        <p:nvSpPr>
          <p:cNvPr id="10" name="Rectangle 9">
            <a:extLst>
              <a:ext uri="{FF2B5EF4-FFF2-40B4-BE49-F238E27FC236}">
                <a16:creationId xmlns:a16="http://schemas.microsoft.com/office/drawing/2014/main" id="{D366C7E8-D30E-4F8F-A2A3-A470D4067A7E}"/>
              </a:ext>
            </a:extLst>
          </p:cNvPr>
          <p:cNvSpPr>
            <a:spLocks noGrp="1"/>
          </p:cNvSpPr>
          <p:nvPr/>
        </p:nvSpPr>
        <p:spPr>
          <a:xfrm>
            <a:off x="3124200" y="2895600"/>
            <a:ext cx="17716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Define repeatable readiness, training, evaluation, packaging, approval, rollout, and recovery steps.</a:t>
            </a:r>
          </a:p>
        </p:txBody>
      </p:sp>
      <p:sp>
        <p:nvSpPr>
          <p:cNvPr id="11" name="Rounded Rectangle 10">
            <a:extLst>
              <a:ext uri="{FF2B5EF4-FFF2-40B4-BE49-F238E27FC236}">
                <a16:creationId xmlns:a16="http://schemas.microsoft.com/office/drawing/2014/main" id="{E52E24A4-0141-4B37-8928-691636878792}"/>
              </a:ext>
            </a:extLst>
          </p:cNvPr>
          <p:cNvSpPr>
            <a:spLocks noGrp="1"/>
          </p:cNvSpPr>
          <p:nvPr/>
        </p:nvSpPr>
        <p:spPr>
          <a:xfrm>
            <a:off x="5276850" y="2381248"/>
            <a:ext cx="2076450" cy="1685925"/>
          </a:xfrm>
          <a:prstGeom prst="roundRect">
            <a:avLst>
              <a:gd name="adj" fmla="val 2667"/>
            </a:avLst>
          </a:prstGeom>
          <a:solidFill>
            <a:srgbClr val="FFFFFF"/>
          </a:solidFill>
          <a:ln w="9525">
            <a:solidFill>
              <a:srgbClr val="D5CDBF"/>
            </a:solidFill>
          </a:ln>
        </p:spPr>
        <p:txBody>
          <a:bodyPr/>
          <a:lstStyle/>
          <a:p>
            <a:endParaRPr/>
          </a:p>
        </p:txBody>
      </p:sp>
      <p:sp>
        <p:nvSpPr>
          <p:cNvPr id="12" name="Rounded Rectangle 11">
            <a:extLst>
              <a:ext uri="{FF2B5EF4-FFF2-40B4-BE49-F238E27FC236}">
                <a16:creationId xmlns:a16="http://schemas.microsoft.com/office/drawing/2014/main" id="{D7327AB3-C9C1-4F2A-A6D0-10D7A4A645FF}"/>
              </a:ext>
            </a:extLst>
          </p:cNvPr>
          <p:cNvSpPr>
            <a:spLocks noGrp="1"/>
          </p:cNvSpPr>
          <p:nvPr/>
        </p:nvSpPr>
        <p:spPr>
          <a:xfrm>
            <a:off x="5276850" y="2381250"/>
            <a:ext cx="2076450" cy="361950"/>
          </a:xfrm>
          <a:prstGeom prst="roundRect">
            <a:avLst>
              <a:gd name="adj" fmla="val 10526"/>
            </a:avLst>
          </a:prstGeom>
          <a:solidFill>
            <a:srgbClr val="A34D3E"/>
          </a:solidFill>
          <a:ln w="9525">
            <a:solidFill>
              <a:srgbClr val="A34D3E"/>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Federated engine</a:t>
            </a:r>
          </a:p>
        </p:txBody>
      </p:sp>
      <p:sp>
        <p:nvSpPr>
          <p:cNvPr id="13" name="Rectangle 12">
            <a:extLst>
              <a:ext uri="{FF2B5EF4-FFF2-40B4-BE49-F238E27FC236}">
                <a16:creationId xmlns:a16="http://schemas.microsoft.com/office/drawing/2014/main" id="{02D56E01-AE91-43A1-8163-B51B0EF3698D}"/>
              </a:ext>
            </a:extLst>
          </p:cNvPr>
          <p:cNvSpPr>
            <a:spLocks noGrp="1"/>
          </p:cNvSpPr>
          <p:nvPr/>
        </p:nvSpPr>
        <p:spPr>
          <a:xfrm>
            <a:off x="5429250" y="2895600"/>
            <a:ext cx="17716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Run FedAvg or another approved algorithm, secure aggregation, privacy mechanisms, and dropout handling.</a:t>
            </a:r>
          </a:p>
        </p:txBody>
      </p:sp>
      <p:sp>
        <p:nvSpPr>
          <p:cNvPr id="14" name="Rounded Rectangle 13">
            <a:extLst>
              <a:ext uri="{FF2B5EF4-FFF2-40B4-BE49-F238E27FC236}">
                <a16:creationId xmlns:a16="http://schemas.microsoft.com/office/drawing/2014/main" id="{DF730831-E735-4AF3-8B89-EC1D8BA5E7F2}"/>
              </a:ext>
            </a:extLst>
          </p:cNvPr>
          <p:cNvSpPr>
            <a:spLocks noGrp="1"/>
          </p:cNvSpPr>
          <p:nvPr/>
        </p:nvSpPr>
        <p:spPr>
          <a:xfrm>
            <a:off x="7581900" y="2381250"/>
            <a:ext cx="1771650" cy="1685924"/>
          </a:xfrm>
          <a:prstGeom prst="roundRect">
            <a:avLst>
              <a:gd name="adj" fmla="val 2667"/>
            </a:avLst>
          </a:prstGeom>
          <a:solidFill>
            <a:srgbClr val="FFFFFF"/>
          </a:solidFill>
          <a:ln w="9525">
            <a:solidFill>
              <a:srgbClr val="D5CDBF"/>
            </a:solidFill>
          </a:ln>
        </p:spPr>
        <p:txBody>
          <a:bodyPr/>
          <a:lstStyle/>
          <a:p>
            <a:endParaRPr/>
          </a:p>
        </p:txBody>
      </p:sp>
      <p:sp>
        <p:nvSpPr>
          <p:cNvPr id="15" name="Rounded Rectangle 14">
            <a:extLst>
              <a:ext uri="{FF2B5EF4-FFF2-40B4-BE49-F238E27FC236}">
                <a16:creationId xmlns:a16="http://schemas.microsoft.com/office/drawing/2014/main" id="{B84B2B6C-E9FC-4DAE-AEEF-1C30741DD9A8}"/>
              </a:ext>
            </a:extLst>
          </p:cNvPr>
          <p:cNvSpPr>
            <a:spLocks noGrp="1"/>
          </p:cNvSpPr>
          <p:nvPr/>
        </p:nvSpPr>
        <p:spPr>
          <a:xfrm>
            <a:off x="7581900" y="2381250"/>
            <a:ext cx="1771650" cy="361950"/>
          </a:xfrm>
          <a:prstGeom prst="roundRect">
            <a:avLst>
              <a:gd name="adj" fmla="val 10526"/>
            </a:avLst>
          </a:prstGeom>
          <a:solidFill>
            <a:srgbClr val="2E6F4E"/>
          </a:solidFill>
          <a:ln w="9525">
            <a:solidFill>
              <a:srgbClr val="2E6F4E"/>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Model registry</a:t>
            </a:r>
          </a:p>
        </p:txBody>
      </p:sp>
      <p:sp>
        <p:nvSpPr>
          <p:cNvPr id="16" name="Rectangle 15">
            <a:extLst>
              <a:ext uri="{FF2B5EF4-FFF2-40B4-BE49-F238E27FC236}">
                <a16:creationId xmlns:a16="http://schemas.microsoft.com/office/drawing/2014/main" id="{F3AE6955-92C1-481D-8741-E1B4ACD11D07}"/>
              </a:ext>
            </a:extLst>
          </p:cNvPr>
          <p:cNvSpPr>
            <a:spLocks noGrp="1"/>
          </p:cNvSpPr>
          <p:nvPr/>
        </p:nvSpPr>
        <p:spPr>
          <a:xfrm>
            <a:off x="7734300" y="2895600"/>
            <a:ext cx="14668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Store signed seeds, candidates, releases, code digests, feature contracts, evidence pointers, and rollback targets.</a:t>
            </a:r>
          </a:p>
        </p:txBody>
      </p:sp>
      <p:sp>
        <p:nvSpPr>
          <p:cNvPr id="17" name="Rounded Rectangle 16">
            <a:extLst>
              <a:ext uri="{FF2B5EF4-FFF2-40B4-BE49-F238E27FC236}">
                <a16:creationId xmlns:a16="http://schemas.microsoft.com/office/drawing/2014/main" id="{A7DFFB37-32AB-426D-936F-2F09D6103545}"/>
              </a:ext>
            </a:extLst>
          </p:cNvPr>
          <p:cNvSpPr>
            <a:spLocks noGrp="1"/>
          </p:cNvSpPr>
          <p:nvPr/>
        </p:nvSpPr>
        <p:spPr>
          <a:xfrm>
            <a:off x="9582150" y="2381249"/>
            <a:ext cx="1771650" cy="1685923"/>
          </a:xfrm>
          <a:prstGeom prst="roundRect">
            <a:avLst>
              <a:gd name="adj" fmla="val 2667"/>
            </a:avLst>
          </a:prstGeom>
          <a:solidFill>
            <a:srgbClr val="FFFFFF"/>
          </a:solidFill>
          <a:ln w="9525">
            <a:solidFill>
              <a:srgbClr val="D5CDBF"/>
            </a:solidFill>
          </a:ln>
        </p:spPr>
        <p:txBody>
          <a:bodyPr/>
          <a:lstStyle/>
          <a:p>
            <a:endParaRPr/>
          </a:p>
        </p:txBody>
      </p:sp>
      <p:sp>
        <p:nvSpPr>
          <p:cNvPr id="18" name="Rounded Rectangle 17">
            <a:extLst>
              <a:ext uri="{FF2B5EF4-FFF2-40B4-BE49-F238E27FC236}">
                <a16:creationId xmlns:a16="http://schemas.microsoft.com/office/drawing/2014/main" id="{07216B4A-3BF2-4504-852C-8A99711EC0E0}"/>
              </a:ext>
            </a:extLst>
          </p:cNvPr>
          <p:cNvSpPr>
            <a:spLocks noGrp="1"/>
          </p:cNvSpPr>
          <p:nvPr/>
        </p:nvSpPr>
        <p:spPr>
          <a:xfrm>
            <a:off x="9582150" y="2381250"/>
            <a:ext cx="1771650" cy="361950"/>
          </a:xfrm>
          <a:prstGeom prst="roundRect">
            <a:avLst>
              <a:gd name="adj" fmla="val 10526"/>
            </a:avLst>
          </a:prstGeom>
          <a:solidFill>
            <a:srgbClr val="2D5B7C"/>
          </a:solidFill>
          <a:ln w="9525">
            <a:solidFill>
              <a:srgbClr val="2D5B7C"/>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GMA + core</a:t>
            </a:r>
          </a:p>
        </p:txBody>
      </p:sp>
      <p:sp>
        <p:nvSpPr>
          <p:cNvPr id="19" name="Rectangle 18">
            <a:extLst>
              <a:ext uri="{FF2B5EF4-FFF2-40B4-BE49-F238E27FC236}">
                <a16:creationId xmlns:a16="http://schemas.microsoft.com/office/drawing/2014/main" id="{155BB77E-A396-45E8-81E6-0554EE3EAA7C}"/>
              </a:ext>
            </a:extLst>
          </p:cNvPr>
          <p:cNvSpPr>
            <a:spLocks noGrp="1"/>
          </p:cNvSpPr>
          <p:nvPr/>
        </p:nvSpPr>
        <p:spPr>
          <a:xfrm>
            <a:off x="9734550" y="2895600"/>
            <a:ext cx="14668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Register sites, plan rounds, compile workloads, coordinate release, monitor health, pause, and restore.</a:t>
            </a:r>
          </a:p>
        </p:txBody>
      </p:sp>
      <p:sp>
        <p:nvSpPr>
          <p:cNvPr id="20" name="Rectangle 19">
            <a:extLst>
              <a:ext uri="{FF2B5EF4-FFF2-40B4-BE49-F238E27FC236}">
                <a16:creationId xmlns:a16="http://schemas.microsoft.com/office/drawing/2014/main" id="{7E02936F-D2E1-4B65-BA8E-7DDEA9BF7168}"/>
              </a:ext>
            </a:extLst>
          </p:cNvPr>
          <p:cNvSpPr>
            <a:spLocks noGrp="1"/>
          </p:cNvSpPr>
          <p:nvPr/>
        </p:nvSpPr>
        <p:spPr>
          <a:xfrm>
            <a:off x="1257300" y="4524375"/>
            <a:ext cx="9620250" cy="742950"/>
          </a:xfrm>
          <a:prstGeom prst="rect">
            <a:avLst/>
          </a:prstGeom>
          <a:solidFill>
            <a:srgbClr val="ECE6D9"/>
          </a:solidFill>
          <a:ln w="9525">
            <a:solidFill>
              <a:srgbClr val="D5CDBF"/>
            </a:solidFill>
          </a:ln>
        </p:spPr>
        <p:txBody>
          <a:bodyPr lIns="95250" tIns="76200" rIns="95250" bIns="76200" anchor="ctr"/>
          <a:lstStyle/>
          <a:p>
            <a:pPr algn="ctr">
              <a:buNone/>
              <a:defRPr sz="1650" b="0">
                <a:solidFill>
                  <a:srgbClr val="15201B"/>
                </a:solidFill>
                <a:latin typeface="Aptos"/>
                <a:ea typeface="Aptos"/>
                <a:cs typeface="Aptos"/>
              </a:defRPr>
            </a:pPr>
            <a:r>
              <a:rPr sz="1650" b="0">
                <a:solidFill>
                  <a:srgbClr val="15201B"/>
                </a:solidFill>
                <a:latin typeface="Aptos"/>
                <a:ea typeface="Aptos"/>
                <a:cs typeface="Aptos"/>
              </a:rPr>
              <a:t>Controls across every step: identity, least privilege, minimum messages, signatures, retention, evidence, and human approval.</a:t>
            </a:r>
          </a:p>
        </p:txBody>
      </p:sp>
      <p:sp>
        <p:nvSpPr>
          <p:cNvPr id="21" name="Rectangle 20">
            <a:extLst>
              <a:ext uri="{FF2B5EF4-FFF2-40B4-BE49-F238E27FC236}">
                <a16:creationId xmlns:a16="http://schemas.microsoft.com/office/drawing/2014/main" id="{ED41F84D-20B4-45ED-993A-A1BBBB1ECECB}"/>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5E6B64"/>
                </a:solidFill>
                <a:latin typeface="Aptos"/>
                <a:ea typeface="Aptos"/>
                <a:cs typeface="Aptos"/>
              </a:defRPr>
            </a:pPr>
            <a:r>
              <a:rPr sz="825" b="0">
                <a:solidFill>
                  <a:srgbClr val="5E6B64"/>
                </a:solidFill>
                <a:latin typeface="Aptos"/>
                <a:ea typeface="Aptos"/>
                <a:cs typeface="Aptos"/>
              </a:rPr>
              <a:t>Dagents federation component map / 16</a:t>
            </a:r>
          </a:p>
        </p:txBody>
      </p:sp>
    </p:spTree>
    <p:extLst>
      <p:ext uri="{BB962C8B-B14F-4D97-AF65-F5344CB8AC3E}">
        <p14:creationId xmlns:p14="http://schemas.microsoft.com/office/powerpoint/2010/main" val="1579118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0E53F3A-15C4-4E87-B1FC-FD206D4F9D8E}"/>
              </a:ext>
            </a:extLst>
          </p:cNvPr>
          <p:cNvSpPr>
            <a:spLocks noGrp="1"/>
          </p:cNvSpPr>
          <p:nvPr/>
        </p:nvSpPr>
        <p:spPr>
          <a:xfrm>
            <a:off x="0" y="0"/>
            <a:ext cx="12192000" cy="6858000"/>
          </a:xfrm>
          <a:prstGeom prst="rect">
            <a:avLst/>
          </a:prstGeom>
          <a:solidFill>
            <a:srgbClr val="F7F3EA"/>
          </a:solidFill>
          <a:ln w="9525">
            <a:solidFill>
              <a:srgbClr val="F7F3EA"/>
            </a:solidFill>
          </a:ln>
        </p:spPr>
        <p:txBody>
          <a:bodyPr/>
          <a:lstStyle/>
          <a:p>
            <a:endParaRPr/>
          </a:p>
        </p:txBody>
      </p:sp>
      <p:sp>
        <p:nvSpPr>
          <p:cNvPr id="2" name="Rectangle 1">
            <a:extLst>
              <a:ext uri="{FF2B5EF4-FFF2-40B4-BE49-F238E27FC236}">
                <a16:creationId xmlns:a16="http://schemas.microsoft.com/office/drawing/2014/main" id="{AB784829-7899-4AD9-909A-707E198CB695}"/>
              </a:ext>
            </a:extLst>
          </p:cNvPr>
          <p:cNvSpPr>
            <a:spLocks noGrp="1"/>
          </p:cNvSpPr>
          <p:nvPr/>
        </p:nvSpPr>
        <p:spPr>
          <a:xfrm>
            <a:off x="666750" y="400050"/>
            <a:ext cx="1619250" cy="238125"/>
          </a:xfrm>
          <a:prstGeom prst="rect">
            <a:avLst/>
          </a:prstGeom>
          <a:solidFill>
            <a:srgbClr val="15201B"/>
          </a:solidFill>
          <a:ln w="9525">
            <a:solidFill>
              <a:srgbClr val="15201B"/>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DAGENTS + FLARE BOUNDARY</a:t>
            </a:r>
          </a:p>
        </p:txBody>
      </p:sp>
      <p:sp>
        <p:nvSpPr>
          <p:cNvPr id="3" name="Rectangle 2">
            <a:extLst>
              <a:ext uri="{FF2B5EF4-FFF2-40B4-BE49-F238E27FC236}">
                <a16:creationId xmlns:a16="http://schemas.microsoft.com/office/drawing/2014/main" id="{EEA7AFF5-32B7-4744-9598-EC73A05D2890}"/>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Dagents can sit above FLARE and beside it at each hospital.</a:t>
            </a:r>
          </a:p>
        </p:txBody>
      </p:sp>
      <p:sp>
        <p:nvSpPr>
          <p:cNvPr id="4" name="Rectangle 3">
            <a:extLst>
              <a:ext uri="{FF2B5EF4-FFF2-40B4-BE49-F238E27FC236}">
                <a16:creationId xmlns:a16="http://schemas.microsoft.com/office/drawing/2014/main" id="{270B3257-4C1E-4555-8FD9-857EDB8DB616}"/>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5E6B64"/>
                </a:solidFill>
                <a:latin typeface="Aptos"/>
                <a:ea typeface="Aptos"/>
                <a:cs typeface="Aptos"/>
              </a:defRPr>
            </a:pPr>
            <a:r>
              <a:rPr sz="1200" b="0">
                <a:solidFill>
                  <a:srgbClr val="5E6B64"/>
                </a:solidFill>
                <a:latin typeface="Aptos"/>
                <a:ea typeface="Aptos"/>
                <a:cs typeface="Aptos"/>
              </a:rPr>
              <a:t>Above: Dagents keeps stable healthcare contracts and release policy. Beside: the LMA gates local access while the FLARE client runs the federation protocol.</a:t>
            </a:r>
          </a:p>
        </p:txBody>
      </p:sp>
      <p:pic>
        <p:nvPicPr>
          <p:cNvPr id="14" name="Picture 4"/>
          <p:cNvPicPr>
            <a:picLocks noChangeAspect="1"/>
          </p:cNvPicPr>
          <p:nvPr/>
        </p:nvPicPr>
        <p:blipFill>
          <a:blip r:embed="rId3"/>
          <a:stretch/>
        </p:blipFill>
        <p:spPr>
          <a:xfrm>
            <a:off x="0" y="0"/>
            <a:ext cx="9525" cy="9525"/>
          </a:xfrm>
          <a:prstGeom prst="rect">
            <a:avLst/>
          </a:prstGeom>
        </p:spPr>
      </p:pic>
      <p:sp>
        <p:nvSpPr>
          <p:cNvPr id="6" name="Rectangle 5">
            <a:extLst>
              <a:ext uri="{FF2B5EF4-FFF2-40B4-BE49-F238E27FC236}">
                <a16:creationId xmlns:a16="http://schemas.microsoft.com/office/drawing/2014/main" id="{AF9A9093-40E4-42D4-AA15-CBE19544F380}"/>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5E6B64"/>
                </a:solidFill>
                <a:latin typeface="Aptos"/>
                <a:ea typeface="Aptos"/>
                <a:cs typeface="Aptos"/>
              </a:defRPr>
            </a:pPr>
            <a:r>
              <a:rPr sz="825" b="0">
                <a:solidFill>
                  <a:srgbClr val="5E6B64"/>
                </a:solidFill>
                <a:latin typeface="Aptos"/>
                <a:ea typeface="Aptos"/>
                <a:cs typeface="Aptos"/>
              </a:rPr>
              <a:t>Runtime abstraction and hospital boundary / 17</a:t>
            </a:r>
          </a:p>
        </p:txBody>
      </p:sp>
      <p:pic>
        <p:nvPicPr>
          <p:cNvPr id="16" name="Picture 15"/>
          <p:cNvPicPr>
            <a:picLocks noChangeAspect="1"/>
          </p:cNvPicPr>
          <p:nvPr/>
        </p:nvPicPr>
        <p:blipFill>
          <a:blip r:embed="rId4"/>
          <a:stretch/>
        </p:blipFill>
        <p:spPr>
          <a:xfrm>
            <a:off x="2991390" y="1952625"/>
            <a:ext cx="6209219" cy="4191000"/>
          </a:xfrm>
          <a:prstGeom prst="rect">
            <a:avLst/>
          </a:prstGeom>
        </p:spPr>
      </p:pic>
    </p:spTree>
    <p:extLst>
      <p:ext uri="{BB962C8B-B14F-4D97-AF65-F5344CB8AC3E}">
        <p14:creationId xmlns:p14="http://schemas.microsoft.com/office/powerpoint/2010/main" val="738132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8DBD12-B4E5-4D50-862A-EE95276939B5}"/>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DAGENTS + FLARE</a:t>
            </a:r>
          </a:p>
        </p:txBody>
      </p:sp>
      <p:sp>
        <p:nvSpPr>
          <p:cNvPr id="3" name="TextBox 2">
            <a:extLst>
              <a:ext uri="{FF2B5EF4-FFF2-40B4-BE49-F238E27FC236}">
                <a16:creationId xmlns:a16="http://schemas.microsoft.com/office/drawing/2014/main" id="{4CA5135A-B7C2-4A3F-A4B9-1A19657118BC}"/>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Dagents and FLARE work together at different layers.</a:t>
            </a:r>
          </a:p>
        </p:txBody>
      </p:sp>
      <p:sp>
        <p:nvSpPr>
          <p:cNvPr id="4" name="TextBox 3">
            <a:extLst>
              <a:ext uri="{FF2B5EF4-FFF2-40B4-BE49-F238E27FC236}">
                <a16:creationId xmlns:a16="http://schemas.microsoft.com/office/drawing/2014/main" id="{144F016E-D41B-49E9-9DA2-D7111539AAC2}"/>
              </a:ext>
            </a:extLst>
          </p:cNvPr>
          <p:cNvSpPr>
            <a:spLocks noGrp="1"/>
          </p:cNvSpPr>
          <p:nvPr/>
        </p:nvSpPr>
        <p:spPr>
          <a:xfrm>
            <a:off x="566928" y="1225296"/>
            <a:ext cx="9784080" cy="411480"/>
          </a:xfrm>
          <a:prstGeom prst="rect">
            <a:avLst/>
          </a:prstGeom>
          <a:noFill/>
        </p:spPr>
        <p:txBody>
          <a:bodyPr wrap="square">
            <a:spAutoFit/>
          </a:bodyPr>
          <a:lstStyle/>
          <a:p>
            <a:pPr algn="l">
              <a:buNone/>
            </a:pPr>
            <a:r>
              <a:rPr sz="1400" b="0">
                <a:solidFill>
                  <a:srgbClr val="53635B"/>
                </a:solidFill>
                <a:latin typeface="Aptos"/>
                <a:ea typeface="Aptos"/>
                <a:cs typeface="Aptos"/>
              </a:rPr>
              <a:t>Dagents keeps one healthcare contract. Adapters translate it to FLARE or another approved runtime.</a:t>
            </a:r>
          </a:p>
        </p:txBody>
      </p:sp>
      <p:sp>
        <p:nvSpPr>
          <p:cNvPr id="5" name="Rectangle 4">
            <a:extLst>
              <a:ext uri="{FF2B5EF4-FFF2-40B4-BE49-F238E27FC236}">
                <a16:creationId xmlns:a16="http://schemas.microsoft.com/office/drawing/2014/main" id="{9CE8E996-E424-4293-8C1C-AF9D6E1AB446}"/>
              </a:ext>
            </a:extLst>
          </p:cNvPr>
          <p:cNvSpPr>
            <a:spLocks noGrp="1"/>
          </p:cNvSpPr>
          <p:nvPr/>
        </p:nvSpPr>
        <p:spPr>
          <a:xfrm>
            <a:off x="502920" y="1627632"/>
            <a:ext cx="2888589"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15342B3-FAB8-43E7-96EC-D556D6737311}"/>
              </a:ext>
            </a:extLst>
          </p:cNvPr>
          <p:cNvSpPr>
            <a:spLocks noGrp="1"/>
          </p:cNvSpPr>
          <p:nvPr/>
        </p:nvSpPr>
        <p:spPr>
          <a:xfrm>
            <a:off x="576072" y="1700784"/>
            <a:ext cx="2742285" cy="644652"/>
          </a:xfrm>
          <a:prstGeom prst="rect">
            <a:avLst/>
          </a:prstGeom>
          <a:noFill/>
        </p:spPr>
        <p:txBody>
          <a:bodyPr wrap="square">
            <a:spAutoFit/>
          </a:bodyPr>
          <a:lstStyle/>
          <a:p>
            <a:pPr algn="l">
              <a:buNone/>
            </a:pPr>
            <a:r>
              <a:rPr sz="1100" b="1">
                <a:solidFill>
                  <a:srgbClr val="15201B"/>
                </a:solidFill>
                <a:latin typeface="Aptos"/>
                <a:ea typeface="Aptos"/>
                <a:cs typeface="Aptos"/>
              </a:rPr>
              <a:t>Question</a:t>
            </a:r>
          </a:p>
        </p:txBody>
      </p:sp>
      <p:sp>
        <p:nvSpPr>
          <p:cNvPr id="7" name="Rectangle 6">
            <a:extLst>
              <a:ext uri="{FF2B5EF4-FFF2-40B4-BE49-F238E27FC236}">
                <a16:creationId xmlns:a16="http://schemas.microsoft.com/office/drawing/2014/main" id="{352CF242-7638-4E68-8FA8-D78A0F42581E}"/>
              </a:ext>
            </a:extLst>
          </p:cNvPr>
          <p:cNvSpPr>
            <a:spLocks noGrp="1"/>
          </p:cNvSpPr>
          <p:nvPr/>
        </p:nvSpPr>
        <p:spPr>
          <a:xfrm>
            <a:off x="3391509" y="1627632"/>
            <a:ext cx="4110685"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CF779A8A-1ADC-407D-865C-BB8D994150C0}"/>
              </a:ext>
            </a:extLst>
          </p:cNvPr>
          <p:cNvSpPr>
            <a:spLocks noGrp="1"/>
          </p:cNvSpPr>
          <p:nvPr/>
        </p:nvSpPr>
        <p:spPr>
          <a:xfrm>
            <a:off x="3464661" y="1700784"/>
            <a:ext cx="3964381" cy="644652"/>
          </a:xfrm>
          <a:prstGeom prst="rect">
            <a:avLst/>
          </a:prstGeom>
          <a:noFill/>
        </p:spPr>
        <p:txBody>
          <a:bodyPr wrap="square">
            <a:spAutoFit/>
          </a:bodyPr>
          <a:lstStyle/>
          <a:p>
            <a:pPr algn="l">
              <a:buNone/>
            </a:pPr>
            <a:r>
              <a:rPr sz="1100" b="1">
                <a:solidFill>
                  <a:srgbClr val="15201B"/>
                </a:solidFill>
                <a:latin typeface="Aptos"/>
                <a:ea typeface="Aptos"/>
                <a:cs typeface="Aptos"/>
              </a:rPr>
              <a:t>NVIDIA FLARE</a:t>
            </a:r>
          </a:p>
        </p:txBody>
      </p:sp>
      <p:sp>
        <p:nvSpPr>
          <p:cNvPr id="9" name="Rectangle 8">
            <a:extLst>
              <a:ext uri="{FF2B5EF4-FFF2-40B4-BE49-F238E27FC236}">
                <a16:creationId xmlns:a16="http://schemas.microsoft.com/office/drawing/2014/main" id="{87467CD7-205E-45FC-9D3C-702CF1606E65}"/>
              </a:ext>
            </a:extLst>
          </p:cNvPr>
          <p:cNvSpPr>
            <a:spLocks noGrp="1"/>
          </p:cNvSpPr>
          <p:nvPr/>
        </p:nvSpPr>
        <p:spPr>
          <a:xfrm>
            <a:off x="7502194" y="1627632"/>
            <a:ext cx="4110685"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2D5641A-7A5E-448B-8A7F-B80482867BF1}"/>
              </a:ext>
            </a:extLst>
          </p:cNvPr>
          <p:cNvSpPr>
            <a:spLocks noGrp="1"/>
          </p:cNvSpPr>
          <p:nvPr/>
        </p:nvSpPr>
        <p:spPr>
          <a:xfrm>
            <a:off x="7575346" y="1700784"/>
            <a:ext cx="3964381" cy="644652"/>
          </a:xfrm>
          <a:prstGeom prst="rect">
            <a:avLst/>
          </a:prstGeom>
          <a:noFill/>
        </p:spPr>
        <p:txBody>
          <a:bodyPr wrap="square">
            <a:spAutoFit/>
          </a:bodyPr>
          <a:lstStyle/>
          <a:p>
            <a:pPr algn="l">
              <a:buNone/>
            </a:pPr>
            <a:r>
              <a:rPr sz="1100" b="1">
                <a:solidFill>
                  <a:srgbClr val="15201B"/>
                </a:solidFill>
                <a:latin typeface="Aptos"/>
                <a:ea typeface="Aptos"/>
                <a:cs typeface="Aptos"/>
              </a:rPr>
              <a:t>Dagents</a:t>
            </a:r>
          </a:p>
        </p:txBody>
      </p:sp>
      <p:sp>
        <p:nvSpPr>
          <p:cNvPr id="11" name="Rectangle 10">
            <a:extLst>
              <a:ext uri="{FF2B5EF4-FFF2-40B4-BE49-F238E27FC236}">
                <a16:creationId xmlns:a16="http://schemas.microsoft.com/office/drawing/2014/main" id="{60FEFA45-D8D3-4A9C-96A4-DF0C960481D7}"/>
              </a:ext>
            </a:extLst>
          </p:cNvPr>
          <p:cNvSpPr>
            <a:spLocks noGrp="1"/>
          </p:cNvSpPr>
          <p:nvPr/>
        </p:nvSpPr>
        <p:spPr>
          <a:xfrm>
            <a:off x="502920" y="238201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0780A78-0661-4E04-B7B9-70E32540089F}"/>
              </a:ext>
            </a:extLst>
          </p:cNvPr>
          <p:cNvSpPr>
            <a:spLocks noGrp="1"/>
          </p:cNvSpPr>
          <p:nvPr/>
        </p:nvSpPr>
        <p:spPr>
          <a:xfrm>
            <a:off x="576072" y="245516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Primary job?</a:t>
            </a:r>
          </a:p>
        </p:txBody>
      </p:sp>
      <p:sp>
        <p:nvSpPr>
          <p:cNvPr id="13" name="Rectangle 12">
            <a:extLst>
              <a:ext uri="{FF2B5EF4-FFF2-40B4-BE49-F238E27FC236}">
                <a16:creationId xmlns:a16="http://schemas.microsoft.com/office/drawing/2014/main" id="{ED1933A7-9FF4-435B-B5FF-A7C3853C93C5}"/>
              </a:ext>
            </a:extLst>
          </p:cNvPr>
          <p:cNvSpPr>
            <a:spLocks noGrp="1"/>
          </p:cNvSpPr>
          <p:nvPr/>
        </p:nvSpPr>
        <p:spPr>
          <a:xfrm>
            <a:off x="3391509" y="238201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1842238-9A3F-4E78-B85C-E0D55061F392}"/>
              </a:ext>
            </a:extLst>
          </p:cNvPr>
          <p:cNvSpPr>
            <a:spLocks noGrp="1"/>
          </p:cNvSpPr>
          <p:nvPr/>
        </p:nvSpPr>
        <p:spPr>
          <a:xfrm>
            <a:off x="3464661" y="245516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Run the federation protocol: controller, tasks, clients, aggregation, and supported privacy workflows</a:t>
            </a:r>
          </a:p>
        </p:txBody>
      </p:sp>
      <p:sp>
        <p:nvSpPr>
          <p:cNvPr id="15" name="Rectangle 14">
            <a:extLst>
              <a:ext uri="{FF2B5EF4-FFF2-40B4-BE49-F238E27FC236}">
                <a16:creationId xmlns:a16="http://schemas.microsoft.com/office/drawing/2014/main" id="{98451E3A-FC4E-40B7-BC28-6148F8CF2167}"/>
              </a:ext>
            </a:extLst>
          </p:cNvPr>
          <p:cNvSpPr>
            <a:spLocks noGrp="1"/>
          </p:cNvSpPr>
          <p:nvPr/>
        </p:nvSpPr>
        <p:spPr>
          <a:xfrm>
            <a:off x="7502194" y="238201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7274E3E5-309C-446F-98C9-71A8971D04D0}"/>
              </a:ext>
            </a:extLst>
          </p:cNvPr>
          <p:cNvSpPr>
            <a:spLocks noGrp="1"/>
          </p:cNvSpPr>
          <p:nvPr/>
        </p:nvSpPr>
        <p:spPr>
          <a:xfrm>
            <a:off x="7575346" y="245516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Define the use case, eligible sites, signed round contract, evidence, release, and rollback</a:t>
            </a:r>
          </a:p>
        </p:txBody>
      </p:sp>
      <p:sp>
        <p:nvSpPr>
          <p:cNvPr id="17" name="Rectangle 16">
            <a:extLst>
              <a:ext uri="{FF2B5EF4-FFF2-40B4-BE49-F238E27FC236}">
                <a16:creationId xmlns:a16="http://schemas.microsoft.com/office/drawing/2014/main" id="{845E18DC-73DC-4E75-9B6E-E9FD5FA926E0}"/>
              </a:ext>
            </a:extLst>
          </p:cNvPr>
          <p:cNvSpPr>
            <a:spLocks noGrp="1"/>
          </p:cNvSpPr>
          <p:nvPr/>
        </p:nvSpPr>
        <p:spPr>
          <a:xfrm>
            <a:off x="502920" y="313639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118314E-8CA6-45E6-9DB4-5A0A01FE4EF5}"/>
              </a:ext>
            </a:extLst>
          </p:cNvPr>
          <p:cNvSpPr>
            <a:spLocks noGrp="1"/>
          </p:cNvSpPr>
          <p:nvPr/>
        </p:nvSpPr>
        <p:spPr>
          <a:xfrm>
            <a:off x="576072" y="320954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Inside a hospital?</a:t>
            </a:r>
          </a:p>
        </p:txBody>
      </p:sp>
      <p:sp>
        <p:nvSpPr>
          <p:cNvPr id="19" name="Rectangle 18">
            <a:extLst>
              <a:ext uri="{FF2B5EF4-FFF2-40B4-BE49-F238E27FC236}">
                <a16:creationId xmlns:a16="http://schemas.microsoft.com/office/drawing/2014/main" id="{0AD4F55D-7290-4A1A-B1AA-1202B3E96581}"/>
              </a:ext>
            </a:extLst>
          </p:cNvPr>
          <p:cNvSpPr>
            <a:spLocks noGrp="1"/>
          </p:cNvSpPr>
          <p:nvPr/>
        </p:nvSpPr>
        <p:spPr>
          <a:xfrm>
            <a:off x="3391509" y="313639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579DA9AE-C9EA-4E8B-99E2-9C3D9CA6335A}"/>
              </a:ext>
            </a:extLst>
          </p:cNvPr>
          <p:cNvSpPr>
            <a:spLocks noGrp="1"/>
          </p:cNvSpPr>
          <p:nvPr/>
        </p:nvSpPr>
        <p:spPr>
          <a:xfrm>
            <a:off x="3464661" y="320954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Client API or Executor connects the protocol to local model code</a:t>
            </a:r>
          </a:p>
        </p:txBody>
      </p:sp>
      <p:sp>
        <p:nvSpPr>
          <p:cNvPr id="21" name="Rectangle 20">
            <a:extLst>
              <a:ext uri="{FF2B5EF4-FFF2-40B4-BE49-F238E27FC236}">
                <a16:creationId xmlns:a16="http://schemas.microsoft.com/office/drawing/2014/main" id="{3859F6ED-810F-4C83-86D5-41384E8BEAFA}"/>
              </a:ext>
            </a:extLst>
          </p:cNvPr>
          <p:cNvSpPr>
            <a:spLocks noGrp="1"/>
          </p:cNvSpPr>
          <p:nvPr/>
        </p:nvSpPr>
        <p:spPr>
          <a:xfrm>
            <a:off x="7502194" y="313639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BA3B850-E077-4340-B122-134E8C1E3C94}"/>
              </a:ext>
            </a:extLst>
          </p:cNvPr>
          <p:cNvSpPr>
            <a:spLocks noGrp="1"/>
          </p:cNvSpPr>
          <p:nvPr/>
        </p:nvSpPr>
        <p:spPr>
          <a:xfrm>
            <a:off x="7575346" y="320954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LMA approves the job and source view, then keeps detailed local evidence</a:t>
            </a:r>
          </a:p>
        </p:txBody>
      </p:sp>
      <p:sp>
        <p:nvSpPr>
          <p:cNvPr id="23" name="Rectangle 22">
            <a:extLst>
              <a:ext uri="{FF2B5EF4-FFF2-40B4-BE49-F238E27FC236}">
                <a16:creationId xmlns:a16="http://schemas.microsoft.com/office/drawing/2014/main" id="{80906D7F-DE00-4FB9-B671-BE04D37B5AED}"/>
              </a:ext>
            </a:extLst>
          </p:cNvPr>
          <p:cNvSpPr>
            <a:spLocks noGrp="1"/>
          </p:cNvSpPr>
          <p:nvPr/>
        </p:nvSpPr>
        <p:spPr>
          <a:xfrm>
            <a:off x="502920" y="389077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42AE019-BFA0-4AA7-AF8E-95A18B590175}"/>
              </a:ext>
            </a:extLst>
          </p:cNvPr>
          <p:cNvSpPr>
            <a:spLocks noGrp="1"/>
          </p:cNvSpPr>
          <p:nvPr/>
        </p:nvSpPr>
        <p:spPr>
          <a:xfrm>
            <a:off x="576072" y="396392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Across hospitals?</a:t>
            </a:r>
          </a:p>
        </p:txBody>
      </p:sp>
      <p:sp>
        <p:nvSpPr>
          <p:cNvPr id="25" name="Rectangle 24">
            <a:extLst>
              <a:ext uri="{FF2B5EF4-FFF2-40B4-BE49-F238E27FC236}">
                <a16:creationId xmlns:a16="http://schemas.microsoft.com/office/drawing/2014/main" id="{41EAF58D-8638-4C52-B131-4FB895092805}"/>
              </a:ext>
            </a:extLst>
          </p:cNvPr>
          <p:cNvSpPr>
            <a:spLocks noGrp="1"/>
          </p:cNvSpPr>
          <p:nvPr/>
        </p:nvSpPr>
        <p:spPr>
          <a:xfrm>
            <a:off x="3391509" y="389077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CF9B0E1-A2E7-48D6-802D-BFA82A23E450}"/>
              </a:ext>
            </a:extLst>
          </p:cNvPr>
          <p:cNvSpPr>
            <a:spLocks noGrp="1"/>
          </p:cNvSpPr>
          <p:nvPr/>
        </p:nvSpPr>
        <p:spPr>
          <a:xfrm>
            <a:off x="3464661" y="396392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Controller dispatches tasks, collects contributions, and builds a candidate</a:t>
            </a:r>
          </a:p>
        </p:txBody>
      </p:sp>
      <p:sp>
        <p:nvSpPr>
          <p:cNvPr id="27" name="Rectangle 26">
            <a:extLst>
              <a:ext uri="{FF2B5EF4-FFF2-40B4-BE49-F238E27FC236}">
                <a16:creationId xmlns:a16="http://schemas.microsoft.com/office/drawing/2014/main" id="{B247C103-7BCD-4BBF-8FED-74868A3C3695}"/>
              </a:ext>
            </a:extLst>
          </p:cNvPr>
          <p:cNvSpPr>
            <a:spLocks noGrp="1"/>
          </p:cNvSpPr>
          <p:nvPr/>
        </p:nvSpPr>
        <p:spPr>
          <a:xfrm>
            <a:off x="7502194" y="389077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B7EA3D92-36D0-4F25-8F70-B08D576FB91C}"/>
              </a:ext>
            </a:extLst>
          </p:cNvPr>
          <p:cNvSpPr>
            <a:spLocks noGrp="1"/>
          </p:cNvSpPr>
          <p:nvPr/>
        </p:nvSpPr>
        <p:spPr>
          <a:xfrm>
            <a:off x="7575346" y="396392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GMA sets quorum and stop rules, records the round, and governs the result contract</a:t>
            </a:r>
          </a:p>
        </p:txBody>
      </p:sp>
      <p:sp>
        <p:nvSpPr>
          <p:cNvPr id="29" name="Rectangle 28">
            <a:extLst>
              <a:ext uri="{FF2B5EF4-FFF2-40B4-BE49-F238E27FC236}">
                <a16:creationId xmlns:a16="http://schemas.microsoft.com/office/drawing/2014/main" id="{F6C8D755-973E-4DFA-A9BB-4D1561BC8F2D}"/>
              </a:ext>
            </a:extLst>
          </p:cNvPr>
          <p:cNvSpPr>
            <a:spLocks noGrp="1"/>
          </p:cNvSpPr>
          <p:nvPr/>
        </p:nvSpPr>
        <p:spPr>
          <a:xfrm>
            <a:off x="502920" y="464515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0838EB1B-F066-4BCF-8C4F-5B2A81D6B611}"/>
              </a:ext>
            </a:extLst>
          </p:cNvPr>
          <p:cNvSpPr>
            <a:spLocks noGrp="1"/>
          </p:cNvSpPr>
          <p:nvPr/>
        </p:nvSpPr>
        <p:spPr>
          <a:xfrm>
            <a:off x="576072" y="471830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What is produced?</a:t>
            </a:r>
          </a:p>
        </p:txBody>
      </p:sp>
      <p:sp>
        <p:nvSpPr>
          <p:cNvPr id="31" name="Rectangle 30">
            <a:extLst>
              <a:ext uri="{FF2B5EF4-FFF2-40B4-BE49-F238E27FC236}">
                <a16:creationId xmlns:a16="http://schemas.microsoft.com/office/drawing/2014/main" id="{CB14006E-D9C0-4D92-BA26-C2AE0D7838DF}"/>
              </a:ext>
            </a:extLst>
          </p:cNvPr>
          <p:cNvSpPr>
            <a:spLocks noGrp="1"/>
          </p:cNvSpPr>
          <p:nvPr/>
        </p:nvSpPr>
        <p:spPr>
          <a:xfrm>
            <a:off x="3391509" y="464515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7BC6A327-84A3-4C0C-92BA-5BF7E6A77F30}"/>
              </a:ext>
            </a:extLst>
          </p:cNvPr>
          <p:cNvSpPr>
            <a:spLocks noGrp="1"/>
          </p:cNvSpPr>
          <p:nvPr/>
        </p:nvSpPr>
        <p:spPr>
          <a:xfrm>
            <a:off x="3464661" y="471830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Candidate model plus runtime status and validation support</a:t>
            </a:r>
          </a:p>
        </p:txBody>
      </p:sp>
      <p:sp>
        <p:nvSpPr>
          <p:cNvPr id="33" name="Rectangle 32">
            <a:extLst>
              <a:ext uri="{FF2B5EF4-FFF2-40B4-BE49-F238E27FC236}">
                <a16:creationId xmlns:a16="http://schemas.microsoft.com/office/drawing/2014/main" id="{0C8831F0-7FE8-4CE5-9F5C-AC01B1C74153}"/>
              </a:ext>
            </a:extLst>
          </p:cNvPr>
          <p:cNvSpPr>
            <a:spLocks noGrp="1"/>
          </p:cNvSpPr>
          <p:nvPr/>
        </p:nvSpPr>
        <p:spPr>
          <a:xfrm>
            <a:off x="7502194" y="464515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D9BC41C7-12CA-49DD-B21A-2842B470EEA6}"/>
              </a:ext>
            </a:extLst>
          </p:cNvPr>
          <p:cNvSpPr>
            <a:spLocks noGrp="1"/>
          </p:cNvSpPr>
          <p:nvPr/>
        </p:nvSpPr>
        <p:spPr>
          <a:xfrm>
            <a:off x="7575346" y="471830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Governed candidate and evidence package; human approval remains separate</a:t>
            </a:r>
          </a:p>
        </p:txBody>
      </p:sp>
      <p:sp>
        <p:nvSpPr>
          <p:cNvPr id="35" name="Rectangle 34">
            <a:extLst>
              <a:ext uri="{FF2B5EF4-FFF2-40B4-BE49-F238E27FC236}">
                <a16:creationId xmlns:a16="http://schemas.microsoft.com/office/drawing/2014/main" id="{8C08C939-B03B-40D8-A0AC-F9FECE411770}"/>
              </a:ext>
            </a:extLst>
          </p:cNvPr>
          <p:cNvSpPr>
            <a:spLocks noGrp="1"/>
          </p:cNvSpPr>
          <p:nvPr/>
        </p:nvSpPr>
        <p:spPr>
          <a:xfrm>
            <a:off x="502920" y="539953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20428393-C352-48CE-8EE3-95676E46C147}"/>
              </a:ext>
            </a:extLst>
          </p:cNvPr>
          <p:cNvSpPr>
            <a:spLocks noGrp="1"/>
          </p:cNvSpPr>
          <p:nvPr/>
        </p:nvSpPr>
        <p:spPr>
          <a:xfrm>
            <a:off x="576072" y="547268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Can the runtime change?</a:t>
            </a:r>
          </a:p>
        </p:txBody>
      </p:sp>
      <p:sp>
        <p:nvSpPr>
          <p:cNvPr id="37" name="Rectangle 36">
            <a:extLst>
              <a:ext uri="{FF2B5EF4-FFF2-40B4-BE49-F238E27FC236}">
                <a16:creationId xmlns:a16="http://schemas.microsoft.com/office/drawing/2014/main" id="{89B7E1E8-B494-4075-9967-EAC444533778}"/>
              </a:ext>
            </a:extLst>
          </p:cNvPr>
          <p:cNvSpPr>
            <a:spLocks noGrp="1"/>
          </p:cNvSpPr>
          <p:nvPr/>
        </p:nvSpPr>
        <p:spPr>
          <a:xfrm>
            <a:off x="3391509" y="539953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DDCB4B39-747E-485F-8D7F-1DA41FF4926A}"/>
              </a:ext>
            </a:extLst>
          </p:cNvPr>
          <p:cNvSpPr>
            <a:spLocks noGrp="1"/>
          </p:cNvSpPr>
          <p:nvPr/>
        </p:nvSpPr>
        <p:spPr>
          <a:xfrm>
            <a:off x="3464661" y="547268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Runtime-specific job, controller, and client APIs</a:t>
            </a:r>
          </a:p>
        </p:txBody>
      </p:sp>
      <p:sp>
        <p:nvSpPr>
          <p:cNvPr id="39" name="Rectangle 38">
            <a:extLst>
              <a:ext uri="{FF2B5EF4-FFF2-40B4-BE49-F238E27FC236}">
                <a16:creationId xmlns:a16="http://schemas.microsoft.com/office/drawing/2014/main" id="{A146F475-A664-45DE-8E1A-8D68FE14EB33}"/>
              </a:ext>
            </a:extLst>
          </p:cNvPr>
          <p:cNvSpPr>
            <a:spLocks noGrp="1"/>
          </p:cNvSpPr>
          <p:nvPr/>
        </p:nvSpPr>
        <p:spPr>
          <a:xfrm>
            <a:off x="7502194" y="539953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E4A41FF-3F45-423C-AE62-D1955E617499}"/>
              </a:ext>
            </a:extLst>
          </p:cNvPr>
          <p:cNvSpPr>
            <a:spLocks noGrp="1"/>
          </p:cNvSpPr>
          <p:nvPr/>
        </p:nvSpPr>
        <p:spPr>
          <a:xfrm>
            <a:off x="7575346" y="547268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Stable contracts can map to FLARE now or another approved runtime later</a:t>
            </a:r>
          </a:p>
        </p:txBody>
      </p:sp>
      <p:sp>
        <p:nvSpPr>
          <p:cNvPr id="41" name="TextBox 40">
            <a:extLst>
              <a:ext uri="{FF2B5EF4-FFF2-40B4-BE49-F238E27FC236}">
                <a16:creationId xmlns:a16="http://schemas.microsoft.com/office/drawing/2014/main" id="{E75FBFE2-8640-4A2C-801D-9487E96EEB43}"/>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Design rule: do not rebuild FLARE inside GMA, and do not ask FLARE to replace Dagents governance. / 18</a:t>
            </a:r>
          </a:p>
        </p:txBody>
      </p:sp>
    </p:spTree>
    <p:extLst>
      <p:ext uri="{BB962C8B-B14F-4D97-AF65-F5344CB8AC3E}">
        <p14:creationId xmlns:p14="http://schemas.microsoft.com/office/powerpoint/2010/main" val="1134147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D648CF-CF55-43A3-BA43-EB8791CF677F}"/>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COMPLIANCE + SAFETY</a:t>
            </a:r>
          </a:p>
        </p:txBody>
      </p:sp>
      <p:sp>
        <p:nvSpPr>
          <p:cNvPr id="3" name="TextBox 2">
            <a:extLst>
              <a:ext uri="{FF2B5EF4-FFF2-40B4-BE49-F238E27FC236}">
                <a16:creationId xmlns:a16="http://schemas.microsoft.com/office/drawing/2014/main" id="{4DCB496F-1310-475C-A519-C8BA8F24DD53}"/>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Less data movement does not equal compliance.</a:t>
            </a:r>
          </a:p>
        </p:txBody>
      </p:sp>
      <p:sp>
        <p:nvSpPr>
          <p:cNvPr id="4" name="TextBox 3">
            <a:extLst>
              <a:ext uri="{FF2B5EF4-FFF2-40B4-BE49-F238E27FC236}">
                <a16:creationId xmlns:a16="http://schemas.microsoft.com/office/drawing/2014/main" id="{D95AC7B1-6DBE-4302-9E28-BB63F1715338}"/>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Technical controls help, but hospitals and the consortium still own policy, operations, clinical evidence, and accountable decisions.</a:t>
            </a:r>
          </a:p>
        </p:txBody>
      </p:sp>
      <p:sp>
        <p:nvSpPr>
          <p:cNvPr id="5" name="Rounded Rectangle 4">
            <a:extLst>
              <a:ext uri="{FF2B5EF4-FFF2-40B4-BE49-F238E27FC236}">
                <a16:creationId xmlns:a16="http://schemas.microsoft.com/office/drawing/2014/main" id="{7F423318-1869-493B-A37C-9D8807C2FB93}"/>
              </a:ext>
            </a:extLst>
          </p:cNvPr>
          <p:cNvSpPr>
            <a:spLocks noGrp="1"/>
          </p:cNvSpPr>
          <p:nvPr/>
        </p:nvSpPr>
        <p:spPr>
          <a:xfrm>
            <a:off x="746760" y="2043152"/>
            <a:ext cx="3291840" cy="20574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A090CC2-FE5E-4144-BAB1-0D654DEF05B0}"/>
              </a:ext>
            </a:extLst>
          </p:cNvPr>
          <p:cNvSpPr>
            <a:spLocks noGrp="1"/>
          </p:cNvSpPr>
          <p:nvPr/>
        </p:nvSpPr>
        <p:spPr>
          <a:xfrm>
            <a:off x="911352" y="2189456"/>
            <a:ext cx="2971800" cy="320040"/>
          </a:xfrm>
          <a:prstGeom prst="rect">
            <a:avLst/>
          </a:prstGeom>
          <a:noFill/>
        </p:spPr>
        <p:txBody>
          <a:bodyPr wrap="square">
            <a:spAutoFit/>
          </a:bodyPr>
          <a:lstStyle/>
          <a:p>
            <a:pPr algn="l">
              <a:buNone/>
            </a:pPr>
            <a:r>
              <a:rPr sz="1500" b="1">
                <a:solidFill>
                  <a:srgbClr val="15201B"/>
                </a:solidFill>
                <a:latin typeface="Aptos"/>
                <a:ea typeface="Aptos"/>
                <a:cs typeface="Aptos"/>
              </a:rPr>
              <a:t>HIPAA</a:t>
            </a:r>
          </a:p>
        </p:txBody>
      </p:sp>
      <p:sp>
        <p:nvSpPr>
          <p:cNvPr id="7" name="TextBox 6">
            <a:extLst>
              <a:ext uri="{FF2B5EF4-FFF2-40B4-BE49-F238E27FC236}">
                <a16:creationId xmlns:a16="http://schemas.microsoft.com/office/drawing/2014/main" id="{172B981C-D1C5-43B3-ACBD-9791320C0E2A}"/>
              </a:ext>
            </a:extLst>
          </p:cNvPr>
          <p:cNvSpPr>
            <a:spLocks noGrp="1"/>
          </p:cNvSpPr>
          <p:nvPr/>
        </p:nvSpPr>
        <p:spPr>
          <a:xfrm>
            <a:off x="911352" y="2573504"/>
            <a:ext cx="2971800" cy="1399032"/>
          </a:xfrm>
          <a:prstGeom prst="rect">
            <a:avLst/>
          </a:prstGeom>
          <a:noFill/>
        </p:spPr>
        <p:txBody>
          <a:bodyPr wrap="square">
            <a:spAutoFit/>
          </a:bodyPr>
          <a:lstStyle/>
          <a:p>
            <a:pPr algn="l">
              <a:buNone/>
            </a:pPr>
            <a:r>
              <a:rPr sz="1200" b="0">
                <a:solidFill>
                  <a:srgbClr val="53635B"/>
                </a:solidFill>
                <a:latin typeface="Aptos"/>
                <a:ea typeface="Aptos"/>
                <a:cs typeface="Aptos"/>
              </a:rPr>
              <a:t>Keeping records local can reduce copies. Teams still need approved purpose, minimum-necessary decisions, access control, encryption, BAAs, retention, audit, risk analysis, and incident response.</a:t>
            </a:r>
          </a:p>
        </p:txBody>
      </p:sp>
      <p:sp>
        <p:nvSpPr>
          <p:cNvPr id="8" name="Rounded Rectangle 7">
            <a:extLst>
              <a:ext uri="{FF2B5EF4-FFF2-40B4-BE49-F238E27FC236}">
                <a16:creationId xmlns:a16="http://schemas.microsoft.com/office/drawing/2014/main" id="{78914DE6-27C2-4D94-B667-557896AC0B67}"/>
              </a:ext>
            </a:extLst>
          </p:cNvPr>
          <p:cNvSpPr>
            <a:spLocks noGrp="1"/>
          </p:cNvSpPr>
          <p:nvPr/>
        </p:nvSpPr>
        <p:spPr>
          <a:xfrm>
            <a:off x="4450080" y="2043152"/>
            <a:ext cx="3291840" cy="20574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CB7709-14E5-4061-8DC5-0E6C77010337}"/>
              </a:ext>
            </a:extLst>
          </p:cNvPr>
          <p:cNvSpPr>
            <a:spLocks noGrp="1"/>
          </p:cNvSpPr>
          <p:nvPr/>
        </p:nvSpPr>
        <p:spPr>
          <a:xfrm>
            <a:off x="4614671" y="2189456"/>
            <a:ext cx="2971800" cy="320040"/>
          </a:xfrm>
          <a:prstGeom prst="rect">
            <a:avLst/>
          </a:prstGeom>
          <a:noFill/>
        </p:spPr>
        <p:txBody>
          <a:bodyPr wrap="square">
            <a:spAutoFit/>
          </a:bodyPr>
          <a:lstStyle/>
          <a:p>
            <a:pPr algn="l">
              <a:buNone/>
            </a:pPr>
            <a:r>
              <a:rPr sz="1500" b="1">
                <a:solidFill>
                  <a:srgbClr val="15201B"/>
                </a:solidFill>
                <a:latin typeface="Aptos"/>
                <a:ea typeface="Aptos"/>
                <a:cs typeface="Aptos"/>
              </a:rPr>
              <a:t>SOC 2</a:t>
            </a:r>
          </a:p>
        </p:txBody>
      </p:sp>
      <p:sp>
        <p:nvSpPr>
          <p:cNvPr id="10" name="TextBox 9">
            <a:extLst>
              <a:ext uri="{FF2B5EF4-FFF2-40B4-BE49-F238E27FC236}">
                <a16:creationId xmlns:a16="http://schemas.microsoft.com/office/drawing/2014/main" id="{78CE9E10-F8E5-4106-95F5-F683B86639AB}"/>
              </a:ext>
            </a:extLst>
          </p:cNvPr>
          <p:cNvSpPr>
            <a:spLocks noGrp="1"/>
          </p:cNvSpPr>
          <p:nvPr/>
        </p:nvSpPr>
        <p:spPr>
          <a:xfrm>
            <a:off x="4614671" y="2573504"/>
            <a:ext cx="2971800" cy="1399032"/>
          </a:xfrm>
          <a:prstGeom prst="rect">
            <a:avLst/>
          </a:prstGeom>
          <a:noFill/>
        </p:spPr>
        <p:txBody>
          <a:bodyPr wrap="square">
            <a:spAutoFit/>
          </a:bodyPr>
          <a:lstStyle/>
          <a:p>
            <a:pPr algn="l">
              <a:buNone/>
            </a:pPr>
            <a:r>
              <a:rPr sz="1200" b="0">
                <a:solidFill>
                  <a:srgbClr val="53635B"/>
                </a:solidFill>
                <a:latin typeface="Aptos"/>
                <a:ea typeface="Aptos"/>
                <a:cs typeface="Aptos"/>
              </a:rPr>
              <a:t>Dagents can produce health, change, and recovery evidence. The organization still needs control owners, access reviews, change management, availability targets, vendor risk work, and an independent examination.</a:t>
            </a:r>
          </a:p>
        </p:txBody>
      </p:sp>
      <p:sp>
        <p:nvSpPr>
          <p:cNvPr id="11" name="Rounded Rectangle 10">
            <a:extLst>
              <a:ext uri="{FF2B5EF4-FFF2-40B4-BE49-F238E27FC236}">
                <a16:creationId xmlns:a16="http://schemas.microsoft.com/office/drawing/2014/main" id="{46B04290-7355-4C3D-A11F-9C147701D543}"/>
              </a:ext>
            </a:extLst>
          </p:cNvPr>
          <p:cNvSpPr>
            <a:spLocks noGrp="1"/>
          </p:cNvSpPr>
          <p:nvPr/>
        </p:nvSpPr>
        <p:spPr>
          <a:xfrm>
            <a:off x="8153400" y="2043152"/>
            <a:ext cx="3291840" cy="20574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E90F19C-CA8E-4655-950F-AAC22240870F}"/>
              </a:ext>
            </a:extLst>
          </p:cNvPr>
          <p:cNvSpPr>
            <a:spLocks noGrp="1"/>
          </p:cNvSpPr>
          <p:nvPr/>
        </p:nvSpPr>
        <p:spPr>
          <a:xfrm>
            <a:off x="8317992" y="2189456"/>
            <a:ext cx="2971800" cy="320040"/>
          </a:xfrm>
          <a:prstGeom prst="rect">
            <a:avLst/>
          </a:prstGeom>
          <a:noFill/>
        </p:spPr>
        <p:txBody>
          <a:bodyPr wrap="square">
            <a:spAutoFit/>
          </a:bodyPr>
          <a:lstStyle/>
          <a:p>
            <a:pPr algn="l">
              <a:buNone/>
            </a:pPr>
            <a:r>
              <a:rPr sz="1500" b="1">
                <a:solidFill>
                  <a:srgbClr val="15201B"/>
                </a:solidFill>
                <a:latin typeface="Aptos"/>
                <a:ea typeface="Aptos"/>
                <a:cs typeface="Aptos"/>
              </a:rPr>
              <a:t>CLINICAL AI SAFETY</a:t>
            </a:r>
          </a:p>
        </p:txBody>
      </p:sp>
      <p:sp>
        <p:nvSpPr>
          <p:cNvPr id="13" name="TextBox 12">
            <a:extLst>
              <a:ext uri="{FF2B5EF4-FFF2-40B4-BE49-F238E27FC236}">
                <a16:creationId xmlns:a16="http://schemas.microsoft.com/office/drawing/2014/main" id="{9E4295D3-D8DF-4565-A41A-39801B37A06F}"/>
              </a:ext>
            </a:extLst>
          </p:cNvPr>
          <p:cNvSpPr>
            <a:spLocks noGrp="1"/>
          </p:cNvSpPr>
          <p:nvPr/>
        </p:nvSpPr>
        <p:spPr>
          <a:xfrm>
            <a:off x="8317992" y="2573504"/>
            <a:ext cx="2971800" cy="1399032"/>
          </a:xfrm>
          <a:prstGeom prst="rect">
            <a:avLst/>
          </a:prstGeom>
          <a:noFill/>
        </p:spPr>
        <p:txBody>
          <a:bodyPr wrap="square">
            <a:spAutoFit/>
          </a:bodyPr>
          <a:lstStyle/>
          <a:p>
            <a:pPr algn="l">
              <a:buNone/>
            </a:pPr>
            <a:r>
              <a:rPr sz="1200" b="0">
                <a:solidFill>
                  <a:srgbClr val="53635B"/>
                </a:solidFill>
                <a:latin typeface="Aptos"/>
                <a:ea typeface="Aptos"/>
                <a:cs typeface="Aptos"/>
              </a:rPr>
              <a:t>Each stroke-triage model needs a defined intended use, site and group validation, usability testing, clinician authority, monitoring, rollback, and regulatory analysis before care use.</a:t>
            </a:r>
          </a:p>
        </p:txBody>
      </p:sp>
      <p:sp>
        <p:nvSpPr>
          <p:cNvPr id="14" name="TextBox 13">
            <a:extLst>
              <a:ext uri="{FF2B5EF4-FFF2-40B4-BE49-F238E27FC236}">
                <a16:creationId xmlns:a16="http://schemas.microsoft.com/office/drawing/2014/main" id="{78F717F3-1A00-49A6-B673-1840A77E5987}"/>
              </a:ext>
            </a:extLst>
          </p:cNvPr>
          <p:cNvSpPr>
            <a:spLocks noGrp="1"/>
          </p:cNvSpPr>
          <p:nvPr/>
        </p:nvSpPr>
        <p:spPr>
          <a:xfrm>
            <a:off x="911352" y="5285232"/>
            <a:ext cx="10241280" cy="914400"/>
          </a:xfrm>
          <a:prstGeom prst="rect">
            <a:avLst/>
          </a:prstGeom>
          <a:noFill/>
        </p:spPr>
        <p:txBody>
          <a:bodyPr wrap="square">
            <a:spAutoFit/>
          </a:bodyPr>
          <a:lstStyle/>
          <a:p>
            <a:pPr>
              <a:buNone/>
              <a:defRPr sz="1600">
                <a:solidFill>
                  <a:srgbClr val="15201B"/>
                </a:solidFill>
                <a:latin typeface="Aptos"/>
                <a:ea typeface="Aptos"/>
                <a:cs typeface="Aptos"/>
              </a:defRPr>
            </a:pPr>
            <a:r>
              <a:rPr dirty="0"/>
              <a:t>Federated architecture is a control choice—not legal, audit, privacy, or medical approval / 15</a:t>
            </a:r>
          </a:p>
        </p:txBody>
      </p:sp>
    </p:spTree>
    <p:extLst>
      <p:ext uri="{BB962C8B-B14F-4D97-AF65-F5344CB8AC3E}">
        <p14:creationId xmlns:p14="http://schemas.microsoft.com/office/powerpoint/2010/main" val="11568938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7D1158-DC0C-4870-9A1F-691F8C825EE8}"/>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ROUND SAFETY GATES</a:t>
            </a:r>
          </a:p>
        </p:txBody>
      </p:sp>
      <p:sp>
        <p:nvSpPr>
          <p:cNvPr id="3" name="TextBox 2">
            <a:extLst>
              <a:ext uri="{FF2B5EF4-FFF2-40B4-BE49-F238E27FC236}">
                <a16:creationId xmlns:a16="http://schemas.microsoft.com/office/drawing/2014/main" id="{84656273-0838-4E98-9C35-87AA81425751}"/>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Four gates must pass before a round changes the model.</a:t>
            </a:r>
          </a:p>
        </p:txBody>
      </p:sp>
      <p:sp>
        <p:nvSpPr>
          <p:cNvPr id="4" name="TextBox 3">
            <a:extLst>
              <a:ext uri="{FF2B5EF4-FFF2-40B4-BE49-F238E27FC236}">
                <a16:creationId xmlns:a16="http://schemas.microsoft.com/office/drawing/2014/main" id="{54FDD751-E4A4-4D59-8F78-D01EFE7D22D5}"/>
              </a:ext>
            </a:extLst>
          </p:cNvPr>
          <p:cNvSpPr>
            <a:spLocks noGrp="1"/>
          </p:cNvSpPr>
          <p:nvPr/>
        </p:nvSpPr>
        <p:spPr>
          <a:xfrm>
            <a:off x="566928" y="1225296"/>
            <a:ext cx="9784080" cy="411480"/>
          </a:xfrm>
          <a:prstGeom prst="rect">
            <a:avLst/>
          </a:prstGeom>
          <a:noFill/>
        </p:spPr>
        <p:txBody>
          <a:bodyPr wrap="square">
            <a:spAutoFit/>
          </a:bodyPr>
          <a:lstStyle/>
          <a:p>
            <a:pPr algn="l">
              <a:buNone/>
            </a:pPr>
            <a:r>
              <a:rPr sz="1400" b="0">
                <a:solidFill>
                  <a:srgbClr val="53635B"/>
                </a:solidFill>
                <a:latin typeface="Aptos"/>
                <a:ea typeface="Aptos"/>
                <a:cs typeface="Aptos"/>
              </a:rPr>
              <a:t>Any failure cancels the candidate, records the reason, and keeps the current release in service.</a:t>
            </a:r>
          </a:p>
        </p:txBody>
      </p:sp>
      <p:sp>
        <p:nvSpPr>
          <p:cNvPr id="5" name="Rounded Rectangle 4">
            <a:extLst>
              <a:ext uri="{FF2B5EF4-FFF2-40B4-BE49-F238E27FC236}">
                <a16:creationId xmlns:a16="http://schemas.microsoft.com/office/drawing/2014/main" id="{4FE36FB3-EF4F-4471-8C0C-A6391FFA5999}"/>
              </a:ext>
            </a:extLst>
          </p:cNvPr>
          <p:cNvSpPr>
            <a:spLocks noGrp="1"/>
          </p:cNvSpPr>
          <p:nvPr/>
        </p:nvSpPr>
        <p:spPr>
          <a:xfrm>
            <a:off x="685800" y="1874519"/>
            <a:ext cx="2423160" cy="256032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C154123-D6D6-43E5-8E10-D9956C94BDCE}"/>
              </a:ext>
            </a:extLst>
          </p:cNvPr>
          <p:cNvSpPr>
            <a:spLocks noGrp="1"/>
          </p:cNvSpPr>
          <p:nvPr/>
        </p:nvSpPr>
        <p:spPr>
          <a:xfrm>
            <a:off x="85039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1. SCOPE + SITE</a:t>
            </a:r>
          </a:p>
        </p:txBody>
      </p:sp>
      <p:sp>
        <p:nvSpPr>
          <p:cNvPr id="7" name="TextBox 6">
            <a:extLst>
              <a:ext uri="{FF2B5EF4-FFF2-40B4-BE49-F238E27FC236}">
                <a16:creationId xmlns:a16="http://schemas.microsoft.com/office/drawing/2014/main" id="{10E5C917-0DA9-4A9D-81A2-91E6CAEF835A}"/>
              </a:ext>
            </a:extLst>
          </p:cNvPr>
          <p:cNvSpPr>
            <a:spLocks noGrp="1"/>
          </p:cNvSpPr>
          <p:nvPr/>
        </p:nvSpPr>
        <p:spPr>
          <a:xfrm>
            <a:off x="85039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Is the hospital, condition, patient group, seed version, feature contract, and purpose approved?</a:t>
            </a:r>
          </a:p>
        </p:txBody>
      </p:sp>
      <p:sp>
        <p:nvSpPr>
          <p:cNvPr id="8" name="TextBox 7">
            <a:extLst>
              <a:ext uri="{FF2B5EF4-FFF2-40B4-BE49-F238E27FC236}">
                <a16:creationId xmlns:a16="http://schemas.microsoft.com/office/drawing/2014/main" id="{283583F2-18F8-47B5-B953-1BE32838718A}"/>
              </a:ext>
            </a:extLst>
          </p:cNvPr>
          <p:cNvSpPr>
            <a:spLocks noGrp="1"/>
          </p:cNvSpPr>
          <p:nvPr/>
        </p:nvSpPr>
        <p:spPr>
          <a:xfrm>
            <a:off x="315468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9" name="Rounded Rectangle 8">
            <a:extLst>
              <a:ext uri="{FF2B5EF4-FFF2-40B4-BE49-F238E27FC236}">
                <a16:creationId xmlns:a16="http://schemas.microsoft.com/office/drawing/2014/main" id="{B7B06795-DCE9-4C8D-B015-25CADBD41A99}"/>
              </a:ext>
            </a:extLst>
          </p:cNvPr>
          <p:cNvSpPr>
            <a:spLocks noGrp="1"/>
          </p:cNvSpPr>
          <p:nvPr/>
        </p:nvSpPr>
        <p:spPr>
          <a:xfrm>
            <a:off x="3474720" y="1874519"/>
            <a:ext cx="2423160" cy="256032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B360983-67AA-4183-B04A-ACC05DF791ED}"/>
              </a:ext>
            </a:extLst>
          </p:cNvPr>
          <p:cNvSpPr>
            <a:spLocks noGrp="1"/>
          </p:cNvSpPr>
          <p:nvPr/>
        </p:nvSpPr>
        <p:spPr>
          <a:xfrm>
            <a:off x="363931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2. CODE + DATA</a:t>
            </a:r>
          </a:p>
        </p:txBody>
      </p:sp>
      <p:sp>
        <p:nvSpPr>
          <p:cNvPr id="11" name="TextBox 10">
            <a:extLst>
              <a:ext uri="{FF2B5EF4-FFF2-40B4-BE49-F238E27FC236}">
                <a16:creationId xmlns:a16="http://schemas.microsoft.com/office/drawing/2014/main" id="{B4D09C7A-CE49-4C0C-BAB7-7F16C2331F9C}"/>
              </a:ext>
            </a:extLst>
          </p:cNvPr>
          <p:cNvSpPr>
            <a:spLocks noGrp="1"/>
          </p:cNvSpPr>
          <p:nvPr/>
        </p:nvSpPr>
        <p:spPr>
          <a:xfrm>
            <a:off x="363931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Did the hospital verify the signer and code hash? Are units, cohort, labels, freshness, and quality acceptable?</a:t>
            </a:r>
          </a:p>
        </p:txBody>
      </p:sp>
      <p:sp>
        <p:nvSpPr>
          <p:cNvPr id="12" name="TextBox 11">
            <a:extLst>
              <a:ext uri="{FF2B5EF4-FFF2-40B4-BE49-F238E27FC236}">
                <a16:creationId xmlns:a16="http://schemas.microsoft.com/office/drawing/2014/main" id="{388FFCDD-207D-447E-AD8D-0C3AEB782266}"/>
              </a:ext>
            </a:extLst>
          </p:cNvPr>
          <p:cNvSpPr>
            <a:spLocks noGrp="1"/>
          </p:cNvSpPr>
          <p:nvPr/>
        </p:nvSpPr>
        <p:spPr>
          <a:xfrm>
            <a:off x="594360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3" name="Rounded Rectangle 12">
            <a:extLst>
              <a:ext uri="{FF2B5EF4-FFF2-40B4-BE49-F238E27FC236}">
                <a16:creationId xmlns:a16="http://schemas.microsoft.com/office/drawing/2014/main" id="{0F266D72-A8AA-4D4D-B477-7E6D7F171E6D}"/>
              </a:ext>
            </a:extLst>
          </p:cNvPr>
          <p:cNvSpPr>
            <a:spLocks noGrp="1"/>
          </p:cNvSpPr>
          <p:nvPr/>
        </p:nvSpPr>
        <p:spPr>
          <a:xfrm>
            <a:off x="6263640" y="1874519"/>
            <a:ext cx="2423160" cy="256032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C4BA714-596E-48B7-B7FB-8173266FCE0E}"/>
              </a:ext>
            </a:extLst>
          </p:cNvPr>
          <p:cNvSpPr>
            <a:spLocks noGrp="1"/>
          </p:cNvSpPr>
          <p:nvPr/>
        </p:nvSpPr>
        <p:spPr>
          <a:xfrm>
            <a:off x="6428231"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3. PRIVACY</a:t>
            </a:r>
          </a:p>
        </p:txBody>
      </p:sp>
      <p:sp>
        <p:nvSpPr>
          <p:cNvPr id="15" name="TextBox 14">
            <a:extLst>
              <a:ext uri="{FF2B5EF4-FFF2-40B4-BE49-F238E27FC236}">
                <a16:creationId xmlns:a16="http://schemas.microsoft.com/office/drawing/2014/main" id="{7A1A9390-FE67-4674-85D7-F68E58244653}"/>
              </a:ext>
            </a:extLst>
          </p:cNvPr>
          <p:cNvSpPr>
            <a:spLocks noGrp="1"/>
          </p:cNvSpPr>
          <p:nvPr/>
        </p:nvSpPr>
        <p:spPr>
          <a:xfrm>
            <a:off x="642823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Are contributions bounded, participant threshold met, egress allowed, and aggregation/privacy settings correct?</a:t>
            </a:r>
          </a:p>
        </p:txBody>
      </p:sp>
      <p:sp>
        <p:nvSpPr>
          <p:cNvPr id="16" name="TextBox 15">
            <a:extLst>
              <a:ext uri="{FF2B5EF4-FFF2-40B4-BE49-F238E27FC236}">
                <a16:creationId xmlns:a16="http://schemas.microsoft.com/office/drawing/2014/main" id="{FD7B0A54-6410-4C3C-9E18-B02B32C485DB}"/>
              </a:ext>
            </a:extLst>
          </p:cNvPr>
          <p:cNvSpPr>
            <a:spLocks noGrp="1"/>
          </p:cNvSpPr>
          <p:nvPr/>
        </p:nvSpPr>
        <p:spPr>
          <a:xfrm>
            <a:off x="873252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7" name="Rounded Rectangle 16">
            <a:extLst>
              <a:ext uri="{FF2B5EF4-FFF2-40B4-BE49-F238E27FC236}">
                <a16:creationId xmlns:a16="http://schemas.microsoft.com/office/drawing/2014/main" id="{507F04C6-72CF-4D13-82CA-222128D1F2CF}"/>
              </a:ext>
            </a:extLst>
          </p:cNvPr>
          <p:cNvSpPr>
            <a:spLocks noGrp="1"/>
          </p:cNvSpPr>
          <p:nvPr/>
        </p:nvSpPr>
        <p:spPr>
          <a:xfrm>
            <a:off x="9052559" y="1874519"/>
            <a:ext cx="2423160" cy="256032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EE6E707-0227-4865-8B3F-1C65728A0F1A}"/>
              </a:ext>
            </a:extLst>
          </p:cNvPr>
          <p:cNvSpPr>
            <a:spLocks noGrp="1"/>
          </p:cNvSpPr>
          <p:nvPr/>
        </p:nvSpPr>
        <p:spPr>
          <a:xfrm>
            <a:off x="9217151"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4. RELEASE</a:t>
            </a:r>
          </a:p>
        </p:txBody>
      </p:sp>
      <p:sp>
        <p:nvSpPr>
          <p:cNvPr id="19" name="TextBox 18">
            <a:extLst>
              <a:ext uri="{FF2B5EF4-FFF2-40B4-BE49-F238E27FC236}">
                <a16:creationId xmlns:a16="http://schemas.microsoft.com/office/drawing/2014/main" id="{8A8E6459-BE37-4D1A-BC1C-440076936B49}"/>
              </a:ext>
            </a:extLst>
          </p:cNvPr>
          <p:cNvSpPr>
            <a:spLocks noGrp="1"/>
          </p:cNvSpPr>
          <p:nvPr/>
        </p:nvSpPr>
        <p:spPr>
          <a:xfrm>
            <a:off x="921715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Did every site evaluation, subgroup, security, clinical, canary, and rollback check pass?</a:t>
            </a:r>
          </a:p>
        </p:txBody>
      </p:sp>
      <p:sp>
        <p:nvSpPr>
          <p:cNvPr id="20" name="TextBox 19">
            <a:extLst>
              <a:ext uri="{FF2B5EF4-FFF2-40B4-BE49-F238E27FC236}">
                <a16:creationId xmlns:a16="http://schemas.microsoft.com/office/drawing/2014/main" id="{3E002B24-9FFE-495E-9B87-E5DD1FE8718C}"/>
              </a:ext>
            </a:extLst>
          </p:cNvPr>
          <p:cNvSpPr>
            <a:spLocks noGrp="1"/>
          </p:cNvSpPr>
          <p:nvPr/>
        </p:nvSpPr>
        <p:spPr>
          <a:xfrm>
            <a:off x="914400" y="4800600"/>
            <a:ext cx="9875520" cy="822960"/>
          </a:xfrm>
          <a:prstGeom prst="rect">
            <a:avLst/>
          </a:prstGeom>
          <a:noFill/>
        </p:spPr>
        <p:txBody>
          <a:bodyPr wrap="square">
            <a:spAutoFit/>
          </a:bodyPr>
          <a:lstStyle/>
          <a:p>
            <a:pPr>
              <a:buNone/>
              <a:defRPr sz="1500">
                <a:solidFill>
                  <a:srgbClr val="15201B"/>
                </a:solidFill>
                <a:latin typeface="Aptos"/>
                <a:ea typeface="Aptos"/>
                <a:cs typeface="Aptos"/>
              </a:defRPr>
            </a:pPr>
            <a:r>
              <a:t>A successful aggregation is only a candidate—not permission to deploy.</a:t>
            </a:r>
          </a:p>
        </p:txBody>
      </p:sp>
      <p:sp>
        <p:nvSpPr>
          <p:cNvPr id="21" name="TextBox 20">
            <a:extLst>
              <a:ext uri="{FF2B5EF4-FFF2-40B4-BE49-F238E27FC236}">
                <a16:creationId xmlns:a16="http://schemas.microsoft.com/office/drawing/2014/main" id="{85564141-C074-4DC7-BBE3-D0FC1209659F}"/>
              </a:ext>
            </a:extLst>
          </p:cNvPr>
          <p:cNvSpPr>
            <a:spLocks noGrp="1"/>
          </p:cNvSpPr>
          <p:nvPr/>
        </p:nvSpPr>
        <p:spPr>
          <a:xfrm>
            <a:off x="566928" y="6355080"/>
            <a:ext cx="3657600" cy="228600"/>
          </a:xfrm>
          <a:prstGeom prst="rect">
            <a:avLst/>
          </a:prstGeom>
          <a:noFill/>
        </p:spPr>
        <p:txBody>
          <a:bodyPr wrap="square">
            <a:spAutoFit/>
          </a:bodyPr>
          <a:lstStyle/>
          <a:p>
            <a:pPr algn="l">
              <a:buNone/>
            </a:pPr>
            <a:r>
              <a:rPr sz="800" b="0">
                <a:solidFill>
                  <a:srgbClr val="53635B"/>
                </a:solidFill>
                <a:latin typeface="Aptos"/>
                <a:ea typeface="Aptos"/>
                <a:cs typeface="Aptos"/>
              </a:rPr>
              <a:t>Federated safety gates / 20</a:t>
            </a:r>
          </a:p>
        </p:txBody>
      </p:sp>
    </p:spTree>
    <p:extLst>
      <p:ext uri="{BB962C8B-B14F-4D97-AF65-F5344CB8AC3E}">
        <p14:creationId xmlns:p14="http://schemas.microsoft.com/office/powerpoint/2010/main" val="1530383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8DBD12-B4E5-4D50-862A-EE95276939B5}"/>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CHOICE</a:t>
            </a:r>
          </a:p>
        </p:txBody>
      </p:sp>
      <p:sp>
        <p:nvSpPr>
          <p:cNvPr id="3" name="TextBox 2">
            <a:extLst>
              <a:ext uri="{FF2B5EF4-FFF2-40B4-BE49-F238E27FC236}">
                <a16:creationId xmlns:a16="http://schemas.microsoft.com/office/drawing/2014/main" id="{4CA5135A-B7C2-4A3F-A4B9-1A19657118BC}"/>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Why Dagents over a framework or SaaS alone?</a:t>
            </a:r>
          </a:p>
        </p:txBody>
      </p:sp>
      <p:sp>
        <p:nvSpPr>
          <p:cNvPr id="4" name="TextBox 3">
            <a:extLst>
              <a:ext uri="{FF2B5EF4-FFF2-40B4-BE49-F238E27FC236}">
                <a16:creationId xmlns:a16="http://schemas.microsoft.com/office/drawing/2014/main" id="{144F016E-D41B-49E9-9DA2-D7111539AAC2}"/>
              </a:ext>
            </a:extLst>
          </p:cNvPr>
          <p:cNvSpPr>
            <a:spLocks noGrp="1"/>
          </p:cNvSpPr>
          <p:nvPr/>
        </p:nvSpPr>
        <p:spPr>
          <a:xfrm>
            <a:off x="566928" y="1225296"/>
            <a:ext cx="9784080" cy="411480"/>
          </a:xfrm>
          <a:prstGeom prst="rect">
            <a:avLst/>
          </a:prstGeom>
          <a:noFill/>
        </p:spPr>
        <p:txBody>
          <a:bodyPr wrap="square">
            <a:spAutoFit/>
          </a:bodyPr>
          <a:lstStyle/>
          <a:p>
            <a:pPr algn="l">
              <a:buNone/>
            </a:pPr>
            <a:r>
              <a:rPr sz="1400" b="0">
                <a:solidFill>
                  <a:srgbClr val="53635B"/>
                </a:solidFill>
                <a:latin typeface="Aptos"/>
                <a:ea typeface="Aptos"/>
                <a:cs typeface="Aptos"/>
              </a:rPr>
              <a:t>Best fit: Dagents supplies reusable control and release governance around a specialist federated-learning engine.</a:t>
            </a:r>
          </a:p>
        </p:txBody>
      </p:sp>
      <p:sp>
        <p:nvSpPr>
          <p:cNvPr id="5" name="Rectangle 4">
            <a:extLst>
              <a:ext uri="{FF2B5EF4-FFF2-40B4-BE49-F238E27FC236}">
                <a16:creationId xmlns:a16="http://schemas.microsoft.com/office/drawing/2014/main" id="{9CE8E996-E424-4293-8C1C-AF9D6E1AB446}"/>
              </a:ext>
            </a:extLst>
          </p:cNvPr>
          <p:cNvSpPr>
            <a:spLocks noGrp="1"/>
          </p:cNvSpPr>
          <p:nvPr/>
        </p:nvSpPr>
        <p:spPr>
          <a:xfrm>
            <a:off x="502920" y="1627632"/>
            <a:ext cx="2888589"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15342B3-FAB8-43E7-96EC-D556D6737311}"/>
              </a:ext>
            </a:extLst>
          </p:cNvPr>
          <p:cNvSpPr>
            <a:spLocks noGrp="1"/>
          </p:cNvSpPr>
          <p:nvPr/>
        </p:nvSpPr>
        <p:spPr>
          <a:xfrm>
            <a:off x="576072" y="1700784"/>
            <a:ext cx="2742285" cy="644652"/>
          </a:xfrm>
          <a:prstGeom prst="rect">
            <a:avLst/>
          </a:prstGeom>
          <a:noFill/>
        </p:spPr>
        <p:txBody>
          <a:bodyPr wrap="square">
            <a:spAutoFit/>
          </a:bodyPr>
          <a:lstStyle/>
          <a:p>
            <a:pPr algn="l">
              <a:buNone/>
            </a:pPr>
            <a:r>
              <a:rPr sz="1100" b="1">
                <a:solidFill>
                  <a:srgbClr val="15201B"/>
                </a:solidFill>
                <a:latin typeface="Aptos"/>
                <a:ea typeface="Aptos"/>
                <a:cs typeface="Aptos"/>
              </a:rPr>
              <a:t>Option</a:t>
            </a:r>
          </a:p>
        </p:txBody>
      </p:sp>
      <p:sp>
        <p:nvSpPr>
          <p:cNvPr id="7" name="Rectangle 6">
            <a:extLst>
              <a:ext uri="{FF2B5EF4-FFF2-40B4-BE49-F238E27FC236}">
                <a16:creationId xmlns:a16="http://schemas.microsoft.com/office/drawing/2014/main" id="{352CF242-7638-4E68-8FA8-D78A0F42581E}"/>
              </a:ext>
            </a:extLst>
          </p:cNvPr>
          <p:cNvSpPr>
            <a:spLocks noGrp="1"/>
          </p:cNvSpPr>
          <p:nvPr/>
        </p:nvSpPr>
        <p:spPr>
          <a:xfrm>
            <a:off x="3391509" y="1627632"/>
            <a:ext cx="4110685"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CF779A8A-1ADC-407D-865C-BB8D994150C0}"/>
              </a:ext>
            </a:extLst>
          </p:cNvPr>
          <p:cNvSpPr>
            <a:spLocks noGrp="1"/>
          </p:cNvSpPr>
          <p:nvPr/>
        </p:nvSpPr>
        <p:spPr>
          <a:xfrm>
            <a:off x="3464661" y="1700784"/>
            <a:ext cx="3964381" cy="644652"/>
          </a:xfrm>
          <a:prstGeom prst="rect">
            <a:avLst/>
          </a:prstGeom>
          <a:noFill/>
        </p:spPr>
        <p:txBody>
          <a:bodyPr wrap="square">
            <a:spAutoFit/>
          </a:bodyPr>
          <a:lstStyle/>
          <a:p>
            <a:pPr algn="l">
              <a:buNone/>
            </a:pPr>
            <a:r>
              <a:rPr sz="1100" b="1">
                <a:solidFill>
                  <a:srgbClr val="15201B"/>
                </a:solidFill>
                <a:latin typeface="Aptos"/>
                <a:ea typeface="Aptos"/>
                <a:cs typeface="Aptos"/>
              </a:rPr>
              <a:t>Advantages</a:t>
            </a:r>
          </a:p>
        </p:txBody>
      </p:sp>
      <p:sp>
        <p:nvSpPr>
          <p:cNvPr id="9" name="Rectangle 8">
            <a:extLst>
              <a:ext uri="{FF2B5EF4-FFF2-40B4-BE49-F238E27FC236}">
                <a16:creationId xmlns:a16="http://schemas.microsoft.com/office/drawing/2014/main" id="{87467CD7-205E-45FC-9D3C-702CF1606E65}"/>
              </a:ext>
            </a:extLst>
          </p:cNvPr>
          <p:cNvSpPr>
            <a:spLocks noGrp="1"/>
          </p:cNvSpPr>
          <p:nvPr/>
        </p:nvSpPr>
        <p:spPr>
          <a:xfrm>
            <a:off x="7502194" y="1627632"/>
            <a:ext cx="4110685"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2D5641A-7A5E-448B-8A7F-B80482867BF1}"/>
              </a:ext>
            </a:extLst>
          </p:cNvPr>
          <p:cNvSpPr>
            <a:spLocks noGrp="1"/>
          </p:cNvSpPr>
          <p:nvPr/>
        </p:nvSpPr>
        <p:spPr>
          <a:xfrm>
            <a:off x="7575346" y="1700784"/>
            <a:ext cx="3964381" cy="644652"/>
          </a:xfrm>
          <a:prstGeom prst="rect">
            <a:avLst/>
          </a:prstGeom>
          <a:noFill/>
        </p:spPr>
        <p:txBody>
          <a:bodyPr wrap="square">
            <a:spAutoFit/>
          </a:bodyPr>
          <a:lstStyle/>
          <a:p>
            <a:pPr algn="l">
              <a:buNone/>
            </a:pPr>
            <a:r>
              <a:rPr sz="1100" b="1">
                <a:solidFill>
                  <a:srgbClr val="15201B"/>
                </a:solidFill>
                <a:latin typeface="Aptos"/>
                <a:ea typeface="Aptos"/>
                <a:cs typeface="Aptos"/>
              </a:rPr>
              <a:t>Tradeoffs</a:t>
            </a:r>
          </a:p>
        </p:txBody>
      </p:sp>
      <p:sp>
        <p:nvSpPr>
          <p:cNvPr id="11" name="Rectangle 10">
            <a:extLst>
              <a:ext uri="{FF2B5EF4-FFF2-40B4-BE49-F238E27FC236}">
                <a16:creationId xmlns:a16="http://schemas.microsoft.com/office/drawing/2014/main" id="{60FEFA45-D8D3-4A9C-96A4-DF0C960481D7}"/>
              </a:ext>
            </a:extLst>
          </p:cNvPr>
          <p:cNvSpPr>
            <a:spLocks noGrp="1"/>
          </p:cNvSpPr>
          <p:nvPr/>
        </p:nvSpPr>
        <p:spPr>
          <a:xfrm>
            <a:off x="502920" y="238201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0780A78-0661-4E04-B7B9-70E32540089F}"/>
              </a:ext>
            </a:extLst>
          </p:cNvPr>
          <p:cNvSpPr>
            <a:spLocks noGrp="1"/>
          </p:cNvSpPr>
          <p:nvPr/>
        </p:nvSpPr>
        <p:spPr>
          <a:xfrm>
            <a:off x="576072" y="245516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Dagents + FL engine</a:t>
            </a:r>
          </a:p>
        </p:txBody>
      </p:sp>
      <p:sp>
        <p:nvSpPr>
          <p:cNvPr id="13" name="Rectangle 12">
            <a:extLst>
              <a:ext uri="{FF2B5EF4-FFF2-40B4-BE49-F238E27FC236}">
                <a16:creationId xmlns:a16="http://schemas.microsoft.com/office/drawing/2014/main" id="{ED1933A7-9FF4-435B-B5FF-A7C3853C93C5}"/>
              </a:ext>
            </a:extLst>
          </p:cNvPr>
          <p:cNvSpPr>
            <a:spLocks noGrp="1"/>
          </p:cNvSpPr>
          <p:nvPr/>
        </p:nvSpPr>
        <p:spPr>
          <a:xfrm>
            <a:off x="3391509" y="238201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1842238-9A3F-4E78-B85C-E0D55061F392}"/>
              </a:ext>
            </a:extLst>
          </p:cNvPr>
          <p:cNvSpPr>
            <a:spLocks noGrp="1"/>
          </p:cNvSpPr>
          <p:nvPr/>
        </p:nvSpPr>
        <p:spPr>
          <a:xfrm>
            <a:off x="3464661" y="245516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Source-local LMA boundary; reusable GMA orchestration; portable contracts; evidence and rollback in one design</a:t>
            </a:r>
          </a:p>
        </p:txBody>
      </p:sp>
      <p:sp>
        <p:nvSpPr>
          <p:cNvPr id="15" name="Rectangle 14">
            <a:extLst>
              <a:ext uri="{FF2B5EF4-FFF2-40B4-BE49-F238E27FC236}">
                <a16:creationId xmlns:a16="http://schemas.microsoft.com/office/drawing/2014/main" id="{98451E3A-FC4E-40B7-BC28-6148F8CF2167}"/>
              </a:ext>
            </a:extLst>
          </p:cNvPr>
          <p:cNvSpPr>
            <a:spLocks noGrp="1"/>
          </p:cNvSpPr>
          <p:nvPr/>
        </p:nvSpPr>
        <p:spPr>
          <a:xfrm>
            <a:off x="7502194" y="238201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7274E3E5-309C-446F-98C9-71A8971D04D0}"/>
              </a:ext>
            </a:extLst>
          </p:cNvPr>
          <p:cNvSpPr>
            <a:spLocks noGrp="1"/>
          </p:cNvSpPr>
          <p:nvPr/>
        </p:nvSpPr>
        <p:spPr>
          <a:xfrm>
            <a:off x="7575346" y="245516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More integration and operational ownership; privacy, identity, and clinical controls still need production work</a:t>
            </a:r>
          </a:p>
        </p:txBody>
      </p:sp>
      <p:sp>
        <p:nvSpPr>
          <p:cNvPr id="17" name="Rectangle 16">
            <a:extLst>
              <a:ext uri="{FF2B5EF4-FFF2-40B4-BE49-F238E27FC236}">
                <a16:creationId xmlns:a16="http://schemas.microsoft.com/office/drawing/2014/main" id="{845E18DC-73DC-4E75-9B6E-E9FD5FA926E0}"/>
              </a:ext>
            </a:extLst>
          </p:cNvPr>
          <p:cNvSpPr>
            <a:spLocks noGrp="1"/>
          </p:cNvSpPr>
          <p:nvPr/>
        </p:nvSpPr>
        <p:spPr>
          <a:xfrm>
            <a:off x="502920" y="313639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118314E-8CA6-45E6-9DB4-5A0A01FE4EF5}"/>
              </a:ext>
            </a:extLst>
          </p:cNvPr>
          <p:cNvSpPr>
            <a:spLocks noGrp="1"/>
          </p:cNvSpPr>
          <p:nvPr/>
        </p:nvSpPr>
        <p:spPr>
          <a:xfrm>
            <a:off x="576072" y="320954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FL framework alone</a:t>
            </a:r>
          </a:p>
        </p:txBody>
      </p:sp>
      <p:sp>
        <p:nvSpPr>
          <p:cNvPr id="19" name="Rectangle 18">
            <a:extLst>
              <a:ext uri="{FF2B5EF4-FFF2-40B4-BE49-F238E27FC236}">
                <a16:creationId xmlns:a16="http://schemas.microsoft.com/office/drawing/2014/main" id="{0AD4F55D-7290-4A1A-B1AA-1202B3E96581}"/>
              </a:ext>
            </a:extLst>
          </p:cNvPr>
          <p:cNvSpPr>
            <a:spLocks noGrp="1"/>
          </p:cNvSpPr>
          <p:nvPr/>
        </p:nvSpPr>
        <p:spPr>
          <a:xfrm>
            <a:off x="3391509" y="313639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579DA9AE-C9EA-4E8B-99E2-9C3D9CA6335A}"/>
              </a:ext>
            </a:extLst>
          </p:cNvPr>
          <p:cNvSpPr>
            <a:spLocks noGrp="1"/>
          </p:cNvSpPr>
          <p:nvPr/>
        </p:nvSpPr>
        <p:spPr>
          <a:xfrm>
            <a:off x="3464661" y="320954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Mature algorithms, simulation, aggregation, and privacy extensions</a:t>
            </a:r>
          </a:p>
        </p:txBody>
      </p:sp>
      <p:sp>
        <p:nvSpPr>
          <p:cNvPr id="21" name="Rectangle 20">
            <a:extLst>
              <a:ext uri="{FF2B5EF4-FFF2-40B4-BE49-F238E27FC236}">
                <a16:creationId xmlns:a16="http://schemas.microsoft.com/office/drawing/2014/main" id="{3859F6ED-810F-4C83-86D5-41384E8BEAFA}"/>
              </a:ext>
            </a:extLst>
          </p:cNvPr>
          <p:cNvSpPr>
            <a:spLocks noGrp="1"/>
          </p:cNvSpPr>
          <p:nvPr/>
        </p:nvSpPr>
        <p:spPr>
          <a:xfrm>
            <a:off x="7502194" y="313639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BA3B850-E077-4340-B122-134E8C1E3C94}"/>
              </a:ext>
            </a:extLst>
          </p:cNvPr>
          <p:cNvSpPr>
            <a:spLocks noGrp="1"/>
          </p:cNvSpPr>
          <p:nvPr/>
        </p:nvSpPr>
        <p:spPr>
          <a:xfrm>
            <a:off x="7575346" y="320954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Needs a surrounding control plane for orchestration, evidence, releases, and product integration</a:t>
            </a:r>
          </a:p>
        </p:txBody>
      </p:sp>
      <p:sp>
        <p:nvSpPr>
          <p:cNvPr id="23" name="Rectangle 22">
            <a:extLst>
              <a:ext uri="{FF2B5EF4-FFF2-40B4-BE49-F238E27FC236}">
                <a16:creationId xmlns:a16="http://schemas.microsoft.com/office/drawing/2014/main" id="{80906D7F-DE00-4FB9-B671-BE04D37B5AED}"/>
              </a:ext>
            </a:extLst>
          </p:cNvPr>
          <p:cNvSpPr>
            <a:spLocks noGrp="1"/>
          </p:cNvSpPr>
          <p:nvPr/>
        </p:nvSpPr>
        <p:spPr>
          <a:xfrm>
            <a:off x="502920" y="389077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42AE019-BFA0-4AA7-AF8E-95A18B590175}"/>
              </a:ext>
            </a:extLst>
          </p:cNvPr>
          <p:cNvSpPr>
            <a:spLocks noGrp="1"/>
          </p:cNvSpPr>
          <p:nvPr/>
        </p:nvSpPr>
        <p:spPr>
          <a:xfrm>
            <a:off x="576072" y="396392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Managed FL SaaS</a:t>
            </a:r>
          </a:p>
        </p:txBody>
      </p:sp>
      <p:sp>
        <p:nvSpPr>
          <p:cNvPr id="25" name="Rectangle 24">
            <a:extLst>
              <a:ext uri="{FF2B5EF4-FFF2-40B4-BE49-F238E27FC236}">
                <a16:creationId xmlns:a16="http://schemas.microsoft.com/office/drawing/2014/main" id="{41EAF58D-8638-4C52-B131-4FB895092805}"/>
              </a:ext>
            </a:extLst>
          </p:cNvPr>
          <p:cNvSpPr>
            <a:spLocks noGrp="1"/>
          </p:cNvSpPr>
          <p:nvPr/>
        </p:nvSpPr>
        <p:spPr>
          <a:xfrm>
            <a:off x="3391509" y="389077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CF9B0E1-A2E7-48D6-802D-BFA82A23E450}"/>
              </a:ext>
            </a:extLst>
          </p:cNvPr>
          <p:cNvSpPr>
            <a:spLocks noGrp="1"/>
          </p:cNvSpPr>
          <p:nvPr/>
        </p:nvSpPr>
        <p:spPr>
          <a:xfrm>
            <a:off x="3464661" y="396392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Fast onboarding, hosted services, and vendor support</a:t>
            </a:r>
          </a:p>
        </p:txBody>
      </p:sp>
      <p:sp>
        <p:nvSpPr>
          <p:cNvPr id="27" name="Rectangle 26">
            <a:extLst>
              <a:ext uri="{FF2B5EF4-FFF2-40B4-BE49-F238E27FC236}">
                <a16:creationId xmlns:a16="http://schemas.microsoft.com/office/drawing/2014/main" id="{B247C103-7BCD-4BBF-8FED-74868A3C3695}"/>
              </a:ext>
            </a:extLst>
          </p:cNvPr>
          <p:cNvSpPr>
            <a:spLocks noGrp="1"/>
          </p:cNvSpPr>
          <p:nvPr/>
        </p:nvSpPr>
        <p:spPr>
          <a:xfrm>
            <a:off x="7502194" y="389077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B7EA3D92-36D0-4F25-8F70-B08D576FB91C}"/>
              </a:ext>
            </a:extLst>
          </p:cNvPr>
          <p:cNvSpPr>
            <a:spLocks noGrp="1"/>
          </p:cNvSpPr>
          <p:nvPr/>
        </p:nvSpPr>
        <p:spPr>
          <a:xfrm>
            <a:off x="7575346" y="396392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Lock-in, recurring cost, deployment constraints, and less control over evidence or recovery</a:t>
            </a:r>
          </a:p>
        </p:txBody>
      </p:sp>
      <p:sp>
        <p:nvSpPr>
          <p:cNvPr id="29" name="Rectangle 28">
            <a:extLst>
              <a:ext uri="{FF2B5EF4-FFF2-40B4-BE49-F238E27FC236}">
                <a16:creationId xmlns:a16="http://schemas.microsoft.com/office/drawing/2014/main" id="{F6C8D755-973E-4DFA-A9BB-4D1561BC8F2D}"/>
              </a:ext>
            </a:extLst>
          </p:cNvPr>
          <p:cNvSpPr>
            <a:spLocks noGrp="1"/>
          </p:cNvSpPr>
          <p:nvPr/>
        </p:nvSpPr>
        <p:spPr>
          <a:xfrm>
            <a:off x="502920" y="464515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0838EB1B-F066-4BCF-8C4F-5B2A81D6B611}"/>
              </a:ext>
            </a:extLst>
          </p:cNvPr>
          <p:cNvSpPr>
            <a:spLocks noGrp="1"/>
          </p:cNvSpPr>
          <p:nvPr/>
        </p:nvSpPr>
        <p:spPr>
          <a:xfrm>
            <a:off x="576072" y="471830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Central warehouse + ML</a:t>
            </a:r>
          </a:p>
        </p:txBody>
      </p:sp>
      <p:sp>
        <p:nvSpPr>
          <p:cNvPr id="31" name="Rectangle 30">
            <a:extLst>
              <a:ext uri="{FF2B5EF4-FFF2-40B4-BE49-F238E27FC236}">
                <a16:creationId xmlns:a16="http://schemas.microsoft.com/office/drawing/2014/main" id="{CB14006E-D9C0-4D92-BA26-C2AE0D7838DF}"/>
              </a:ext>
            </a:extLst>
          </p:cNvPr>
          <p:cNvSpPr>
            <a:spLocks noGrp="1"/>
          </p:cNvSpPr>
          <p:nvPr/>
        </p:nvSpPr>
        <p:spPr>
          <a:xfrm>
            <a:off x="3391509" y="464515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7BC6A327-84A3-4C0C-92BA-5BF7E6A77F30}"/>
              </a:ext>
            </a:extLst>
          </p:cNvPr>
          <p:cNvSpPr>
            <a:spLocks noGrp="1"/>
          </p:cNvSpPr>
          <p:nvPr/>
        </p:nvSpPr>
        <p:spPr>
          <a:xfrm>
            <a:off x="3464661" y="471830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Familiar central analytics and model tools</a:t>
            </a:r>
          </a:p>
        </p:txBody>
      </p:sp>
      <p:sp>
        <p:nvSpPr>
          <p:cNvPr id="33" name="Rectangle 32">
            <a:extLst>
              <a:ext uri="{FF2B5EF4-FFF2-40B4-BE49-F238E27FC236}">
                <a16:creationId xmlns:a16="http://schemas.microsoft.com/office/drawing/2014/main" id="{0C8831F0-7FE8-4CE5-9F5C-AC01B1C74153}"/>
              </a:ext>
            </a:extLst>
          </p:cNvPr>
          <p:cNvSpPr>
            <a:spLocks noGrp="1"/>
          </p:cNvSpPr>
          <p:nvPr/>
        </p:nvSpPr>
        <p:spPr>
          <a:xfrm>
            <a:off x="7502194" y="464515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D9BC41C7-12CA-49DD-B21A-2842B470EEA6}"/>
              </a:ext>
            </a:extLst>
          </p:cNvPr>
          <p:cNvSpPr>
            <a:spLocks noGrp="1"/>
          </p:cNvSpPr>
          <p:nvPr/>
        </p:nvSpPr>
        <p:spPr>
          <a:xfrm>
            <a:off x="7575346" y="471830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Large and delayed data flows, duplicated sensitive records, and a larger governance boundary</a:t>
            </a:r>
          </a:p>
        </p:txBody>
      </p:sp>
      <p:sp>
        <p:nvSpPr>
          <p:cNvPr id="35" name="Rectangle 34">
            <a:extLst>
              <a:ext uri="{FF2B5EF4-FFF2-40B4-BE49-F238E27FC236}">
                <a16:creationId xmlns:a16="http://schemas.microsoft.com/office/drawing/2014/main" id="{8C08C939-B03B-40D8-A0AC-F9FECE411770}"/>
              </a:ext>
            </a:extLst>
          </p:cNvPr>
          <p:cNvSpPr>
            <a:spLocks noGrp="1"/>
          </p:cNvSpPr>
          <p:nvPr/>
        </p:nvSpPr>
        <p:spPr>
          <a:xfrm>
            <a:off x="502920" y="539953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20428393-C352-48CE-8EE3-95676E46C147}"/>
              </a:ext>
            </a:extLst>
          </p:cNvPr>
          <p:cNvSpPr>
            <a:spLocks noGrp="1"/>
          </p:cNvSpPr>
          <p:nvPr/>
        </p:nvSpPr>
        <p:spPr>
          <a:xfrm>
            <a:off x="576072" y="547268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One-off custom build</a:t>
            </a:r>
          </a:p>
        </p:txBody>
      </p:sp>
      <p:sp>
        <p:nvSpPr>
          <p:cNvPr id="37" name="Rectangle 36">
            <a:extLst>
              <a:ext uri="{FF2B5EF4-FFF2-40B4-BE49-F238E27FC236}">
                <a16:creationId xmlns:a16="http://schemas.microsoft.com/office/drawing/2014/main" id="{89B7E1E8-B494-4075-9967-EAC444533778}"/>
              </a:ext>
            </a:extLst>
          </p:cNvPr>
          <p:cNvSpPr>
            <a:spLocks noGrp="1"/>
          </p:cNvSpPr>
          <p:nvPr/>
        </p:nvSpPr>
        <p:spPr>
          <a:xfrm>
            <a:off x="3391509" y="539953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DDCB4B39-747E-485F-8D7F-1DA41FF4926A}"/>
              </a:ext>
            </a:extLst>
          </p:cNvPr>
          <p:cNvSpPr>
            <a:spLocks noGrp="1"/>
          </p:cNvSpPr>
          <p:nvPr/>
        </p:nvSpPr>
        <p:spPr>
          <a:xfrm>
            <a:off x="3464661" y="547268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Can match one hospital network exactly</a:t>
            </a:r>
          </a:p>
        </p:txBody>
      </p:sp>
      <p:sp>
        <p:nvSpPr>
          <p:cNvPr id="39" name="Rectangle 38">
            <a:extLst>
              <a:ext uri="{FF2B5EF4-FFF2-40B4-BE49-F238E27FC236}">
                <a16:creationId xmlns:a16="http://schemas.microsoft.com/office/drawing/2014/main" id="{A146F475-A664-45DE-8E1A-8D68FE14EB33}"/>
              </a:ext>
            </a:extLst>
          </p:cNvPr>
          <p:cNvSpPr>
            <a:spLocks noGrp="1"/>
          </p:cNvSpPr>
          <p:nvPr/>
        </p:nvSpPr>
        <p:spPr>
          <a:xfrm>
            <a:off x="7502194" y="539953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E4A41FF-3F45-423C-AE62-D1955E617499}"/>
              </a:ext>
            </a:extLst>
          </p:cNvPr>
          <p:cNvSpPr>
            <a:spLocks noGrp="1"/>
          </p:cNvSpPr>
          <p:nvPr/>
        </p:nvSpPr>
        <p:spPr>
          <a:xfrm>
            <a:off x="7575346" y="547268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Slow to reuse and maintain; likely to create incompatible contracts for the next condition</a:t>
            </a:r>
          </a:p>
        </p:txBody>
      </p:sp>
      <p:sp>
        <p:nvSpPr>
          <p:cNvPr id="41" name="TextBox 40">
            <a:extLst>
              <a:ext uri="{FF2B5EF4-FFF2-40B4-BE49-F238E27FC236}">
                <a16:creationId xmlns:a16="http://schemas.microsoft.com/office/drawing/2014/main" id="{E75FBFE2-8640-4A2C-801D-9487E96EEB43}"/>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Dagents wins on control, portability, and recoverability—not on lowest initial effort / 27</a:t>
            </a:r>
          </a:p>
        </p:txBody>
      </p:sp>
    </p:spTree>
    <p:extLst>
      <p:ext uri="{BB962C8B-B14F-4D97-AF65-F5344CB8AC3E}">
        <p14:creationId xmlns:p14="http://schemas.microsoft.com/office/powerpoint/2010/main" val="1134147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616C7F-5DE1-4780-8723-F2B4F47C5526}"/>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PILOT ROADMAP</a:t>
            </a:r>
          </a:p>
        </p:txBody>
      </p:sp>
      <p:sp>
        <p:nvSpPr>
          <p:cNvPr id="3" name="TextBox 2">
            <a:extLst>
              <a:ext uri="{FF2B5EF4-FFF2-40B4-BE49-F238E27FC236}">
                <a16:creationId xmlns:a16="http://schemas.microsoft.com/office/drawing/2014/main" id="{3FA26162-FC55-4072-9ED2-CB330866CB78}"/>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Prove federation in stages.</a:t>
            </a:r>
          </a:p>
        </p:txBody>
      </p:sp>
      <p:sp>
        <p:nvSpPr>
          <p:cNvPr id="4" name="TextBox 3">
            <a:extLst>
              <a:ext uri="{FF2B5EF4-FFF2-40B4-BE49-F238E27FC236}">
                <a16:creationId xmlns:a16="http://schemas.microsoft.com/office/drawing/2014/main" id="{21087E13-600F-4E88-BC5E-106AEBF65EB7}"/>
              </a:ext>
            </a:extLst>
          </p:cNvPr>
          <p:cNvSpPr>
            <a:spLocks noGrp="1"/>
          </p:cNvSpPr>
          <p:nvPr/>
        </p:nvSpPr>
        <p:spPr>
          <a:xfrm>
            <a:off x="566928" y="1225296"/>
            <a:ext cx="9784080" cy="411480"/>
          </a:xfrm>
          <a:prstGeom prst="rect">
            <a:avLst/>
          </a:prstGeom>
          <a:noFill/>
        </p:spPr>
        <p:txBody>
          <a:bodyPr wrap="square">
            <a:spAutoFit/>
          </a:bodyPr>
          <a:lstStyle/>
          <a:p>
            <a:pPr algn="l">
              <a:buNone/>
            </a:pPr>
            <a:r>
              <a:rPr sz="1400" b="0">
                <a:solidFill>
                  <a:srgbClr val="53635B"/>
                </a:solidFill>
                <a:latin typeface="Aptos"/>
                <a:ea typeface="Aptos"/>
                <a:cs typeface="Aptos"/>
              </a:rPr>
              <a:t>Start with federated analytics; enable training only after the data, privacy, and recovery paths work.</a:t>
            </a:r>
          </a:p>
        </p:txBody>
      </p:sp>
      <p:sp>
        <p:nvSpPr>
          <p:cNvPr id="5" name="Rectangle 4">
            <a:extLst>
              <a:ext uri="{FF2B5EF4-FFF2-40B4-BE49-F238E27FC236}">
                <a16:creationId xmlns:a16="http://schemas.microsoft.com/office/drawing/2014/main" id="{1F383E6C-1657-4B5B-8879-7FC0AEC261AE}"/>
              </a:ext>
            </a:extLst>
          </p:cNvPr>
          <p:cNvSpPr>
            <a:spLocks noGrp="1"/>
          </p:cNvSpPr>
          <p:nvPr/>
        </p:nvSpPr>
        <p:spPr>
          <a:xfrm>
            <a:off x="594360" y="1691640"/>
            <a:ext cx="2852928" cy="6781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4815377-4277-4F34-B2E8-94C36D9C4436}"/>
              </a:ext>
            </a:extLst>
          </p:cNvPr>
          <p:cNvSpPr>
            <a:spLocks noGrp="1"/>
          </p:cNvSpPr>
          <p:nvPr/>
        </p:nvSpPr>
        <p:spPr>
          <a:xfrm>
            <a:off x="667512" y="1764792"/>
            <a:ext cx="2706624" cy="568452"/>
          </a:xfrm>
          <a:prstGeom prst="rect">
            <a:avLst/>
          </a:prstGeom>
          <a:noFill/>
        </p:spPr>
        <p:txBody>
          <a:bodyPr wrap="square">
            <a:spAutoFit/>
          </a:bodyPr>
          <a:lstStyle/>
          <a:p>
            <a:pPr algn="l">
              <a:buNone/>
            </a:pPr>
            <a:r>
              <a:rPr sz="1100" b="1">
                <a:solidFill>
                  <a:srgbClr val="15201B"/>
                </a:solidFill>
                <a:latin typeface="Aptos"/>
                <a:ea typeface="Aptos"/>
                <a:cs typeface="Aptos"/>
              </a:rPr>
              <a:t>Phase</a:t>
            </a:r>
          </a:p>
        </p:txBody>
      </p:sp>
      <p:sp>
        <p:nvSpPr>
          <p:cNvPr id="7" name="Rectangle 6">
            <a:extLst>
              <a:ext uri="{FF2B5EF4-FFF2-40B4-BE49-F238E27FC236}">
                <a16:creationId xmlns:a16="http://schemas.microsoft.com/office/drawing/2014/main" id="{883170B6-5F27-4C0A-8103-AABE975610F3}"/>
              </a:ext>
            </a:extLst>
          </p:cNvPr>
          <p:cNvSpPr>
            <a:spLocks noGrp="1"/>
          </p:cNvSpPr>
          <p:nvPr/>
        </p:nvSpPr>
        <p:spPr>
          <a:xfrm>
            <a:off x="3447288" y="1691640"/>
            <a:ext cx="4059935" cy="6781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3F474AA2-CC5C-4831-A728-17A703311F53}"/>
              </a:ext>
            </a:extLst>
          </p:cNvPr>
          <p:cNvSpPr>
            <a:spLocks noGrp="1"/>
          </p:cNvSpPr>
          <p:nvPr/>
        </p:nvSpPr>
        <p:spPr>
          <a:xfrm>
            <a:off x="3520440" y="1764792"/>
            <a:ext cx="3913631" cy="568452"/>
          </a:xfrm>
          <a:prstGeom prst="rect">
            <a:avLst/>
          </a:prstGeom>
          <a:noFill/>
        </p:spPr>
        <p:txBody>
          <a:bodyPr wrap="square">
            <a:spAutoFit/>
          </a:bodyPr>
          <a:lstStyle/>
          <a:p>
            <a:pPr algn="l">
              <a:buNone/>
            </a:pPr>
            <a:r>
              <a:rPr sz="1100" b="1">
                <a:solidFill>
                  <a:srgbClr val="15201B"/>
                </a:solidFill>
                <a:latin typeface="Aptos"/>
                <a:ea typeface="Aptos"/>
                <a:cs typeface="Aptos"/>
              </a:rPr>
              <a:t>What happens</a:t>
            </a:r>
          </a:p>
        </p:txBody>
      </p:sp>
      <p:sp>
        <p:nvSpPr>
          <p:cNvPr id="9" name="Rectangle 8">
            <a:extLst>
              <a:ext uri="{FF2B5EF4-FFF2-40B4-BE49-F238E27FC236}">
                <a16:creationId xmlns:a16="http://schemas.microsoft.com/office/drawing/2014/main" id="{546EF320-5BD6-4E93-BE04-B66DC0DBE514}"/>
              </a:ext>
            </a:extLst>
          </p:cNvPr>
          <p:cNvSpPr>
            <a:spLocks noGrp="1"/>
          </p:cNvSpPr>
          <p:nvPr/>
        </p:nvSpPr>
        <p:spPr>
          <a:xfrm>
            <a:off x="7507224" y="1691640"/>
            <a:ext cx="4059935" cy="6781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55EAA19-880D-4305-B631-18BEDD802D77}"/>
              </a:ext>
            </a:extLst>
          </p:cNvPr>
          <p:cNvSpPr>
            <a:spLocks noGrp="1"/>
          </p:cNvSpPr>
          <p:nvPr/>
        </p:nvSpPr>
        <p:spPr>
          <a:xfrm>
            <a:off x="7580376" y="1764792"/>
            <a:ext cx="3913631" cy="568452"/>
          </a:xfrm>
          <a:prstGeom prst="rect">
            <a:avLst/>
          </a:prstGeom>
          <a:noFill/>
        </p:spPr>
        <p:txBody>
          <a:bodyPr wrap="square">
            <a:spAutoFit/>
          </a:bodyPr>
          <a:lstStyle/>
          <a:p>
            <a:pPr algn="l">
              <a:buNone/>
            </a:pPr>
            <a:r>
              <a:rPr sz="1100" b="1">
                <a:solidFill>
                  <a:srgbClr val="15201B"/>
                </a:solidFill>
                <a:latin typeface="Aptos"/>
                <a:ea typeface="Aptos"/>
                <a:cs typeface="Aptos"/>
              </a:rPr>
              <a:t>Proof needed</a:t>
            </a:r>
          </a:p>
        </p:txBody>
      </p:sp>
      <p:sp>
        <p:nvSpPr>
          <p:cNvPr id="11" name="Rectangle 10">
            <a:extLst>
              <a:ext uri="{FF2B5EF4-FFF2-40B4-BE49-F238E27FC236}">
                <a16:creationId xmlns:a16="http://schemas.microsoft.com/office/drawing/2014/main" id="{59D077EF-7B73-4A48-BF93-BE2FF98AD55C}"/>
              </a:ext>
            </a:extLst>
          </p:cNvPr>
          <p:cNvSpPr>
            <a:spLocks noGrp="1"/>
          </p:cNvSpPr>
          <p:nvPr/>
        </p:nvSpPr>
        <p:spPr>
          <a:xfrm>
            <a:off x="594360" y="2369820"/>
            <a:ext cx="2852928"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130F56B-65E8-4B4D-AE87-7B800F1570AE}"/>
              </a:ext>
            </a:extLst>
          </p:cNvPr>
          <p:cNvSpPr>
            <a:spLocks noGrp="1"/>
          </p:cNvSpPr>
          <p:nvPr/>
        </p:nvSpPr>
        <p:spPr>
          <a:xfrm>
            <a:off x="667512" y="2442972"/>
            <a:ext cx="2706624" cy="568452"/>
          </a:xfrm>
          <a:prstGeom prst="rect">
            <a:avLst/>
          </a:prstGeom>
          <a:noFill/>
        </p:spPr>
        <p:txBody>
          <a:bodyPr wrap="square">
            <a:spAutoFit/>
          </a:bodyPr>
          <a:lstStyle/>
          <a:p>
            <a:pPr algn="l">
              <a:buNone/>
            </a:pPr>
            <a:r>
              <a:rPr sz="1000" b="0">
                <a:solidFill>
                  <a:srgbClr val="15201B"/>
                </a:solidFill>
                <a:latin typeface="Aptos"/>
                <a:ea typeface="Aptos"/>
                <a:cs typeface="Aptos"/>
              </a:rPr>
              <a:t>1. Define</a:t>
            </a:r>
          </a:p>
        </p:txBody>
      </p:sp>
      <p:sp>
        <p:nvSpPr>
          <p:cNvPr id="13" name="Rectangle 12">
            <a:extLst>
              <a:ext uri="{FF2B5EF4-FFF2-40B4-BE49-F238E27FC236}">
                <a16:creationId xmlns:a16="http://schemas.microsoft.com/office/drawing/2014/main" id="{04A7A60E-3308-46B9-8ED0-A94A1248497E}"/>
              </a:ext>
            </a:extLst>
          </p:cNvPr>
          <p:cNvSpPr>
            <a:spLocks noGrp="1"/>
          </p:cNvSpPr>
          <p:nvPr/>
        </p:nvSpPr>
        <p:spPr>
          <a:xfrm>
            <a:off x="3447288" y="236982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C7E2E768-B155-4108-A917-81CEC8DEFE13}"/>
              </a:ext>
            </a:extLst>
          </p:cNvPr>
          <p:cNvSpPr>
            <a:spLocks noGrp="1"/>
          </p:cNvSpPr>
          <p:nvPr/>
        </p:nvSpPr>
        <p:spPr>
          <a:xfrm>
            <a:off x="3520440" y="244297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Approve the stroke-triage question, patient group, scan type, outcome, sources, site owners, and stop conditions</a:t>
            </a:r>
          </a:p>
        </p:txBody>
      </p:sp>
      <p:sp>
        <p:nvSpPr>
          <p:cNvPr id="15" name="Rectangle 14">
            <a:extLst>
              <a:ext uri="{FF2B5EF4-FFF2-40B4-BE49-F238E27FC236}">
                <a16:creationId xmlns:a16="http://schemas.microsoft.com/office/drawing/2014/main" id="{B35302B5-AEFF-4AC3-A299-F08E8F36F866}"/>
              </a:ext>
            </a:extLst>
          </p:cNvPr>
          <p:cNvSpPr>
            <a:spLocks noGrp="1"/>
          </p:cNvSpPr>
          <p:nvPr/>
        </p:nvSpPr>
        <p:spPr>
          <a:xfrm>
            <a:off x="7507224" y="236982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C07A7815-5F24-4450-95EC-DD6BE8725C25}"/>
              </a:ext>
            </a:extLst>
          </p:cNvPr>
          <p:cNvSpPr>
            <a:spLocks noGrp="1"/>
          </p:cNvSpPr>
          <p:nvPr/>
        </p:nvSpPr>
        <p:spPr>
          <a:xfrm>
            <a:off x="7580376" y="244297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Signed clinical and data contract; named owners; no automatic care action</a:t>
            </a:r>
          </a:p>
        </p:txBody>
      </p:sp>
      <p:sp>
        <p:nvSpPr>
          <p:cNvPr id="17" name="Rectangle 16">
            <a:extLst>
              <a:ext uri="{FF2B5EF4-FFF2-40B4-BE49-F238E27FC236}">
                <a16:creationId xmlns:a16="http://schemas.microsoft.com/office/drawing/2014/main" id="{4AE41A3F-8B3A-42AB-AA96-2BA4DC29AD3B}"/>
              </a:ext>
            </a:extLst>
          </p:cNvPr>
          <p:cNvSpPr>
            <a:spLocks noGrp="1"/>
          </p:cNvSpPr>
          <p:nvPr/>
        </p:nvSpPr>
        <p:spPr>
          <a:xfrm>
            <a:off x="594360" y="3048000"/>
            <a:ext cx="2852928"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E74F5F03-3944-44F7-B5E4-9E1086F02AB1}"/>
              </a:ext>
            </a:extLst>
          </p:cNvPr>
          <p:cNvSpPr>
            <a:spLocks noGrp="1"/>
          </p:cNvSpPr>
          <p:nvPr/>
        </p:nvSpPr>
        <p:spPr>
          <a:xfrm>
            <a:off x="667512" y="3121152"/>
            <a:ext cx="2706624" cy="568452"/>
          </a:xfrm>
          <a:prstGeom prst="rect">
            <a:avLst/>
          </a:prstGeom>
          <a:noFill/>
        </p:spPr>
        <p:txBody>
          <a:bodyPr wrap="square">
            <a:spAutoFit/>
          </a:bodyPr>
          <a:lstStyle/>
          <a:p>
            <a:pPr algn="l">
              <a:buNone/>
            </a:pPr>
            <a:r>
              <a:rPr sz="1000" b="0">
                <a:solidFill>
                  <a:srgbClr val="15201B"/>
                </a:solidFill>
                <a:latin typeface="Aptos"/>
                <a:ea typeface="Aptos"/>
                <a:cs typeface="Aptos"/>
              </a:rPr>
              <a:t>2. Federated analytics</a:t>
            </a:r>
          </a:p>
        </p:txBody>
      </p:sp>
      <p:sp>
        <p:nvSpPr>
          <p:cNvPr id="19" name="Rectangle 18">
            <a:extLst>
              <a:ext uri="{FF2B5EF4-FFF2-40B4-BE49-F238E27FC236}">
                <a16:creationId xmlns:a16="http://schemas.microsoft.com/office/drawing/2014/main" id="{DAAA2085-00F1-42F1-853E-7AC03F183B23}"/>
              </a:ext>
            </a:extLst>
          </p:cNvPr>
          <p:cNvSpPr>
            <a:spLocks noGrp="1"/>
          </p:cNvSpPr>
          <p:nvPr/>
        </p:nvSpPr>
        <p:spPr>
          <a:xfrm>
            <a:off x="3447288" y="304800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7566ED5F-A66B-4934-ABC4-E83734BE467F}"/>
              </a:ext>
            </a:extLst>
          </p:cNvPr>
          <p:cNvSpPr>
            <a:spLocks noGrp="1"/>
          </p:cNvSpPr>
          <p:nvPr/>
        </p:nvSpPr>
        <p:spPr>
          <a:xfrm>
            <a:off x="3520440" y="312115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Compute local counts, missingness, units, labels, and seed-model measures; reveal approved aggregates only</a:t>
            </a:r>
          </a:p>
        </p:txBody>
      </p:sp>
      <p:sp>
        <p:nvSpPr>
          <p:cNvPr id="21" name="Rectangle 20">
            <a:extLst>
              <a:ext uri="{FF2B5EF4-FFF2-40B4-BE49-F238E27FC236}">
                <a16:creationId xmlns:a16="http://schemas.microsoft.com/office/drawing/2014/main" id="{BEC5B3F9-6E5F-47E9-85B6-FB13ED306D04}"/>
              </a:ext>
            </a:extLst>
          </p:cNvPr>
          <p:cNvSpPr>
            <a:spLocks noGrp="1"/>
          </p:cNvSpPr>
          <p:nvPr/>
        </p:nvSpPr>
        <p:spPr>
          <a:xfrm>
            <a:off x="7507224" y="304800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9212C95-D024-49DF-A483-9058E582E581}"/>
              </a:ext>
            </a:extLst>
          </p:cNvPr>
          <p:cNvSpPr>
            <a:spLocks noGrp="1"/>
          </p:cNvSpPr>
          <p:nvPr/>
        </p:nvSpPr>
        <p:spPr>
          <a:xfrm>
            <a:off x="7580376" y="312115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Same meaning at every site; minimum-message path; privacy threshold and audit trail</a:t>
            </a:r>
          </a:p>
        </p:txBody>
      </p:sp>
      <p:sp>
        <p:nvSpPr>
          <p:cNvPr id="23" name="Rectangle 22">
            <a:extLst>
              <a:ext uri="{FF2B5EF4-FFF2-40B4-BE49-F238E27FC236}">
                <a16:creationId xmlns:a16="http://schemas.microsoft.com/office/drawing/2014/main" id="{6F6FE044-3348-4E4C-85FC-0F05D67F7015}"/>
              </a:ext>
            </a:extLst>
          </p:cNvPr>
          <p:cNvSpPr>
            <a:spLocks noGrp="1"/>
          </p:cNvSpPr>
          <p:nvPr/>
        </p:nvSpPr>
        <p:spPr>
          <a:xfrm>
            <a:off x="594360" y="3726180"/>
            <a:ext cx="2852928"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EC3BAFB-5BF5-4B01-8498-D3546837CBE9}"/>
              </a:ext>
            </a:extLst>
          </p:cNvPr>
          <p:cNvSpPr>
            <a:spLocks noGrp="1"/>
          </p:cNvSpPr>
          <p:nvPr/>
        </p:nvSpPr>
        <p:spPr>
          <a:xfrm>
            <a:off x="667512" y="3799332"/>
            <a:ext cx="2706624" cy="568452"/>
          </a:xfrm>
          <a:prstGeom prst="rect">
            <a:avLst/>
          </a:prstGeom>
          <a:noFill/>
        </p:spPr>
        <p:txBody>
          <a:bodyPr wrap="square">
            <a:spAutoFit/>
          </a:bodyPr>
          <a:lstStyle/>
          <a:p>
            <a:pPr algn="l">
              <a:buNone/>
            </a:pPr>
            <a:r>
              <a:rPr sz="1000" b="0">
                <a:solidFill>
                  <a:srgbClr val="15201B"/>
                </a:solidFill>
                <a:latin typeface="Aptos"/>
                <a:ea typeface="Aptos"/>
                <a:cs typeface="Aptos"/>
              </a:rPr>
              <a:t>3. Simulate</a:t>
            </a:r>
          </a:p>
        </p:txBody>
      </p:sp>
      <p:sp>
        <p:nvSpPr>
          <p:cNvPr id="25" name="Rectangle 24">
            <a:extLst>
              <a:ext uri="{FF2B5EF4-FFF2-40B4-BE49-F238E27FC236}">
                <a16:creationId xmlns:a16="http://schemas.microsoft.com/office/drawing/2014/main" id="{82D6D3CF-7424-4D18-9890-24D763128CDA}"/>
              </a:ext>
            </a:extLst>
          </p:cNvPr>
          <p:cNvSpPr>
            <a:spLocks noGrp="1"/>
          </p:cNvSpPr>
          <p:nvPr/>
        </p:nvSpPr>
        <p:spPr>
          <a:xfrm>
            <a:off x="3447288" y="372618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047CA9F4-FF5F-4C24-A036-12A0C3216696}"/>
              </a:ext>
            </a:extLst>
          </p:cNvPr>
          <p:cNvSpPr>
            <a:spLocks noGrp="1"/>
          </p:cNvSpPr>
          <p:nvPr/>
        </p:nvSpPr>
        <p:spPr>
          <a:xfrm>
            <a:off x="3520440" y="379933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Exercise complete rounds with approved test data, including site rejection, dropout, retry, bad update, and rollback</a:t>
            </a:r>
          </a:p>
        </p:txBody>
      </p:sp>
      <p:sp>
        <p:nvSpPr>
          <p:cNvPr id="27" name="Rectangle 26">
            <a:extLst>
              <a:ext uri="{FF2B5EF4-FFF2-40B4-BE49-F238E27FC236}">
                <a16:creationId xmlns:a16="http://schemas.microsoft.com/office/drawing/2014/main" id="{09E31BD2-C02C-48F0-A0FE-5BBBB95B0C51}"/>
              </a:ext>
            </a:extLst>
          </p:cNvPr>
          <p:cNvSpPr>
            <a:spLocks noGrp="1"/>
          </p:cNvSpPr>
          <p:nvPr/>
        </p:nvSpPr>
        <p:spPr>
          <a:xfrm>
            <a:off x="7507224" y="372618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28121A96-7DBE-4B73-92D8-36238161F7A4}"/>
              </a:ext>
            </a:extLst>
          </p:cNvPr>
          <p:cNvSpPr>
            <a:spLocks noGrp="1"/>
          </p:cNvSpPr>
          <p:nvPr/>
        </p:nvSpPr>
        <p:spPr>
          <a:xfrm>
            <a:off x="7580376" y="379933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Deterministic recovery, signatures, round state, and no individual-update exposure</a:t>
            </a:r>
          </a:p>
        </p:txBody>
      </p:sp>
      <p:sp>
        <p:nvSpPr>
          <p:cNvPr id="29" name="Rectangle 28">
            <a:extLst>
              <a:ext uri="{FF2B5EF4-FFF2-40B4-BE49-F238E27FC236}">
                <a16:creationId xmlns:a16="http://schemas.microsoft.com/office/drawing/2014/main" id="{B0FC2832-250A-4D49-8EBF-4722A2F7531D}"/>
              </a:ext>
            </a:extLst>
          </p:cNvPr>
          <p:cNvSpPr>
            <a:spLocks noGrp="1"/>
          </p:cNvSpPr>
          <p:nvPr/>
        </p:nvSpPr>
        <p:spPr>
          <a:xfrm>
            <a:off x="594360" y="4404360"/>
            <a:ext cx="2852928"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63E1A0B1-652A-4252-85BC-BD3E5B3D5858}"/>
              </a:ext>
            </a:extLst>
          </p:cNvPr>
          <p:cNvSpPr>
            <a:spLocks noGrp="1"/>
          </p:cNvSpPr>
          <p:nvPr/>
        </p:nvSpPr>
        <p:spPr>
          <a:xfrm>
            <a:off x="667512" y="4477512"/>
            <a:ext cx="2706624" cy="568452"/>
          </a:xfrm>
          <a:prstGeom prst="rect">
            <a:avLst/>
          </a:prstGeom>
          <a:noFill/>
        </p:spPr>
        <p:txBody>
          <a:bodyPr wrap="square">
            <a:spAutoFit/>
          </a:bodyPr>
          <a:lstStyle/>
          <a:p>
            <a:pPr algn="l">
              <a:buNone/>
            </a:pPr>
            <a:r>
              <a:rPr sz="1000" b="0">
                <a:solidFill>
                  <a:srgbClr val="15201B"/>
                </a:solidFill>
                <a:latin typeface="Aptos"/>
                <a:ea typeface="Aptos"/>
                <a:cs typeface="Aptos"/>
              </a:rPr>
              <a:t>4. Retrospective train</a:t>
            </a:r>
          </a:p>
        </p:txBody>
      </p:sp>
      <p:sp>
        <p:nvSpPr>
          <p:cNvPr id="31" name="Rectangle 30">
            <a:extLst>
              <a:ext uri="{FF2B5EF4-FFF2-40B4-BE49-F238E27FC236}">
                <a16:creationId xmlns:a16="http://schemas.microsoft.com/office/drawing/2014/main" id="{874D9192-44C0-4A4A-AFE8-E45CE995A1D6}"/>
              </a:ext>
            </a:extLst>
          </p:cNvPr>
          <p:cNvSpPr>
            <a:spLocks noGrp="1"/>
          </p:cNvSpPr>
          <p:nvPr/>
        </p:nvSpPr>
        <p:spPr>
          <a:xfrm>
            <a:off x="3447288" y="440436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30C880F6-2B6F-4633-8D56-D150FD6C1945}"/>
              </a:ext>
            </a:extLst>
          </p:cNvPr>
          <p:cNvSpPr>
            <a:spLocks noGrp="1"/>
          </p:cNvSpPr>
          <p:nvPr/>
        </p:nvSpPr>
        <p:spPr>
          <a:xfrm>
            <a:off x="3520440" y="447751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Train on historical local data; evaluate every candidate locally and compare with local-only and current baselines</a:t>
            </a:r>
          </a:p>
        </p:txBody>
      </p:sp>
      <p:sp>
        <p:nvSpPr>
          <p:cNvPr id="33" name="Rectangle 32">
            <a:extLst>
              <a:ext uri="{FF2B5EF4-FFF2-40B4-BE49-F238E27FC236}">
                <a16:creationId xmlns:a16="http://schemas.microsoft.com/office/drawing/2014/main" id="{940F8CA7-3636-4591-A377-3CB024DBE12B}"/>
              </a:ext>
            </a:extLst>
          </p:cNvPr>
          <p:cNvSpPr>
            <a:spLocks noGrp="1"/>
          </p:cNvSpPr>
          <p:nvPr/>
        </p:nvSpPr>
        <p:spPr>
          <a:xfrm>
            <a:off x="7507224" y="440436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378A6AC6-8C69-48F4-9C9E-8763D385948D}"/>
              </a:ext>
            </a:extLst>
          </p:cNvPr>
          <p:cNvSpPr>
            <a:spLocks noGrp="1"/>
          </p:cNvSpPr>
          <p:nvPr/>
        </p:nvSpPr>
        <p:spPr>
          <a:xfrm>
            <a:off x="7580376" y="447751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Cross-site and subgroup evidence; privacy report; candidate rejected when any gate fails</a:t>
            </a:r>
          </a:p>
        </p:txBody>
      </p:sp>
      <p:sp>
        <p:nvSpPr>
          <p:cNvPr id="35" name="Rectangle 34">
            <a:extLst>
              <a:ext uri="{FF2B5EF4-FFF2-40B4-BE49-F238E27FC236}">
                <a16:creationId xmlns:a16="http://schemas.microsoft.com/office/drawing/2014/main" id="{AC7DBE89-C515-4B02-83EF-50CDFCD86217}"/>
              </a:ext>
            </a:extLst>
          </p:cNvPr>
          <p:cNvSpPr>
            <a:spLocks noGrp="1"/>
          </p:cNvSpPr>
          <p:nvPr/>
        </p:nvSpPr>
        <p:spPr>
          <a:xfrm>
            <a:off x="594360" y="5082540"/>
            <a:ext cx="2852928"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FD674F3-FB7C-44A9-A53F-62A858865527}"/>
              </a:ext>
            </a:extLst>
          </p:cNvPr>
          <p:cNvSpPr>
            <a:spLocks noGrp="1"/>
          </p:cNvSpPr>
          <p:nvPr/>
        </p:nvSpPr>
        <p:spPr>
          <a:xfrm>
            <a:off x="667512" y="5155692"/>
            <a:ext cx="2706624" cy="568452"/>
          </a:xfrm>
          <a:prstGeom prst="rect">
            <a:avLst/>
          </a:prstGeom>
          <a:noFill/>
        </p:spPr>
        <p:txBody>
          <a:bodyPr wrap="square">
            <a:spAutoFit/>
          </a:bodyPr>
          <a:lstStyle/>
          <a:p>
            <a:pPr algn="l">
              <a:buNone/>
            </a:pPr>
            <a:r>
              <a:rPr sz="1000" b="0">
                <a:solidFill>
                  <a:srgbClr val="15201B"/>
                </a:solidFill>
                <a:latin typeface="Aptos"/>
                <a:ea typeface="Aptos"/>
                <a:cs typeface="Aptos"/>
              </a:rPr>
              <a:t>5. Silent live</a:t>
            </a:r>
          </a:p>
        </p:txBody>
      </p:sp>
      <p:sp>
        <p:nvSpPr>
          <p:cNvPr id="37" name="Rectangle 36">
            <a:extLst>
              <a:ext uri="{FF2B5EF4-FFF2-40B4-BE49-F238E27FC236}">
                <a16:creationId xmlns:a16="http://schemas.microsoft.com/office/drawing/2014/main" id="{55DED86A-8DF5-4D99-B9D6-C41B6D36E250}"/>
              </a:ext>
            </a:extLst>
          </p:cNvPr>
          <p:cNvSpPr>
            <a:spLocks noGrp="1"/>
          </p:cNvSpPr>
          <p:nvPr/>
        </p:nvSpPr>
        <p:spPr>
          <a:xfrm>
            <a:off x="3447288" y="508254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444DD496-AB69-4A09-920B-2DFCCCC582F8}"/>
              </a:ext>
            </a:extLst>
          </p:cNvPr>
          <p:cNvSpPr>
            <a:spLocks noGrp="1"/>
          </p:cNvSpPr>
          <p:nvPr/>
        </p:nvSpPr>
        <p:spPr>
          <a:xfrm>
            <a:off x="3520440" y="515569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Run the approved model on current data without displaying warnings to clinicians</a:t>
            </a:r>
          </a:p>
        </p:txBody>
      </p:sp>
      <p:sp>
        <p:nvSpPr>
          <p:cNvPr id="39" name="Rectangle 38">
            <a:extLst>
              <a:ext uri="{FF2B5EF4-FFF2-40B4-BE49-F238E27FC236}">
                <a16:creationId xmlns:a16="http://schemas.microsoft.com/office/drawing/2014/main" id="{BB578E8A-A664-4A81-A466-F2903CA08D64}"/>
              </a:ext>
            </a:extLst>
          </p:cNvPr>
          <p:cNvSpPr>
            <a:spLocks noGrp="1"/>
          </p:cNvSpPr>
          <p:nvPr/>
        </p:nvSpPr>
        <p:spPr>
          <a:xfrm>
            <a:off x="7507224" y="5082540"/>
            <a:ext cx="4059935" cy="6781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42767822-8C6A-4AA1-9B75-C58DF72BBE26}"/>
              </a:ext>
            </a:extLst>
          </p:cNvPr>
          <p:cNvSpPr>
            <a:spLocks noGrp="1"/>
          </p:cNvSpPr>
          <p:nvPr/>
        </p:nvSpPr>
        <p:spPr>
          <a:xfrm>
            <a:off x="7580376" y="5155692"/>
            <a:ext cx="3913631" cy="568452"/>
          </a:xfrm>
          <a:prstGeom prst="rect">
            <a:avLst/>
          </a:prstGeom>
          <a:noFill/>
        </p:spPr>
        <p:txBody>
          <a:bodyPr wrap="square">
            <a:spAutoFit/>
          </a:bodyPr>
          <a:lstStyle/>
          <a:p>
            <a:pPr algn="l">
              <a:buNone/>
            </a:pPr>
            <a:r>
              <a:rPr sz="1000" b="0">
                <a:solidFill>
                  <a:srgbClr val="15201B"/>
                </a:solidFill>
                <a:latin typeface="Aptos"/>
                <a:ea typeface="Aptos"/>
                <a:cs typeface="Aptos"/>
              </a:rPr>
              <a:t>Reliability, drift, alert volume, security, recovery, and separate clinical approval for any next stage</a:t>
            </a:r>
          </a:p>
        </p:txBody>
      </p:sp>
      <p:sp>
        <p:nvSpPr>
          <p:cNvPr id="41" name="TextBox 40">
            <a:extLst>
              <a:ext uri="{FF2B5EF4-FFF2-40B4-BE49-F238E27FC236}">
                <a16:creationId xmlns:a16="http://schemas.microsoft.com/office/drawing/2014/main" id="{B1D0300A-8102-422A-B87C-10ACE4D3BDF4}"/>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Evidence—not calendar dates—advances the federation / 28</a:t>
            </a:r>
          </a:p>
        </p:txBody>
      </p:sp>
    </p:spTree>
    <p:extLst>
      <p:ext uri="{BB962C8B-B14F-4D97-AF65-F5344CB8AC3E}">
        <p14:creationId xmlns:p14="http://schemas.microsoft.com/office/powerpoint/2010/main" val="1705652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7D0897-00AD-4965-8CE2-0C3E3BDAA895}"/>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SUCCESS MEASURES</a:t>
            </a:r>
          </a:p>
        </p:txBody>
      </p:sp>
      <p:sp>
        <p:nvSpPr>
          <p:cNvPr id="3" name="TextBox 2">
            <a:extLst>
              <a:ext uri="{FF2B5EF4-FFF2-40B4-BE49-F238E27FC236}">
                <a16:creationId xmlns:a16="http://schemas.microsoft.com/office/drawing/2014/main" id="{F19EF4B8-D416-44CC-8F0F-CD690DE62B0E}"/>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Success means quality, privacy, and recovery.</a:t>
            </a:r>
          </a:p>
        </p:txBody>
      </p:sp>
      <p:sp>
        <p:nvSpPr>
          <p:cNvPr id="4" name="TextBox 3">
            <a:extLst>
              <a:ext uri="{FF2B5EF4-FFF2-40B4-BE49-F238E27FC236}">
                <a16:creationId xmlns:a16="http://schemas.microsoft.com/office/drawing/2014/main" id="{BE5C6F23-B794-41CB-9828-0309755B56BA}"/>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No single accuracy number proves that the federated system is safe or useful.</a:t>
            </a:r>
          </a:p>
        </p:txBody>
      </p:sp>
      <p:sp>
        <p:nvSpPr>
          <p:cNvPr id="5" name="Rounded Rectangle 4">
            <a:extLst>
              <a:ext uri="{FF2B5EF4-FFF2-40B4-BE49-F238E27FC236}">
                <a16:creationId xmlns:a16="http://schemas.microsoft.com/office/drawing/2014/main" id="{B185A7CA-8862-4A59-84A7-D6796384C0A0}"/>
              </a:ext>
            </a:extLst>
          </p:cNvPr>
          <p:cNvSpPr>
            <a:spLocks noGrp="1"/>
          </p:cNvSpPr>
          <p:nvPr/>
        </p:nvSpPr>
        <p:spPr>
          <a:xfrm>
            <a:off x="777240" y="1737360"/>
            <a:ext cx="4892040" cy="11430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A6ABA7-B17F-4F9D-95AC-A9AD1840DA5F}"/>
              </a:ext>
            </a:extLst>
          </p:cNvPr>
          <p:cNvSpPr>
            <a:spLocks noGrp="1"/>
          </p:cNvSpPr>
          <p:nvPr/>
        </p:nvSpPr>
        <p:spPr>
          <a:xfrm>
            <a:off x="94183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Cross-site model evidence</a:t>
            </a:r>
          </a:p>
        </p:txBody>
      </p:sp>
      <p:sp>
        <p:nvSpPr>
          <p:cNvPr id="7" name="TextBox 6">
            <a:extLst>
              <a:ext uri="{FF2B5EF4-FFF2-40B4-BE49-F238E27FC236}">
                <a16:creationId xmlns:a16="http://schemas.microsoft.com/office/drawing/2014/main" id="{A16C6DE5-10AC-4D7B-A902-BE1A4B95FA97}"/>
              </a:ext>
            </a:extLst>
          </p:cNvPr>
          <p:cNvSpPr>
            <a:spLocks noGrp="1"/>
          </p:cNvSpPr>
          <p:nvPr/>
        </p:nvSpPr>
        <p:spPr>
          <a:xfrm>
            <a:off x="94183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Calibration and discrimination at every hospital; approved group results; comparison with local-only and current baselines.</a:t>
            </a:r>
          </a:p>
        </p:txBody>
      </p:sp>
      <p:sp>
        <p:nvSpPr>
          <p:cNvPr id="8" name="Rounded Rectangle 7">
            <a:extLst>
              <a:ext uri="{FF2B5EF4-FFF2-40B4-BE49-F238E27FC236}">
                <a16:creationId xmlns:a16="http://schemas.microsoft.com/office/drawing/2014/main" id="{DB689BD0-DEBE-4890-84C2-52C9C0F87691}"/>
              </a:ext>
            </a:extLst>
          </p:cNvPr>
          <p:cNvSpPr>
            <a:spLocks noGrp="1"/>
          </p:cNvSpPr>
          <p:nvPr/>
        </p:nvSpPr>
        <p:spPr>
          <a:xfrm>
            <a:off x="6217920" y="1737360"/>
            <a:ext cx="4892040" cy="11430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2C22423-3633-4CFF-9783-DEDD0DB789E8}"/>
              </a:ext>
            </a:extLst>
          </p:cNvPr>
          <p:cNvSpPr>
            <a:spLocks noGrp="1"/>
          </p:cNvSpPr>
          <p:nvPr/>
        </p:nvSpPr>
        <p:spPr>
          <a:xfrm>
            <a:off x="638251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Minimal data movement</a:t>
            </a:r>
          </a:p>
        </p:txBody>
      </p:sp>
      <p:sp>
        <p:nvSpPr>
          <p:cNvPr id="10" name="TextBox 9">
            <a:extLst>
              <a:ext uri="{FF2B5EF4-FFF2-40B4-BE49-F238E27FC236}">
                <a16:creationId xmlns:a16="http://schemas.microsoft.com/office/drawing/2014/main" id="{38C7BA40-A629-4F2C-9946-C9AFDE739862}"/>
              </a:ext>
            </a:extLst>
          </p:cNvPr>
          <p:cNvSpPr>
            <a:spLocks noGrp="1"/>
          </p:cNvSpPr>
          <p:nvPr/>
        </p:nvSpPr>
        <p:spPr>
          <a:xfrm>
            <a:off x="638251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Zero raw patient rows in the GMA path; measured message size; blocked fields; cohort and privacy-threshold compliance.</a:t>
            </a:r>
          </a:p>
        </p:txBody>
      </p:sp>
      <p:sp>
        <p:nvSpPr>
          <p:cNvPr id="11" name="Rounded Rectangle 10">
            <a:extLst>
              <a:ext uri="{FF2B5EF4-FFF2-40B4-BE49-F238E27FC236}">
                <a16:creationId xmlns:a16="http://schemas.microsoft.com/office/drawing/2014/main" id="{E5CF9E1F-B30B-4AF0-BFE2-3E3E214ECC1C}"/>
              </a:ext>
            </a:extLst>
          </p:cNvPr>
          <p:cNvSpPr>
            <a:spLocks noGrp="1"/>
          </p:cNvSpPr>
          <p:nvPr/>
        </p:nvSpPr>
        <p:spPr>
          <a:xfrm>
            <a:off x="777240" y="3383280"/>
            <a:ext cx="4892040" cy="114300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B6C606A-7A36-4A56-AE5F-ED90CCBB9865}"/>
              </a:ext>
            </a:extLst>
          </p:cNvPr>
          <p:cNvSpPr>
            <a:spLocks noGrp="1"/>
          </p:cNvSpPr>
          <p:nvPr/>
        </p:nvSpPr>
        <p:spPr>
          <a:xfrm>
            <a:off x="94183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Reliable rounds</a:t>
            </a:r>
          </a:p>
        </p:txBody>
      </p:sp>
      <p:sp>
        <p:nvSpPr>
          <p:cNvPr id="13" name="TextBox 12">
            <a:extLst>
              <a:ext uri="{FF2B5EF4-FFF2-40B4-BE49-F238E27FC236}">
                <a16:creationId xmlns:a16="http://schemas.microsoft.com/office/drawing/2014/main" id="{0E2DE3C6-7B14-47CE-984B-4FEA66D42DD9}"/>
              </a:ext>
            </a:extLst>
          </p:cNvPr>
          <p:cNvSpPr>
            <a:spLocks noGrp="1"/>
          </p:cNvSpPr>
          <p:nvPr/>
        </p:nvSpPr>
        <p:spPr>
          <a:xfrm>
            <a:off x="94183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Completion, timeout, dropout, retry, cancellation, signature verification, and time to stop a bad round.</a:t>
            </a:r>
          </a:p>
        </p:txBody>
      </p:sp>
      <p:sp>
        <p:nvSpPr>
          <p:cNvPr id="14" name="Rounded Rectangle 13">
            <a:extLst>
              <a:ext uri="{FF2B5EF4-FFF2-40B4-BE49-F238E27FC236}">
                <a16:creationId xmlns:a16="http://schemas.microsoft.com/office/drawing/2014/main" id="{02068F01-5A1E-4CA8-BAC8-5916EBED6DE1}"/>
              </a:ext>
            </a:extLst>
          </p:cNvPr>
          <p:cNvSpPr>
            <a:spLocks noGrp="1"/>
          </p:cNvSpPr>
          <p:nvPr/>
        </p:nvSpPr>
        <p:spPr>
          <a:xfrm>
            <a:off x="6217920" y="3383280"/>
            <a:ext cx="4892040" cy="11430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FF3519E-A7D4-4C26-97BE-CCD863D217C3}"/>
              </a:ext>
            </a:extLst>
          </p:cNvPr>
          <p:cNvSpPr>
            <a:spLocks noGrp="1"/>
          </p:cNvSpPr>
          <p:nvPr/>
        </p:nvSpPr>
        <p:spPr>
          <a:xfrm>
            <a:off x="638251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Proof of recovery</a:t>
            </a:r>
          </a:p>
        </p:txBody>
      </p:sp>
      <p:sp>
        <p:nvSpPr>
          <p:cNvPr id="16" name="TextBox 15">
            <a:extLst>
              <a:ext uri="{FF2B5EF4-FFF2-40B4-BE49-F238E27FC236}">
                <a16:creationId xmlns:a16="http://schemas.microsoft.com/office/drawing/2014/main" id="{A348AC81-5D4F-4221-91E2-2B61032AA866}"/>
              </a:ext>
            </a:extLst>
          </p:cNvPr>
          <p:cNvSpPr>
            <a:spLocks noGrp="1"/>
          </p:cNvSpPr>
          <p:nvPr/>
        </p:nvSpPr>
        <p:spPr>
          <a:xfrm>
            <a:off x="6382512" y="3913632"/>
            <a:ext cx="4572000" cy="640080"/>
          </a:xfrm>
          <a:prstGeom prst="rect">
            <a:avLst/>
          </a:prstGeom>
          <a:noFill/>
        </p:spPr>
        <p:txBody>
          <a:bodyPr wrap="square">
            <a:spAutoFit/>
          </a:bodyPr>
          <a:lstStyle/>
          <a:p>
            <a:pPr algn="l">
              <a:buNone/>
            </a:pPr>
            <a:r>
              <a:rPr sz="1200" b="0">
                <a:solidFill>
                  <a:srgbClr val="53635B"/>
                </a:solidFill>
                <a:latin typeface="Aptos"/>
                <a:ea typeface="Aptos"/>
                <a:cs typeface="Aptos"/>
              </a:rPr>
              <a:t>Complete seed-to-release lineage; immutable approved versions; successful scheduled rollback and evidence-recovery drills.</a:t>
            </a:r>
          </a:p>
        </p:txBody>
      </p:sp>
      <p:sp>
        <p:nvSpPr>
          <p:cNvPr id="17" name="TextBox 16">
            <a:extLst>
              <a:ext uri="{FF2B5EF4-FFF2-40B4-BE49-F238E27FC236}">
                <a16:creationId xmlns:a16="http://schemas.microsoft.com/office/drawing/2014/main" id="{0189CDBE-DBE1-4102-896D-D470C23C8EA5}"/>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Set measured baselines before targets; do not borrow NVIDIA study results as project goals / 29</a:t>
            </a:r>
          </a:p>
        </p:txBody>
      </p:sp>
    </p:spTree>
    <p:extLst>
      <p:ext uri="{BB962C8B-B14F-4D97-AF65-F5344CB8AC3E}">
        <p14:creationId xmlns:p14="http://schemas.microsoft.com/office/powerpoint/2010/main" val="1152305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BB9CCDB-CDB6-46D2-AAB1-924DC0F3EDF6}"/>
              </a:ext>
            </a:extLst>
          </p:cNvPr>
          <p:cNvSpPr>
            <a:spLocks noGrp="1"/>
          </p:cNvSpPr>
          <p:nvPr/>
        </p:nvSpPr>
        <p:spPr>
          <a:xfrm>
            <a:off x="0" y="0"/>
            <a:ext cx="12192000" cy="6858000"/>
          </a:xfrm>
          <a:prstGeom prst="rect">
            <a:avLst/>
          </a:prstGeom>
          <a:solidFill>
            <a:srgbClr val="111815"/>
          </a:solidFill>
          <a:ln w="9525">
            <a:solidFill>
              <a:srgbClr val="111815"/>
            </a:solidFill>
          </a:ln>
        </p:spPr>
        <p:txBody>
          <a:bodyPr/>
          <a:lstStyle/>
          <a:p>
            <a:endParaRPr/>
          </a:p>
        </p:txBody>
      </p:sp>
      <p:sp>
        <p:nvSpPr>
          <p:cNvPr id="2" name="Rectangle 1">
            <a:extLst>
              <a:ext uri="{FF2B5EF4-FFF2-40B4-BE49-F238E27FC236}">
                <a16:creationId xmlns:a16="http://schemas.microsoft.com/office/drawing/2014/main" id="{93BB2566-7613-48BE-B8F4-6418A62A4686}"/>
              </a:ext>
            </a:extLst>
          </p:cNvPr>
          <p:cNvSpPr>
            <a:spLocks noGrp="1"/>
          </p:cNvSpPr>
          <p:nvPr/>
        </p:nvSpPr>
        <p:spPr>
          <a:xfrm>
            <a:off x="666750" y="400050"/>
            <a:ext cx="1619250" cy="238125"/>
          </a:xfrm>
          <a:prstGeom prst="rect">
            <a:avLst/>
          </a:prstGeom>
          <a:solidFill>
            <a:srgbClr val="2E6F4E"/>
          </a:solidFill>
          <a:ln w="9525">
            <a:solidFill>
              <a:srgbClr val="2E6F4E"/>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RECOMMENDATION</a:t>
            </a:r>
          </a:p>
        </p:txBody>
      </p:sp>
      <p:sp>
        <p:nvSpPr>
          <p:cNvPr id="3" name="Rectangle 2">
            <a:extLst>
              <a:ext uri="{FF2B5EF4-FFF2-40B4-BE49-F238E27FC236}">
                <a16:creationId xmlns:a16="http://schemas.microsoft.com/office/drawing/2014/main" id="{F0F9FC07-4330-4143-B79D-8612B56C5543}"/>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FFFFFF"/>
                </a:solidFill>
                <a:latin typeface="Georgia"/>
                <a:ea typeface="Georgia"/>
                <a:cs typeface="Georgia"/>
              </a:defRPr>
            </a:pPr>
            <a:r>
              <a:rPr sz="2550" b="0">
                <a:solidFill>
                  <a:srgbClr val="FFFFFF"/>
                </a:solidFill>
                <a:latin typeface="Georgia"/>
                <a:ea typeface="Georgia"/>
                <a:cs typeface="Georgia"/>
              </a:rPr>
              <a:t>Start with federated analytics; earn the right to train.</a:t>
            </a:r>
          </a:p>
        </p:txBody>
      </p:sp>
      <p:sp>
        <p:nvSpPr>
          <p:cNvPr id="4" name="Rectangle 3">
            <a:extLst>
              <a:ext uri="{FF2B5EF4-FFF2-40B4-BE49-F238E27FC236}">
                <a16:creationId xmlns:a16="http://schemas.microsoft.com/office/drawing/2014/main" id="{7ECA9760-6385-4CDB-B187-EBB7C065B319}"/>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C6D2CB"/>
                </a:solidFill>
                <a:latin typeface="Aptos"/>
                <a:ea typeface="Aptos"/>
                <a:cs typeface="Aptos"/>
              </a:defRPr>
            </a:pPr>
            <a:r>
              <a:rPr sz="1200" b="0">
                <a:solidFill>
                  <a:srgbClr val="C6D2CB"/>
                </a:solidFill>
                <a:latin typeface="Aptos"/>
                <a:ea typeface="Aptos"/>
                <a:cs typeface="Aptos"/>
              </a:rPr>
              <a:t>Use Dagents as the governed orchestration and release layer around a specialist federated-learning engine.</a:t>
            </a:r>
          </a:p>
        </p:txBody>
      </p:sp>
      <p:sp>
        <p:nvSpPr>
          <p:cNvPr id="5" name="Rectangle 4">
            <a:extLst>
              <a:ext uri="{FF2B5EF4-FFF2-40B4-BE49-F238E27FC236}">
                <a16:creationId xmlns:a16="http://schemas.microsoft.com/office/drawing/2014/main" id="{3EB072AB-1C19-4895-B0A7-4060EE04F0E8}"/>
              </a:ext>
            </a:extLst>
          </p:cNvPr>
          <p:cNvSpPr>
            <a:spLocks noGrp="1"/>
          </p:cNvSpPr>
          <p:nvPr/>
        </p:nvSpPr>
        <p:spPr>
          <a:xfrm>
            <a:off x="1238250" y="2695575"/>
            <a:ext cx="114300" cy="114300"/>
          </a:xfrm>
          <a:prstGeom prst="rect">
            <a:avLst/>
          </a:prstGeom>
          <a:solidFill>
            <a:srgbClr val="2E6F4E"/>
          </a:solidFill>
          <a:ln w="9525">
            <a:solidFill>
              <a:srgbClr val="2E6F4E"/>
            </a:solidFill>
          </a:ln>
        </p:spPr>
        <p:txBody>
          <a:bodyPr/>
          <a:lstStyle/>
          <a:p>
            <a:endParaRPr/>
          </a:p>
        </p:txBody>
      </p:sp>
      <p:sp>
        <p:nvSpPr>
          <p:cNvPr id="6" name="Rectangle 5">
            <a:extLst>
              <a:ext uri="{FF2B5EF4-FFF2-40B4-BE49-F238E27FC236}">
                <a16:creationId xmlns:a16="http://schemas.microsoft.com/office/drawing/2014/main" id="{F50D9345-3D90-4ADB-8B0E-AC4618397D62}"/>
              </a:ext>
            </a:extLst>
          </p:cNvPr>
          <p:cNvSpPr>
            <a:spLocks noGrp="1"/>
          </p:cNvSpPr>
          <p:nvPr/>
        </p:nvSpPr>
        <p:spPr>
          <a:xfrm>
            <a:off x="1504950" y="26289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Define one stroke-triage research use, feature contract, participant policy, site owner, and safe fallback.</a:t>
            </a:r>
          </a:p>
        </p:txBody>
      </p:sp>
      <p:sp>
        <p:nvSpPr>
          <p:cNvPr id="7" name="Rectangle 6">
            <a:extLst>
              <a:ext uri="{FF2B5EF4-FFF2-40B4-BE49-F238E27FC236}">
                <a16:creationId xmlns:a16="http://schemas.microsoft.com/office/drawing/2014/main" id="{34E22953-DC38-4E78-9226-CFA14AEE5151}"/>
              </a:ext>
            </a:extLst>
          </p:cNvPr>
          <p:cNvSpPr>
            <a:spLocks noGrp="1"/>
          </p:cNvSpPr>
          <p:nvPr/>
        </p:nvSpPr>
        <p:spPr>
          <a:xfrm>
            <a:off x="1238250" y="3190875"/>
            <a:ext cx="114300" cy="114300"/>
          </a:xfrm>
          <a:prstGeom prst="rect">
            <a:avLst/>
          </a:prstGeom>
          <a:solidFill>
            <a:srgbClr val="2D5B7C"/>
          </a:solidFill>
          <a:ln w="9525">
            <a:solidFill>
              <a:srgbClr val="2D5B7C"/>
            </a:solidFill>
          </a:ln>
        </p:spPr>
        <p:txBody>
          <a:bodyPr/>
          <a:lstStyle/>
          <a:p>
            <a:endParaRPr/>
          </a:p>
        </p:txBody>
      </p:sp>
      <p:sp>
        <p:nvSpPr>
          <p:cNvPr id="8" name="Rectangle 7">
            <a:extLst>
              <a:ext uri="{FF2B5EF4-FFF2-40B4-BE49-F238E27FC236}">
                <a16:creationId xmlns:a16="http://schemas.microsoft.com/office/drawing/2014/main" id="{E201BC90-F2F2-4805-BA8E-271EFB531396}"/>
              </a:ext>
            </a:extLst>
          </p:cNvPr>
          <p:cNvSpPr>
            <a:spLocks noGrp="1"/>
          </p:cNvSpPr>
          <p:nvPr/>
        </p:nvSpPr>
        <p:spPr>
          <a:xfrm>
            <a:off x="1504950" y="31242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Run data-readiness and seed-model evaluation locally; share only protected aggregate measures.</a:t>
            </a:r>
          </a:p>
        </p:txBody>
      </p:sp>
      <p:sp>
        <p:nvSpPr>
          <p:cNvPr id="9" name="Rectangle 8">
            <a:extLst>
              <a:ext uri="{FF2B5EF4-FFF2-40B4-BE49-F238E27FC236}">
                <a16:creationId xmlns:a16="http://schemas.microsoft.com/office/drawing/2014/main" id="{83C595F4-C3FC-4AC3-9C61-8E944966915E}"/>
              </a:ext>
            </a:extLst>
          </p:cNvPr>
          <p:cNvSpPr>
            <a:spLocks noGrp="1"/>
          </p:cNvSpPr>
          <p:nvPr/>
        </p:nvSpPr>
        <p:spPr>
          <a:xfrm>
            <a:off x="1238250" y="3686175"/>
            <a:ext cx="114300" cy="114300"/>
          </a:xfrm>
          <a:prstGeom prst="rect">
            <a:avLst/>
          </a:prstGeom>
          <a:solidFill>
            <a:srgbClr val="B4842B"/>
          </a:solidFill>
          <a:ln w="9525">
            <a:solidFill>
              <a:srgbClr val="B4842B"/>
            </a:solidFill>
          </a:ln>
        </p:spPr>
        <p:txBody>
          <a:bodyPr/>
          <a:lstStyle/>
          <a:p>
            <a:endParaRPr/>
          </a:p>
        </p:txBody>
      </p:sp>
      <p:sp>
        <p:nvSpPr>
          <p:cNvPr id="10" name="Rectangle 9">
            <a:extLst>
              <a:ext uri="{FF2B5EF4-FFF2-40B4-BE49-F238E27FC236}">
                <a16:creationId xmlns:a16="http://schemas.microsoft.com/office/drawing/2014/main" id="{DF788CBF-F21E-4EBF-9914-76AC84C9ADCD}"/>
              </a:ext>
            </a:extLst>
          </p:cNvPr>
          <p:cNvSpPr>
            <a:spLocks noGrp="1"/>
          </p:cNvSpPr>
          <p:nvPr/>
        </p:nvSpPr>
        <p:spPr>
          <a:xfrm>
            <a:off x="1504950" y="36195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Integrate NVIDIA FLARE or an equivalent engine behind Dagents round and result contracts.</a:t>
            </a:r>
          </a:p>
        </p:txBody>
      </p:sp>
      <p:sp>
        <p:nvSpPr>
          <p:cNvPr id="11" name="Rectangle 10">
            <a:extLst>
              <a:ext uri="{FF2B5EF4-FFF2-40B4-BE49-F238E27FC236}">
                <a16:creationId xmlns:a16="http://schemas.microsoft.com/office/drawing/2014/main" id="{191B8C96-263A-43AE-AA7B-D08F672A8504}"/>
              </a:ext>
            </a:extLst>
          </p:cNvPr>
          <p:cNvSpPr>
            <a:spLocks noGrp="1"/>
          </p:cNvSpPr>
          <p:nvPr/>
        </p:nvSpPr>
        <p:spPr>
          <a:xfrm>
            <a:off x="1238250" y="4181475"/>
            <a:ext cx="114300" cy="114300"/>
          </a:xfrm>
          <a:prstGeom prst="rect">
            <a:avLst/>
          </a:prstGeom>
          <a:solidFill>
            <a:srgbClr val="A34D3E"/>
          </a:solidFill>
          <a:ln w="9525">
            <a:solidFill>
              <a:srgbClr val="A34D3E"/>
            </a:solidFill>
          </a:ln>
        </p:spPr>
        <p:txBody>
          <a:bodyPr/>
          <a:lstStyle/>
          <a:p>
            <a:endParaRPr/>
          </a:p>
        </p:txBody>
      </p:sp>
      <p:sp>
        <p:nvSpPr>
          <p:cNvPr id="12" name="Rectangle 11">
            <a:extLst>
              <a:ext uri="{FF2B5EF4-FFF2-40B4-BE49-F238E27FC236}">
                <a16:creationId xmlns:a16="http://schemas.microsoft.com/office/drawing/2014/main" id="{229351B7-7389-422E-BC6A-7BB16FE694F4}"/>
              </a:ext>
            </a:extLst>
          </p:cNvPr>
          <p:cNvSpPr>
            <a:spLocks noGrp="1"/>
          </p:cNvSpPr>
          <p:nvPr/>
        </p:nvSpPr>
        <p:spPr>
          <a:xfrm>
            <a:off x="1504950" y="41148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Require local code approval, secure aggregation where needed, signed releases, and complete lineage.</a:t>
            </a:r>
          </a:p>
        </p:txBody>
      </p:sp>
      <p:sp>
        <p:nvSpPr>
          <p:cNvPr id="13" name="Rectangle 12">
            <a:extLst>
              <a:ext uri="{FF2B5EF4-FFF2-40B4-BE49-F238E27FC236}">
                <a16:creationId xmlns:a16="http://schemas.microsoft.com/office/drawing/2014/main" id="{B7051E74-2CCC-4F86-A1EB-E60028ACCA68}"/>
              </a:ext>
            </a:extLst>
          </p:cNvPr>
          <p:cNvSpPr>
            <a:spLocks noGrp="1"/>
          </p:cNvSpPr>
          <p:nvPr/>
        </p:nvSpPr>
        <p:spPr>
          <a:xfrm>
            <a:off x="1238250" y="4676775"/>
            <a:ext cx="114300" cy="114300"/>
          </a:xfrm>
          <a:prstGeom prst="rect">
            <a:avLst/>
          </a:prstGeom>
          <a:solidFill>
            <a:srgbClr val="65549A"/>
          </a:solidFill>
          <a:ln w="9525">
            <a:solidFill>
              <a:srgbClr val="65549A"/>
            </a:solidFill>
          </a:ln>
        </p:spPr>
        <p:txBody>
          <a:bodyPr/>
          <a:lstStyle/>
          <a:p>
            <a:endParaRPr/>
          </a:p>
        </p:txBody>
      </p:sp>
      <p:sp>
        <p:nvSpPr>
          <p:cNvPr id="14" name="Rectangle 13">
            <a:extLst>
              <a:ext uri="{FF2B5EF4-FFF2-40B4-BE49-F238E27FC236}">
                <a16:creationId xmlns:a16="http://schemas.microsoft.com/office/drawing/2014/main" id="{D8346266-EA9B-4C5E-A665-4242A6261EA6}"/>
              </a:ext>
            </a:extLst>
          </p:cNvPr>
          <p:cNvSpPr>
            <a:spLocks noGrp="1"/>
          </p:cNvSpPr>
          <p:nvPr/>
        </p:nvSpPr>
        <p:spPr>
          <a:xfrm>
            <a:off x="1504950" y="46101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Practice cancellation and rollback before retrospective training—and again before any clinician-facing study.</a:t>
            </a:r>
          </a:p>
        </p:txBody>
      </p:sp>
      <p:sp>
        <p:nvSpPr>
          <p:cNvPr id="15" name="Rectangle 14">
            <a:extLst>
              <a:ext uri="{FF2B5EF4-FFF2-40B4-BE49-F238E27FC236}">
                <a16:creationId xmlns:a16="http://schemas.microsoft.com/office/drawing/2014/main" id="{6D813CCE-EE3F-4E16-87AA-303D37C09902}"/>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94A39A"/>
                </a:solidFill>
                <a:latin typeface="Aptos"/>
                <a:ea typeface="Aptos"/>
                <a:cs typeface="Aptos"/>
              </a:defRPr>
            </a:pPr>
            <a:r>
              <a:rPr sz="825" b="0">
                <a:solidFill>
                  <a:srgbClr val="94A39A"/>
                </a:solidFill>
                <a:latin typeface="Aptos"/>
                <a:ea typeface="Aptos"/>
                <a:cs typeface="Aptos"/>
              </a:rPr>
              <a:t>Dagents Federated Healthcare / 30</a:t>
            </a:r>
          </a:p>
        </p:txBody>
      </p:sp>
    </p:spTree>
    <p:extLst>
      <p:ext uri="{BB962C8B-B14F-4D97-AF65-F5344CB8AC3E}">
        <p14:creationId xmlns:p14="http://schemas.microsoft.com/office/powerpoint/2010/main" val="2484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8DBD12-B4E5-4D50-862A-EE95276939B5}"/>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GLOSSARY</a:t>
            </a:r>
          </a:p>
        </p:txBody>
      </p:sp>
      <p:sp>
        <p:nvSpPr>
          <p:cNvPr id="3" name="TextBox 2">
            <a:extLst>
              <a:ext uri="{FF2B5EF4-FFF2-40B4-BE49-F238E27FC236}">
                <a16:creationId xmlns:a16="http://schemas.microsoft.com/office/drawing/2014/main" id="{4CA5135A-B7C2-4A3F-A4B9-1A19657118BC}"/>
              </a:ext>
            </a:extLst>
          </p:cNvPr>
          <p:cNvSpPr>
            <a:spLocks noGrp="1"/>
          </p:cNvSpPr>
          <p:nvPr/>
        </p:nvSpPr>
        <p:spPr>
          <a:xfrm>
            <a:off x="548640" y="658368"/>
            <a:ext cx="10424160" cy="538609"/>
          </a:xfrm>
          <a:prstGeom prst="rect">
            <a:avLst/>
          </a:prstGeom>
          <a:noFill/>
        </p:spPr>
        <p:txBody>
          <a:bodyPr wrap="square">
            <a:spAutoFit/>
          </a:bodyPr>
          <a:lstStyle/>
          <a:p>
            <a:pPr algn="l">
              <a:buNone/>
            </a:pPr>
            <a:r>
              <a:rPr sz="2900" b="1">
                <a:solidFill>
                  <a:srgbClr val="15201B"/>
                </a:solidFill>
                <a:latin typeface="Aptos"/>
                <a:ea typeface="Aptos"/>
                <a:cs typeface="Aptos"/>
              </a:rPr>
              <a:t>Federated-system terms</a:t>
            </a:r>
          </a:p>
        </p:txBody>
      </p:sp>
      <p:sp>
        <p:nvSpPr>
          <p:cNvPr id="4" name="TextBox 3">
            <a:extLst>
              <a:ext uri="{FF2B5EF4-FFF2-40B4-BE49-F238E27FC236}">
                <a16:creationId xmlns:a16="http://schemas.microsoft.com/office/drawing/2014/main" id="{144F016E-D41B-49E9-9DA2-D7111539AAC2}"/>
              </a:ext>
            </a:extLst>
          </p:cNvPr>
          <p:cNvSpPr>
            <a:spLocks noGrp="1"/>
          </p:cNvSpPr>
          <p:nvPr/>
        </p:nvSpPr>
        <p:spPr>
          <a:xfrm>
            <a:off x="566928" y="1225296"/>
            <a:ext cx="9784080" cy="411480"/>
          </a:xfrm>
          <a:prstGeom prst="rect">
            <a:avLst/>
          </a:prstGeom>
          <a:noFill/>
        </p:spPr>
        <p:txBody>
          <a:bodyPr wrap="square">
            <a:spAutoFit/>
          </a:bodyPr>
          <a:lstStyle/>
          <a:p>
            <a:pPr algn="l">
              <a:buNone/>
            </a:pPr>
            <a:r>
              <a:rPr sz="1400" b="0">
                <a:solidFill>
                  <a:srgbClr val="53635B"/>
                </a:solidFill>
                <a:latin typeface="Aptos"/>
                <a:ea typeface="Aptos"/>
                <a:cs typeface="Aptos"/>
              </a:rPr>
              <a:t>The terms describe different jobs; none is automatic proof of privacy, security, safety, or compliance.</a:t>
            </a:r>
          </a:p>
        </p:txBody>
      </p:sp>
      <p:sp>
        <p:nvSpPr>
          <p:cNvPr id="5" name="Rectangle 4">
            <a:extLst>
              <a:ext uri="{FF2B5EF4-FFF2-40B4-BE49-F238E27FC236}">
                <a16:creationId xmlns:a16="http://schemas.microsoft.com/office/drawing/2014/main" id="{9CE8E996-E424-4293-8C1C-AF9D6E1AB446}"/>
              </a:ext>
            </a:extLst>
          </p:cNvPr>
          <p:cNvSpPr>
            <a:spLocks noGrp="1"/>
          </p:cNvSpPr>
          <p:nvPr/>
        </p:nvSpPr>
        <p:spPr>
          <a:xfrm>
            <a:off x="502920" y="1627632"/>
            <a:ext cx="2888589"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15342B3-FAB8-43E7-96EC-D556D6737311}"/>
              </a:ext>
            </a:extLst>
          </p:cNvPr>
          <p:cNvSpPr>
            <a:spLocks noGrp="1"/>
          </p:cNvSpPr>
          <p:nvPr/>
        </p:nvSpPr>
        <p:spPr>
          <a:xfrm>
            <a:off x="576072" y="1700784"/>
            <a:ext cx="2742285" cy="644652"/>
          </a:xfrm>
          <a:prstGeom prst="rect">
            <a:avLst/>
          </a:prstGeom>
          <a:noFill/>
        </p:spPr>
        <p:txBody>
          <a:bodyPr wrap="square">
            <a:spAutoFit/>
          </a:bodyPr>
          <a:lstStyle/>
          <a:p>
            <a:pPr algn="l">
              <a:buNone/>
            </a:pPr>
            <a:r>
              <a:rPr sz="1100" b="1">
                <a:solidFill>
                  <a:srgbClr val="15201B"/>
                </a:solidFill>
                <a:latin typeface="Aptos"/>
                <a:ea typeface="Aptos"/>
                <a:cs typeface="Aptos"/>
              </a:rPr>
              <a:t>Term</a:t>
            </a:r>
          </a:p>
        </p:txBody>
      </p:sp>
      <p:sp>
        <p:nvSpPr>
          <p:cNvPr id="7" name="Rectangle 6">
            <a:extLst>
              <a:ext uri="{FF2B5EF4-FFF2-40B4-BE49-F238E27FC236}">
                <a16:creationId xmlns:a16="http://schemas.microsoft.com/office/drawing/2014/main" id="{352CF242-7638-4E68-8FA8-D78A0F42581E}"/>
              </a:ext>
            </a:extLst>
          </p:cNvPr>
          <p:cNvSpPr>
            <a:spLocks noGrp="1"/>
          </p:cNvSpPr>
          <p:nvPr/>
        </p:nvSpPr>
        <p:spPr>
          <a:xfrm>
            <a:off x="3391509" y="1627632"/>
            <a:ext cx="4110685"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CF779A8A-1ADC-407D-865C-BB8D994150C0}"/>
              </a:ext>
            </a:extLst>
          </p:cNvPr>
          <p:cNvSpPr>
            <a:spLocks noGrp="1"/>
          </p:cNvSpPr>
          <p:nvPr/>
        </p:nvSpPr>
        <p:spPr>
          <a:xfrm>
            <a:off x="3464661" y="1700784"/>
            <a:ext cx="3964381" cy="644652"/>
          </a:xfrm>
          <a:prstGeom prst="rect">
            <a:avLst/>
          </a:prstGeom>
          <a:noFill/>
        </p:spPr>
        <p:txBody>
          <a:bodyPr wrap="square">
            <a:spAutoFit/>
          </a:bodyPr>
          <a:lstStyle/>
          <a:p>
            <a:pPr algn="l">
              <a:buNone/>
            </a:pPr>
            <a:r>
              <a:rPr sz="1100" b="1">
                <a:solidFill>
                  <a:srgbClr val="15201B"/>
                </a:solidFill>
                <a:latin typeface="Aptos"/>
                <a:ea typeface="Aptos"/>
                <a:cs typeface="Aptos"/>
              </a:rPr>
              <a:t>Plain meaning</a:t>
            </a:r>
          </a:p>
        </p:txBody>
      </p:sp>
      <p:sp>
        <p:nvSpPr>
          <p:cNvPr id="9" name="Rectangle 8">
            <a:extLst>
              <a:ext uri="{FF2B5EF4-FFF2-40B4-BE49-F238E27FC236}">
                <a16:creationId xmlns:a16="http://schemas.microsoft.com/office/drawing/2014/main" id="{87467CD7-205E-45FC-9D3C-702CF1606E65}"/>
              </a:ext>
            </a:extLst>
          </p:cNvPr>
          <p:cNvSpPr>
            <a:spLocks noGrp="1"/>
          </p:cNvSpPr>
          <p:nvPr/>
        </p:nvSpPr>
        <p:spPr>
          <a:xfrm>
            <a:off x="7502194" y="1627632"/>
            <a:ext cx="4110685"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2D5641A-7A5E-448B-8A7F-B80482867BF1}"/>
              </a:ext>
            </a:extLst>
          </p:cNvPr>
          <p:cNvSpPr>
            <a:spLocks noGrp="1"/>
          </p:cNvSpPr>
          <p:nvPr/>
        </p:nvSpPr>
        <p:spPr>
          <a:xfrm>
            <a:off x="7575346" y="1700784"/>
            <a:ext cx="3964381" cy="644652"/>
          </a:xfrm>
          <a:prstGeom prst="rect">
            <a:avLst/>
          </a:prstGeom>
          <a:noFill/>
        </p:spPr>
        <p:txBody>
          <a:bodyPr wrap="square">
            <a:spAutoFit/>
          </a:bodyPr>
          <a:lstStyle/>
          <a:p>
            <a:pPr algn="l">
              <a:buNone/>
            </a:pPr>
            <a:r>
              <a:rPr sz="1100" b="1">
                <a:solidFill>
                  <a:srgbClr val="15201B"/>
                </a:solidFill>
                <a:latin typeface="Aptos"/>
                <a:ea typeface="Aptos"/>
                <a:cs typeface="Aptos"/>
              </a:rPr>
              <a:t>Why it matters here</a:t>
            </a:r>
          </a:p>
        </p:txBody>
      </p:sp>
      <p:sp>
        <p:nvSpPr>
          <p:cNvPr id="11" name="Rectangle 10">
            <a:extLst>
              <a:ext uri="{FF2B5EF4-FFF2-40B4-BE49-F238E27FC236}">
                <a16:creationId xmlns:a16="http://schemas.microsoft.com/office/drawing/2014/main" id="{60FEFA45-D8D3-4A9C-96A4-DF0C960481D7}"/>
              </a:ext>
            </a:extLst>
          </p:cNvPr>
          <p:cNvSpPr>
            <a:spLocks noGrp="1"/>
          </p:cNvSpPr>
          <p:nvPr/>
        </p:nvSpPr>
        <p:spPr>
          <a:xfrm>
            <a:off x="502920" y="238201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0780A78-0661-4E04-B7B9-70E32540089F}"/>
              </a:ext>
            </a:extLst>
          </p:cNvPr>
          <p:cNvSpPr>
            <a:spLocks noGrp="1"/>
          </p:cNvSpPr>
          <p:nvPr/>
        </p:nvSpPr>
        <p:spPr>
          <a:xfrm>
            <a:off x="576072" y="245516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Federated learning</a:t>
            </a:r>
          </a:p>
        </p:txBody>
      </p:sp>
      <p:sp>
        <p:nvSpPr>
          <p:cNvPr id="13" name="Rectangle 12">
            <a:extLst>
              <a:ext uri="{FF2B5EF4-FFF2-40B4-BE49-F238E27FC236}">
                <a16:creationId xmlns:a16="http://schemas.microsoft.com/office/drawing/2014/main" id="{ED1933A7-9FF4-435B-B5FF-A7C3853C93C5}"/>
              </a:ext>
            </a:extLst>
          </p:cNvPr>
          <p:cNvSpPr>
            <a:spLocks noGrp="1"/>
          </p:cNvSpPr>
          <p:nvPr/>
        </p:nvSpPr>
        <p:spPr>
          <a:xfrm>
            <a:off x="3391509" y="238201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1842238-9A3F-4E78-B85C-E0D55061F392}"/>
              </a:ext>
            </a:extLst>
          </p:cNvPr>
          <p:cNvSpPr>
            <a:spLocks noGrp="1"/>
          </p:cNvSpPr>
          <p:nvPr/>
        </p:nvSpPr>
        <p:spPr>
          <a:xfrm>
            <a:off x="3464661" y="245516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Hospitals train locally and send protected model updates instead of records</a:t>
            </a:r>
          </a:p>
        </p:txBody>
      </p:sp>
      <p:sp>
        <p:nvSpPr>
          <p:cNvPr id="15" name="Rectangle 14">
            <a:extLst>
              <a:ext uri="{FF2B5EF4-FFF2-40B4-BE49-F238E27FC236}">
                <a16:creationId xmlns:a16="http://schemas.microsoft.com/office/drawing/2014/main" id="{98451E3A-FC4E-40B7-BC28-6148F8CF2167}"/>
              </a:ext>
            </a:extLst>
          </p:cNvPr>
          <p:cNvSpPr>
            <a:spLocks noGrp="1"/>
          </p:cNvSpPr>
          <p:nvPr/>
        </p:nvSpPr>
        <p:spPr>
          <a:xfrm>
            <a:off x="7502194" y="238201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7274E3E5-309C-446F-98C9-71A8971D04D0}"/>
              </a:ext>
            </a:extLst>
          </p:cNvPr>
          <p:cNvSpPr>
            <a:spLocks noGrp="1"/>
          </p:cNvSpPr>
          <p:nvPr/>
        </p:nvSpPr>
        <p:spPr>
          <a:xfrm>
            <a:off x="7575346" y="245516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Improves one shared model; requires a specialist engine and privacy controls</a:t>
            </a:r>
          </a:p>
        </p:txBody>
      </p:sp>
      <p:sp>
        <p:nvSpPr>
          <p:cNvPr id="17" name="Rectangle 16">
            <a:extLst>
              <a:ext uri="{FF2B5EF4-FFF2-40B4-BE49-F238E27FC236}">
                <a16:creationId xmlns:a16="http://schemas.microsoft.com/office/drawing/2014/main" id="{845E18DC-73DC-4E75-9B6E-E9FD5FA926E0}"/>
              </a:ext>
            </a:extLst>
          </p:cNvPr>
          <p:cNvSpPr>
            <a:spLocks noGrp="1"/>
          </p:cNvSpPr>
          <p:nvPr/>
        </p:nvSpPr>
        <p:spPr>
          <a:xfrm>
            <a:off x="502920" y="313639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118314E-8CA6-45E6-9DB4-5A0A01FE4EF5}"/>
              </a:ext>
            </a:extLst>
          </p:cNvPr>
          <p:cNvSpPr>
            <a:spLocks noGrp="1"/>
          </p:cNvSpPr>
          <p:nvPr/>
        </p:nvSpPr>
        <p:spPr>
          <a:xfrm>
            <a:off x="576072" y="320954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Federated analytics</a:t>
            </a:r>
          </a:p>
        </p:txBody>
      </p:sp>
      <p:sp>
        <p:nvSpPr>
          <p:cNvPr id="19" name="Rectangle 18">
            <a:extLst>
              <a:ext uri="{FF2B5EF4-FFF2-40B4-BE49-F238E27FC236}">
                <a16:creationId xmlns:a16="http://schemas.microsoft.com/office/drawing/2014/main" id="{0AD4F55D-7290-4A1A-B1AA-1202B3E96581}"/>
              </a:ext>
            </a:extLst>
          </p:cNvPr>
          <p:cNvSpPr>
            <a:spLocks noGrp="1"/>
          </p:cNvSpPr>
          <p:nvPr/>
        </p:nvSpPr>
        <p:spPr>
          <a:xfrm>
            <a:off x="3391509" y="313639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579DA9AE-C9EA-4E8B-99E2-9C3D9CA6335A}"/>
              </a:ext>
            </a:extLst>
          </p:cNvPr>
          <p:cNvSpPr>
            <a:spLocks noGrp="1"/>
          </p:cNvSpPr>
          <p:nvPr/>
        </p:nvSpPr>
        <p:spPr>
          <a:xfrm>
            <a:off x="3464661" y="320954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Hospitals calculate approved measures locally and reveal combined results</a:t>
            </a:r>
          </a:p>
        </p:txBody>
      </p:sp>
      <p:sp>
        <p:nvSpPr>
          <p:cNvPr id="21" name="Rectangle 20">
            <a:extLst>
              <a:ext uri="{FF2B5EF4-FFF2-40B4-BE49-F238E27FC236}">
                <a16:creationId xmlns:a16="http://schemas.microsoft.com/office/drawing/2014/main" id="{3859F6ED-810F-4C83-86D5-41384E8BEAFA}"/>
              </a:ext>
            </a:extLst>
          </p:cNvPr>
          <p:cNvSpPr>
            <a:spLocks noGrp="1"/>
          </p:cNvSpPr>
          <p:nvPr/>
        </p:nvSpPr>
        <p:spPr>
          <a:xfrm>
            <a:off x="7502194" y="313639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BA3B850-E077-4340-B122-134E8C1E3C94}"/>
              </a:ext>
            </a:extLst>
          </p:cNvPr>
          <p:cNvSpPr>
            <a:spLocks noGrp="1"/>
          </p:cNvSpPr>
          <p:nvPr/>
        </p:nvSpPr>
        <p:spPr>
          <a:xfrm>
            <a:off x="7575346" y="320954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The safest first cross-hospital workload for readiness and evaluation</a:t>
            </a:r>
          </a:p>
        </p:txBody>
      </p:sp>
      <p:sp>
        <p:nvSpPr>
          <p:cNvPr id="23" name="Rectangle 22">
            <a:extLst>
              <a:ext uri="{FF2B5EF4-FFF2-40B4-BE49-F238E27FC236}">
                <a16:creationId xmlns:a16="http://schemas.microsoft.com/office/drawing/2014/main" id="{80906D7F-DE00-4FB9-B671-BE04D37B5AED}"/>
              </a:ext>
            </a:extLst>
          </p:cNvPr>
          <p:cNvSpPr>
            <a:spLocks noGrp="1"/>
          </p:cNvSpPr>
          <p:nvPr/>
        </p:nvSpPr>
        <p:spPr>
          <a:xfrm>
            <a:off x="502920" y="389077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42AE019-BFA0-4AA7-AF8E-95A18B590175}"/>
              </a:ext>
            </a:extLst>
          </p:cNvPr>
          <p:cNvSpPr>
            <a:spLocks noGrp="1"/>
          </p:cNvSpPr>
          <p:nvPr/>
        </p:nvSpPr>
        <p:spPr>
          <a:xfrm>
            <a:off x="576072" y="396392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Federated database</a:t>
            </a:r>
          </a:p>
        </p:txBody>
      </p:sp>
      <p:sp>
        <p:nvSpPr>
          <p:cNvPr id="25" name="Rectangle 24">
            <a:extLst>
              <a:ext uri="{FF2B5EF4-FFF2-40B4-BE49-F238E27FC236}">
                <a16:creationId xmlns:a16="http://schemas.microsoft.com/office/drawing/2014/main" id="{41EAF58D-8638-4C52-B131-4FB895092805}"/>
              </a:ext>
            </a:extLst>
          </p:cNvPr>
          <p:cNvSpPr>
            <a:spLocks noGrp="1"/>
          </p:cNvSpPr>
          <p:nvPr/>
        </p:nvSpPr>
        <p:spPr>
          <a:xfrm>
            <a:off x="3391509" y="389077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CF9B0E1-A2E7-48D6-802D-BFA82A23E450}"/>
              </a:ext>
            </a:extLst>
          </p:cNvPr>
          <p:cNvSpPr>
            <a:spLocks noGrp="1"/>
          </p:cNvSpPr>
          <p:nvPr/>
        </p:nvSpPr>
        <p:spPr>
          <a:xfrm>
            <a:off x="3464661" y="396392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One query layer can reach several remote data sources</a:t>
            </a:r>
          </a:p>
        </p:txBody>
      </p:sp>
      <p:sp>
        <p:nvSpPr>
          <p:cNvPr id="27" name="Rectangle 26">
            <a:extLst>
              <a:ext uri="{FF2B5EF4-FFF2-40B4-BE49-F238E27FC236}">
                <a16:creationId xmlns:a16="http://schemas.microsoft.com/office/drawing/2014/main" id="{B247C103-7BCD-4BBF-8FED-74868A3C3695}"/>
              </a:ext>
            </a:extLst>
          </p:cNvPr>
          <p:cNvSpPr>
            <a:spLocks noGrp="1"/>
          </p:cNvSpPr>
          <p:nvPr/>
        </p:nvSpPr>
        <p:spPr>
          <a:xfrm>
            <a:off x="7502194" y="389077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B7EA3D92-36D0-4F25-8F70-B08D576FB91C}"/>
              </a:ext>
            </a:extLst>
          </p:cNvPr>
          <p:cNvSpPr>
            <a:spLocks noGrp="1"/>
          </p:cNvSpPr>
          <p:nvPr/>
        </p:nvSpPr>
        <p:spPr>
          <a:xfrm>
            <a:off x="7575346" y="396392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Useful for local feature views; can still expose or move detailed results</a:t>
            </a:r>
          </a:p>
        </p:txBody>
      </p:sp>
      <p:sp>
        <p:nvSpPr>
          <p:cNvPr id="29" name="Rectangle 28">
            <a:extLst>
              <a:ext uri="{FF2B5EF4-FFF2-40B4-BE49-F238E27FC236}">
                <a16:creationId xmlns:a16="http://schemas.microsoft.com/office/drawing/2014/main" id="{F6C8D755-973E-4DFA-A9BB-4D1561BC8F2D}"/>
              </a:ext>
            </a:extLst>
          </p:cNvPr>
          <p:cNvSpPr>
            <a:spLocks noGrp="1"/>
          </p:cNvSpPr>
          <p:nvPr/>
        </p:nvSpPr>
        <p:spPr>
          <a:xfrm>
            <a:off x="502920" y="464515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0838EB1B-F066-4BCF-8C4F-5B2A81D6B611}"/>
              </a:ext>
            </a:extLst>
          </p:cNvPr>
          <p:cNvSpPr>
            <a:spLocks noGrp="1"/>
          </p:cNvSpPr>
          <p:nvPr/>
        </p:nvSpPr>
        <p:spPr>
          <a:xfrm>
            <a:off x="576072" y="471830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Secure aggregation</a:t>
            </a:r>
          </a:p>
        </p:txBody>
      </p:sp>
      <p:sp>
        <p:nvSpPr>
          <p:cNvPr id="31" name="Rectangle 30">
            <a:extLst>
              <a:ext uri="{FF2B5EF4-FFF2-40B4-BE49-F238E27FC236}">
                <a16:creationId xmlns:a16="http://schemas.microsoft.com/office/drawing/2014/main" id="{CB14006E-D9C0-4D92-BA26-C2AE0D7838DF}"/>
              </a:ext>
            </a:extLst>
          </p:cNvPr>
          <p:cNvSpPr>
            <a:spLocks noGrp="1"/>
          </p:cNvSpPr>
          <p:nvPr/>
        </p:nvSpPr>
        <p:spPr>
          <a:xfrm>
            <a:off x="3391509" y="464515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7BC6A327-84A3-4C0C-92BA-5BF7E6A77F30}"/>
              </a:ext>
            </a:extLst>
          </p:cNvPr>
          <p:cNvSpPr>
            <a:spLocks noGrp="1"/>
          </p:cNvSpPr>
          <p:nvPr/>
        </p:nvSpPr>
        <p:spPr>
          <a:xfrm>
            <a:off x="3464661" y="471830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The coordinator learns a combined update without reading each site’s update</a:t>
            </a:r>
          </a:p>
        </p:txBody>
      </p:sp>
      <p:sp>
        <p:nvSpPr>
          <p:cNvPr id="33" name="Rectangle 32">
            <a:extLst>
              <a:ext uri="{FF2B5EF4-FFF2-40B4-BE49-F238E27FC236}">
                <a16:creationId xmlns:a16="http://schemas.microsoft.com/office/drawing/2014/main" id="{0C8831F0-7FE8-4CE5-9F5C-AC01B1C74153}"/>
              </a:ext>
            </a:extLst>
          </p:cNvPr>
          <p:cNvSpPr>
            <a:spLocks noGrp="1"/>
          </p:cNvSpPr>
          <p:nvPr/>
        </p:nvSpPr>
        <p:spPr>
          <a:xfrm>
            <a:off x="7502194" y="464515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D9BC41C7-12CA-49DD-B21A-2842B470EEA6}"/>
              </a:ext>
            </a:extLst>
          </p:cNvPr>
          <p:cNvSpPr>
            <a:spLocks noGrp="1"/>
          </p:cNvSpPr>
          <p:nvPr/>
        </p:nvSpPr>
        <p:spPr>
          <a:xfrm>
            <a:off x="7575346" y="471830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Reduces exposure; does not solve poisoning, memorization, or governance alone</a:t>
            </a:r>
          </a:p>
        </p:txBody>
      </p:sp>
      <p:sp>
        <p:nvSpPr>
          <p:cNvPr id="35" name="Rectangle 34">
            <a:extLst>
              <a:ext uri="{FF2B5EF4-FFF2-40B4-BE49-F238E27FC236}">
                <a16:creationId xmlns:a16="http://schemas.microsoft.com/office/drawing/2014/main" id="{8C08C939-B03B-40D8-A0AC-F9FECE411770}"/>
              </a:ext>
            </a:extLst>
          </p:cNvPr>
          <p:cNvSpPr>
            <a:spLocks noGrp="1"/>
          </p:cNvSpPr>
          <p:nvPr/>
        </p:nvSpPr>
        <p:spPr>
          <a:xfrm>
            <a:off x="502920" y="539953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20428393-C352-48CE-8EE3-95676E46C147}"/>
              </a:ext>
            </a:extLst>
          </p:cNvPr>
          <p:cNvSpPr>
            <a:spLocks noGrp="1"/>
          </p:cNvSpPr>
          <p:nvPr/>
        </p:nvSpPr>
        <p:spPr>
          <a:xfrm>
            <a:off x="576072" y="547268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Restore point / rollback</a:t>
            </a:r>
          </a:p>
        </p:txBody>
      </p:sp>
      <p:sp>
        <p:nvSpPr>
          <p:cNvPr id="37" name="Rectangle 36">
            <a:extLst>
              <a:ext uri="{FF2B5EF4-FFF2-40B4-BE49-F238E27FC236}">
                <a16:creationId xmlns:a16="http://schemas.microsoft.com/office/drawing/2014/main" id="{89B7E1E8-B494-4075-9967-EAC444533778}"/>
              </a:ext>
            </a:extLst>
          </p:cNvPr>
          <p:cNvSpPr>
            <a:spLocks noGrp="1"/>
          </p:cNvSpPr>
          <p:nvPr/>
        </p:nvSpPr>
        <p:spPr>
          <a:xfrm>
            <a:off x="3391509" y="539953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DDCB4B39-747E-485F-8D7F-1DA41FF4926A}"/>
              </a:ext>
            </a:extLst>
          </p:cNvPr>
          <p:cNvSpPr>
            <a:spLocks noGrp="1"/>
          </p:cNvSpPr>
          <p:nvPr/>
        </p:nvSpPr>
        <p:spPr>
          <a:xfrm>
            <a:off x="3464661" y="547268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A locked known-good release / return to that release after a problem</a:t>
            </a:r>
          </a:p>
        </p:txBody>
      </p:sp>
      <p:sp>
        <p:nvSpPr>
          <p:cNvPr id="39" name="Rectangle 38">
            <a:extLst>
              <a:ext uri="{FF2B5EF4-FFF2-40B4-BE49-F238E27FC236}">
                <a16:creationId xmlns:a16="http://schemas.microsoft.com/office/drawing/2014/main" id="{A146F475-A664-45DE-8E1A-8D68FE14EB33}"/>
              </a:ext>
            </a:extLst>
          </p:cNvPr>
          <p:cNvSpPr>
            <a:spLocks noGrp="1"/>
          </p:cNvSpPr>
          <p:nvPr/>
        </p:nvSpPr>
        <p:spPr>
          <a:xfrm>
            <a:off x="7502194" y="539953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E4A41FF-3F45-423C-AE62-D1955E617499}"/>
              </a:ext>
            </a:extLst>
          </p:cNvPr>
          <p:cNvSpPr>
            <a:spLocks noGrp="1"/>
          </p:cNvSpPr>
          <p:nvPr/>
        </p:nvSpPr>
        <p:spPr>
          <a:xfrm>
            <a:off x="7575346" y="547268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Backup-inspired control that makes model changes reversible</a:t>
            </a:r>
          </a:p>
        </p:txBody>
      </p:sp>
      <p:sp>
        <p:nvSpPr>
          <p:cNvPr id="41" name="TextBox 40">
            <a:extLst>
              <a:ext uri="{FF2B5EF4-FFF2-40B4-BE49-F238E27FC236}">
                <a16:creationId xmlns:a16="http://schemas.microsoft.com/office/drawing/2014/main" id="{E75FBFE2-8640-4A2C-801D-9487E96EEB43}"/>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Federated healthcare glossary / 31</a:t>
            </a:r>
          </a:p>
        </p:txBody>
      </p:sp>
    </p:spTree>
    <p:extLst>
      <p:ext uri="{BB962C8B-B14F-4D97-AF65-F5344CB8AC3E}">
        <p14:creationId xmlns:p14="http://schemas.microsoft.com/office/powerpoint/2010/main" val="1134147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hlinkClick r:id="rId3"/>
            <a:extLst>
              <a:ext uri="{FF2B5EF4-FFF2-40B4-BE49-F238E27FC236}">
                <a16:creationId xmlns:a16="http://schemas.microsoft.com/office/drawing/2014/main" id="{DBAD7086-21FE-4FD0-95D7-1188A3E82C59}"/>
              </a:ext>
            </a:extLst>
          </p:cNvPr>
          <p:cNvSpPr>
            <a:spLocks noGrp="1"/>
          </p:cNvSpPr>
          <p:nvPr/>
        </p:nvSpPr>
        <p:spPr>
          <a:xfrm>
            <a:off x="0" y="10633"/>
            <a:ext cx="12192000" cy="6858000"/>
          </a:xfrm>
          <a:prstGeom prst="rect">
            <a:avLst/>
          </a:prstGeom>
          <a:solidFill>
            <a:srgbClr val="111815"/>
          </a:solidFill>
          <a:ln w="9525">
            <a:solidFill>
              <a:srgbClr val="111815"/>
            </a:solidFill>
          </a:ln>
        </p:spPr>
        <p:txBody>
          <a:bodyPr/>
          <a:lstStyle/>
          <a:p>
            <a:endParaRPr/>
          </a:p>
        </p:txBody>
      </p:sp>
      <p:sp>
        <p:nvSpPr>
          <p:cNvPr id="2" name="Rectangle 1">
            <a:extLst>
              <a:ext uri="{FF2B5EF4-FFF2-40B4-BE49-F238E27FC236}">
                <a16:creationId xmlns:a16="http://schemas.microsoft.com/office/drawing/2014/main" id="{50684ED2-C417-447E-BC93-3DDECEBC401B}"/>
              </a:ext>
            </a:extLst>
          </p:cNvPr>
          <p:cNvSpPr>
            <a:spLocks noGrp="1"/>
          </p:cNvSpPr>
          <p:nvPr/>
        </p:nvSpPr>
        <p:spPr>
          <a:xfrm>
            <a:off x="666750" y="533400"/>
            <a:ext cx="1619250" cy="247650"/>
          </a:xfrm>
          <a:prstGeom prst="rect">
            <a:avLst/>
          </a:prstGeom>
          <a:solidFill>
            <a:srgbClr val="2E6F4E"/>
          </a:solidFill>
          <a:ln w="9525">
            <a:solidFill>
              <a:srgbClr val="2E6F4E"/>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FEDERATED AI APPENDIX</a:t>
            </a:r>
          </a:p>
        </p:txBody>
      </p:sp>
      <p:sp>
        <p:nvSpPr>
          <p:cNvPr id="3" name="Rectangle 2">
            <a:extLst>
              <a:ext uri="{FF2B5EF4-FFF2-40B4-BE49-F238E27FC236}">
                <a16:creationId xmlns:a16="http://schemas.microsoft.com/office/drawing/2014/main" id="{002AADAB-1301-46D6-B41A-E64CF809AE50}"/>
              </a:ext>
            </a:extLst>
          </p:cNvPr>
          <p:cNvSpPr>
            <a:spLocks noGrp="1"/>
          </p:cNvSpPr>
          <p:nvPr/>
        </p:nvSpPr>
        <p:spPr>
          <a:xfrm>
            <a:off x="666750" y="1200150"/>
            <a:ext cx="8382000" cy="1238250"/>
          </a:xfrm>
          <a:prstGeom prst="rect">
            <a:avLst/>
          </a:prstGeom>
          <a:noFill/>
          <a:ln w="0">
            <a:noFill/>
          </a:ln>
        </p:spPr>
        <p:txBody>
          <a:bodyPr lIns="0" tIns="0" rIns="0" bIns="0" anchor="t"/>
          <a:lstStyle/>
          <a:p>
            <a:pPr algn="l">
              <a:buNone/>
              <a:defRPr sz="3150" b="0">
                <a:solidFill>
                  <a:srgbClr val="FFFFFF"/>
                </a:solidFill>
                <a:latin typeface="Georgia"/>
                <a:ea typeface="Georgia"/>
                <a:cs typeface="Georgia"/>
              </a:defRPr>
            </a:pPr>
            <a:r>
              <a:rPr sz="3150" b="0">
                <a:solidFill>
                  <a:srgbClr val="FFFFFF"/>
                </a:solidFill>
                <a:latin typeface="Georgia"/>
                <a:ea typeface="Georgia"/>
                <a:cs typeface="Georgia"/>
              </a:rPr>
              <a:t>Federated AI</a:t>
            </a:r>
          </a:p>
        </p:txBody>
      </p:sp>
      <p:sp>
        <p:nvSpPr>
          <p:cNvPr id="4" name="Rectangle 3">
            <a:extLst>
              <a:ext uri="{FF2B5EF4-FFF2-40B4-BE49-F238E27FC236}">
                <a16:creationId xmlns:a16="http://schemas.microsoft.com/office/drawing/2014/main" id="{4E35700B-61E4-42B5-88FF-89C9CE76EE4C}"/>
              </a:ext>
            </a:extLst>
          </p:cNvPr>
          <p:cNvSpPr>
            <a:spLocks noGrp="1"/>
          </p:cNvSpPr>
          <p:nvPr/>
        </p:nvSpPr>
        <p:spPr>
          <a:xfrm>
            <a:off x="704850" y="2724150"/>
            <a:ext cx="7239000" cy="590550"/>
          </a:xfrm>
          <a:prstGeom prst="rect">
            <a:avLst/>
          </a:prstGeom>
          <a:noFill/>
          <a:ln w="0">
            <a:noFill/>
          </a:ln>
        </p:spPr>
        <p:txBody>
          <a:bodyPr lIns="0" tIns="0" rIns="0" bIns="0" anchor="t"/>
          <a:lstStyle/>
          <a:p>
            <a:pPr algn="l">
              <a:buNone/>
              <a:defRPr sz="1500" b="0">
                <a:solidFill>
                  <a:srgbClr val="C6D2CB"/>
                </a:solidFill>
                <a:latin typeface="Aptos"/>
                <a:ea typeface="Aptos"/>
                <a:cs typeface="Aptos"/>
              </a:defRPr>
            </a:pPr>
            <a:r>
              <a:rPr sz="1500">
                <a:solidFill>
                  <a:srgbClr val="C6D2CB"/>
                </a:solidFill>
                <a:latin typeface="Aptos"/>
                <a:ea typeface="Aptos"/>
                <a:cs typeface="Aptos"/>
              </a:rPr>
              <a:t>A self-contained guide to NVIDIA FLARE, federated rounds, FedAvg, privacy layers, deployment modes, and the Dagents boundary.</a:t>
            </a:r>
          </a:p>
        </p:txBody>
      </p:sp>
      <p:sp>
        <p:nvSpPr>
          <p:cNvPr id="5" name="Rounded Rectangle 4">
            <a:extLst>
              <a:ext uri="{FF2B5EF4-FFF2-40B4-BE49-F238E27FC236}">
                <a16:creationId xmlns:a16="http://schemas.microsoft.com/office/drawing/2014/main" id="{528D4DF1-5B75-4D5B-B480-0169FB7D537F}"/>
              </a:ext>
            </a:extLst>
          </p:cNvPr>
          <p:cNvSpPr>
            <a:spLocks noGrp="1"/>
          </p:cNvSpPr>
          <p:nvPr/>
        </p:nvSpPr>
        <p:spPr>
          <a:xfrm>
            <a:off x="914400" y="4210050"/>
            <a:ext cx="1920240" cy="647700"/>
          </a:xfrm>
          <a:prstGeom prst="roundRect">
            <a:avLst>
              <a:gd name="adj" fmla="val 5882"/>
            </a:avLst>
          </a:prstGeom>
          <a:solidFill>
            <a:srgbClr val="2E6F4E"/>
          </a:solidFill>
          <a:ln w="9525">
            <a:solidFill>
              <a:srgbClr val="2E6F4E"/>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Big picture</a:t>
            </a:r>
          </a:p>
        </p:txBody>
      </p:sp>
      <p:sp>
        <p:nvSpPr>
          <p:cNvPr id="6" name="Rounded Rectangle 5">
            <a:extLst>
              <a:ext uri="{FF2B5EF4-FFF2-40B4-BE49-F238E27FC236}">
                <a16:creationId xmlns:a16="http://schemas.microsoft.com/office/drawing/2014/main" id="{D60A53B9-A4E7-484F-8034-98A213935481}"/>
              </a:ext>
            </a:extLst>
          </p:cNvPr>
          <p:cNvSpPr>
            <a:spLocks noGrp="1"/>
          </p:cNvSpPr>
          <p:nvPr/>
        </p:nvSpPr>
        <p:spPr>
          <a:xfrm>
            <a:off x="2987040" y="4210050"/>
            <a:ext cx="1920240" cy="647700"/>
          </a:xfrm>
          <a:prstGeom prst="roundRect">
            <a:avLst>
              <a:gd name="adj" fmla="val 5882"/>
            </a:avLst>
          </a:prstGeom>
          <a:solidFill>
            <a:srgbClr val="2D5B7C"/>
          </a:solidFill>
          <a:ln w="9525">
            <a:solidFill>
              <a:srgbClr val="2D5B7C"/>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NVIDIA FLARE</a:t>
            </a:r>
          </a:p>
        </p:txBody>
      </p:sp>
      <p:sp>
        <p:nvSpPr>
          <p:cNvPr id="7" name="Rounded Rectangle 6">
            <a:extLst>
              <a:ext uri="{FF2B5EF4-FFF2-40B4-BE49-F238E27FC236}">
                <a16:creationId xmlns:a16="http://schemas.microsoft.com/office/drawing/2014/main" id="{5566A10A-F573-49D6-877E-CE49EE18CAEE}"/>
              </a:ext>
            </a:extLst>
          </p:cNvPr>
          <p:cNvSpPr>
            <a:spLocks noGrp="1"/>
          </p:cNvSpPr>
          <p:nvPr/>
        </p:nvSpPr>
        <p:spPr>
          <a:xfrm>
            <a:off x="5059680" y="4210050"/>
            <a:ext cx="1920240" cy="647700"/>
          </a:xfrm>
          <a:prstGeom prst="roundRect">
            <a:avLst>
              <a:gd name="adj" fmla="val 5882"/>
            </a:avLst>
          </a:prstGeom>
          <a:solidFill>
            <a:srgbClr val="B4842B"/>
          </a:solidFill>
          <a:ln w="9525">
            <a:solidFill>
              <a:srgbClr val="B4842B"/>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One round</a:t>
            </a:r>
          </a:p>
        </p:txBody>
      </p:sp>
      <p:sp>
        <p:nvSpPr>
          <p:cNvPr id="8" name="Rounded Rectangle 7">
            <a:extLst>
              <a:ext uri="{FF2B5EF4-FFF2-40B4-BE49-F238E27FC236}">
                <a16:creationId xmlns:a16="http://schemas.microsoft.com/office/drawing/2014/main" id="{5C63E76E-89CD-4533-B12B-BA23CA95D353}"/>
              </a:ext>
            </a:extLst>
          </p:cNvPr>
          <p:cNvSpPr>
            <a:spLocks noGrp="1"/>
          </p:cNvSpPr>
          <p:nvPr/>
        </p:nvSpPr>
        <p:spPr>
          <a:xfrm>
            <a:off x="7132320" y="4210050"/>
            <a:ext cx="1920240" cy="647700"/>
          </a:xfrm>
          <a:prstGeom prst="roundRect">
            <a:avLst>
              <a:gd name="adj" fmla="val 5882"/>
            </a:avLst>
          </a:prstGeom>
          <a:solidFill>
            <a:srgbClr val="A34D3E"/>
          </a:solidFill>
          <a:ln w="9525">
            <a:solidFill>
              <a:srgbClr val="A34D3E"/>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Privacy layers</a:t>
            </a:r>
          </a:p>
        </p:txBody>
      </p:sp>
      <p:sp>
        <p:nvSpPr>
          <p:cNvPr id="9" name="Rounded Rectangle 8">
            <a:extLst>
              <a:ext uri="{FF2B5EF4-FFF2-40B4-BE49-F238E27FC236}">
                <a16:creationId xmlns:a16="http://schemas.microsoft.com/office/drawing/2014/main" id="{B0B2C03F-8B20-492A-AE4E-3EBDA2782D40}"/>
              </a:ext>
            </a:extLst>
          </p:cNvPr>
          <p:cNvSpPr>
            <a:spLocks noGrp="1"/>
          </p:cNvSpPr>
          <p:nvPr/>
        </p:nvSpPr>
        <p:spPr>
          <a:xfrm>
            <a:off x="9204960" y="4210050"/>
            <a:ext cx="1920240" cy="647700"/>
          </a:xfrm>
          <a:prstGeom prst="roundRect">
            <a:avLst>
              <a:gd name="adj" fmla="val 5882"/>
            </a:avLst>
          </a:prstGeom>
          <a:solidFill>
            <a:srgbClr val="65549A"/>
          </a:solidFill>
          <a:ln w="9525">
            <a:solidFill>
              <a:srgbClr val="65549A"/>
            </a:solidFill>
          </a:ln>
        </p:spPr>
        <p:txBody>
          <a:bodyPr lIns="95250" tIns="76200" rIns="95250" bIns="76200" anchor="ctr"/>
          <a:lstStyle/>
          <a:p>
            <a:pPr algn="ctr">
              <a:buNone/>
              <a:defRPr sz="1125" b="1">
                <a:solidFill>
                  <a:srgbClr val="FFFFFF"/>
                </a:solidFill>
                <a:latin typeface="Aptos"/>
                <a:ea typeface="Aptos"/>
                <a:cs typeface="Aptos"/>
              </a:defRPr>
            </a:pPr>
            <a:r>
              <a:rPr sz="1125" b="1">
                <a:solidFill>
                  <a:srgbClr val="FFFFFF"/>
                </a:solidFill>
                <a:latin typeface="Aptos"/>
                <a:ea typeface="Aptos"/>
                <a:cs typeface="Aptos"/>
              </a:rPr>
              <a:t>Dagents fit</a:t>
            </a:r>
          </a:p>
        </p:txBody>
      </p:sp>
      <p:sp>
        <p:nvSpPr>
          <p:cNvPr id="11" name="Rectangle 10">
            <a:extLst>
              <a:ext uri="{FF2B5EF4-FFF2-40B4-BE49-F238E27FC236}">
                <a16:creationId xmlns:a16="http://schemas.microsoft.com/office/drawing/2014/main" id="{6BE66650-CFE7-4B7A-A510-5BEC7C131A06}"/>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94A39A"/>
                </a:solidFill>
                <a:latin typeface="Aptos"/>
                <a:ea typeface="Aptos"/>
                <a:cs typeface="Aptos"/>
              </a:defRPr>
            </a:pPr>
            <a:r>
              <a:rPr sz="825" b="0">
                <a:solidFill>
                  <a:srgbClr val="94A39A"/>
                </a:solidFill>
                <a:latin typeface="Aptos"/>
                <a:ea typeface="Aptos"/>
                <a:cs typeface="Aptos"/>
              </a:rPr>
              <a:t>Dagents Federated Healthcare / A1</a:t>
            </a:r>
          </a:p>
        </p:txBody>
      </p:sp>
      <p:sp>
        <p:nvSpPr>
          <p:cNvPr id="13" name="TextBox 12">
            <a:extLst>
              <a:ext uri="{FF2B5EF4-FFF2-40B4-BE49-F238E27FC236}">
                <a16:creationId xmlns:a16="http://schemas.microsoft.com/office/drawing/2014/main" id="{4063BD50-1495-DE9C-D046-E7C5F535B0B9}"/>
              </a:ext>
            </a:extLst>
          </p:cNvPr>
          <p:cNvSpPr>
            <a:spLocks noGrp="1"/>
          </p:cNvSpPr>
          <p:nvPr/>
        </p:nvSpPr>
        <p:spPr>
          <a:xfrm>
            <a:off x="9525230" y="6044625"/>
            <a:ext cx="3581400" cy="338554"/>
          </a:xfrm>
          <a:prstGeom prst="rect">
            <a:avLst/>
          </a:prstGeom>
          <a:noFill/>
        </p:spPr>
        <p:txBody>
          <a:bodyPr wrap="square">
            <a:spAutoFit/>
          </a:bodyPr>
          <a:lstStyle/>
          <a:p>
            <a:r>
              <a:rPr sz="1600">
                <a:solidFill>
                  <a:schemeClr val="bg2">
                    <a:lumMod val="75000"/>
                  </a:schemeClr>
                </a:solidFill>
              </a:rPr>
              <a:t>Pradyun Devarakonda</a:t>
            </a:r>
          </a:p>
        </p:txBody>
      </p:sp>
    </p:spTree>
    <p:extLst>
      <p:ext uri="{BB962C8B-B14F-4D97-AF65-F5344CB8AC3E}">
        <p14:creationId xmlns:p14="http://schemas.microsoft.com/office/powerpoint/2010/main" val="1861663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4E8989-E57F-4626-85F5-D8BB0621247D}"/>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APPENDIX · BIG PICTURE</a:t>
            </a:r>
          </a:p>
        </p:txBody>
      </p:sp>
      <p:sp>
        <p:nvSpPr>
          <p:cNvPr id="3" name="TextBox 2">
            <a:extLst>
              <a:ext uri="{FF2B5EF4-FFF2-40B4-BE49-F238E27FC236}">
                <a16:creationId xmlns:a16="http://schemas.microsoft.com/office/drawing/2014/main" id="{CFE5C766-C07D-40C3-8F6C-307209C139EF}"/>
              </a:ext>
            </a:extLst>
          </p:cNvPr>
          <p:cNvSpPr>
            <a:spLocks noGrp="1"/>
          </p:cNvSpPr>
          <p:nvPr/>
        </p:nvSpPr>
        <p:spPr>
          <a:xfrm>
            <a:off x="548640" y="658368"/>
            <a:ext cx="10424160" cy="538609"/>
          </a:xfrm>
          <a:prstGeom prst="rect">
            <a:avLst/>
          </a:prstGeom>
          <a:noFill/>
        </p:spPr>
        <p:txBody>
          <a:bodyPr wrap="square">
            <a:spAutoFit/>
          </a:bodyPr>
          <a:lstStyle/>
          <a:p>
            <a:pPr algn="l">
              <a:buNone/>
            </a:pPr>
            <a:r>
              <a:rPr sz="2900" b="1">
                <a:solidFill>
                  <a:srgbClr val="15201B"/>
                </a:solidFill>
                <a:latin typeface="Aptos"/>
                <a:ea typeface="Aptos"/>
                <a:cs typeface="Aptos"/>
              </a:rPr>
              <a:t>Federated AI is an umbrella, not one algorithm.</a:t>
            </a:r>
          </a:p>
        </p:txBody>
      </p:sp>
      <p:sp>
        <p:nvSpPr>
          <p:cNvPr id="4" name="TextBox 3">
            <a:extLst>
              <a:ext uri="{FF2B5EF4-FFF2-40B4-BE49-F238E27FC236}">
                <a16:creationId xmlns:a16="http://schemas.microsoft.com/office/drawing/2014/main" id="{1C1B5261-56CE-4F96-91CB-9740E59EC576}"/>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The common idea is to move approved computation or small results instead of pooling every raw record.</a:t>
            </a:r>
          </a:p>
        </p:txBody>
      </p:sp>
      <p:sp>
        <p:nvSpPr>
          <p:cNvPr id="5" name="Rectangle 4">
            <a:extLst>
              <a:ext uri="{FF2B5EF4-FFF2-40B4-BE49-F238E27FC236}">
                <a16:creationId xmlns:a16="http://schemas.microsoft.com/office/drawing/2014/main" id="{E7F1805F-EF62-40CE-BCC7-2EA7A166CF07}"/>
              </a:ext>
            </a:extLst>
          </p:cNvPr>
          <p:cNvSpPr>
            <a:spLocks noGrp="1"/>
          </p:cNvSpPr>
          <p:nvPr/>
        </p:nvSpPr>
        <p:spPr>
          <a:xfrm>
            <a:off x="548640" y="1691640"/>
            <a:ext cx="2852928" cy="70866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D4D3499-D0BC-4ABC-A3C7-D355723F9CAF}"/>
              </a:ext>
            </a:extLst>
          </p:cNvPr>
          <p:cNvSpPr>
            <a:spLocks noGrp="1"/>
          </p:cNvSpPr>
          <p:nvPr/>
        </p:nvSpPr>
        <p:spPr>
          <a:xfrm>
            <a:off x="621792" y="1764792"/>
            <a:ext cx="2706624" cy="598932"/>
          </a:xfrm>
          <a:prstGeom prst="rect">
            <a:avLst/>
          </a:prstGeom>
          <a:noFill/>
        </p:spPr>
        <p:txBody>
          <a:bodyPr wrap="square">
            <a:spAutoFit/>
          </a:bodyPr>
          <a:lstStyle/>
          <a:p>
            <a:pPr algn="l">
              <a:buNone/>
            </a:pPr>
            <a:r>
              <a:rPr sz="1100" b="1">
                <a:solidFill>
                  <a:srgbClr val="15201B"/>
                </a:solidFill>
                <a:latin typeface="Aptos"/>
                <a:ea typeface="Aptos"/>
                <a:cs typeface="Aptos"/>
              </a:rPr>
              <a:t>Term</a:t>
            </a:r>
          </a:p>
        </p:txBody>
      </p:sp>
      <p:sp>
        <p:nvSpPr>
          <p:cNvPr id="7" name="Rectangle 6">
            <a:extLst>
              <a:ext uri="{FF2B5EF4-FFF2-40B4-BE49-F238E27FC236}">
                <a16:creationId xmlns:a16="http://schemas.microsoft.com/office/drawing/2014/main" id="{9068C4C9-3A06-4D8E-9457-27812CB3FD93}"/>
              </a:ext>
            </a:extLst>
          </p:cNvPr>
          <p:cNvSpPr>
            <a:spLocks noGrp="1"/>
          </p:cNvSpPr>
          <p:nvPr/>
        </p:nvSpPr>
        <p:spPr>
          <a:xfrm>
            <a:off x="3401568" y="1691640"/>
            <a:ext cx="4059935" cy="70866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068EDBD8-A00D-4F14-B5B3-60D7F12E8467}"/>
              </a:ext>
            </a:extLst>
          </p:cNvPr>
          <p:cNvSpPr>
            <a:spLocks noGrp="1"/>
          </p:cNvSpPr>
          <p:nvPr/>
        </p:nvSpPr>
        <p:spPr>
          <a:xfrm>
            <a:off x="3474720" y="1764792"/>
            <a:ext cx="3913631" cy="598932"/>
          </a:xfrm>
          <a:prstGeom prst="rect">
            <a:avLst/>
          </a:prstGeom>
          <a:noFill/>
        </p:spPr>
        <p:txBody>
          <a:bodyPr wrap="square">
            <a:spAutoFit/>
          </a:bodyPr>
          <a:lstStyle/>
          <a:p>
            <a:pPr algn="l">
              <a:buNone/>
            </a:pPr>
            <a:r>
              <a:rPr sz="1100" b="1">
                <a:solidFill>
                  <a:srgbClr val="15201B"/>
                </a:solidFill>
                <a:latin typeface="Aptos"/>
                <a:ea typeface="Aptos"/>
                <a:cs typeface="Aptos"/>
              </a:rPr>
              <a:t>Plain meaning</a:t>
            </a:r>
          </a:p>
        </p:txBody>
      </p:sp>
      <p:sp>
        <p:nvSpPr>
          <p:cNvPr id="9" name="Rectangle 8">
            <a:extLst>
              <a:ext uri="{FF2B5EF4-FFF2-40B4-BE49-F238E27FC236}">
                <a16:creationId xmlns:a16="http://schemas.microsoft.com/office/drawing/2014/main" id="{E5E3E1CA-6083-4A33-8D95-CA2C3D0D0CAE}"/>
              </a:ext>
            </a:extLst>
          </p:cNvPr>
          <p:cNvSpPr>
            <a:spLocks noGrp="1"/>
          </p:cNvSpPr>
          <p:nvPr/>
        </p:nvSpPr>
        <p:spPr>
          <a:xfrm>
            <a:off x="7461504" y="1691640"/>
            <a:ext cx="4059935" cy="70866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19FA0D1-4AF6-4EE6-BCBF-ED4B4BA258E3}"/>
              </a:ext>
            </a:extLst>
          </p:cNvPr>
          <p:cNvSpPr>
            <a:spLocks noGrp="1"/>
          </p:cNvSpPr>
          <p:nvPr/>
        </p:nvSpPr>
        <p:spPr>
          <a:xfrm>
            <a:off x="7534656" y="1764792"/>
            <a:ext cx="3913631" cy="598932"/>
          </a:xfrm>
          <a:prstGeom prst="rect">
            <a:avLst/>
          </a:prstGeom>
          <a:noFill/>
        </p:spPr>
        <p:txBody>
          <a:bodyPr wrap="square">
            <a:spAutoFit/>
          </a:bodyPr>
          <a:lstStyle/>
          <a:p>
            <a:pPr algn="l">
              <a:buNone/>
            </a:pPr>
            <a:r>
              <a:rPr sz="1100" b="1">
                <a:solidFill>
                  <a:srgbClr val="15201B"/>
                </a:solidFill>
                <a:latin typeface="Aptos"/>
                <a:ea typeface="Aptos"/>
                <a:cs typeface="Aptos"/>
              </a:rPr>
              <a:t>What crosses the boundary</a:t>
            </a:r>
          </a:p>
        </p:txBody>
      </p:sp>
      <p:sp>
        <p:nvSpPr>
          <p:cNvPr id="11" name="Rectangle 10">
            <a:extLst>
              <a:ext uri="{FF2B5EF4-FFF2-40B4-BE49-F238E27FC236}">
                <a16:creationId xmlns:a16="http://schemas.microsoft.com/office/drawing/2014/main" id="{6A044D66-81C0-4F26-A06F-E69907D2A2C4}"/>
              </a:ext>
            </a:extLst>
          </p:cNvPr>
          <p:cNvSpPr>
            <a:spLocks noGrp="1"/>
          </p:cNvSpPr>
          <p:nvPr/>
        </p:nvSpPr>
        <p:spPr>
          <a:xfrm>
            <a:off x="548640" y="240030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2E5DD4A-EB51-4AD5-A0CA-86FC255DDF91}"/>
              </a:ext>
            </a:extLst>
          </p:cNvPr>
          <p:cNvSpPr>
            <a:spLocks noGrp="1"/>
          </p:cNvSpPr>
          <p:nvPr/>
        </p:nvSpPr>
        <p:spPr>
          <a:xfrm>
            <a:off x="621792" y="247345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Federated AI</a:t>
            </a:r>
          </a:p>
        </p:txBody>
      </p:sp>
      <p:sp>
        <p:nvSpPr>
          <p:cNvPr id="13" name="Rectangle 12">
            <a:extLst>
              <a:ext uri="{FF2B5EF4-FFF2-40B4-BE49-F238E27FC236}">
                <a16:creationId xmlns:a16="http://schemas.microsoft.com/office/drawing/2014/main" id="{1A848C07-0190-44A9-94C2-153602F25B14}"/>
              </a:ext>
            </a:extLst>
          </p:cNvPr>
          <p:cNvSpPr>
            <a:spLocks noGrp="1"/>
          </p:cNvSpPr>
          <p:nvPr/>
        </p:nvSpPr>
        <p:spPr>
          <a:xfrm>
            <a:off x="3401568" y="240030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CF75CCE3-CCB8-45CB-9D13-41B0F49DB43B}"/>
              </a:ext>
            </a:extLst>
          </p:cNvPr>
          <p:cNvSpPr>
            <a:spLocks noGrp="1"/>
          </p:cNvSpPr>
          <p:nvPr/>
        </p:nvSpPr>
        <p:spPr>
          <a:xfrm>
            <a:off x="3474720" y="247345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Broad family of distributed AI and analytics methods</a:t>
            </a:r>
          </a:p>
        </p:txBody>
      </p:sp>
      <p:sp>
        <p:nvSpPr>
          <p:cNvPr id="15" name="Rectangle 14">
            <a:extLst>
              <a:ext uri="{FF2B5EF4-FFF2-40B4-BE49-F238E27FC236}">
                <a16:creationId xmlns:a16="http://schemas.microsoft.com/office/drawing/2014/main" id="{9ADD7280-F293-4742-A23C-F4BA857B98C4}"/>
              </a:ext>
            </a:extLst>
          </p:cNvPr>
          <p:cNvSpPr>
            <a:spLocks noGrp="1"/>
          </p:cNvSpPr>
          <p:nvPr/>
        </p:nvSpPr>
        <p:spPr>
          <a:xfrm>
            <a:off x="7461504" y="240030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5B7D715B-A37D-41DE-8799-5723E13FBB3B}"/>
              </a:ext>
            </a:extLst>
          </p:cNvPr>
          <p:cNvSpPr>
            <a:spLocks noGrp="1"/>
          </p:cNvSpPr>
          <p:nvPr/>
        </p:nvSpPr>
        <p:spPr>
          <a:xfrm>
            <a:off x="7534656" y="247345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Tasks, models, updates, or aggregates</a:t>
            </a:r>
          </a:p>
        </p:txBody>
      </p:sp>
      <p:sp>
        <p:nvSpPr>
          <p:cNvPr id="17" name="Rectangle 16">
            <a:extLst>
              <a:ext uri="{FF2B5EF4-FFF2-40B4-BE49-F238E27FC236}">
                <a16:creationId xmlns:a16="http://schemas.microsoft.com/office/drawing/2014/main" id="{946B42DB-0925-4B13-9BDF-D84C345503F4}"/>
              </a:ext>
            </a:extLst>
          </p:cNvPr>
          <p:cNvSpPr>
            <a:spLocks noGrp="1"/>
          </p:cNvSpPr>
          <p:nvPr/>
        </p:nvSpPr>
        <p:spPr>
          <a:xfrm>
            <a:off x="548640" y="310896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D76EFD7-E340-4FB2-BC76-B94625762EF7}"/>
              </a:ext>
            </a:extLst>
          </p:cNvPr>
          <p:cNvSpPr>
            <a:spLocks noGrp="1"/>
          </p:cNvSpPr>
          <p:nvPr/>
        </p:nvSpPr>
        <p:spPr>
          <a:xfrm>
            <a:off x="621792" y="318211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Federated learning</a:t>
            </a:r>
          </a:p>
        </p:txBody>
      </p:sp>
      <p:sp>
        <p:nvSpPr>
          <p:cNvPr id="19" name="Rectangle 18">
            <a:extLst>
              <a:ext uri="{FF2B5EF4-FFF2-40B4-BE49-F238E27FC236}">
                <a16:creationId xmlns:a16="http://schemas.microsoft.com/office/drawing/2014/main" id="{44769EAF-01DB-4FB3-A301-3E373765833F}"/>
              </a:ext>
            </a:extLst>
          </p:cNvPr>
          <p:cNvSpPr>
            <a:spLocks noGrp="1"/>
          </p:cNvSpPr>
          <p:nvPr/>
        </p:nvSpPr>
        <p:spPr>
          <a:xfrm>
            <a:off x="3401568" y="310896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0E32270-6044-458E-9EA3-F00CDCD3710F}"/>
              </a:ext>
            </a:extLst>
          </p:cNvPr>
          <p:cNvSpPr>
            <a:spLocks noGrp="1"/>
          </p:cNvSpPr>
          <p:nvPr/>
        </p:nvSpPr>
        <p:spPr>
          <a:xfrm>
            <a:off x="3474720" y="318211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Sites improve one shared model by training locally</a:t>
            </a:r>
          </a:p>
        </p:txBody>
      </p:sp>
      <p:sp>
        <p:nvSpPr>
          <p:cNvPr id="21" name="Rectangle 20">
            <a:extLst>
              <a:ext uri="{FF2B5EF4-FFF2-40B4-BE49-F238E27FC236}">
                <a16:creationId xmlns:a16="http://schemas.microsoft.com/office/drawing/2014/main" id="{C17CC1B5-E443-4F95-95D5-DB135876C29E}"/>
              </a:ext>
            </a:extLst>
          </p:cNvPr>
          <p:cNvSpPr>
            <a:spLocks noGrp="1"/>
          </p:cNvSpPr>
          <p:nvPr/>
        </p:nvSpPr>
        <p:spPr>
          <a:xfrm>
            <a:off x="7461504" y="310896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8F98D1C9-37AF-4BEA-91FB-A63BEF14D797}"/>
              </a:ext>
            </a:extLst>
          </p:cNvPr>
          <p:cNvSpPr>
            <a:spLocks noGrp="1"/>
          </p:cNvSpPr>
          <p:nvPr/>
        </p:nvSpPr>
        <p:spPr>
          <a:xfrm>
            <a:off x="7534656" y="318211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Protected model updates and approved measures</a:t>
            </a:r>
          </a:p>
        </p:txBody>
      </p:sp>
      <p:sp>
        <p:nvSpPr>
          <p:cNvPr id="23" name="Rectangle 22">
            <a:extLst>
              <a:ext uri="{FF2B5EF4-FFF2-40B4-BE49-F238E27FC236}">
                <a16:creationId xmlns:a16="http://schemas.microsoft.com/office/drawing/2014/main" id="{3E5F381D-1153-47FA-A0BB-109C5DD96653}"/>
              </a:ext>
            </a:extLst>
          </p:cNvPr>
          <p:cNvSpPr>
            <a:spLocks noGrp="1"/>
          </p:cNvSpPr>
          <p:nvPr/>
        </p:nvSpPr>
        <p:spPr>
          <a:xfrm>
            <a:off x="548640" y="381762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FAF97B7-0EC7-492E-8216-12B43368AEDD}"/>
              </a:ext>
            </a:extLst>
          </p:cNvPr>
          <p:cNvSpPr>
            <a:spLocks noGrp="1"/>
          </p:cNvSpPr>
          <p:nvPr/>
        </p:nvSpPr>
        <p:spPr>
          <a:xfrm>
            <a:off x="621792" y="389077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Federated analytics</a:t>
            </a:r>
          </a:p>
        </p:txBody>
      </p:sp>
      <p:sp>
        <p:nvSpPr>
          <p:cNvPr id="25" name="Rectangle 24">
            <a:extLst>
              <a:ext uri="{FF2B5EF4-FFF2-40B4-BE49-F238E27FC236}">
                <a16:creationId xmlns:a16="http://schemas.microsoft.com/office/drawing/2014/main" id="{A1E449BD-0545-4D14-92B0-C0C03BBAFF33}"/>
              </a:ext>
            </a:extLst>
          </p:cNvPr>
          <p:cNvSpPr>
            <a:spLocks noGrp="1"/>
          </p:cNvSpPr>
          <p:nvPr/>
        </p:nvSpPr>
        <p:spPr>
          <a:xfrm>
            <a:off x="3401568" y="381762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B8A814C-2F17-404B-A854-B3C72CE13365}"/>
              </a:ext>
            </a:extLst>
          </p:cNvPr>
          <p:cNvSpPr>
            <a:spLocks noGrp="1"/>
          </p:cNvSpPr>
          <p:nvPr/>
        </p:nvSpPr>
        <p:spPr>
          <a:xfrm>
            <a:off x="3474720" y="389077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Sites calculate approved statistics locally</a:t>
            </a:r>
          </a:p>
        </p:txBody>
      </p:sp>
      <p:sp>
        <p:nvSpPr>
          <p:cNvPr id="27" name="Rectangle 26">
            <a:extLst>
              <a:ext uri="{FF2B5EF4-FFF2-40B4-BE49-F238E27FC236}">
                <a16:creationId xmlns:a16="http://schemas.microsoft.com/office/drawing/2014/main" id="{BB1C8B34-EAA6-4DE3-B12F-AA600A1B12A1}"/>
              </a:ext>
            </a:extLst>
          </p:cNvPr>
          <p:cNvSpPr>
            <a:spLocks noGrp="1"/>
          </p:cNvSpPr>
          <p:nvPr/>
        </p:nvSpPr>
        <p:spPr>
          <a:xfrm>
            <a:off x="7461504" y="381762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7CCB038B-9458-4F3C-B60D-C76CC950198B}"/>
              </a:ext>
            </a:extLst>
          </p:cNvPr>
          <p:cNvSpPr>
            <a:spLocks noGrp="1"/>
          </p:cNvSpPr>
          <p:nvPr/>
        </p:nvSpPr>
        <p:spPr>
          <a:xfrm>
            <a:off x="7534656" y="389077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Counts, statistics, and evaluation summaries</a:t>
            </a:r>
          </a:p>
        </p:txBody>
      </p:sp>
      <p:sp>
        <p:nvSpPr>
          <p:cNvPr id="29" name="Rectangle 28">
            <a:extLst>
              <a:ext uri="{FF2B5EF4-FFF2-40B4-BE49-F238E27FC236}">
                <a16:creationId xmlns:a16="http://schemas.microsoft.com/office/drawing/2014/main" id="{58BFFB0F-F26A-4B25-BDDE-4A02E13B10D4}"/>
              </a:ext>
            </a:extLst>
          </p:cNvPr>
          <p:cNvSpPr>
            <a:spLocks noGrp="1"/>
          </p:cNvSpPr>
          <p:nvPr/>
        </p:nvSpPr>
        <p:spPr>
          <a:xfrm>
            <a:off x="548640" y="452628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BF68200-F02A-4EF6-8662-A4CB7975F2EB}"/>
              </a:ext>
            </a:extLst>
          </p:cNvPr>
          <p:cNvSpPr>
            <a:spLocks noGrp="1"/>
          </p:cNvSpPr>
          <p:nvPr/>
        </p:nvSpPr>
        <p:spPr>
          <a:xfrm>
            <a:off x="621792" y="459943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Federated database</a:t>
            </a:r>
          </a:p>
        </p:txBody>
      </p:sp>
      <p:sp>
        <p:nvSpPr>
          <p:cNvPr id="31" name="Rectangle 30">
            <a:extLst>
              <a:ext uri="{FF2B5EF4-FFF2-40B4-BE49-F238E27FC236}">
                <a16:creationId xmlns:a16="http://schemas.microsoft.com/office/drawing/2014/main" id="{D2033B15-3D32-4139-9093-C3EC0D52C72B}"/>
              </a:ext>
            </a:extLst>
          </p:cNvPr>
          <p:cNvSpPr>
            <a:spLocks noGrp="1"/>
          </p:cNvSpPr>
          <p:nvPr/>
        </p:nvSpPr>
        <p:spPr>
          <a:xfrm>
            <a:off x="3401568" y="452628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1EB4A3BF-0609-4D48-BB1C-CAAF8C3117CD}"/>
              </a:ext>
            </a:extLst>
          </p:cNvPr>
          <p:cNvSpPr>
            <a:spLocks noGrp="1"/>
          </p:cNvSpPr>
          <p:nvPr/>
        </p:nvSpPr>
        <p:spPr>
          <a:xfrm>
            <a:off x="3474720" y="459943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One query layer reaches several remote sources</a:t>
            </a:r>
          </a:p>
        </p:txBody>
      </p:sp>
      <p:sp>
        <p:nvSpPr>
          <p:cNvPr id="33" name="Rectangle 32">
            <a:extLst>
              <a:ext uri="{FF2B5EF4-FFF2-40B4-BE49-F238E27FC236}">
                <a16:creationId xmlns:a16="http://schemas.microsoft.com/office/drawing/2014/main" id="{A4367BC6-3FF2-4B63-8123-85C14F4AE04D}"/>
              </a:ext>
            </a:extLst>
          </p:cNvPr>
          <p:cNvSpPr>
            <a:spLocks noGrp="1"/>
          </p:cNvSpPr>
          <p:nvPr/>
        </p:nvSpPr>
        <p:spPr>
          <a:xfrm>
            <a:off x="7461504" y="452628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D5117802-2B97-47AE-A1C3-A536E4CCB58D}"/>
              </a:ext>
            </a:extLst>
          </p:cNvPr>
          <p:cNvSpPr>
            <a:spLocks noGrp="1"/>
          </p:cNvSpPr>
          <p:nvPr/>
        </p:nvSpPr>
        <p:spPr>
          <a:xfrm>
            <a:off x="7534656" y="459943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Queries and results—possibly detailed rows</a:t>
            </a:r>
          </a:p>
        </p:txBody>
      </p:sp>
      <p:sp>
        <p:nvSpPr>
          <p:cNvPr id="35" name="Rectangle 34">
            <a:extLst>
              <a:ext uri="{FF2B5EF4-FFF2-40B4-BE49-F238E27FC236}">
                <a16:creationId xmlns:a16="http://schemas.microsoft.com/office/drawing/2014/main" id="{D6EFD778-B6C6-47AA-84F1-9B01BBEC5F74}"/>
              </a:ext>
            </a:extLst>
          </p:cNvPr>
          <p:cNvSpPr>
            <a:spLocks noGrp="1"/>
          </p:cNvSpPr>
          <p:nvPr/>
        </p:nvSpPr>
        <p:spPr>
          <a:xfrm>
            <a:off x="548640" y="5234940"/>
            <a:ext cx="2852928"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C51FE5C2-7C69-4B76-AFAD-6C3053287881}"/>
              </a:ext>
            </a:extLst>
          </p:cNvPr>
          <p:cNvSpPr>
            <a:spLocks noGrp="1"/>
          </p:cNvSpPr>
          <p:nvPr/>
        </p:nvSpPr>
        <p:spPr>
          <a:xfrm>
            <a:off x="621792" y="5308092"/>
            <a:ext cx="2706624" cy="598932"/>
          </a:xfrm>
          <a:prstGeom prst="rect">
            <a:avLst/>
          </a:prstGeom>
          <a:noFill/>
        </p:spPr>
        <p:txBody>
          <a:bodyPr wrap="square">
            <a:spAutoFit/>
          </a:bodyPr>
          <a:lstStyle/>
          <a:p>
            <a:pPr algn="l">
              <a:buNone/>
            </a:pPr>
            <a:r>
              <a:rPr sz="1000" b="0">
                <a:solidFill>
                  <a:srgbClr val="15201B"/>
                </a:solidFill>
                <a:latin typeface="Aptos"/>
                <a:ea typeface="Aptos"/>
                <a:cs typeface="Aptos"/>
              </a:rPr>
              <a:t>Privacy techniques</a:t>
            </a:r>
          </a:p>
        </p:txBody>
      </p:sp>
      <p:sp>
        <p:nvSpPr>
          <p:cNvPr id="37" name="Rectangle 36">
            <a:extLst>
              <a:ext uri="{FF2B5EF4-FFF2-40B4-BE49-F238E27FC236}">
                <a16:creationId xmlns:a16="http://schemas.microsoft.com/office/drawing/2014/main" id="{07A16C5C-A3F7-4D95-919C-C36CB3FC5A8D}"/>
              </a:ext>
            </a:extLst>
          </p:cNvPr>
          <p:cNvSpPr>
            <a:spLocks noGrp="1"/>
          </p:cNvSpPr>
          <p:nvPr/>
        </p:nvSpPr>
        <p:spPr>
          <a:xfrm>
            <a:off x="3401568" y="523494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4CA9917C-CB0F-42EF-A94E-9F39FAF1E497}"/>
              </a:ext>
            </a:extLst>
          </p:cNvPr>
          <p:cNvSpPr>
            <a:spLocks noGrp="1"/>
          </p:cNvSpPr>
          <p:nvPr/>
        </p:nvSpPr>
        <p:spPr>
          <a:xfrm>
            <a:off x="3474720" y="530809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Extra protection for messages and released results</a:t>
            </a:r>
          </a:p>
        </p:txBody>
      </p:sp>
      <p:sp>
        <p:nvSpPr>
          <p:cNvPr id="39" name="Rectangle 38">
            <a:extLst>
              <a:ext uri="{FF2B5EF4-FFF2-40B4-BE49-F238E27FC236}">
                <a16:creationId xmlns:a16="http://schemas.microsoft.com/office/drawing/2014/main" id="{DB1E8843-AA41-4085-AB1E-55C106CB7396}"/>
              </a:ext>
            </a:extLst>
          </p:cNvPr>
          <p:cNvSpPr>
            <a:spLocks noGrp="1"/>
          </p:cNvSpPr>
          <p:nvPr/>
        </p:nvSpPr>
        <p:spPr>
          <a:xfrm>
            <a:off x="7461504" y="5234940"/>
            <a:ext cx="4059935" cy="70866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3A852803-0465-4E91-BB33-E4EA6A463B73}"/>
              </a:ext>
            </a:extLst>
          </p:cNvPr>
          <p:cNvSpPr>
            <a:spLocks noGrp="1"/>
          </p:cNvSpPr>
          <p:nvPr/>
        </p:nvSpPr>
        <p:spPr>
          <a:xfrm>
            <a:off x="7534656" y="5308092"/>
            <a:ext cx="3913631" cy="598932"/>
          </a:xfrm>
          <a:prstGeom prst="rect">
            <a:avLst/>
          </a:prstGeom>
          <a:noFill/>
        </p:spPr>
        <p:txBody>
          <a:bodyPr wrap="square">
            <a:spAutoFit/>
          </a:bodyPr>
          <a:lstStyle/>
          <a:p>
            <a:pPr algn="l">
              <a:buNone/>
            </a:pPr>
            <a:r>
              <a:rPr sz="1000" b="0">
                <a:solidFill>
                  <a:srgbClr val="15201B"/>
                </a:solidFill>
                <a:latin typeface="Aptos"/>
                <a:ea typeface="Aptos"/>
                <a:cs typeface="Aptos"/>
              </a:rPr>
              <a:t>Masked values, encryption, limits, and noise</a:t>
            </a:r>
          </a:p>
        </p:txBody>
      </p:sp>
      <p:sp>
        <p:nvSpPr>
          <p:cNvPr id="41" name="TextBox 40">
            <a:extLst>
              <a:ext uri="{FF2B5EF4-FFF2-40B4-BE49-F238E27FC236}">
                <a16:creationId xmlns:a16="http://schemas.microsoft.com/office/drawing/2014/main" id="{745CA374-23DB-499D-BD95-A09CAB022F85}"/>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Use the precise term: federation is a design family, not an automatic privacy guarantee / A2</a:t>
            </a:r>
          </a:p>
        </p:txBody>
      </p:sp>
    </p:spTree>
    <p:extLst>
      <p:ext uri="{BB962C8B-B14F-4D97-AF65-F5344CB8AC3E}">
        <p14:creationId xmlns:p14="http://schemas.microsoft.com/office/powerpoint/2010/main" val="2019090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F479A346-CD14-411A-AFB6-6934DCA382C6}"/>
              </a:ext>
            </a:extLst>
          </p:cNvPr>
          <p:cNvSpPr>
            <a:spLocks noGrp="1"/>
          </p:cNvSpPr>
          <p:nvPr/>
        </p:nvSpPr>
        <p:spPr>
          <a:xfrm>
            <a:off x="0" y="0"/>
            <a:ext cx="12192000" cy="6858000"/>
          </a:xfrm>
          <a:prstGeom prst="rect">
            <a:avLst/>
          </a:prstGeom>
          <a:solidFill>
            <a:srgbClr val="F7F3EA"/>
          </a:solidFill>
          <a:ln w="9525">
            <a:solidFill>
              <a:srgbClr val="F7F3EA"/>
            </a:solidFill>
          </a:ln>
        </p:spPr>
        <p:txBody>
          <a:bodyPr/>
          <a:lstStyle/>
          <a:p>
            <a:endParaRPr/>
          </a:p>
        </p:txBody>
      </p:sp>
      <p:sp>
        <p:nvSpPr>
          <p:cNvPr id="2" name="Rectangle 1">
            <a:extLst>
              <a:ext uri="{FF2B5EF4-FFF2-40B4-BE49-F238E27FC236}">
                <a16:creationId xmlns:a16="http://schemas.microsoft.com/office/drawing/2014/main" id="{B6129DDB-6D69-4CA7-A898-3289B0DC0648}"/>
              </a:ext>
            </a:extLst>
          </p:cNvPr>
          <p:cNvSpPr>
            <a:spLocks noGrp="1"/>
          </p:cNvSpPr>
          <p:nvPr/>
        </p:nvSpPr>
        <p:spPr>
          <a:xfrm>
            <a:off x="666750" y="400050"/>
            <a:ext cx="1619250" cy="238125"/>
          </a:xfrm>
          <a:prstGeom prst="rect">
            <a:avLst/>
          </a:prstGeom>
          <a:solidFill>
            <a:srgbClr val="15201B"/>
          </a:solidFill>
          <a:ln w="9525">
            <a:solidFill>
              <a:srgbClr val="15201B"/>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APPENDIX · NVIDIA FLARE</a:t>
            </a:r>
          </a:p>
        </p:txBody>
      </p:sp>
      <p:sp>
        <p:nvSpPr>
          <p:cNvPr id="3" name="Rectangle 2">
            <a:extLst>
              <a:ext uri="{FF2B5EF4-FFF2-40B4-BE49-F238E27FC236}">
                <a16:creationId xmlns:a16="http://schemas.microsoft.com/office/drawing/2014/main" id="{E37BB917-2BF2-4DEC-9B37-1BA2E428C27D}"/>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NVIDIA FLARE is a runtime for multi-site computing.</a:t>
            </a:r>
          </a:p>
        </p:txBody>
      </p:sp>
      <p:sp>
        <p:nvSpPr>
          <p:cNvPr id="4" name="Rectangle 3">
            <a:extLst>
              <a:ext uri="{FF2B5EF4-FFF2-40B4-BE49-F238E27FC236}">
                <a16:creationId xmlns:a16="http://schemas.microsoft.com/office/drawing/2014/main" id="{24704B30-3E55-43AC-B117-A3BC57094B39}"/>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5E6B64"/>
                </a:solidFill>
                <a:latin typeface="Aptos"/>
                <a:ea typeface="Aptos"/>
                <a:cs typeface="Aptos"/>
              </a:defRPr>
            </a:pPr>
            <a:r>
              <a:rPr sz="1200" b="0">
                <a:solidFill>
                  <a:srgbClr val="5E6B64"/>
                </a:solidFill>
                <a:latin typeface="Aptos"/>
                <a:ea typeface="Aptos"/>
                <a:cs typeface="Aptos"/>
              </a:rPr>
              <a:t>It is an open-source Python SDK for federated jobs—not a hospital data lake, stroke model, or compliance certificate.</a:t>
            </a:r>
          </a:p>
        </p:txBody>
      </p:sp>
      <p:sp>
        <p:nvSpPr>
          <p:cNvPr id="5" name="Rounded Rectangle 4">
            <a:extLst>
              <a:ext uri="{FF2B5EF4-FFF2-40B4-BE49-F238E27FC236}">
                <a16:creationId xmlns:a16="http://schemas.microsoft.com/office/drawing/2014/main" id="{A13081A4-6899-453F-BDDB-D3AF6CA62CF7}"/>
              </a:ext>
            </a:extLst>
          </p:cNvPr>
          <p:cNvSpPr>
            <a:spLocks noGrp="1"/>
          </p:cNvSpPr>
          <p:nvPr/>
        </p:nvSpPr>
        <p:spPr>
          <a:xfrm>
            <a:off x="666750" y="2381249"/>
            <a:ext cx="2076450" cy="1685925"/>
          </a:xfrm>
          <a:prstGeom prst="roundRect">
            <a:avLst>
              <a:gd name="adj" fmla="val 2667"/>
            </a:avLst>
          </a:prstGeom>
          <a:solidFill>
            <a:srgbClr val="FFFFFF"/>
          </a:solidFill>
          <a:ln w="9525">
            <a:solidFill>
              <a:srgbClr val="D5CDBF"/>
            </a:solidFill>
          </a:ln>
        </p:spPr>
        <p:txBody>
          <a:bodyPr/>
          <a:lstStyle/>
          <a:p>
            <a:endParaRPr/>
          </a:p>
        </p:txBody>
      </p:sp>
      <p:sp>
        <p:nvSpPr>
          <p:cNvPr id="6" name="Rounded Rectangle 5">
            <a:extLst>
              <a:ext uri="{FF2B5EF4-FFF2-40B4-BE49-F238E27FC236}">
                <a16:creationId xmlns:a16="http://schemas.microsoft.com/office/drawing/2014/main" id="{E3E67488-16FF-4721-B16B-EED624647858}"/>
              </a:ext>
            </a:extLst>
          </p:cNvPr>
          <p:cNvSpPr>
            <a:spLocks noGrp="1"/>
          </p:cNvSpPr>
          <p:nvPr/>
        </p:nvSpPr>
        <p:spPr>
          <a:xfrm>
            <a:off x="666750" y="2381250"/>
            <a:ext cx="2076450" cy="361950"/>
          </a:xfrm>
          <a:prstGeom prst="roundRect">
            <a:avLst>
              <a:gd name="adj" fmla="val 10526"/>
            </a:avLst>
          </a:prstGeom>
          <a:solidFill>
            <a:srgbClr val="2E6F4E"/>
          </a:solidFill>
          <a:ln w="9525">
            <a:solidFill>
              <a:srgbClr val="2E6F4E"/>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Job definition</a:t>
            </a:r>
          </a:p>
        </p:txBody>
      </p:sp>
      <p:sp>
        <p:nvSpPr>
          <p:cNvPr id="7" name="Rectangle 6">
            <a:extLst>
              <a:ext uri="{FF2B5EF4-FFF2-40B4-BE49-F238E27FC236}">
                <a16:creationId xmlns:a16="http://schemas.microsoft.com/office/drawing/2014/main" id="{3FFA21E9-90FD-423B-94CD-5AE2604AE6C4}"/>
              </a:ext>
            </a:extLst>
          </p:cNvPr>
          <p:cNvSpPr>
            <a:spLocks noGrp="1"/>
          </p:cNvSpPr>
          <p:nvPr/>
        </p:nvSpPr>
        <p:spPr>
          <a:xfrm>
            <a:off x="819150" y="2895600"/>
            <a:ext cx="17716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Packages the model, client code, sites, rounds, aggregation method, and validation plan.</a:t>
            </a:r>
          </a:p>
        </p:txBody>
      </p:sp>
      <p:sp>
        <p:nvSpPr>
          <p:cNvPr id="8" name="Rounded Rectangle 7">
            <a:extLst>
              <a:ext uri="{FF2B5EF4-FFF2-40B4-BE49-F238E27FC236}">
                <a16:creationId xmlns:a16="http://schemas.microsoft.com/office/drawing/2014/main" id="{BAEBE119-5A68-4F66-9ECE-171920DB925C}"/>
              </a:ext>
            </a:extLst>
          </p:cNvPr>
          <p:cNvSpPr>
            <a:spLocks noGrp="1"/>
          </p:cNvSpPr>
          <p:nvPr/>
        </p:nvSpPr>
        <p:spPr>
          <a:xfrm>
            <a:off x="2971800" y="2381250"/>
            <a:ext cx="2076450" cy="1685924"/>
          </a:xfrm>
          <a:prstGeom prst="roundRect">
            <a:avLst>
              <a:gd name="adj" fmla="val 2667"/>
            </a:avLst>
          </a:prstGeom>
          <a:solidFill>
            <a:srgbClr val="FFFFFF"/>
          </a:solidFill>
          <a:ln w="9525">
            <a:solidFill>
              <a:srgbClr val="D5CDBF"/>
            </a:solidFill>
          </a:ln>
        </p:spPr>
        <p:txBody>
          <a:bodyPr/>
          <a:lstStyle/>
          <a:p>
            <a:endParaRPr/>
          </a:p>
        </p:txBody>
      </p:sp>
      <p:sp>
        <p:nvSpPr>
          <p:cNvPr id="9" name="Rounded Rectangle 8">
            <a:extLst>
              <a:ext uri="{FF2B5EF4-FFF2-40B4-BE49-F238E27FC236}">
                <a16:creationId xmlns:a16="http://schemas.microsoft.com/office/drawing/2014/main" id="{D92C0DF7-A365-4208-97B7-95B9C2846808}"/>
              </a:ext>
            </a:extLst>
          </p:cNvPr>
          <p:cNvSpPr>
            <a:spLocks noGrp="1"/>
          </p:cNvSpPr>
          <p:nvPr/>
        </p:nvSpPr>
        <p:spPr>
          <a:xfrm>
            <a:off x="2971800" y="2381250"/>
            <a:ext cx="2076450" cy="361950"/>
          </a:xfrm>
          <a:prstGeom prst="roundRect">
            <a:avLst>
              <a:gd name="adj" fmla="val 10526"/>
            </a:avLst>
          </a:prstGeom>
          <a:solidFill>
            <a:srgbClr val="2D5B7C"/>
          </a:solidFill>
          <a:ln w="9525">
            <a:solidFill>
              <a:srgbClr val="2D5B7C"/>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Server workflow</a:t>
            </a:r>
          </a:p>
        </p:txBody>
      </p:sp>
      <p:sp>
        <p:nvSpPr>
          <p:cNvPr id="10" name="Rectangle 9">
            <a:extLst>
              <a:ext uri="{FF2B5EF4-FFF2-40B4-BE49-F238E27FC236}">
                <a16:creationId xmlns:a16="http://schemas.microsoft.com/office/drawing/2014/main" id="{D366C7E8-D30E-4F8F-A2A3-A470D4067A7E}"/>
              </a:ext>
            </a:extLst>
          </p:cNvPr>
          <p:cNvSpPr>
            <a:spLocks noGrp="1"/>
          </p:cNvSpPr>
          <p:nvPr/>
        </p:nvSpPr>
        <p:spPr>
          <a:xfrm>
            <a:off x="3124200" y="2895600"/>
            <a:ext cx="17716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A controller creates tasks, selects clients, tracks rounds, and processes returned results.</a:t>
            </a:r>
          </a:p>
        </p:txBody>
      </p:sp>
      <p:sp>
        <p:nvSpPr>
          <p:cNvPr id="11" name="Rounded Rectangle 10">
            <a:extLst>
              <a:ext uri="{FF2B5EF4-FFF2-40B4-BE49-F238E27FC236}">
                <a16:creationId xmlns:a16="http://schemas.microsoft.com/office/drawing/2014/main" id="{E52E24A4-0141-4B37-8928-691636878792}"/>
              </a:ext>
            </a:extLst>
          </p:cNvPr>
          <p:cNvSpPr>
            <a:spLocks noGrp="1"/>
          </p:cNvSpPr>
          <p:nvPr/>
        </p:nvSpPr>
        <p:spPr>
          <a:xfrm>
            <a:off x="5276850" y="2381248"/>
            <a:ext cx="2076450" cy="1685925"/>
          </a:xfrm>
          <a:prstGeom prst="roundRect">
            <a:avLst>
              <a:gd name="adj" fmla="val 2667"/>
            </a:avLst>
          </a:prstGeom>
          <a:solidFill>
            <a:srgbClr val="FFFFFF"/>
          </a:solidFill>
          <a:ln w="9525">
            <a:solidFill>
              <a:srgbClr val="D5CDBF"/>
            </a:solidFill>
          </a:ln>
        </p:spPr>
        <p:txBody>
          <a:bodyPr/>
          <a:lstStyle/>
          <a:p>
            <a:endParaRPr/>
          </a:p>
        </p:txBody>
      </p:sp>
      <p:sp>
        <p:nvSpPr>
          <p:cNvPr id="12" name="Rounded Rectangle 11">
            <a:extLst>
              <a:ext uri="{FF2B5EF4-FFF2-40B4-BE49-F238E27FC236}">
                <a16:creationId xmlns:a16="http://schemas.microsoft.com/office/drawing/2014/main" id="{D7327AB3-C9C1-4F2A-A6D0-10D7A4A645FF}"/>
              </a:ext>
            </a:extLst>
          </p:cNvPr>
          <p:cNvSpPr>
            <a:spLocks noGrp="1"/>
          </p:cNvSpPr>
          <p:nvPr/>
        </p:nvSpPr>
        <p:spPr>
          <a:xfrm>
            <a:off x="5276850" y="2381250"/>
            <a:ext cx="2076450" cy="361950"/>
          </a:xfrm>
          <a:prstGeom prst="roundRect">
            <a:avLst>
              <a:gd name="adj" fmla="val 10526"/>
            </a:avLst>
          </a:prstGeom>
          <a:solidFill>
            <a:srgbClr val="A34D3E"/>
          </a:solidFill>
          <a:ln w="9525">
            <a:solidFill>
              <a:srgbClr val="A34D3E"/>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Client runtime</a:t>
            </a:r>
          </a:p>
        </p:txBody>
      </p:sp>
      <p:sp>
        <p:nvSpPr>
          <p:cNvPr id="13" name="Rectangle 12">
            <a:extLst>
              <a:ext uri="{FF2B5EF4-FFF2-40B4-BE49-F238E27FC236}">
                <a16:creationId xmlns:a16="http://schemas.microsoft.com/office/drawing/2014/main" id="{02D56E01-AE91-43A1-8163-B51B0EF3698D}"/>
              </a:ext>
            </a:extLst>
          </p:cNvPr>
          <p:cNvSpPr>
            <a:spLocks noGrp="1"/>
          </p:cNvSpPr>
          <p:nvPr/>
        </p:nvSpPr>
        <p:spPr>
          <a:xfrm>
            <a:off x="5429250" y="2895600"/>
            <a:ext cx="17716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An executor or Client API connects FLARE to local training or evaluation beside the data.</a:t>
            </a:r>
          </a:p>
        </p:txBody>
      </p:sp>
      <p:sp>
        <p:nvSpPr>
          <p:cNvPr id="14" name="Rounded Rectangle 13">
            <a:extLst>
              <a:ext uri="{FF2B5EF4-FFF2-40B4-BE49-F238E27FC236}">
                <a16:creationId xmlns:a16="http://schemas.microsoft.com/office/drawing/2014/main" id="{DF730831-E735-4AF3-8B89-EC1D8BA5E7F2}"/>
              </a:ext>
            </a:extLst>
          </p:cNvPr>
          <p:cNvSpPr>
            <a:spLocks noGrp="1"/>
          </p:cNvSpPr>
          <p:nvPr/>
        </p:nvSpPr>
        <p:spPr>
          <a:xfrm>
            <a:off x="7581900" y="2381250"/>
            <a:ext cx="1771650" cy="1685924"/>
          </a:xfrm>
          <a:prstGeom prst="roundRect">
            <a:avLst>
              <a:gd name="adj" fmla="val 2667"/>
            </a:avLst>
          </a:prstGeom>
          <a:solidFill>
            <a:srgbClr val="FFFFFF"/>
          </a:solidFill>
          <a:ln w="9525">
            <a:solidFill>
              <a:srgbClr val="D5CDBF"/>
            </a:solidFill>
          </a:ln>
        </p:spPr>
        <p:txBody>
          <a:bodyPr/>
          <a:lstStyle/>
          <a:p>
            <a:endParaRPr/>
          </a:p>
        </p:txBody>
      </p:sp>
      <p:sp>
        <p:nvSpPr>
          <p:cNvPr id="15" name="Rounded Rectangle 14">
            <a:extLst>
              <a:ext uri="{FF2B5EF4-FFF2-40B4-BE49-F238E27FC236}">
                <a16:creationId xmlns:a16="http://schemas.microsoft.com/office/drawing/2014/main" id="{B84B2B6C-E9FC-4DAE-AEEF-1C30741DD9A8}"/>
              </a:ext>
            </a:extLst>
          </p:cNvPr>
          <p:cNvSpPr>
            <a:spLocks noGrp="1"/>
          </p:cNvSpPr>
          <p:nvPr/>
        </p:nvSpPr>
        <p:spPr>
          <a:xfrm>
            <a:off x="7581900" y="2381250"/>
            <a:ext cx="1771650" cy="361950"/>
          </a:xfrm>
          <a:prstGeom prst="roundRect">
            <a:avLst>
              <a:gd name="adj" fmla="val 10526"/>
            </a:avLst>
          </a:prstGeom>
          <a:solidFill>
            <a:srgbClr val="2E6F4E"/>
          </a:solidFill>
          <a:ln w="9525">
            <a:solidFill>
              <a:srgbClr val="2E6F4E"/>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Algorithms</a:t>
            </a:r>
          </a:p>
        </p:txBody>
      </p:sp>
      <p:sp>
        <p:nvSpPr>
          <p:cNvPr id="16" name="Rectangle 15">
            <a:extLst>
              <a:ext uri="{FF2B5EF4-FFF2-40B4-BE49-F238E27FC236}">
                <a16:creationId xmlns:a16="http://schemas.microsoft.com/office/drawing/2014/main" id="{F3AE6955-92C1-481D-8741-E1B4ACD11D07}"/>
              </a:ext>
            </a:extLst>
          </p:cNvPr>
          <p:cNvSpPr>
            <a:spLocks noGrp="1"/>
          </p:cNvSpPr>
          <p:nvPr/>
        </p:nvSpPr>
        <p:spPr>
          <a:xfrm>
            <a:off x="7734300" y="2895600"/>
            <a:ext cx="14668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Supports FedAvg, FedProx, FedOpt, other workflows, and cross-site validation patterns.</a:t>
            </a:r>
          </a:p>
        </p:txBody>
      </p:sp>
      <p:sp>
        <p:nvSpPr>
          <p:cNvPr id="17" name="Rounded Rectangle 16">
            <a:extLst>
              <a:ext uri="{FF2B5EF4-FFF2-40B4-BE49-F238E27FC236}">
                <a16:creationId xmlns:a16="http://schemas.microsoft.com/office/drawing/2014/main" id="{A7DFFB37-32AB-426D-936F-2F09D6103545}"/>
              </a:ext>
            </a:extLst>
          </p:cNvPr>
          <p:cNvSpPr>
            <a:spLocks noGrp="1"/>
          </p:cNvSpPr>
          <p:nvPr/>
        </p:nvSpPr>
        <p:spPr>
          <a:xfrm>
            <a:off x="9582150" y="2381249"/>
            <a:ext cx="1771650" cy="1685923"/>
          </a:xfrm>
          <a:prstGeom prst="roundRect">
            <a:avLst>
              <a:gd name="adj" fmla="val 2667"/>
            </a:avLst>
          </a:prstGeom>
          <a:solidFill>
            <a:srgbClr val="FFFFFF"/>
          </a:solidFill>
          <a:ln w="9525">
            <a:solidFill>
              <a:srgbClr val="D5CDBF"/>
            </a:solidFill>
          </a:ln>
        </p:spPr>
        <p:txBody>
          <a:bodyPr/>
          <a:lstStyle/>
          <a:p>
            <a:endParaRPr/>
          </a:p>
        </p:txBody>
      </p:sp>
      <p:sp>
        <p:nvSpPr>
          <p:cNvPr id="18" name="Rounded Rectangle 17">
            <a:extLst>
              <a:ext uri="{FF2B5EF4-FFF2-40B4-BE49-F238E27FC236}">
                <a16:creationId xmlns:a16="http://schemas.microsoft.com/office/drawing/2014/main" id="{07216B4A-3BF2-4504-852C-8A99711EC0E0}"/>
              </a:ext>
            </a:extLst>
          </p:cNvPr>
          <p:cNvSpPr>
            <a:spLocks noGrp="1"/>
          </p:cNvSpPr>
          <p:nvPr/>
        </p:nvSpPr>
        <p:spPr>
          <a:xfrm>
            <a:off x="9582150" y="2381250"/>
            <a:ext cx="1771650" cy="361950"/>
          </a:xfrm>
          <a:prstGeom prst="roundRect">
            <a:avLst>
              <a:gd name="adj" fmla="val 10526"/>
            </a:avLst>
          </a:prstGeom>
          <a:solidFill>
            <a:srgbClr val="2D5B7C"/>
          </a:solidFill>
          <a:ln w="9525">
            <a:solidFill>
              <a:srgbClr val="2D5B7C"/>
            </a:solidFill>
          </a:ln>
        </p:spPr>
        <p:txBody>
          <a:bodyPr lIns="0" tIns="0" rIns="0" bIns="0" anchor="ct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Security + operations</a:t>
            </a:r>
          </a:p>
        </p:txBody>
      </p:sp>
      <p:sp>
        <p:nvSpPr>
          <p:cNvPr id="19" name="Rectangle 18">
            <a:extLst>
              <a:ext uri="{FF2B5EF4-FFF2-40B4-BE49-F238E27FC236}">
                <a16:creationId xmlns:a16="http://schemas.microsoft.com/office/drawing/2014/main" id="{155BB77E-A396-45E8-81E6-0554EE3EAA7C}"/>
              </a:ext>
            </a:extLst>
          </p:cNvPr>
          <p:cNvSpPr>
            <a:spLocks noGrp="1"/>
          </p:cNvSpPr>
          <p:nvPr/>
        </p:nvSpPr>
        <p:spPr>
          <a:xfrm>
            <a:off x="9734550" y="2895600"/>
            <a:ext cx="1466850" cy="819150"/>
          </a:xfrm>
          <a:prstGeom prst="rect">
            <a:avLst/>
          </a:prstGeom>
          <a:noFill/>
          <a:ln w="0">
            <a:noFill/>
          </a:ln>
        </p:spPr>
        <p:txBody>
          <a:bodyPr lIns="0" tIns="0" rIns="0" bIns="0" anchor="t"/>
          <a:lstStyle/>
          <a:p>
            <a:pPr algn="l">
              <a:buNone/>
              <a:defRPr sz="1200" b="0">
                <a:solidFill>
                  <a:srgbClr val="15201B"/>
                </a:solidFill>
                <a:latin typeface="Aptos"/>
                <a:ea typeface="Aptos"/>
                <a:cs typeface="Aptos"/>
              </a:defRPr>
            </a:pPr>
            <a:r>
              <a:rPr sz="1200" b="0">
                <a:solidFill>
                  <a:srgbClr val="15201B"/>
                </a:solidFill>
                <a:latin typeface="Aptos"/>
                <a:ea typeface="Aptos"/>
                <a:cs typeface="Aptos"/>
              </a:rPr>
              <a:t>Provisioning, mTLS, site policies, filters, audit, simulation, POC, and production modes.</a:t>
            </a:r>
          </a:p>
        </p:txBody>
      </p:sp>
      <p:sp>
        <p:nvSpPr>
          <p:cNvPr id="20" name="Rectangle 19">
            <a:extLst>
              <a:ext uri="{FF2B5EF4-FFF2-40B4-BE49-F238E27FC236}">
                <a16:creationId xmlns:a16="http://schemas.microsoft.com/office/drawing/2014/main" id="{7E02936F-D2E1-4B65-BA8E-7DDEA9BF7168}"/>
              </a:ext>
            </a:extLst>
          </p:cNvPr>
          <p:cNvSpPr>
            <a:spLocks noGrp="1"/>
          </p:cNvSpPr>
          <p:nvPr/>
        </p:nvSpPr>
        <p:spPr>
          <a:xfrm>
            <a:off x="1257300" y="4524375"/>
            <a:ext cx="9620250" cy="742950"/>
          </a:xfrm>
          <a:prstGeom prst="rect">
            <a:avLst/>
          </a:prstGeom>
          <a:solidFill>
            <a:srgbClr val="ECE6D9"/>
          </a:solidFill>
          <a:ln w="9525">
            <a:solidFill>
              <a:srgbClr val="D5CDBF"/>
            </a:solidFill>
          </a:ln>
        </p:spPr>
        <p:txBody>
          <a:bodyPr lIns="95250" tIns="76200" rIns="95250" bIns="76200" anchor="ctr"/>
          <a:lstStyle/>
          <a:p>
            <a:pPr algn="ctr">
              <a:buNone/>
              <a:defRPr sz="1650" b="0">
                <a:solidFill>
                  <a:srgbClr val="15201B"/>
                </a:solidFill>
                <a:latin typeface="Aptos"/>
                <a:ea typeface="Aptos"/>
                <a:cs typeface="Aptos"/>
              </a:defRPr>
            </a:pPr>
            <a:r>
              <a:rPr sz="1650" b="0">
                <a:solidFill>
                  <a:srgbClr val="15201B"/>
                </a:solidFill>
                <a:latin typeface="Aptos"/>
                <a:ea typeface="Aptos"/>
                <a:cs typeface="Aptos"/>
              </a:rPr>
              <a:t>FLARE runs the specialist distributed workflow; Dagents still governs purpose, evidence, release, and recovery.</a:t>
            </a:r>
          </a:p>
        </p:txBody>
      </p:sp>
      <p:sp>
        <p:nvSpPr>
          <p:cNvPr id="21" name="Rectangle 20">
            <a:extLst>
              <a:ext uri="{FF2B5EF4-FFF2-40B4-BE49-F238E27FC236}">
                <a16:creationId xmlns:a16="http://schemas.microsoft.com/office/drawing/2014/main" id="{ED41F84D-20B4-45ED-993A-A1BBBB1ECECB}"/>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5E6B64"/>
                </a:solidFill>
                <a:latin typeface="Aptos"/>
                <a:ea typeface="Aptos"/>
                <a:cs typeface="Aptos"/>
              </a:defRPr>
            </a:pPr>
            <a:r>
              <a:rPr sz="825" b="0">
                <a:solidFill>
                  <a:srgbClr val="5E6B64"/>
                </a:solidFill>
                <a:latin typeface="Aptos"/>
                <a:ea typeface="Aptos"/>
                <a:cs typeface="Aptos"/>
              </a:rPr>
              <a:t>NVIDIA FLARE orientation / A3</a:t>
            </a:r>
          </a:p>
        </p:txBody>
      </p:sp>
    </p:spTree>
    <p:extLst>
      <p:ext uri="{BB962C8B-B14F-4D97-AF65-F5344CB8AC3E}">
        <p14:creationId xmlns:p14="http://schemas.microsoft.com/office/powerpoint/2010/main" val="1579118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7D1158-DC0C-4870-9A1F-691F8C825EE8}"/>
              </a:ext>
            </a:extLst>
          </p:cNvPr>
          <p:cNvSpPr>
            <a:spLocks noGrp="1"/>
          </p:cNvSpPr>
          <p:nvPr/>
        </p:nvSpPr>
        <p:spPr>
          <a:xfrm>
            <a:off x="548640" y="320040"/>
            <a:ext cx="2377440" cy="487680"/>
          </a:xfrm>
          <a:prstGeom prst="rect">
            <a:avLst/>
          </a:prstGeom>
          <a:noFill/>
        </p:spPr>
        <p:txBody>
          <a:bodyPr wrap="square">
            <a:spAutoFit/>
          </a:bodyPr>
          <a:lstStyle/>
          <a:p>
            <a:pPr algn="l">
              <a:buNone/>
            </a:pPr>
            <a:r>
              <a:rPr sz="1300" b="1">
                <a:solidFill>
                  <a:srgbClr val="53635B"/>
                </a:solidFill>
                <a:latin typeface="Aptos"/>
                <a:ea typeface="Aptos"/>
                <a:cs typeface="Aptos"/>
              </a:rPr>
              <a:t>APPENDIX · FLARE VOCABULARY</a:t>
            </a:r>
          </a:p>
        </p:txBody>
      </p:sp>
      <p:sp>
        <p:nvSpPr>
          <p:cNvPr id="3" name="TextBox 2">
            <a:extLst>
              <a:ext uri="{FF2B5EF4-FFF2-40B4-BE49-F238E27FC236}">
                <a16:creationId xmlns:a16="http://schemas.microsoft.com/office/drawing/2014/main" id="{84656273-0838-4E98-9C35-87AA81425751}"/>
              </a:ext>
            </a:extLst>
          </p:cNvPr>
          <p:cNvSpPr>
            <a:spLocks noGrp="1"/>
          </p:cNvSpPr>
          <p:nvPr/>
        </p:nvSpPr>
        <p:spPr>
          <a:xfrm>
            <a:off x="548640" y="743429"/>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A FLARE job has four names worth knowing.</a:t>
            </a:r>
          </a:p>
        </p:txBody>
      </p:sp>
      <p:sp>
        <p:nvSpPr>
          <p:cNvPr id="4" name="TextBox 3">
            <a:extLst>
              <a:ext uri="{FF2B5EF4-FFF2-40B4-BE49-F238E27FC236}">
                <a16:creationId xmlns:a16="http://schemas.microsoft.com/office/drawing/2014/main" id="{54FDD751-E4A4-4D59-8F78-D01EFE7D22D5}"/>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Read them as a simple request-and-return system; the lower-level software details can wait.</a:t>
            </a:r>
          </a:p>
        </p:txBody>
      </p:sp>
      <p:sp>
        <p:nvSpPr>
          <p:cNvPr id="5" name="Rounded Rectangle 4">
            <a:extLst>
              <a:ext uri="{FF2B5EF4-FFF2-40B4-BE49-F238E27FC236}">
                <a16:creationId xmlns:a16="http://schemas.microsoft.com/office/drawing/2014/main" id="{4FE36FB3-EF4F-4471-8C0C-A6391FFA5999}"/>
              </a:ext>
            </a:extLst>
          </p:cNvPr>
          <p:cNvSpPr>
            <a:spLocks noGrp="1"/>
          </p:cNvSpPr>
          <p:nvPr/>
        </p:nvSpPr>
        <p:spPr>
          <a:xfrm>
            <a:off x="685800" y="1874519"/>
            <a:ext cx="2423160" cy="256032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C154123-D6D6-43E5-8E10-D9956C94BDCE}"/>
              </a:ext>
            </a:extLst>
          </p:cNvPr>
          <p:cNvSpPr>
            <a:spLocks noGrp="1"/>
          </p:cNvSpPr>
          <p:nvPr/>
        </p:nvSpPr>
        <p:spPr>
          <a:xfrm>
            <a:off x="85039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JOB / RECIPE</a:t>
            </a:r>
          </a:p>
        </p:txBody>
      </p:sp>
      <p:sp>
        <p:nvSpPr>
          <p:cNvPr id="7" name="TextBox 6">
            <a:extLst>
              <a:ext uri="{FF2B5EF4-FFF2-40B4-BE49-F238E27FC236}">
                <a16:creationId xmlns:a16="http://schemas.microsoft.com/office/drawing/2014/main" id="{10E5C917-0DA9-4A9D-81A2-91E6CAEF835A}"/>
              </a:ext>
            </a:extLst>
          </p:cNvPr>
          <p:cNvSpPr>
            <a:spLocks noGrp="1"/>
          </p:cNvSpPr>
          <p:nvPr/>
        </p:nvSpPr>
        <p:spPr>
          <a:xfrm>
            <a:off x="871728" y="2574355"/>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The packaged plan: model, training code, clients, rounds, aggregation, and validation.</a:t>
            </a:r>
          </a:p>
        </p:txBody>
      </p:sp>
      <p:sp>
        <p:nvSpPr>
          <p:cNvPr id="8" name="TextBox 7">
            <a:extLst>
              <a:ext uri="{FF2B5EF4-FFF2-40B4-BE49-F238E27FC236}">
                <a16:creationId xmlns:a16="http://schemas.microsoft.com/office/drawing/2014/main" id="{283583F2-18F8-47B5-B953-1BE32838718A}"/>
              </a:ext>
            </a:extLst>
          </p:cNvPr>
          <p:cNvSpPr>
            <a:spLocks noGrp="1"/>
          </p:cNvSpPr>
          <p:nvPr/>
        </p:nvSpPr>
        <p:spPr>
          <a:xfrm>
            <a:off x="315468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9" name="Rounded Rectangle 8">
            <a:extLst>
              <a:ext uri="{FF2B5EF4-FFF2-40B4-BE49-F238E27FC236}">
                <a16:creationId xmlns:a16="http://schemas.microsoft.com/office/drawing/2014/main" id="{B7B06795-DCE9-4C8D-B015-25CADBD41A99}"/>
              </a:ext>
            </a:extLst>
          </p:cNvPr>
          <p:cNvSpPr>
            <a:spLocks noGrp="1"/>
          </p:cNvSpPr>
          <p:nvPr/>
        </p:nvSpPr>
        <p:spPr>
          <a:xfrm>
            <a:off x="3474720" y="1874519"/>
            <a:ext cx="2423160" cy="256032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B360983-67AA-4183-B04A-ACC05DF791ED}"/>
              </a:ext>
            </a:extLst>
          </p:cNvPr>
          <p:cNvSpPr>
            <a:spLocks noGrp="1"/>
          </p:cNvSpPr>
          <p:nvPr/>
        </p:nvSpPr>
        <p:spPr>
          <a:xfrm>
            <a:off x="363931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CONTROLLER</a:t>
            </a:r>
          </a:p>
        </p:txBody>
      </p:sp>
      <p:sp>
        <p:nvSpPr>
          <p:cNvPr id="11" name="TextBox 10">
            <a:extLst>
              <a:ext uri="{FF2B5EF4-FFF2-40B4-BE49-F238E27FC236}">
                <a16:creationId xmlns:a16="http://schemas.microsoft.com/office/drawing/2014/main" id="{B4D09C7A-CE49-4C0C-BAB7-7F16C2331F9C}"/>
              </a:ext>
            </a:extLst>
          </p:cNvPr>
          <p:cNvSpPr>
            <a:spLocks noGrp="1"/>
          </p:cNvSpPr>
          <p:nvPr/>
        </p:nvSpPr>
        <p:spPr>
          <a:xfrm>
            <a:off x="3654552" y="2574355"/>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Server-side logic that creates tasks, chooses clients, and decides what happens next.</a:t>
            </a:r>
          </a:p>
        </p:txBody>
      </p:sp>
      <p:sp>
        <p:nvSpPr>
          <p:cNvPr id="12" name="TextBox 11">
            <a:extLst>
              <a:ext uri="{FF2B5EF4-FFF2-40B4-BE49-F238E27FC236}">
                <a16:creationId xmlns:a16="http://schemas.microsoft.com/office/drawing/2014/main" id="{388FFCDD-207D-447E-AD8D-0C3AEB782266}"/>
              </a:ext>
            </a:extLst>
          </p:cNvPr>
          <p:cNvSpPr>
            <a:spLocks noGrp="1"/>
          </p:cNvSpPr>
          <p:nvPr/>
        </p:nvSpPr>
        <p:spPr>
          <a:xfrm>
            <a:off x="594360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3" name="Rounded Rectangle 12">
            <a:extLst>
              <a:ext uri="{FF2B5EF4-FFF2-40B4-BE49-F238E27FC236}">
                <a16:creationId xmlns:a16="http://schemas.microsoft.com/office/drawing/2014/main" id="{0F266D72-A8AA-4D4D-B477-7E6D7F171E6D}"/>
              </a:ext>
            </a:extLst>
          </p:cNvPr>
          <p:cNvSpPr>
            <a:spLocks noGrp="1"/>
          </p:cNvSpPr>
          <p:nvPr/>
        </p:nvSpPr>
        <p:spPr>
          <a:xfrm>
            <a:off x="6263640" y="1874519"/>
            <a:ext cx="2423160" cy="256032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C4BA714-596E-48B7-B7FB-8173266FCE0E}"/>
              </a:ext>
            </a:extLst>
          </p:cNvPr>
          <p:cNvSpPr>
            <a:spLocks noGrp="1"/>
          </p:cNvSpPr>
          <p:nvPr/>
        </p:nvSpPr>
        <p:spPr>
          <a:xfrm>
            <a:off x="6428231" y="2020824"/>
            <a:ext cx="2103120" cy="548640"/>
          </a:xfrm>
          <a:prstGeom prst="rect">
            <a:avLst/>
          </a:prstGeom>
          <a:noFill/>
        </p:spPr>
        <p:txBody>
          <a:bodyPr wrap="square">
            <a:spAutoFit/>
          </a:bodyPr>
          <a:lstStyle/>
          <a:p>
            <a:pPr algn="l">
              <a:buNone/>
            </a:pPr>
            <a:r>
              <a:rPr sz="1500" b="1">
                <a:solidFill>
                  <a:srgbClr val="15201B"/>
                </a:solidFill>
                <a:latin typeface="Aptos"/>
                <a:ea typeface="Aptos"/>
                <a:cs typeface="Aptos"/>
              </a:rPr>
              <a:t>TASK</a:t>
            </a:r>
          </a:p>
        </p:txBody>
      </p:sp>
      <p:sp>
        <p:nvSpPr>
          <p:cNvPr id="15" name="TextBox 14">
            <a:extLst>
              <a:ext uri="{FF2B5EF4-FFF2-40B4-BE49-F238E27FC236}">
                <a16:creationId xmlns:a16="http://schemas.microsoft.com/office/drawing/2014/main" id="{7A1A9390-FE67-4674-85D7-F68E58244653}"/>
              </a:ext>
            </a:extLst>
          </p:cNvPr>
          <p:cNvSpPr>
            <a:spLocks noGrp="1"/>
          </p:cNvSpPr>
          <p:nvPr/>
        </p:nvSpPr>
        <p:spPr>
          <a:xfrm>
            <a:off x="6449568" y="2574355"/>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One unit of client work, such as train this model or evaluate this candidate.</a:t>
            </a:r>
          </a:p>
        </p:txBody>
      </p:sp>
      <p:sp>
        <p:nvSpPr>
          <p:cNvPr id="16" name="TextBox 15">
            <a:extLst>
              <a:ext uri="{FF2B5EF4-FFF2-40B4-BE49-F238E27FC236}">
                <a16:creationId xmlns:a16="http://schemas.microsoft.com/office/drawing/2014/main" id="{FD7B0A54-6410-4C3C-9E18-B02B32C485DB}"/>
              </a:ext>
            </a:extLst>
          </p:cNvPr>
          <p:cNvSpPr>
            <a:spLocks noGrp="1"/>
          </p:cNvSpPr>
          <p:nvPr/>
        </p:nvSpPr>
        <p:spPr>
          <a:xfrm>
            <a:off x="873252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7" name="Rounded Rectangle 16">
            <a:extLst>
              <a:ext uri="{FF2B5EF4-FFF2-40B4-BE49-F238E27FC236}">
                <a16:creationId xmlns:a16="http://schemas.microsoft.com/office/drawing/2014/main" id="{507F04C6-72CF-4D13-82CA-222128D1F2CF}"/>
              </a:ext>
            </a:extLst>
          </p:cNvPr>
          <p:cNvSpPr>
            <a:spLocks noGrp="1"/>
          </p:cNvSpPr>
          <p:nvPr/>
        </p:nvSpPr>
        <p:spPr>
          <a:xfrm>
            <a:off x="9052559" y="1874519"/>
            <a:ext cx="2423160" cy="256032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EE6E707-0227-4865-8B3F-1C65728A0F1A}"/>
              </a:ext>
            </a:extLst>
          </p:cNvPr>
          <p:cNvSpPr>
            <a:spLocks noGrp="1"/>
          </p:cNvSpPr>
          <p:nvPr/>
        </p:nvSpPr>
        <p:spPr>
          <a:xfrm>
            <a:off x="9217151" y="2020824"/>
            <a:ext cx="2103120" cy="548640"/>
          </a:xfrm>
          <a:prstGeom prst="rect">
            <a:avLst/>
          </a:prstGeom>
          <a:noFill/>
        </p:spPr>
        <p:txBody>
          <a:bodyPr wrap="square">
            <a:spAutoFit/>
          </a:bodyPr>
          <a:lstStyle/>
          <a:p>
            <a:pPr algn="l">
              <a:buNone/>
            </a:pPr>
            <a:r>
              <a:rPr sz="1500" b="1">
                <a:solidFill>
                  <a:srgbClr val="15201B"/>
                </a:solidFill>
                <a:latin typeface="Aptos"/>
                <a:ea typeface="Aptos"/>
                <a:cs typeface="Aptos"/>
              </a:rPr>
              <a:t>EXECUTOR / CLIENT API</a:t>
            </a:r>
          </a:p>
        </p:txBody>
      </p:sp>
      <p:sp>
        <p:nvSpPr>
          <p:cNvPr id="19" name="TextBox 18">
            <a:extLst>
              <a:ext uri="{FF2B5EF4-FFF2-40B4-BE49-F238E27FC236}">
                <a16:creationId xmlns:a16="http://schemas.microsoft.com/office/drawing/2014/main" id="{8A8E6459-BE37-4D1A-BC1C-440076936B49}"/>
              </a:ext>
            </a:extLst>
          </p:cNvPr>
          <p:cNvSpPr>
            <a:spLocks noGrp="1"/>
          </p:cNvSpPr>
          <p:nvPr/>
        </p:nvSpPr>
        <p:spPr>
          <a:xfrm>
            <a:off x="9238488" y="2574355"/>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The client-side bridge that calls local code and returns only the permitted result.</a:t>
            </a:r>
          </a:p>
        </p:txBody>
      </p:sp>
      <p:sp>
        <p:nvSpPr>
          <p:cNvPr id="20" name="TextBox 19">
            <a:extLst>
              <a:ext uri="{FF2B5EF4-FFF2-40B4-BE49-F238E27FC236}">
                <a16:creationId xmlns:a16="http://schemas.microsoft.com/office/drawing/2014/main" id="{3E002B24-9FFE-495E-9B87-E5DD1FE8718C}"/>
              </a:ext>
            </a:extLst>
          </p:cNvPr>
          <p:cNvSpPr>
            <a:spLocks noGrp="1"/>
          </p:cNvSpPr>
          <p:nvPr/>
        </p:nvSpPr>
        <p:spPr>
          <a:xfrm>
            <a:off x="914400" y="4800600"/>
            <a:ext cx="9875520" cy="822960"/>
          </a:xfrm>
          <a:prstGeom prst="rect">
            <a:avLst/>
          </a:prstGeom>
          <a:noFill/>
        </p:spPr>
        <p:txBody>
          <a:bodyPr wrap="square">
            <a:spAutoFit/>
          </a:bodyPr>
          <a:lstStyle/>
          <a:p>
            <a:pPr>
              <a:buNone/>
              <a:defRPr sz="1500">
                <a:solidFill>
                  <a:srgbClr val="15201B"/>
                </a:solidFill>
                <a:latin typeface="Aptos"/>
                <a:ea typeface="Aptos"/>
                <a:cs typeface="Aptos"/>
              </a:defRPr>
            </a:pPr>
            <a:r>
              <a:t>The task payload may use FLModel or the lower-level Shareable type; neither should contain the hospital's patient database.</a:t>
            </a:r>
          </a:p>
        </p:txBody>
      </p:sp>
      <p:sp>
        <p:nvSpPr>
          <p:cNvPr id="21" name="TextBox 20">
            <a:extLst>
              <a:ext uri="{FF2B5EF4-FFF2-40B4-BE49-F238E27FC236}">
                <a16:creationId xmlns:a16="http://schemas.microsoft.com/office/drawing/2014/main" id="{85564141-C074-4DC7-BBE3-D0FC1209659F}"/>
              </a:ext>
            </a:extLst>
          </p:cNvPr>
          <p:cNvSpPr>
            <a:spLocks noGrp="1"/>
          </p:cNvSpPr>
          <p:nvPr/>
        </p:nvSpPr>
        <p:spPr>
          <a:xfrm>
            <a:off x="566928" y="6355080"/>
            <a:ext cx="3657600" cy="228600"/>
          </a:xfrm>
          <a:prstGeom prst="rect">
            <a:avLst/>
          </a:prstGeom>
          <a:noFill/>
        </p:spPr>
        <p:txBody>
          <a:bodyPr wrap="square">
            <a:spAutoFit/>
          </a:bodyPr>
          <a:lstStyle/>
          <a:p>
            <a:pPr algn="l">
              <a:buNone/>
            </a:pPr>
            <a:r>
              <a:rPr sz="800" b="0">
                <a:solidFill>
                  <a:srgbClr val="53635B"/>
                </a:solidFill>
                <a:latin typeface="Aptos"/>
                <a:ea typeface="Aptos"/>
                <a:cs typeface="Aptos"/>
              </a:rPr>
              <a:t>FLARE job vocabulary / A4</a:t>
            </a:r>
          </a:p>
        </p:txBody>
      </p:sp>
    </p:spTree>
    <p:extLst>
      <p:ext uri="{BB962C8B-B14F-4D97-AF65-F5344CB8AC3E}">
        <p14:creationId xmlns:p14="http://schemas.microsoft.com/office/powerpoint/2010/main" val="1530383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7D1158-DC0C-4870-9A1F-691F8C825EE8}"/>
              </a:ext>
            </a:extLst>
          </p:cNvPr>
          <p:cNvSpPr>
            <a:spLocks noGrp="1"/>
          </p:cNvSpPr>
          <p:nvPr/>
        </p:nvSpPr>
        <p:spPr>
          <a:xfrm>
            <a:off x="548640" y="320040"/>
            <a:ext cx="2377440" cy="487680"/>
          </a:xfrm>
          <a:prstGeom prst="rect">
            <a:avLst/>
          </a:prstGeom>
          <a:noFill/>
        </p:spPr>
        <p:txBody>
          <a:bodyPr wrap="square">
            <a:spAutoFit/>
          </a:bodyPr>
          <a:lstStyle/>
          <a:p>
            <a:pPr algn="l">
              <a:buNone/>
            </a:pPr>
            <a:r>
              <a:rPr sz="1300" b="1">
                <a:solidFill>
                  <a:srgbClr val="53635B"/>
                </a:solidFill>
                <a:latin typeface="Aptos"/>
                <a:ea typeface="Aptos"/>
                <a:cs typeface="Aptos"/>
              </a:rPr>
              <a:t>APPENDIX OVERVIEW · ONE ROUND</a:t>
            </a:r>
          </a:p>
        </p:txBody>
      </p:sp>
      <p:sp>
        <p:nvSpPr>
          <p:cNvPr id="3" name="TextBox 2">
            <a:extLst>
              <a:ext uri="{FF2B5EF4-FFF2-40B4-BE49-F238E27FC236}">
                <a16:creationId xmlns:a16="http://schemas.microsoft.com/office/drawing/2014/main" id="{84656273-0838-4E98-9C35-87AA81425751}"/>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One round is a controlled request-and-return loop.</a:t>
            </a:r>
          </a:p>
        </p:txBody>
      </p:sp>
      <p:sp>
        <p:nvSpPr>
          <p:cNvPr id="4" name="TextBox 3">
            <a:extLst>
              <a:ext uri="{FF2B5EF4-FFF2-40B4-BE49-F238E27FC236}">
                <a16:creationId xmlns:a16="http://schemas.microsoft.com/office/drawing/2014/main" id="{54FDD751-E4A4-4D59-8F78-D01EFE7D22D5}"/>
              </a:ext>
            </a:extLst>
          </p:cNvPr>
          <p:cNvSpPr>
            <a:spLocks noGrp="1"/>
          </p:cNvSpPr>
          <p:nvPr/>
        </p:nvSpPr>
        <p:spPr>
          <a:xfrm>
            <a:off x="566928" y="1225296"/>
            <a:ext cx="9784080" cy="411480"/>
          </a:xfrm>
          <a:prstGeom prst="rect">
            <a:avLst/>
          </a:prstGeom>
          <a:noFill/>
        </p:spPr>
        <p:txBody>
          <a:bodyPr wrap="square">
            <a:spAutoFit/>
          </a:bodyPr>
          <a:lstStyle/>
          <a:p>
            <a:pPr algn="l">
              <a:buNone/>
            </a:pPr>
            <a:r>
              <a:rPr sz="1400" b="0">
                <a:solidFill>
                  <a:srgbClr val="53635B"/>
                </a:solidFill>
                <a:latin typeface="Aptos"/>
                <a:ea typeface="Aptos"/>
                <a:cs typeface="Aptos"/>
              </a:rPr>
              <a:t>A round repeats; it is not one long data transfer or a database synchronization.</a:t>
            </a:r>
          </a:p>
        </p:txBody>
      </p:sp>
      <p:sp>
        <p:nvSpPr>
          <p:cNvPr id="5" name="Rounded Rectangle 4">
            <a:extLst>
              <a:ext uri="{FF2B5EF4-FFF2-40B4-BE49-F238E27FC236}">
                <a16:creationId xmlns:a16="http://schemas.microsoft.com/office/drawing/2014/main" id="{4FE36FB3-EF4F-4471-8C0C-A6391FFA5999}"/>
              </a:ext>
            </a:extLst>
          </p:cNvPr>
          <p:cNvSpPr>
            <a:spLocks noGrp="1"/>
          </p:cNvSpPr>
          <p:nvPr/>
        </p:nvSpPr>
        <p:spPr>
          <a:xfrm>
            <a:off x="685800" y="1874519"/>
            <a:ext cx="2423160" cy="256032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C154123-D6D6-43E5-8E10-D9956C94BDCE}"/>
              </a:ext>
            </a:extLst>
          </p:cNvPr>
          <p:cNvSpPr>
            <a:spLocks noGrp="1"/>
          </p:cNvSpPr>
          <p:nvPr/>
        </p:nvSpPr>
        <p:spPr>
          <a:xfrm>
            <a:off x="85039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1. PREPARE</a:t>
            </a:r>
          </a:p>
        </p:txBody>
      </p:sp>
      <p:sp>
        <p:nvSpPr>
          <p:cNvPr id="7" name="TextBox 6">
            <a:extLst>
              <a:ext uri="{FF2B5EF4-FFF2-40B4-BE49-F238E27FC236}">
                <a16:creationId xmlns:a16="http://schemas.microsoft.com/office/drawing/2014/main" id="{10E5C917-0DA9-4A9D-81A2-91E6CAEF835A}"/>
              </a:ext>
            </a:extLst>
          </p:cNvPr>
          <p:cNvSpPr>
            <a:spLocks noGrp="1"/>
          </p:cNvSpPr>
          <p:nvPr/>
        </p:nvSpPr>
        <p:spPr>
          <a:xfrm>
            <a:off x="85039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Choose eligible sites, the approved starting model, code version, privacy profile, and round ID.</a:t>
            </a:r>
          </a:p>
        </p:txBody>
      </p:sp>
      <p:sp>
        <p:nvSpPr>
          <p:cNvPr id="8" name="TextBox 7">
            <a:extLst>
              <a:ext uri="{FF2B5EF4-FFF2-40B4-BE49-F238E27FC236}">
                <a16:creationId xmlns:a16="http://schemas.microsoft.com/office/drawing/2014/main" id="{283583F2-18F8-47B5-B953-1BE32838718A}"/>
              </a:ext>
            </a:extLst>
          </p:cNvPr>
          <p:cNvSpPr>
            <a:spLocks noGrp="1"/>
          </p:cNvSpPr>
          <p:nvPr/>
        </p:nvSpPr>
        <p:spPr>
          <a:xfrm>
            <a:off x="315468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9" name="Rounded Rectangle 8">
            <a:extLst>
              <a:ext uri="{FF2B5EF4-FFF2-40B4-BE49-F238E27FC236}">
                <a16:creationId xmlns:a16="http://schemas.microsoft.com/office/drawing/2014/main" id="{B7B06795-DCE9-4C8D-B015-25CADBD41A99}"/>
              </a:ext>
            </a:extLst>
          </p:cNvPr>
          <p:cNvSpPr>
            <a:spLocks noGrp="1"/>
          </p:cNvSpPr>
          <p:nvPr/>
        </p:nvSpPr>
        <p:spPr>
          <a:xfrm>
            <a:off x="3474720" y="1874519"/>
            <a:ext cx="2423160" cy="256032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2B360983-67AA-4183-B04A-ACC05DF791ED}"/>
              </a:ext>
            </a:extLst>
          </p:cNvPr>
          <p:cNvSpPr>
            <a:spLocks noGrp="1"/>
          </p:cNvSpPr>
          <p:nvPr/>
        </p:nvSpPr>
        <p:spPr>
          <a:xfrm>
            <a:off x="3639312" y="2020824"/>
            <a:ext cx="2103120" cy="320040"/>
          </a:xfrm>
          <a:prstGeom prst="rect">
            <a:avLst/>
          </a:prstGeom>
          <a:noFill/>
        </p:spPr>
        <p:txBody>
          <a:bodyPr wrap="square">
            <a:spAutoFit/>
          </a:bodyPr>
          <a:lstStyle/>
          <a:p>
            <a:pPr algn="l">
              <a:buNone/>
            </a:pPr>
            <a:r>
              <a:rPr sz="1500" b="1">
                <a:solidFill>
                  <a:srgbClr val="15201B"/>
                </a:solidFill>
                <a:latin typeface="Aptos"/>
                <a:ea typeface="Aptos"/>
                <a:cs typeface="Aptos"/>
              </a:rPr>
              <a:t>2. DISTRIBUTE</a:t>
            </a:r>
          </a:p>
        </p:txBody>
      </p:sp>
      <p:sp>
        <p:nvSpPr>
          <p:cNvPr id="11" name="TextBox 10">
            <a:extLst>
              <a:ext uri="{FF2B5EF4-FFF2-40B4-BE49-F238E27FC236}">
                <a16:creationId xmlns:a16="http://schemas.microsoft.com/office/drawing/2014/main" id="{B4D09C7A-CE49-4C0C-BAB7-7F16C2331F9C}"/>
              </a:ext>
            </a:extLst>
          </p:cNvPr>
          <p:cNvSpPr>
            <a:spLocks noGrp="1"/>
          </p:cNvSpPr>
          <p:nvPr/>
        </p:nvSpPr>
        <p:spPr>
          <a:xfrm>
            <a:off x="3639312"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The controller offers each selected client a task carrying the model and approved instructions.</a:t>
            </a:r>
          </a:p>
        </p:txBody>
      </p:sp>
      <p:sp>
        <p:nvSpPr>
          <p:cNvPr id="12" name="TextBox 11">
            <a:extLst>
              <a:ext uri="{FF2B5EF4-FFF2-40B4-BE49-F238E27FC236}">
                <a16:creationId xmlns:a16="http://schemas.microsoft.com/office/drawing/2014/main" id="{388FFCDD-207D-447E-AD8D-0C3AEB782266}"/>
              </a:ext>
            </a:extLst>
          </p:cNvPr>
          <p:cNvSpPr>
            <a:spLocks noGrp="1"/>
          </p:cNvSpPr>
          <p:nvPr/>
        </p:nvSpPr>
        <p:spPr>
          <a:xfrm>
            <a:off x="594360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3" name="Rounded Rectangle 12">
            <a:extLst>
              <a:ext uri="{FF2B5EF4-FFF2-40B4-BE49-F238E27FC236}">
                <a16:creationId xmlns:a16="http://schemas.microsoft.com/office/drawing/2014/main" id="{0F266D72-A8AA-4D4D-B477-7E6D7F171E6D}"/>
              </a:ext>
            </a:extLst>
          </p:cNvPr>
          <p:cNvSpPr>
            <a:spLocks noGrp="1"/>
          </p:cNvSpPr>
          <p:nvPr/>
        </p:nvSpPr>
        <p:spPr>
          <a:xfrm>
            <a:off x="6263640" y="1874519"/>
            <a:ext cx="2423160" cy="256032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C4BA714-596E-48B7-B7FB-8173266FCE0E}"/>
              </a:ext>
            </a:extLst>
          </p:cNvPr>
          <p:cNvSpPr>
            <a:spLocks noGrp="1"/>
          </p:cNvSpPr>
          <p:nvPr/>
        </p:nvSpPr>
        <p:spPr>
          <a:xfrm>
            <a:off x="6428231" y="2020824"/>
            <a:ext cx="2103120" cy="548640"/>
          </a:xfrm>
          <a:prstGeom prst="rect">
            <a:avLst/>
          </a:prstGeom>
          <a:noFill/>
        </p:spPr>
        <p:txBody>
          <a:bodyPr wrap="square">
            <a:spAutoFit/>
          </a:bodyPr>
          <a:lstStyle/>
          <a:p>
            <a:pPr algn="l">
              <a:buNone/>
            </a:pPr>
            <a:r>
              <a:rPr sz="1500" b="1">
                <a:solidFill>
                  <a:srgbClr val="15201B"/>
                </a:solidFill>
                <a:latin typeface="Aptos"/>
                <a:ea typeface="Aptos"/>
                <a:cs typeface="Aptos"/>
              </a:rPr>
              <a:t>3. RUN LOCALLY</a:t>
            </a:r>
          </a:p>
        </p:txBody>
      </p:sp>
      <p:sp>
        <p:nvSpPr>
          <p:cNvPr id="15" name="TextBox 14">
            <a:extLst>
              <a:ext uri="{FF2B5EF4-FFF2-40B4-BE49-F238E27FC236}">
                <a16:creationId xmlns:a16="http://schemas.microsoft.com/office/drawing/2014/main" id="{7A1A9390-FE67-4674-85D7-F68E58244653}"/>
              </a:ext>
            </a:extLst>
          </p:cNvPr>
          <p:cNvSpPr>
            <a:spLocks noGrp="1"/>
          </p:cNvSpPr>
          <p:nvPr/>
        </p:nvSpPr>
        <p:spPr>
          <a:xfrm>
            <a:off x="642823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Each executor trains or evaluates beside local data and returns only its permitted contribution.</a:t>
            </a:r>
          </a:p>
        </p:txBody>
      </p:sp>
      <p:sp>
        <p:nvSpPr>
          <p:cNvPr id="16" name="TextBox 15">
            <a:extLst>
              <a:ext uri="{FF2B5EF4-FFF2-40B4-BE49-F238E27FC236}">
                <a16:creationId xmlns:a16="http://schemas.microsoft.com/office/drawing/2014/main" id="{FD7B0A54-6410-4C3C-9E18-B02B32C485DB}"/>
              </a:ext>
            </a:extLst>
          </p:cNvPr>
          <p:cNvSpPr>
            <a:spLocks noGrp="1"/>
          </p:cNvSpPr>
          <p:nvPr/>
        </p:nvSpPr>
        <p:spPr>
          <a:xfrm>
            <a:off x="8732520" y="2926080"/>
            <a:ext cx="320040" cy="518160"/>
          </a:xfrm>
          <a:prstGeom prst="rect">
            <a:avLst/>
          </a:prstGeom>
          <a:noFill/>
        </p:spPr>
        <p:txBody>
          <a:bodyPr wrap="square">
            <a:spAutoFit/>
          </a:bodyPr>
          <a:lstStyle/>
          <a:p>
            <a:pPr algn="l">
              <a:buNone/>
            </a:pPr>
            <a:r>
              <a:rPr sz="2800" b="1">
                <a:solidFill>
                  <a:srgbClr val="53635B"/>
                </a:solidFill>
                <a:latin typeface="Aptos"/>
                <a:ea typeface="Aptos"/>
                <a:cs typeface="Aptos"/>
              </a:rPr>
              <a:t>→</a:t>
            </a:r>
          </a:p>
        </p:txBody>
      </p:sp>
      <p:sp>
        <p:nvSpPr>
          <p:cNvPr id="17" name="Rounded Rectangle 16">
            <a:extLst>
              <a:ext uri="{FF2B5EF4-FFF2-40B4-BE49-F238E27FC236}">
                <a16:creationId xmlns:a16="http://schemas.microsoft.com/office/drawing/2014/main" id="{507F04C6-72CF-4D13-82CA-222128D1F2CF}"/>
              </a:ext>
            </a:extLst>
          </p:cNvPr>
          <p:cNvSpPr>
            <a:spLocks noGrp="1"/>
          </p:cNvSpPr>
          <p:nvPr/>
        </p:nvSpPr>
        <p:spPr>
          <a:xfrm>
            <a:off x="9052559" y="1874519"/>
            <a:ext cx="2423160" cy="256032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EE6E707-0227-4865-8B3F-1C65728A0F1A}"/>
              </a:ext>
            </a:extLst>
          </p:cNvPr>
          <p:cNvSpPr>
            <a:spLocks noGrp="1"/>
          </p:cNvSpPr>
          <p:nvPr/>
        </p:nvSpPr>
        <p:spPr>
          <a:xfrm>
            <a:off x="9217151" y="2020824"/>
            <a:ext cx="2103120" cy="548640"/>
          </a:xfrm>
          <a:prstGeom prst="rect">
            <a:avLst/>
          </a:prstGeom>
          <a:noFill/>
        </p:spPr>
        <p:txBody>
          <a:bodyPr wrap="square">
            <a:spAutoFit/>
          </a:bodyPr>
          <a:lstStyle/>
          <a:p>
            <a:pPr algn="l">
              <a:buNone/>
            </a:pPr>
            <a:r>
              <a:rPr sz="1500" b="1">
                <a:solidFill>
                  <a:srgbClr val="15201B"/>
                </a:solidFill>
                <a:latin typeface="Aptos"/>
                <a:ea typeface="Aptos"/>
                <a:cs typeface="Aptos"/>
              </a:rPr>
              <a:t>4. COMBINE + CHECK</a:t>
            </a:r>
          </a:p>
        </p:txBody>
      </p:sp>
      <p:sp>
        <p:nvSpPr>
          <p:cNvPr id="19" name="TextBox 18">
            <a:extLst>
              <a:ext uri="{FF2B5EF4-FFF2-40B4-BE49-F238E27FC236}">
                <a16:creationId xmlns:a16="http://schemas.microsoft.com/office/drawing/2014/main" id="{8A8E6459-BE37-4D1A-BC1C-440076936B49}"/>
              </a:ext>
            </a:extLst>
          </p:cNvPr>
          <p:cNvSpPr>
            <a:spLocks noGrp="1"/>
          </p:cNvSpPr>
          <p:nvPr/>
        </p:nvSpPr>
        <p:spPr>
          <a:xfrm>
            <a:off x="9217151" y="2404872"/>
            <a:ext cx="2103120" cy="1901952"/>
          </a:xfrm>
          <a:prstGeom prst="rect">
            <a:avLst/>
          </a:prstGeom>
          <a:noFill/>
        </p:spPr>
        <p:txBody>
          <a:bodyPr wrap="square">
            <a:spAutoFit/>
          </a:bodyPr>
          <a:lstStyle/>
          <a:p>
            <a:pPr algn="l">
              <a:buNone/>
            </a:pPr>
            <a:r>
              <a:rPr sz="1200" b="0">
                <a:solidFill>
                  <a:srgbClr val="53635B"/>
                </a:solidFill>
                <a:latin typeface="Aptos"/>
                <a:ea typeface="Aptos"/>
                <a:cs typeface="Aptos"/>
              </a:rPr>
              <a:t>The server aggregates results, creates a candidate, and sends it back for site-level evaluation.</a:t>
            </a:r>
          </a:p>
        </p:txBody>
      </p:sp>
      <p:sp>
        <p:nvSpPr>
          <p:cNvPr id="20" name="TextBox 19">
            <a:extLst>
              <a:ext uri="{FF2B5EF4-FFF2-40B4-BE49-F238E27FC236}">
                <a16:creationId xmlns:a16="http://schemas.microsoft.com/office/drawing/2014/main" id="{3E002B24-9FFE-495E-9B87-E5DD1FE8718C}"/>
              </a:ext>
            </a:extLst>
          </p:cNvPr>
          <p:cNvSpPr>
            <a:spLocks noGrp="1"/>
          </p:cNvSpPr>
          <p:nvPr/>
        </p:nvSpPr>
        <p:spPr>
          <a:xfrm>
            <a:off x="914400" y="4800600"/>
            <a:ext cx="9875520" cy="822960"/>
          </a:xfrm>
          <a:prstGeom prst="rect">
            <a:avLst/>
          </a:prstGeom>
          <a:noFill/>
        </p:spPr>
        <p:txBody>
          <a:bodyPr wrap="square">
            <a:spAutoFit/>
          </a:bodyPr>
          <a:lstStyle/>
          <a:p>
            <a:pPr>
              <a:buNone/>
              <a:defRPr sz="1500">
                <a:solidFill>
                  <a:srgbClr val="15201B"/>
                </a:solidFill>
                <a:latin typeface="Aptos"/>
                <a:ea typeface="Aptos"/>
                <a:cs typeface="Aptos"/>
              </a:defRPr>
            </a:pPr>
            <a:r>
              <a:t>Another round or release begins only after participant, privacy, quality, and governance gates pass.</a:t>
            </a:r>
          </a:p>
        </p:txBody>
      </p:sp>
      <p:sp>
        <p:nvSpPr>
          <p:cNvPr id="21" name="TextBox 20">
            <a:extLst>
              <a:ext uri="{FF2B5EF4-FFF2-40B4-BE49-F238E27FC236}">
                <a16:creationId xmlns:a16="http://schemas.microsoft.com/office/drawing/2014/main" id="{85564141-C074-4DC7-BBE3-D0FC1209659F}"/>
              </a:ext>
            </a:extLst>
          </p:cNvPr>
          <p:cNvSpPr>
            <a:spLocks noGrp="1"/>
          </p:cNvSpPr>
          <p:nvPr/>
        </p:nvSpPr>
        <p:spPr>
          <a:xfrm>
            <a:off x="566928" y="6355080"/>
            <a:ext cx="3657600" cy="228600"/>
          </a:xfrm>
          <a:prstGeom prst="rect">
            <a:avLst/>
          </a:prstGeom>
          <a:noFill/>
        </p:spPr>
        <p:txBody>
          <a:bodyPr wrap="square">
            <a:spAutoFit/>
          </a:bodyPr>
          <a:lstStyle/>
          <a:p>
            <a:pPr algn="l">
              <a:buNone/>
            </a:pPr>
            <a:r>
              <a:rPr sz="800" b="0">
                <a:solidFill>
                  <a:srgbClr val="53635B"/>
                </a:solidFill>
                <a:latin typeface="Aptos"/>
                <a:ea typeface="Aptos"/>
                <a:cs typeface="Aptos"/>
              </a:rPr>
              <a:t>Federated round walkthrough / A5</a:t>
            </a:r>
          </a:p>
        </p:txBody>
      </p:sp>
    </p:spTree>
    <p:extLst>
      <p:ext uri="{BB962C8B-B14F-4D97-AF65-F5344CB8AC3E}">
        <p14:creationId xmlns:p14="http://schemas.microsoft.com/office/powerpoint/2010/main" val="15303839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7D0897-00AD-4965-8CE2-0C3E3BDAA895}"/>
              </a:ext>
            </a:extLst>
          </p:cNvPr>
          <p:cNvSpPr>
            <a:spLocks noGrp="1"/>
          </p:cNvSpPr>
          <p:nvPr/>
        </p:nvSpPr>
        <p:spPr>
          <a:xfrm>
            <a:off x="548640" y="320040"/>
            <a:ext cx="2377440" cy="487680"/>
          </a:xfrm>
          <a:prstGeom prst="rect">
            <a:avLst/>
          </a:prstGeom>
          <a:noFill/>
        </p:spPr>
        <p:txBody>
          <a:bodyPr wrap="square">
            <a:spAutoFit/>
          </a:bodyPr>
          <a:lstStyle/>
          <a:p>
            <a:pPr algn="l">
              <a:buNone/>
            </a:pPr>
            <a:r>
              <a:rPr sz="1300" b="1">
                <a:solidFill>
                  <a:srgbClr val="53635B"/>
                </a:solidFill>
                <a:latin typeface="Aptos"/>
                <a:ea typeface="Aptos"/>
                <a:cs typeface="Aptos"/>
              </a:rPr>
              <a:t>APPENDIX · FEDAVG</a:t>
            </a:r>
          </a:p>
        </p:txBody>
      </p:sp>
      <p:sp>
        <p:nvSpPr>
          <p:cNvPr id="3" name="TextBox 2">
            <a:extLst>
              <a:ext uri="{FF2B5EF4-FFF2-40B4-BE49-F238E27FC236}">
                <a16:creationId xmlns:a16="http://schemas.microsoft.com/office/drawing/2014/main" id="{F19EF4B8-D416-44CC-8F0F-CD690DE62B0E}"/>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FedAvg combines local updates into a new candidate.</a:t>
            </a:r>
          </a:p>
        </p:txBody>
      </p:sp>
      <p:sp>
        <p:nvSpPr>
          <p:cNvPr id="4" name="TextBox 3">
            <a:extLst>
              <a:ext uri="{FF2B5EF4-FFF2-40B4-BE49-F238E27FC236}">
                <a16:creationId xmlns:a16="http://schemas.microsoft.com/office/drawing/2014/main" id="{BE5C6F23-B794-41CB-9828-0309755B56BA}"/>
              </a:ext>
            </a:extLst>
          </p:cNvPr>
          <p:cNvSpPr>
            <a:spLocks noGrp="1"/>
          </p:cNvSpPr>
          <p:nvPr/>
        </p:nvSpPr>
        <p:spPr>
          <a:xfrm>
            <a:off x="566928" y="1225296"/>
            <a:ext cx="9784080" cy="307777"/>
          </a:xfrm>
          <a:prstGeom prst="rect">
            <a:avLst/>
          </a:prstGeom>
          <a:noFill/>
        </p:spPr>
        <p:txBody>
          <a:bodyPr wrap="square">
            <a:spAutoFit/>
          </a:bodyPr>
          <a:lstStyle/>
          <a:p>
            <a:pPr algn="l">
              <a:buNone/>
            </a:pPr>
            <a:r>
              <a:rPr sz="1400" b="0">
                <a:solidFill>
                  <a:srgbClr val="53635B"/>
                </a:solidFill>
                <a:latin typeface="Aptos"/>
                <a:ea typeface="Aptos"/>
                <a:cs typeface="Aptos"/>
              </a:rPr>
              <a:t>It averages model changes: often weighted by local training size</a:t>
            </a:r>
            <a:r>
              <a:rPr sz="1400">
                <a:solidFill>
                  <a:srgbClr val="53635B"/>
                </a:solidFill>
                <a:latin typeface="Aptos"/>
                <a:ea typeface="Aptos"/>
                <a:cs typeface="Aptos"/>
              </a:rPr>
              <a:t>, </a:t>
            </a:r>
            <a:r>
              <a:rPr sz="1400" b="0">
                <a:solidFill>
                  <a:srgbClr val="53635B"/>
                </a:solidFill>
                <a:latin typeface="Aptos"/>
                <a:ea typeface="Aptos"/>
                <a:cs typeface="Aptos"/>
              </a:rPr>
              <a:t>not patient rows.</a:t>
            </a:r>
          </a:p>
        </p:txBody>
      </p:sp>
      <p:sp>
        <p:nvSpPr>
          <p:cNvPr id="5" name="Rounded Rectangle 4">
            <a:extLst>
              <a:ext uri="{FF2B5EF4-FFF2-40B4-BE49-F238E27FC236}">
                <a16:creationId xmlns:a16="http://schemas.microsoft.com/office/drawing/2014/main" id="{B185A7CA-8862-4A59-84A7-D6796384C0A0}"/>
              </a:ext>
            </a:extLst>
          </p:cNvPr>
          <p:cNvSpPr>
            <a:spLocks noGrp="1"/>
          </p:cNvSpPr>
          <p:nvPr/>
        </p:nvSpPr>
        <p:spPr>
          <a:xfrm>
            <a:off x="777240" y="1737360"/>
            <a:ext cx="4892040" cy="11430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4A6ABA7-B17F-4F9D-95AC-A9AD1840DA5F}"/>
              </a:ext>
            </a:extLst>
          </p:cNvPr>
          <p:cNvSpPr>
            <a:spLocks noGrp="1"/>
          </p:cNvSpPr>
          <p:nvPr/>
        </p:nvSpPr>
        <p:spPr>
          <a:xfrm>
            <a:off x="94183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Same starting model</a:t>
            </a:r>
          </a:p>
        </p:txBody>
      </p:sp>
      <p:sp>
        <p:nvSpPr>
          <p:cNvPr id="7" name="TextBox 6">
            <a:extLst>
              <a:ext uri="{FF2B5EF4-FFF2-40B4-BE49-F238E27FC236}">
                <a16:creationId xmlns:a16="http://schemas.microsoft.com/office/drawing/2014/main" id="{A16C6DE5-10AC-4D7B-A902-BE1A4B95FA97}"/>
              </a:ext>
            </a:extLst>
          </p:cNvPr>
          <p:cNvSpPr>
            <a:spLocks noGrp="1"/>
          </p:cNvSpPr>
          <p:nvPr/>
        </p:nvSpPr>
        <p:spPr>
          <a:xfrm>
            <a:off x="94183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Every selected hospital begins the round from the same approved global-model version.</a:t>
            </a:r>
          </a:p>
        </p:txBody>
      </p:sp>
      <p:sp>
        <p:nvSpPr>
          <p:cNvPr id="8" name="Rounded Rectangle 7">
            <a:extLst>
              <a:ext uri="{FF2B5EF4-FFF2-40B4-BE49-F238E27FC236}">
                <a16:creationId xmlns:a16="http://schemas.microsoft.com/office/drawing/2014/main" id="{DB689BD0-DEBE-4890-84C2-52C9C0F87691}"/>
              </a:ext>
            </a:extLst>
          </p:cNvPr>
          <p:cNvSpPr>
            <a:spLocks noGrp="1"/>
          </p:cNvSpPr>
          <p:nvPr/>
        </p:nvSpPr>
        <p:spPr>
          <a:xfrm>
            <a:off x="6217920" y="1737360"/>
            <a:ext cx="4892040" cy="11430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2C22423-3633-4CFF-9783-DEDD0DB789E8}"/>
              </a:ext>
            </a:extLst>
          </p:cNvPr>
          <p:cNvSpPr>
            <a:spLocks noGrp="1"/>
          </p:cNvSpPr>
          <p:nvPr/>
        </p:nvSpPr>
        <p:spPr>
          <a:xfrm>
            <a:off x="6382512" y="188366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Train locally</a:t>
            </a:r>
          </a:p>
        </p:txBody>
      </p:sp>
      <p:sp>
        <p:nvSpPr>
          <p:cNvPr id="10" name="TextBox 9">
            <a:extLst>
              <a:ext uri="{FF2B5EF4-FFF2-40B4-BE49-F238E27FC236}">
                <a16:creationId xmlns:a16="http://schemas.microsoft.com/office/drawing/2014/main" id="{38C7BA40-A629-4F2C-9946-C9AFDE739862}"/>
              </a:ext>
            </a:extLst>
          </p:cNvPr>
          <p:cNvSpPr>
            <a:spLocks noGrp="1"/>
          </p:cNvSpPr>
          <p:nvPr/>
        </p:nvSpPr>
        <p:spPr>
          <a:xfrm>
            <a:off x="6382512" y="226771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Each site adjusts the model using only its approved local examples and training rules.</a:t>
            </a:r>
          </a:p>
        </p:txBody>
      </p:sp>
      <p:sp>
        <p:nvSpPr>
          <p:cNvPr id="11" name="Rounded Rectangle 10">
            <a:extLst>
              <a:ext uri="{FF2B5EF4-FFF2-40B4-BE49-F238E27FC236}">
                <a16:creationId xmlns:a16="http://schemas.microsoft.com/office/drawing/2014/main" id="{E5CF9E1F-B30B-4AF0-BFE2-3E3E214ECC1C}"/>
              </a:ext>
            </a:extLst>
          </p:cNvPr>
          <p:cNvSpPr>
            <a:spLocks noGrp="1"/>
          </p:cNvSpPr>
          <p:nvPr/>
        </p:nvSpPr>
        <p:spPr>
          <a:xfrm>
            <a:off x="777240" y="3383280"/>
            <a:ext cx="4892040" cy="1143000"/>
          </a:xfrm>
          <a:prstGeom prst="roundRect">
            <a:avLst/>
          </a:prstGeom>
          <a:solidFill>
            <a:srgbClr val="F4E8D0"/>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B6C606A-7A36-4A56-AE5F-ED90CCBB9865}"/>
              </a:ext>
            </a:extLst>
          </p:cNvPr>
          <p:cNvSpPr>
            <a:spLocks noGrp="1"/>
          </p:cNvSpPr>
          <p:nvPr/>
        </p:nvSpPr>
        <p:spPr>
          <a:xfrm>
            <a:off x="94183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Weight + average</a:t>
            </a:r>
          </a:p>
        </p:txBody>
      </p:sp>
      <p:sp>
        <p:nvSpPr>
          <p:cNvPr id="13" name="TextBox 12">
            <a:extLst>
              <a:ext uri="{FF2B5EF4-FFF2-40B4-BE49-F238E27FC236}">
                <a16:creationId xmlns:a16="http://schemas.microsoft.com/office/drawing/2014/main" id="{0E2DE3C6-7B14-47CE-984B-4FEA66D42DD9}"/>
              </a:ext>
            </a:extLst>
          </p:cNvPr>
          <p:cNvSpPr>
            <a:spLocks noGrp="1"/>
          </p:cNvSpPr>
          <p:nvPr/>
        </p:nvSpPr>
        <p:spPr>
          <a:xfrm>
            <a:off x="94183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The server combines updates, commonly giving more weight to sites with more approved examples.</a:t>
            </a:r>
          </a:p>
        </p:txBody>
      </p:sp>
      <p:sp>
        <p:nvSpPr>
          <p:cNvPr id="14" name="Rounded Rectangle 13">
            <a:extLst>
              <a:ext uri="{FF2B5EF4-FFF2-40B4-BE49-F238E27FC236}">
                <a16:creationId xmlns:a16="http://schemas.microsoft.com/office/drawing/2014/main" id="{02068F01-5A1E-4CA8-BAC8-5916EBED6DE1}"/>
              </a:ext>
            </a:extLst>
          </p:cNvPr>
          <p:cNvSpPr>
            <a:spLocks noGrp="1"/>
          </p:cNvSpPr>
          <p:nvPr/>
        </p:nvSpPr>
        <p:spPr>
          <a:xfrm>
            <a:off x="6217920" y="3383280"/>
            <a:ext cx="4892040" cy="11430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FF3519E-A7D4-4C26-97BE-CCD863D217C3}"/>
              </a:ext>
            </a:extLst>
          </p:cNvPr>
          <p:cNvSpPr>
            <a:spLocks noGrp="1"/>
          </p:cNvSpPr>
          <p:nvPr/>
        </p:nvSpPr>
        <p:spPr>
          <a:xfrm>
            <a:off x="6382512" y="3529584"/>
            <a:ext cx="4572000" cy="320040"/>
          </a:xfrm>
          <a:prstGeom prst="rect">
            <a:avLst/>
          </a:prstGeom>
          <a:noFill/>
        </p:spPr>
        <p:txBody>
          <a:bodyPr wrap="square">
            <a:spAutoFit/>
          </a:bodyPr>
          <a:lstStyle/>
          <a:p>
            <a:pPr algn="l">
              <a:buNone/>
            </a:pPr>
            <a:r>
              <a:rPr sz="1500" b="1">
                <a:solidFill>
                  <a:srgbClr val="15201B"/>
                </a:solidFill>
                <a:latin typeface="Aptos"/>
                <a:ea typeface="Aptos"/>
                <a:cs typeface="Aptos"/>
              </a:rPr>
              <a:t>Evaluate candidate</a:t>
            </a:r>
          </a:p>
        </p:txBody>
      </p:sp>
      <p:sp>
        <p:nvSpPr>
          <p:cNvPr id="16" name="TextBox 15">
            <a:extLst>
              <a:ext uri="{FF2B5EF4-FFF2-40B4-BE49-F238E27FC236}">
                <a16:creationId xmlns:a16="http://schemas.microsoft.com/office/drawing/2014/main" id="{A348AC81-5D4F-4221-91E2-2B61032AA866}"/>
              </a:ext>
            </a:extLst>
          </p:cNvPr>
          <p:cNvSpPr>
            <a:spLocks noGrp="1"/>
          </p:cNvSpPr>
          <p:nvPr/>
        </p:nvSpPr>
        <p:spPr>
          <a:xfrm>
            <a:off x="6382512" y="3913632"/>
            <a:ext cx="4572000" cy="484632"/>
          </a:xfrm>
          <a:prstGeom prst="rect">
            <a:avLst/>
          </a:prstGeom>
          <a:noFill/>
        </p:spPr>
        <p:txBody>
          <a:bodyPr wrap="square">
            <a:spAutoFit/>
          </a:bodyPr>
          <a:lstStyle/>
          <a:p>
            <a:pPr algn="l">
              <a:buNone/>
            </a:pPr>
            <a:r>
              <a:rPr sz="1200" b="0">
                <a:solidFill>
                  <a:srgbClr val="53635B"/>
                </a:solidFill>
                <a:latin typeface="Aptos"/>
                <a:ea typeface="Aptos"/>
                <a:cs typeface="Aptos"/>
              </a:rPr>
              <a:t>The average becomes a candidate only; every site still checks quality and safety before release.</a:t>
            </a:r>
          </a:p>
        </p:txBody>
      </p:sp>
      <p:sp>
        <p:nvSpPr>
          <p:cNvPr id="17" name="TextBox 16">
            <a:extLst>
              <a:ext uri="{FF2B5EF4-FFF2-40B4-BE49-F238E27FC236}">
                <a16:creationId xmlns:a16="http://schemas.microsoft.com/office/drawing/2014/main" id="{0189CDBE-DBE1-4102-896D-D470C23C8EA5}"/>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Simple example: 300 approved examples may receive 3× the weight of 100; real policies can differ / A6</a:t>
            </a:r>
          </a:p>
        </p:txBody>
      </p:sp>
    </p:spTree>
    <p:extLst>
      <p:ext uri="{BB962C8B-B14F-4D97-AF65-F5344CB8AC3E}">
        <p14:creationId xmlns:p14="http://schemas.microsoft.com/office/powerpoint/2010/main" val="1152305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D648CF-CF55-43A3-BA43-EB8791CF677F}"/>
              </a:ext>
            </a:extLst>
          </p:cNvPr>
          <p:cNvSpPr>
            <a:spLocks noGrp="1"/>
          </p:cNvSpPr>
          <p:nvPr/>
        </p:nvSpPr>
        <p:spPr>
          <a:xfrm>
            <a:off x="548640" y="320040"/>
            <a:ext cx="2377440" cy="487680"/>
          </a:xfrm>
          <a:prstGeom prst="rect">
            <a:avLst/>
          </a:prstGeom>
          <a:noFill/>
        </p:spPr>
        <p:txBody>
          <a:bodyPr wrap="square">
            <a:spAutoFit/>
          </a:bodyPr>
          <a:lstStyle/>
          <a:p>
            <a:pPr algn="l">
              <a:buNone/>
            </a:pPr>
            <a:r>
              <a:rPr sz="1300" b="1">
                <a:solidFill>
                  <a:srgbClr val="53635B"/>
                </a:solidFill>
                <a:latin typeface="Aptos"/>
                <a:ea typeface="Aptos"/>
                <a:cs typeface="Aptos"/>
              </a:rPr>
              <a:t>APPENDIX · PRIVACY LAYERS</a:t>
            </a:r>
          </a:p>
        </p:txBody>
      </p:sp>
      <p:sp>
        <p:nvSpPr>
          <p:cNvPr id="3" name="TextBox 2">
            <a:extLst>
              <a:ext uri="{FF2B5EF4-FFF2-40B4-BE49-F238E27FC236}">
                <a16:creationId xmlns:a16="http://schemas.microsoft.com/office/drawing/2014/main" id="{4DCB496F-1310-475C-A519-C8BA8F24DD53}"/>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Federated learning still needs separate privacy layers.</a:t>
            </a:r>
          </a:p>
        </p:txBody>
      </p:sp>
      <p:sp>
        <p:nvSpPr>
          <p:cNvPr id="4" name="TextBox 3">
            <a:extLst>
              <a:ext uri="{FF2B5EF4-FFF2-40B4-BE49-F238E27FC236}">
                <a16:creationId xmlns:a16="http://schemas.microsoft.com/office/drawing/2014/main" id="{D95AC7B1-6DBE-4302-9E28-BB63F1715338}"/>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Keeping raw data local reduces movement, but model updates and infrastructure can still leak or be attacked.</a:t>
            </a:r>
          </a:p>
        </p:txBody>
      </p:sp>
      <p:sp>
        <p:nvSpPr>
          <p:cNvPr id="5" name="Rounded Rectangle 4">
            <a:extLst>
              <a:ext uri="{FF2B5EF4-FFF2-40B4-BE49-F238E27FC236}">
                <a16:creationId xmlns:a16="http://schemas.microsoft.com/office/drawing/2014/main" id="{7F423318-1869-493B-A37C-9D8807C2FB93}"/>
              </a:ext>
            </a:extLst>
          </p:cNvPr>
          <p:cNvSpPr>
            <a:spLocks noGrp="1"/>
          </p:cNvSpPr>
          <p:nvPr/>
        </p:nvSpPr>
        <p:spPr>
          <a:xfrm>
            <a:off x="731520" y="1691640"/>
            <a:ext cx="3291840" cy="20574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A090CC2-FE5E-4144-BAB1-0D654DEF05B0}"/>
              </a:ext>
            </a:extLst>
          </p:cNvPr>
          <p:cNvSpPr>
            <a:spLocks noGrp="1"/>
          </p:cNvSpPr>
          <p:nvPr/>
        </p:nvSpPr>
        <p:spPr>
          <a:xfrm>
            <a:off x="896112" y="1837944"/>
            <a:ext cx="2971800" cy="320040"/>
          </a:xfrm>
          <a:prstGeom prst="rect">
            <a:avLst/>
          </a:prstGeom>
          <a:noFill/>
        </p:spPr>
        <p:txBody>
          <a:bodyPr wrap="square">
            <a:spAutoFit/>
          </a:bodyPr>
          <a:lstStyle/>
          <a:p>
            <a:pPr algn="l">
              <a:buNone/>
            </a:pPr>
            <a:r>
              <a:rPr sz="1500" b="1">
                <a:solidFill>
                  <a:srgbClr val="15201B"/>
                </a:solidFill>
                <a:latin typeface="Aptos"/>
                <a:ea typeface="Aptos"/>
                <a:cs typeface="Aptos"/>
              </a:rPr>
              <a:t>SECURE AGGREGATION</a:t>
            </a:r>
          </a:p>
        </p:txBody>
      </p:sp>
      <p:sp>
        <p:nvSpPr>
          <p:cNvPr id="7" name="TextBox 6">
            <a:extLst>
              <a:ext uri="{FF2B5EF4-FFF2-40B4-BE49-F238E27FC236}">
                <a16:creationId xmlns:a16="http://schemas.microsoft.com/office/drawing/2014/main" id="{172B981C-D1C5-43B3-ACBD-9791320C0E2A}"/>
              </a:ext>
            </a:extLst>
          </p:cNvPr>
          <p:cNvSpPr>
            <a:spLocks noGrp="1"/>
          </p:cNvSpPr>
          <p:nvPr/>
        </p:nvSpPr>
        <p:spPr>
          <a:xfrm>
            <a:off x="896112" y="2310171"/>
            <a:ext cx="2971800" cy="1399032"/>
          </a:xfrm>
          <a:prstGeom prst="rect">
            <a:avLst/>
          </a:prstGeom>
          <a:noFill/>
        </p:spPr>
        <p:txBody>
          <a:bodyPr wrap="square">
            <a:spAutoFit/>
          </a:bodyPr>
          <a:lstStyle/>
          <a:p>
            <a:pPr algn="l">
              <a:buNone/>
            </a:pPr>
            <a:r>
              <a:rPr sz="1200" b="0">
                <a:solidFill>
                  <a:srgbClr val="53635B"/>
                </a:solidFill>
                <a:latin typeface="Aptos"/>
                <a:ea typeface="Aptos"/>
                <a:cs typeface="Aptos"/>
              </a:rPr>
              <a:t>Reveals only a combined update when enough sites participate. It hides individual updates from the coordinator, but does not stop poisoning or final-model memorization.</a:t>
            </a:r>
          </a:p>
        </p:txBody>
      </p:sp>
      <p:sp>
        <p:nvSpPr>
          <p:cNvPr id="8" name="Rounded Rectangle 7">
            <a:extLst>
              <a:ext uri="{FF2B5EF4-FFF2-40B4-BE49-F238E27FC236}">
                <a16:creationId xmlns:a16="http://schemas.microsoft.com/office/drawing/2014/main" id="{78914DE6-27C2-4D94-B667-557896AC0B67}"/>
              </a:ext>
            </a:extLst>
          </p:cNvPr>
          <p:cNvSpPr>
            <a:spLocks noGrp="1"/>
          </p:cNvSpPr>
          <p:nvPr/>
        </p:nvSpPr>
        <p:spPr>
          <a:xfrm>
            <a:off x="4434840" y="1691640"/>
            <a:ext cx="3291840" cy="20574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CB7709-14E5-4061-8DC5-0E6C77010337}"/>
              </a:ext>
            </a:extLst>
          </p:cNvPr>
          <p:cNvSpPr>
            <a:spLocks noGrp="1"/>
          </p:cNvSpPr>
          <p:nvPr/>
        </p:nvSpPr>
        <p:spPr>
          <a:xfrm>
            <a:off x="4599431" y="1837944"/>
            <a:ext cx="2971800" cy="320040"/>
          </a:xfrm>
          <a:prstGeom prst="rect">
            <a:avLst/>
          </a:prstGeom>
          <a:noFill/>
        </p:spPr>
        <p:txBody>
          <a:bodyPr wrap="square">
            <a:spAutoFit/>
          </a:bodyPr>
          <a:lstStyle/>
          <a:p>
            <a:pPr algn="l">
              <a:buNone/>
            </a:pPr>
            <a:r>
              <a:rPr sz="1500" b="1">
                <a:solidFill>
                  <a:srgbClr val="15201B"/>
                </a:solidFill>
                <a:latin typeface="Aptos"/>
                <a:ea typeface="Aptos"/>
                <a:cs typeface="Aptos"/>
              </a:rPr>
              <a:t>DIFFERENTIAL PRIVACY</a:t>
            </a:r>
          </a:p>
        </p:txBody>
      </p:sp>
      <p:sp>
        <p:nvSpPr>
          <p:cNvPr id="10" name="TextBox 9">
            <a:extLst>
              <a:ext uri="{FF2B5EF4-FFF2-40B4-BE49-F238E27FC236}">
                <a16:creationId xmlns:a16="http://schemas.microsoft.com/office/drawing/2014/main" id="{78CE9E10-F8E5-4106-95F5-F683B86639AB}"/>
              </a:ext>
            </a:extLst>
          </p:cNvPr>
          <p:cNvSpPr>
            <a:spLocks noGrp="1"/>
          </p:cNvSpPr>
          <p:nvPr/>
        </p:nvSpPr>
        <p:spPr>
          <a:xfrm>
            <a:off x="4599431" y="2350008"/>
            <a:ext cx="2971800" cy="1399032"/>
          </a:xfrm>
          <a:prstGeom prst="rect">
            <a:avLst/>
          </a:prstGeom>
          <a:noFill/>
        </p:spPr>
        <p:txBody>
          <a:bodyPr wrap="square">
            <a:spAutoFit/>
          </a:bodyPr>
          <a:lstStyle/>
          <a:p>
            <a:pPr algn="l">
              <a:buNone/>
            </a:pPr>
            <a:r>
              <a:rPr sz="1200" b="0">
                <a:solidFill>
                  <a:srgbClr val="53635B"/>
                </a:solidFill>
                <a:latin typeface="Aptos"/>
                <a:ea typeface="Aptos"/>
                <a:cs typeface="Aptos"/>
              </a:rPr>
              <a:t>Clips contributions and adds calibrated noise. A privacy budget tracks protection across rounds; stronger privacy can reduce model usefulness.</a:t>
            </a:r>
          </a:p>
        </p:txBody>
      </p:sp>
      <p:sp>
        <p:nvSpPr>
          <p:cNvPr id="11" name="Rounded Rectangle 10">
            <a:extLst>
              <a:ext uri="{FF2B5EF4-FFF2-40B4-BE49-F238E27FC236}">
                <a16:creationId xmlns:a16="http://schemas.microsoft.com/office/drawing/2014/main" id="{46B04290-7355-4C3D-A11F-9C147701D543}"/>
              </a:ext>
            </a:extLst>
          </p:cNvPr>
          <p:cNvSpPr>
            <a:spLocks noGrp="1"/>
          </p:cNvSpPr>
          <p:nvPr/>
        </p:nvSpPr>
        <p:spPr>
          <a:xfrm>
            <a:off x="8138160" y="1691640"/>
            <a:ext cx="3291840" cy="20574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E90F19C-CA8E-4655-950F-AAC22240870F}"/>
              </a:ext>
            </a:extLst>
          </p:cNvPr>
          <p:cNvSpPr>
            <a:spLocks noGrp="1"/>
          </p:cNvSpPr>
          <p:nvPr/>
        </p:nvSpPr>
        <p:spPr>
          <a:xfrm>
            <a:off x="8302752" y="1837944"/>
            <a:ext cx="2971800" cy="548640"/>
          </a:xfrm>
          <a:prstGeom prst="rect">
            <a:avLst/>
          </a:prstGeom>
          <a:noFill/>
        </p:spPr>
        <p:txBody>
          <a:bodyPr wrap="square">
            <a:spAutoFit/>
          </a:bodyPr>
          <a:lstStyle/>
          <a:p>
            <a:pPr algn="l">
              <a:buNone/>
            </a:pPr>
            <a:r>
              <a:rPr sz="1500" b="1">
                <a:solidFill>
                  <a:srgbClr val="15201B"/>
                </a:solidFill>
                <a:latin typeface="Aptos"/>
                <a:ea typeface="Aptos"/>
                <a:cs typeface="Aptos"/>
              </a:rPr>
              <a:t>IDENTITY + SECURE TRANSPORT</a:t>
            </a:r>
          </a:p>
        </p:txBody>
      </p:sp>
      <p:sp>
        <p:nvSpPr>
          <p:cNvPr id="13" name="TextBox 12">
            <a:extLst>
              <a:ext uri="{FF2B5EF4-FFF2-40B4-BE49-F238E27FC236}">
                <a16:creationId xmlns:a16="http://schemas.microsoft.com/office/drawing/2014/main" id="{9E4295D3-D8DF-4565-A41A-39801B37A06F}"/>
              </a:ext>
            </a:extLst>
          </p:cNvPr>
          <p:cNvSpPr>
            <a:spLocks noGrp="1"/>
          </p:cNvSpPr>
          <p:nvPr/>
        </p:nvSpPr>
        <p:spPr>
          <a:xfrm>
            <a:off x="8298180" y="2320875"/>
            <a:ext cx="2971800" cy="1399032"/>
          </a:xfrm>
          <a:prstGeom prst="rect">
            <a:avLst/>
          </a:prstGeom>
          <a:noFill/>
        </p:spPr>
        <p:txBody>
          <a:bodyPr wrap="square">
            <a:spAutoFit/>
          </a:bodyPr>
          <a:lstStyle/>
          <a:p>
            <a:pPr algn="l">
              <a:buNone/>
            </a:pPr>
            <a:r>
              <a:rPr sz="1200" b="0">
                <a:solidFill>
                  <a:srgbClr val="53635B"/>
                </a:solidFill>
                <a:latin typeface="Aptos"/>
                <a:ea typeface="Aptos"/>
                <a:cs typeface="Aptos"/>
              </a:rPr>
              <a:t>mTLS authenticates participants and encrypts the connection. Signatures and digests detect changed jobs or models; local authorization may still reject them.</a:t>
            </a:r>
          </a:p>
        </p:txBody>
      </p:sp>
      <p:sp>
        <p:nvSpPr>
          <p:cNvPr id="14" name="TextBox 13">
            <a:extLst>
              <a:ext uri="{FF2B5EF4-FFF2-40B4-BE49-F238E27FC236}">
                <a16:creationId xmlns:a16="http://schemas.microsoft.com/office/drawing/2014/main" id="{78F717F3-1A00-49A6-B673-1840A77E5987}"/>
              </a:ext>
            </a:extLst>
          </p:cNvPr>
          <p:cNvSpPr>
            <a:spLocks noGrp="1"/>
          </p:cNvSpPr>
          <p:nvPr/>
        </p:nvSpPr>
        <p:spPr>
          <a:xfrm>
            <a:off x="868680" y="4251960"/>
            <a:ext cx="10241280" cy="914400"/>
          </a:xfrm>
          <a:prstGeom prst="rect">
            <a:avLst/>
          </a:prstGeom>
          <a:noFill/>
        </p:spPr>
        <p:txBody>
          <a:bodyPr wrap="square">
            <a:spAutoFit/>
          </a:bodyPr>
          <a:lstStyle/>
          <a:p>
            <a:pPr>
              <a:buNone/>
              <a:defRPr sz="1600">
                <a:solidFill>
                  <a:srgbClr val="15201B"/>
                </a:solidFill>
                <a:latin typeface="Aptos"/>
                <a:ea typeface="Aptos"/>
                <a:cs typeface="Aptos"/>
              </a:defRPr>
            </a:pPr>
            <a:r>
              <a:t>Use layers together: no single control makes a federation private, secure, compliant, or clinically safe / A7</a:t>
            </a:r>
          </a:p>
        </p:txBody>
      </p:sp>
    </p:spTree>
    <p:extLst>
      <p:ext uri="{BB962C8B-B14F-4D97-AF65-F5344CB8AC3E}">
        <p14:creationId xmlns:p14="http://schemas.microsoft.com/office/powerpoint/2010/main" val="11568938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D648CF-CF55-43A3-BA43-EB8791CF677F}"/>
              </a:ext>
            </a:extLst>
          </p:cNvPr>
          <p:cNvSpPr>
            <a:spLocks noGrp="1"/>
          </p:cNvSpPr>
          <p:nvPr/>
        </p:nvSpPr>
        <p:spPr>
          <a:xfrm>
            <a:off x="548640" y="320040"/>
            <a:ext cx="2377440" cy="289560"/>
          </a:xfrm>
          <a:prstGeom prst="rect">
            <a:avLst/>
          </a:prstGeom>
          <a:noFill/>
        </p:spPr>
        <p:txBody>
          <a:bodyPr wrap="square">
            <a:spAutoFit/>
          </a:bodyPr>
          <a:lstStyle/>
          <a:p>
            <a:pPr algn="l">
              <a:buNone/>
            </a:pPr>
            <a:r>
              <a:rPr sz="1300" b="1">
                <a:solidFill>
                  <a:srgbClr val="53635B"/>
                </a:solidFill>
                <a:latin typeface="Aptos"/>
                <a:ea typeface="Aptos"/>
                <a:cs typeface="Aptos"/>
              </a:rPr>
              <a:t>APPENDIX · RUN MODES</a:t>
            </a:r>
          </a:p>
        </p:txBody>
      </p:sp>
      <p:sp>
        <p:nvSpPr>
          <p:cNvPr id="3" name="TextBox 2">
            <a:extLst>
              <a:ext uri="{FF2B5EF4-FFF2-40B4-BE49-F238E27FC236}">
                <a16:creationId xmlns:a16="http://schemas.microsoft.com/office/drawing/2014/main" id="{4DCB496F-1310-475C-A519-C8BA8F24DD53}"/>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FLARE grows from laptop test to distributed production.</a:t>
            </a:r>
          </a:p>
        </p:txBody>
      </p:sp>
      <p:sp>
        <p:nvSpPr>
          <p:cNvPr id="4" name="TextBox 3">
            <a:extLst>
              <a:ext uri="{FF2B5EF4-FFF2-40B4-BE49-F238E27FC236}">
                <a16:creationId xmlns:a16="http://schemas.microsoft.com/office/drawing/2014/main" id="{D95AC7B1-6DBE-4302-9E28-BB63F1715338}"/>
              </a:ext>
            </a:extLst>
          </p:cNvPr>
          <p:cNvSpPr>
            <a:spLocks noGrp="1"/>
          </p:cNvSpPr>
          <p:nvPr/>
        </p:nvSpPr>
        <p:spPr>
          <a:xfrm>
            <a:off x="566928" y="1225296"/>
            <a:ext cx="9784080" cy="518160"/>
          </a:xfrm>
          <a:prstGeom prst="rect">
            <a:avLst/>
          </a:prstGeom>
          <a:noFill/>
        </p:spPr>
        <p:txBody>
          <a:bodyPr wrap="square">
            <a:spAutoFit/>
          </a:bodyPr>
          <a:lstStyle/>
          <a:p>
            <a:pPr algn="l">
              <a:buNone/>
            </a:pPr>
            <a:r>
              <a:rPr sz="1400" b="0">
                <a:solidFill>
                  <a:srgbClr val="53635B"/>
                </a:solidFill>
                <a:latin typeface="Aptos"/>
                <a:ea typeface="Aptos"/>
                <a:cs typeface="Aptos"/>
              </a:rPr>
              <a:t>Each mode proves something different; a successful simulation is only the first piece of evidence.</a:t>
            </a:r>
          </a:p>
        </p:txBody>
      </p:sp>
      <p:sp>
        <p:nvSpPr>
          <p:cNvPr id="5" name="Rounded Rectangle 4">
            <a:extLst>
              <a:ext uri="{FF2B5EF4-FFF2-40B4-BE49-F238E27FC236}">
                <a16:creationId xmlns:a16="http://schemas.microsoft.com/office/drawing/2014/main" id="{7F423318-1869-493B-A37C-9D8807C2FB93}"/>
              </a:ext>
            </a:extLst>
          </p:cNvPr>
          <p:cNvSpPr>
            <a:spLocks noGrp="1"/>
          </p:cNvSpPr>
          <p:nvPr/>
        </p:nvSpPr>
        <p:spPr>
          <a:xfrm>
            <a:off x="731520" y="1691640"/>
            <a:ext cx="3291840" cy="2057400"/>
          </a:xfrm>
          <a:prstGeom prst="roundRect">
            <a:avLst/>
          </a:prstGeom>
          <a:solidFill>
            <a:srgbClr val="E9E1FA"/>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A090CC2-FE5E-4144-BAB1-0D654DEF05B0}"/>
              </a:ext>
            </a:extLst>
          </p:cNvPr>
          <p:cNvSpPr>
            <a:spLocks noGrp="1"/>
          </p:cNvSpPr>
          <p:nvPr/>
        </p:nvSpPr>
        <p:spPr>
          <a:xfrm>
            <a:off x="896112" y="1837944"/>
            <a:ext cx="2971800" cy="320040"/>
          </a:xfrm>
          <a:prstGeom prst="rect">
            <a:avLst/>
          </a:prstGeom>
          <a:noFill/>
        </p:spPr>
        <p:txBody>
          <a:bodyPr wrap="square">
            <a:spAutoFit/>
          </a:bodyPr>
          <a:lstStyle/>
          <a:p>
            <a:pPr algn="l">
              <a:buNone/>
            </a:pPr>
            <a:r>
              <a:rPr sz="1500" b="1">
                <a:solidFill>
                  <a:srgbClr val="15201B"/>
                </a:solidFill>
                <a:latin typeface="Aptos"/>
                <a:ea typeface="Aptos"/>
                <a:cs typeface="Aptos"/>
              </a:rPr>
              <a:t>SIMULATOR</a:t>
            </a:r>
          </a:p>
        </p:txBody>
      </p:sp>
      <p:sp>
        <p:nvSpPr>
          <p:cNvPr id="7" name="TextBox 6">
            <a:extLst>
              <a:ext uri="{FF2B5EF4-FFF2-40B4-BE49-F238E27FC236}">
                <a16:creationId xmlns:a16="http://schemas.microsoft.com/office/drawing/2014/main" id="{172B981C-D1C5-43B3-ACBD-9791320C0E2A}"/>
              </a:ext>
            </a:extLst>
          </p:cNvPr>
          <p:cNvSpPr>
            <a:spLocks noGrp="1"/>
          </p:cNvSpPr>
          <p:nvPr/>
        </p:nvSpPr>
        <p:spPr>
          <a:xfrm>
            <a:off x="896112" y="2221992"/>
            <a:ext cx="2971800" cy="1399032"/>
          </a:xfrm>
          <a:prstGeom prst="rect">
            <a:avLst/>
          </a:prstGeom>
          <a:noFill/>
        </p:spPr>
        <p:txBody>
          <a:bodyPr wrap="square">
            <a:spAutoFit/>
          </a:bodyPr>
          <a:lstStyle/>
          <a:p>
            <a:pPr algn="l">
              <a:buNone/>
            </a:pPr>
            <a:r>
              <a:rPr sz="1200" b="0">
                <a:solidFill>
                  <a:srgbClr val="53635B"/>
                </a:solidFill>
                <a:latin typeface="Aptos"/>
                <a:ea typeface="Aptos"/>
                <a:cs typeface="Aptos"/>
              </a:rPr>
              <a:t>Runs a lightweight multi-client experiment on one machine. Best for learning the API, testing algorithms, and checking basic job logic quickly.</a:t>
            </a:r>
          </a:p>
        </p:txBody>
      </p:sp>
      <p:sp>
        <p:nvSpPr>
          <p:cNvPr id="8" name="Rounded Rectangle 7">
            <a:extLst>
              <a:ext uri="{FF2B5EF4-FFF2-40B4-BE49-F238E27FC236}">
                <a16:creationId xmlns:a16="http://schemas.microsoft.com/office/drawing/2014/main" id="{78914DE6-27C2-4D94-B667-557896AC0B67}"/>
              </a:ext>
            </a:extLst>
          </p:cNvPr>
          <p:cNvSpPr>
            <a:spLocks noGrp="1"/>
          </p:cNvSpPr>
          <p:nvPr/>
        </p:nvSpPr>
        <p:spPr>
          <a:xfrm>
            <a:off x="4434840" y="1691640"/>
            <a:ext cx="3291840" cy="2057400"/>
          </a:xfrm>
          <a:prstGeom prst="roundRect">
            <a:avLst/>
          </a:prstGeom>
          <a:solidFill>
            <a:srgbClr val="DCE7F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CB7709-14E5-4061-8DC5-0E6C77010337}"/>
              </a:ext>
            </a:extLst>
          </p:cNvPr>
          <p:cNvSpPr>
            <a:spLocks noGrp="1"/>
          </p:cNvSpPr>
          <p:nvPr/>
        </p:nvSpPr>
        <p:spPr>
          <a:xfrm>
            <a:off x="4599431" y="1837944"/>
            <a:ext cx="2971800" cy="320040"/>
          </a:xfrm>
          <a:prstGeom prst="rect">
            <a:avLst/>
          </a:prstGeom>
          <a:noFill/>
        </p:spPr>
        <p:txBody>
          <a:bodyPr wrap="square">
            <a:spAutoFit/>
          </a:bodyPr>
          <a:lstStyle/>
          <a:p>
            <a:pPr algn="l">
              <a:buNone/>
            </a:pPr>
            <a:r>
              <a:rPr sz="1500" b="1">
                <a:solidFill>
                  <a:srgbClr val="15201B"/>
                </a:solidFill>
                <a:latin typeface="Aptos"/>
                <a:ea typeface="Aptos"/>
                <a:cs typeface="Aptos"/>
              </a:rPr>
              <a:t>PROOF OF CONCEPT</a:t>
            </a:r>
          </a:p>
        </p:txBody>
      </p:sp>
      <p:sp>
        <p:nvSpPr>
          <p:cNvPr id="10" name="TextBox 9">
            <a:extLst>
              <a:ext uri="{FF2B5EF4-FFF2-40B4-BE49-F238E27FC236}">
                <a16:creationId xmlns:a16="http://schemas.microsoft.com/office/drawing/2014/main" id="{78CE9E10-F8E5-4106-95F5-F683B86639AB}"/>
              </a:ext>
            </a:extLst>
          </p:cNvPr>
          <p:cNvSpPr>
            <a:spLocks noGrp="1"/>
          </p:cNvSpPr>
          <p:nvPr/>
        </p:nvSpPr>
        <p:spPr>
          <a:xfrm>
            <a:off x="4599431" y="2221992"/>
            <a:ext cx="2971800" cy="1399032"/>
          </a:xfrm>
          <a:prstGeom prst="rect">
            <a:avLst/>
          </a:prstGeom>
          <a:noFill/>
        </p:spPr>
        <p:txBody>
          <a:bodyPr wrap="square">
            <a:spAutoFit/>
          </a:bodyPr>
          <a:lstStyle/>
          <a:p>
            <a:pPr algn="l">
              <a:buNone/>
            </a:pPr>
            <a:r>
              <a:rPr sz="1200" b="0">
                <a:solidFill>
                  <a:srgbClr val="53635B"/>
                </a:solidFill>
                <a:latin typeface="Aptos"/>
                <a:ea typeface="Aptos"/>
                <a:cs typeface="Aptos"/>
              </a:rPr>
              <a:t>Runs separate local server and client processes. Tests task flow, configuration, operators, failures, and a closer version of the real runtime.</a:t>
            </a:r>
          </a:p>
        </p:txBody>
      </p:sp>
      <p:sp>
        <p:nvSpPr>
          <p:cNvPr id="11" name="Rounded Rectangle 10">
            <a:extLst>
              <a:ext uri="{FF2B5EF4-FFF2-40B4-BE49-F238E27FC236}">
                <a16:creationId xmlns:a16="http://schemas.microsoft.com/office/drawing/2014/main" id="{46B04290-7355-4C3D-A11F-9C147701D543}"/>
              </a:ext>
            </a:extLst>
          </p:cNvPr>
          <p:cNvSpPr>
            <a:spLocks noGrp="1"/>
          </p:cNvSpPr>
          <p:nvPr/>
        </p:nvSpPr>
        <p:spPr>
          <a:xfrm>
            <a:off x="8138160" y="1691640"/>
            <a:ext cx="3291840" cy="2057400"/>
          </a:xfrm>
          <a:prstGeom prst="roundRect">
            <a:avLst/>
          </a:prstGeom>
          <a:solidFill>
            <a:srgbClr val="DCEBE1"/>
          </a:solidFill>
          <a:ln w="12700">
            <a:solidFill>
              <a:srgbClr val="B9C2BB"/>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E90F19C-CA8E-4655-950F-AAC22240870F}"/>
              </a:ext>
            </a:extLst>
          </p:cNvPr>
          <p:cNvSpPr>
            <a:spLocks noGrp="1"/>
          </p:cNvSpPr>
          <p:nvPr/>
        </p:nvSpPr>
        <p:spPr>
          <a:xfrm>
            <a:off x="8302752" y="1837944"/>
            <a:ext cx="2971800" cy="320040"/>
          </a:xfrm>
          <a:prstGeom prst="rect">
            <a:avLst/>
          </a:prstGeom>
          <a:noFill/>
        </p:spPr>
        <p:txBody>
          <a:bodyPr wrap="square">
            <a:spAutoFit/>
          </a:bodyPr>
          <a:lstStyle/>
          <a:p>
            <a:pPr algn="l">
              <a:buNone/>
            </a:pPr>
            <a:r>
              <a:rPr sz="1500" b="1">
                <a:solidFill>
                  <a:srgbClr val="15201B"/>
                </a:solidFill>
                <a:latin typeface="Aptos"/>
                <a:ea typeface="Aptos"/>
                <a:cs typeface="Aptos"/>
              </a:rPr>
              <a:t>PRODUCTION</a:t>
            </a:r>
          </a:p>
        </p:txBody>
      </p:sp>
      <p:sp>
        <p:nvSpPr>
          <p:cNvPr id="13" name="TextBox 12">
            <a:extLst>
              <a:ext uri="{FF2B5EF4-FFF2-40B4-BE49-F238E27FC236}">
                <a16:creationId xmlns:a16="http://schemas.microsoft.com/office/drawing/2014/main" id="{9E4295D3-D8DF-4565-A41A-39801B37A06F}"/>
              </a:ext>
            </a:extLst>
          </p:cNvPr>
          <p:cNvSpPr>
            <a:spLocks noGrp="1"/>
          </p:cNvSpPr>
          <p:nvPr/>
        </p:nvSpPr>
        <p:spPr>
          <a:xfrm>
            <a:off x="8302752" y="2221992"/>
            <a:ext cx="2971800" cy="1399032"/>
          </a:xfrm>
          <a:prstGeom prst="rect">
            <a:avLst/>
          </a:prstGeom>
          <a:noFill/>
        </p:spPr>
        <p:txBody>
          <a:bodyPr wrap="square">
            <a:spAutoFit/>
          </a:bodyPr>
          <a:lstStyle/>
          <a:p>
            <a:pPr algn="l">
              <a:buNone/>
            </a:pPr>
            <a:r>
              <a:rPr sz="1200" b="0">
                <a:solidFill>
                  <a:srgbClr val="53635B"/>
                </a:solidFill>
                <a:latin typeface="Aptos"/>
                <a:ea typeface="Aptos"/>
                <a:cs typeface="Aptos"/>
              </a:rPr>
              <a:t>Runs provisioned participants across real machines or organizations with PKI, mTLS, authorization, deployment, monitoring, and recovery.</a:t>
            </a:r>
          </a:p>
        </p:txBody>
      </p:sp>
      <p:sp>
        <p:nvSpPr>
          <p:cNvPr id="14" name="TextBox 13">
            <a:extLst>
              <a:ext uri="{FF2B5EF4-FFF2-40B4-BE49-F238E27FC236}">
                <a16:creationId xmlns:a16="http://schemas.microsoft.com/office/drawing/2014/main" id="{78F717F3-1A00-49A6-B673-1840A77E5987}"/>
              </a:ext>
            </a:extLst>
          </p:cNvPr>
          <p:cNvSpPr>
            <a:spLocks noGrp="1"/>
          </p:cNvSpPr>
          <p:nvPr/>
        </p:nvSpPr>
        <p:spPr>
          <a:xfrm>
            <a:off x="868680" y="4251960"/>
            <a:ext cx="10241280" cy="914400"/>
          </a:xfrm>
          <a:prstGeom prst="rect">
            <a:avLst/>
          </a:prstGeom>
          <a:noFill/>
        </p:spPr>
        <p:txBody>
          <a:bodyPr wrap="square">
            <a:spAutoFit/>
          </a:bodyPr>
          <a:lstStyle/>
          <a:p>
            <a:pPr>
              <a:buNone/>
              <a:defRPr sz="1600">
                <a:solidFill>
                  <a:srgbClr val="15201B"/>
                </a:solidFill>
                <a:latin typeface="Aptos"/>
                <a:ea typeface="Aptos"/>
                <a:cs typeface="Aptos"/>
              </a:defRPr>
            </a:pPr>
            <a:r>
              <a:t>Progression: algorithm evidence → system evidence → real organizational and security evidence / A8</a:t>
            </a:r>
          </a:p>
        </p:txBody>
      </p:sp>
    </p:spTree>
    <p:extLst>
      <p:ext uri="{BB962C8B-B14F-4D97-AF65-F5344CB8AC3E}">
        <p14:creationId xmlns:p14="http://schemas.microsoft.com/office/powerpoint/2010/main" val="1156893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3E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8DBD12-B4E5-4D50-862A-EE95276939B5}"/>
              </a:ext>
            </a:extLst>
          </p:cNvPr>
          <p:cNvSpPr>
            <a:spLocks noGrp="1"/>
          </p:cNvSpPr>
          <p:nvPr/>
        </p:nvSpPr>
        <p:spPr>
          <a:xfrm>
            <a:off x="548640" y="320040"/>
            <a:ext cx="2377440" cy="487680"/>
          </a:xfrm>
          <a:prstGeom prst="rect">
            <a:avLst/>
          </a:prstGeom>
          <a:noFill/>
        </p:spPr>
        <p:txBody>
          <a:bodyPr wrap="square">
            <a:spAutoFit/>
          </a:bodyPr>
          <a:lstStyle/>
          <a:p>
            <a:pPr algn="l">
              <a:buNone/>
            </a:pPr>
            <a:r>
              <a:rPr sz="1300" b="1">
                <a:solidFill>
                  <a:srgbClr val="53635B"/>
                </a:solidFill>
                <a:latin typeface="Aptos"/>
                <a:ea typeface="Aptos"/>
                <a:cs typeface="Aptos"/>
              </a:rPr>
              <a:t>APPENDIX · OPERATIONAL TERMS</a:t>
            </a:r>
          </a:p>
        </p:txBody>
      </p:sp>
      <p:sp>
        <p:nvSpPr>
          <p:cNvPr id="3" name="TextBox 2">
            <a:extLst>
              <a:ext uri="{FF2B5EF4-FFF2-40B4-BE49-F238E27FC236}">
                <a16:creationId xmlns:a16="http://schemas.microsoft.com/office/drawing/2014/main" id="{4CA5135A-B7C2-4A3F-A4B9-1A19657118BC}"/>
              </a:ext>
            </a:extLst>
          </p:cNvPr>
          <p:cNvSpPr>
            <a:spLocks noGrp="1"/>
          </p:cNvSpPr>
          <p:nvPr/>
        </p:nvSpPr>
        <p:spPr>
          <a:xfrm>
            <a:off x="548640" y="658368"/>
            <a:ext cx="10424160" cy="594360"/>
          </a:xfrm>
          <a:prstGeom prst="rect">
            <a:avLst/>
          </a:prstGeom>
          <a:noFill/>
        </p:spPr>
        <p:txBody>
          <a:bodyPr wrap="square">
            <a:spAutoFit/>
          </a:bodyPr>
          <a:lstStyle/>
          <a:p>
            <a:pPr algn="l">
              <a:buNone/>
            </a:pPr>
            <a:r>
              <a:rPr sz="2900" b="1">
                <a:solidFill>
                  <a:srgbClr val="15201B"/>
                </a:solidFill>
                <a:latin typeface="Aptos"/>
                <a:ea typeface="Aptos"/>
                <a:cs typeface="Aptos"/>
              </a:rPr>
              <a:t>Five terms complete the federated-round picture.</a:t>
            </a:r>
          </a:p>
        </p:txBody>
      </p:sp>
      <p:sp>
        <p:nvSpPr>
          <p:cNvPr id="4" name="TextBox 3">
            <a:extLst>
              <a:ext uri="{FF2B5EF4-FFF2-40B4-BE49-F238E27FC236}">
                <a16:creationId xmlns:a16="http://schemas.microsoft.com/office/drawing/2014/main" id="{144F016E-D41B-49E9-9DA2-D7111539AAC2}"/>
              </a:ext>
            </a:extLst>
          </p:cNvPr>
          <p:cNvSpPr>
            <a:spLocks noGrp="1"/>
          </p:cNvSpPr>
          <p:nvPr/>
        </p:nvSpPr>
        <p:spPr>
          <a:xfrm>
            <a:off x="566928" y="1225296"/>
            <a:ext cx="9784080" cy="411480"/>
          </a:xfrm>
          <a:prstGeom prst="rect">
            <a:avLst/>
          </a:prstGeom>
          <a:noFill/>
        </p:spPr>
        <p:txBody>
          <a:bodyPr wrap="square">
            <a:spAutoFit/>
          </a:bodyPr>
          <a:lstStyle/>
          <a:p>
            <a:pPr algn="l">
              <a:buNone/>
            </a:pPr>
            <a:r>
              <a:rPr sz="1400" b="0">
                <a:solidFill>
                  <a:srgbClr val="53635B"/>
                </a:solidFill>
                <a:latin typeface="Aptos"/>
                <a:ea typeface="Aptos"/>
                <a:cs typeface="Aptos"/>
              </a:rPr>
              <a:t>These are the terms most likely to appear in a project review or professor's question.</a:t>
            </a:r>
          </a:p>
        </p:txBody>
      </p:sp>
      <p:sp>
        <p:nvSpPr>
          <p:cNvPr id="5" name="Rectangle 4">
            <a:extLst>
              <a:ext uri="{FF2B5EF4-FFF2-40B4-BE49-F238E27FC236}">
                <a16:creationId xmlns:a16="http://schemas.microsoft.com/office/drawing/2014/main" id="{9CE8E996-E424-4293-8C1C-AF9D6E1AB446}"/>
              </a:ext>
            </a:extLst>
          </p:cNvPr>
          <p:cNvSpPr>
            <a:spLocks noGrp="1"/>
          </p:cNvSpPr>
          <p:nvPr/>
        </p:nvSpPr>
        <p:spPr>
          <a:xfrm>
            <a:off x="502920" y="1627632"/>
            <a:ext cx="2888589"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15342B3-FAB8-43E7-96EC-D556D6737311}"/>
              </a:ext>
            </a:extLst>
          </p:cNvPr>
          <p:cNvSpPr>
            <a:spLocks noGrp="1"/>
          </p:cNvSpPr>
          <p:nvPr/>
        </p:nvSpPr>
        <p:spPr>
          <a:xfrm>
            <a:off x="576072" y="1700784"/>
            <a:ext cx="2742285" cy="644652"/>
          </a:xfrm>
          <a:prstGeom prst="rect">
            <a:avLst/>
          </a:prstGeom>
          <a:noFill/>
        </p:spPr>
        <p:txBody>
          <a:bodyPr wrap="square">
            <a:spAutoFit/>
          </a:bodyPr>
          <a:lstStyle/>
          <a:p>
            <a:pPr algn="l">
              <a:buNone/>
            </a:pPr>
            <a:r>
              <a:rPr sz="1100" b="1">
                <a:solidFill>
                  <a:srgbClr val="15201B"/>
                </a:solidFill>
                <a:latin typeface="Aptos"/>
                <a:ea typeface="Aptos"/>
                <a:cs typeface="Aptos"/>
              </a:rPr>
              <a:t>Term</a:t>
            </a:r>
          </a:p>
        </p:txBody>
      </p:sp>
      <p:sp>
        <p:nvSpPr>
          <p:cNvPr id="7" name="Rectangle 6">
            <a:extLst>
              <a:ext uri="{FF2B5EF4-FFF2-40B4-BE49-F238E27FC236}">
                <a16:creationId xmlns:a16="http://schemas.microsoft.com/office/drawing/2014/main" id="{352CF242-7638-4E68-8FA8-D78A0F42581E}"/>
              </a:ext>
            </a:extLst>
          </p:cNvPr>
          <p:cNvSpPr>
            <a:spLocks noGrp="1"/>
          </p:cNvSpPr>
          <p:nvPr/>
        </p:nvSpPr>
        <p:spPr>
          <a:xfrm>
            <a:off x="3391509" y="1627632"/>
            <a:ext cx="4110685"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CF779A8A-1ADC-407D-865C-BB8D994150C0}"/>
              </a:ext>
            </a:extLst>
          </p:cNvPr>
          <p:cNvSpPr>
            <a:spLocks noGrp="1"/>
          </p:cNvSpPr>
          <p:nvPr/>
        </p:nvSpPr>
        <p:spPr>
          <a:xfrm>
            <a:off x="3464661" y="1700784"/>
            <a:ext cx="3964381" cy="644652"/>
          </a:xfrm>
          <a:prstGeom prst="rect">
            <a:avLst/>
          </a:prstGeom>
          <a:noFill/>
        </p:spPr>
        <p:txBody>
          <a:bodyPr wrap="square">
            <a:spAutoFit/>
          </a:bodyPr>
          <a:lstStyle/>
          <a:p>
            <a:pPr algn="l">
              <a:buNone/>
            </a:pPr>
            <a:r>
              <a:rPr sz="1100" b="1">
                <a:solidFill>
                  <a:srgbClr val="15201B"/>
                </a:solidFill>
                <a:latin typeface="Aptos"/>
                <a:ea typeface="Aptos"/>
                <a:cs typeface="Aptos"/>
              </a:rPr>
              <a:t>Plain meaning</a:t>
            </a:r>
          </a:p>
        </p:txBody>
      </p:sp>
      <p:sp>
        <p:nvSpPr>
          <p:cNvPr id="9" name="Rectangle 8">
            <a:extLst>
              <a:ext uri="{FF2B5EF4-FFF2-40B4-BE49-F238E27FC236}">
                <a16:creationId xmlns:a16="http://schemas.microsoft.com/office/drawing/2014/main" id="{87467CD7-205E-45FC-9D3C-702CF1606E65}"/>
              </a:ext>
            </a:extLst>
          </p:cNvPr>
          <p:cNvSpPr>
            <a:spLocks noGrp="1"/>
          </p:cNvSpPr>
          <p:nvPr/>
        </p:nvSpPr>
        <p:spPr>
          <a:xfrm>
            <a:off x="7502194" y="1627632"/>
            <a:ext cx="4110685" cy="754380"/>
          </a:xfrm>
          <a:prstGeom prst="rect">
            <a:avLst/>
          </a:prstGeom>
          <a:solidFill>
            <a:srgbClr val="F4E8D0"/>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12D5641A-7A5E-448B-8A7F-B80482867BF1}"/>
              </a:ext>
            </a:extLst>
          </p:cNvPr>
          <p:cNvSpPr>
            <a:spLocks noGrp="1"/>
          </p:cNvSpPr>
          <p:nvPr/>
        </p:nvSpPr>
        <p:spPr>
          <a:xfrm>
            <a:off x="7575346" y="1700784"/>
            <a:ext cx="3964381" cy="644652"/>
          </a:xfrm>
          <a:prstGeom prst="rect">
            <a:avLst/>
          </a:prstGeom>
          <a:noFill/>
        </p:spPr>
        <p:txBody>
          <a:bodyPr wrap="square">
            <a:spAutoFit/>
          </a:bodyPr>
          <a:lstStyle/>
          <a:p>
            <a:pPr algn="l">
              <a:buNone/>
            </a:pPr>
            <a:r>
              <a:rPr sz="1100" b="1">
                <a:solidFill>
                  <a:srgbClr val="15201B"/>
                </a:solidFill>
                <a:latin typeface="Aptos"/>
                <a:ea typeface="Aptos"/>
                <a:cs typeface="Aptos"/>
              </a:rPr>
              <a:t>Why it matters here</a:t>
            </a:r>
          </a:p>
        </p:txBody>
      </p:sp>
      <p:sp>
        <p:nvSpPr>
          <p:cNvPr id="11" name="Rectangle 10">
            <a:extLst>
              <a:ext uri="{FF2B5EF4-FFF2-40B4-BE49-F238E27FC236}">
                <a16:creationId xmlns:a16="http://schemas.microsoft.com/office/drawing/2014/main" id="{60FEFA45-D8D3-4A9C-96A4-DF0C960481D7}"/>
              </a:ext>
            </a:extLst>
          </p:cNvPr>
          <p:cNvSpPr>
            <a:spLocks noGrp="1"/>
          </p:cNvSpPr>
          <p:nvPr/>
        </p:nvSpPr>
        <p:spPr>
          <a:xfrm>
            <a:off x="502920" y="238201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0780A78-0661-4E04-B7B9-70E32540089F}"/>
              </a:ext>
            </a:extLst>
          </p:cNvPr>
          <p:cNvSpPr>
            <a:spLocks noGrp="1"/>
          </p:cNvSpPr>
          <p:nvPr/>
        </p:nvSpPr>
        <p:spPr>
          <a:xfrm>
            <a:off x="576072" y="245516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Seed / global model</a:t>
            </a:r>
          </a:p>
        </p:txBody>
      </p:sp>
      <p:sp>
        <p:nvSpPr>
          <p:cNvPr id="13" name="Rectangle 12">
            <a:extLst>
              <a:ext uri="{FF2B5EF4-FFF2-40B4-BE49-F238E27FC236}">
                <a16:creationId xmlns:a16="http://schemas.microsoft.com/office/drawing/2014/main" id="{ED1933A7-9FF4-435B-B5FF-A7C3853C93C5}"/>
              </a:ext>
            </a:extLst>
          </p:cNvPr>
          <p:cNvSpPr>
            <a:spLocks noGrp="1"/>
          </p:cNvSpPr>
          <p:nvPr/>
        </p:nvSpPr>
        <p:spPr>
          <a:xfrm>
            <a:off x="3391509" y="238201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1842238-9A3F-4E78-B85C-E0D55061F392}"/>
              </a:ext>
            </a:extLst>
          </p:cNvPr>
          <p:cNvSpPr>
            <a:spLocks noGrp="1"/>
          </p:cNvSpPr>
          <p:nvPr/>
        </p:nvSpPr>
        <p:spPr>
          <a:xfrm>
            <a:off x="3464661" y="245516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The approved shared model before a round begins</a:t>
            </a:r>
          </a:p>
        </p:txBody>
      </p:sp>
      <p:sp>
        <p:nvSpPr>
          <p:cNvPr id="15" name="Rectangle 14">
            <a:extLst>
              <a:ext uri="{FF2B5EF4-FFF2-40B4-BE49-F238E27FC236}">
                <a16:creationId xmlns:a16="http://schemas.microsoft.com/office/drawing/2014/main" id="{98451E3A-FC4E-40B7-BC28-6148F8CF2167}"/>
              </a:ext>
            </a:extLst>
          </p:cNvPr>
          <p:cNvSpPr>
            <a:spLocks noGrp="1"/>
          </p:cNvSpPr>
          <p:nvPr/>
        </p:nvSpPr>
        <p:spPr>
          <a:xfrm>
            <a:off x="7502194" y="238201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7274E3E5-309C-446F-98C9-71A8971D04D0}"/>
              </a:ext>
            </a:extLst>
          </p:cNvPr>
          <p:cNvSpPr>
            <a:spLocks noGrp="1"/>
          </p:cNvSpPr>
          <p:nvPr/>
        </p:nvSpPr>
        <p:spPr>
          <a:xfrm>
            <a:off x="7575346" y="245516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Every eligible site must receive the intended version</a:t>
            </a:r>
          </a:p>
        </p:txBody>
      </p:sp>
      <p:sp>
        <p:nvSpPr>
          <p:cNvPr id="17" name="Rectangle 16">
            <a:extLst>
              <a:ext uri="{FF2B5EF4-FFF2-40B4-BE49-F238E27FC236}">
                <a16:creationId xmlns:a16="http://schemas.microsoft.com/office/drawing/2014/main" id="{845E18DC-73DC-4E75-9B6E-E9FD5FA926E0}"/>
              </a:ext>
            </a:extLst>
          </p:cNvPr>
          <p:cNvSpPr>
            <a:spLocks noGrp="1"/>
          </p:cNvSpPr>
          <p:nvPr/>
        </p:nvSpPr>
        <p:spPr>
          <a:xfrm>
            <a:off x="502920" y="313639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118314E-8CA6-45E6-9DB4-5A0A01FE4EF5}"/>
              </a:ext>
            </a:extLst>
          </p:cNvPr>
          <p:cNvSpPr>
            <a:spLocks noGrp="1"/>
          </p:cNvSpPr>
          <p:nvPr/>
        </p:nvSpPr>
        <p:spPr>
          <a:xfrm>
            <a:off x="576072" y="320954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Round</a:t>
            </a:r>
          </a:p>
        </p:txBody>
      </p:sp>
      <p:sp>
        <p:nvSpPr>
          <p:cNvPr id="19" name="Rectangle 18">
            <a:extLst>
              <a:ext uri="{FF2B5EF4-FFF2-40B4-BE49-F238E27FC236}">
                <a16:creationId xmlns:a16="http://schemas.microsoft.com/office/drawing/2014/main" id="{0AD4F55D-7290-4A1A-B1AA-1202B3E96581}"/>
              </a:ext>
            </a:extLst>
          </p:cNvPr>
          <p:cNvSpPr>
            <a:spLocks noGrp="1"/>
          </p:cNvSpPr>
          <p:nvPr/>
        </p:nvSpPr>
        <p:spPr>
          <a:xfrm>
            <a:off x="3391509" y="313639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579DA9AE-C9EA-4E8B-99E2-9C3D9CA6335A}"/>
              </a:ext>
            </a:extLst>
          </p:cNvPr>
          <p:cNvSpPr>
            <a:spLocks noGrp="1"/>
          </p:cNvSpPr>
          <p:nvPr/>
        </p:nvSpPr>
        <p:spPr>
          <a:xfrm>
            <a:off x="3464661" y="320954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One distribute, local-work, aggregate, and evaluate loop</a:t>
            </a:r>
          </a:p>
        </p:txBody>
      </p:sp>
      <p:sp>
        <p:nvSpPr>
          <p:cNvPr id="21" name="Rectangle 20">
            <a:extLst>
              <a:ext uri="{FF2B5EF4-FFF2-40B4-BE49-F238E27FC236}">
                <a16:creationId xmlns:a16="http://schemas.microsoft.com/office/drawing/2014/main" id="{3859F6ED-810F-4C83-86D5-41384E8BEAFA}"/>
              </a:ext>
            </a:extLst>
          </p:cNvPr>
          <p:cNvSpPr>
            <a:spLocks noGrp="1"/>
          </p:cNvSpPr>
          <p:nvPr/>
        </p:nvSpPr>
        <p:spPr>
          <a:xfrm>
            <a:off x="7502194" y="313639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BA3B850-E077-4340-B122-134E8C1E3C94}"/>
              </a:ext>
            </a:extLst>
          </p:cNvPr>
          <p:cNvSpPr>
            <a:spLocks noGrp="1"/>
          </p:cNvSpPr>
          <p:nvPr/>
        </p:nvSpPr>
        <p:spPr>
          <a:xfrm>
            <a:off x="7575346" y="320954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Needs one ID, participant list, versions, status, and stop reason</a:t>
            </a:r>
          </a:p>
        </p:txBody>
      </p:sp>
      <p:sp>
        <p:nvSpPr>
          <p:cNvPr id="23" name="Rectangle 22">
            <a:extLst>
              <a:ext uri="{FF2B5EF4-FFF2-40B4-BE49-F238E27FC236}">
                <a16:creationId xmlns:a16="http://schemas.microsoft.com/office/drawing/2014/main" id="{80906D7F-DE00-4FB9-B671-BE04D37B5AED}"/>
              </a:ext>
            </a:extLst>
          </p:cNvPr>
          <p:cNvSpPr>
            <a:spLocks noGrp="1"/>
          </p:cNvSpPr>
          <p:nvPr/>
        </p:nvSpPr>
        <p:spPr>
          <a:xfrm>
            <a:off x="502920" y="389077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42AE019-BFA0-4AA7-AF8E-95A18B590175}"/>
              </a:ext>
            </a:extLst>
          </p:cNvPr>
          <p:cNvSpPr>
            <a:spLocks noGrp="1"/>
          </p:cNvSpPr>
          <p:nvPr/>
        </p:nvSpPr>
        <p:spPr>
          <a:xfrm>
            <a:off x="576072" y="396392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Local model update</a:t>
            </a:r>
          </a:p>
        </p:txBody>
      </p:sp>
      <p:sp>
        <p:nvSpPr>
          <p:cNvPr id="25" name="Rectangle 24">
            <a:extLst>
              <a:ext uri="{FF2B5EF4-FFF2-40B4-BE49-F238E27FC236}">
                <a16:creationId xmlns:a16="http://schemas.microsoft.com/office/drawing/2014/main" id="{41EAF58D-8638-4C52-B131-4FB895092805}"/>
              </a:ext>
            </a:extLst>
          </p:cNvPr>
          <p:cNvSpPr>
            <a:spLocks noGrp="1"/>
          </p:cNvSpPr>
          <p:nvPr/>
        </p:nvSpPr>
        <p:spPr>
          <a:xfrm>
            <a:off x="3391509" y="389077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CF9B0E1-A2E7-48D6-802D-BFA82A23E450}"/>
              </a:ext>
            </a:extLst>
          </p:cNvPr>
          <p:cNvSpPr>
            <a:spLocks noGrp="1"/>
          </p:cNvSpPr>
          <p:nvPr/>
        </p:nvSpPr>
        <p:spPr>
          <a:xfrm>
            <a:off x="3464661" y="396392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A mathematical change computed by one site</a:t>
            </a:r>
          </a:p>
        </p:txBody>
      </p:sp>
      <p:sp>
        <p:nvSpPr>
          <p:cNvPr id="27" name="Rectangle 26">
            <a:extLst>
              <a:ext uri="{FF2B5EF4-FFF2-40B4-BE49-F238E27FC236}">
                <a16:creationId xmlns:a16="http://schemas.microsoft.com/office/drawing/2014/main" id="{B247C103-7BCD-4BBF-8FED-74868A3C3695}"/>
              </a:ext>
            </a:extLst>
          </p:cNvPr>
          <p:cNvSpPr>
            <a:spLocks noGrp="1"/>
          </p:cNvSpPr>
          <p:nvPr/>
        </p:nvSpPr>
        <p:spPr>
          <a:xfrm>
            <a:off x="7502194" y="389077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B7EA3D92-36D0-4F25-8F70-B08D576FB91C}"/>
              </a:ext>
            </a:extLst>
          </p:cNvPr>
          <p:cNvSpPr>
            <a:spLocks noGrp="1"/>
          </p:cNvSpPr>
          <p:nvPr/>
        </p:nvSpPr>
        <p:spPr>
          <a:xfrm>
            <a:off x="7575346" y="396392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Not raw rows, but still potentially sensitive or malicious</a:t>
            </a:r>
          </a:p>
        </p:txBody>
      </p:sp>
      <p:sp>
        <p:nvSpPr>
          <p:cNvPr id="29" name="Rectangle 28">
            <a:extLst>
              <a:ext uri="{FF2B5EF4-FFF2-40B4-BE49-F238E27FC236}">
                <a16:creationId xmlns:a16="http://schemas.microsoft.com/office/drawing/2014/main" id="{F6C8D755-973E-4DFA-A9BB-4D1561BC8F2D}"/>
              </a:ext>
            </a:extLst>
          </p:cNvPr>
          <p:cNvSpPr>
            <a:spLocks noGrp="1"/>
          </p:cNvSpPr>
          <p:nvPr/>
        </p:nvSpPr>
        <p:spPr>
          <a:xfrm>
            <a:off x="502920" y="464515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0838EB1B-F066-4BCF-8C4F-5B2A81D6B611}"/>
              </a:ext>
            </a:extLst>
          </p:cNvPr>
          <p:cNvSpPr>
            <a:spLocks noGrp="1"/>
          </p:cNvSpPr>
          <p:nvPr/>
        </p:nvSpPr>
        <p:spPr>
          <a:xfrm>
            <a:off x="576072" y="471830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Candidate model</a:t>
            </a:r>
          </a:p>
        </p:txBody>
      </p:sp>
      <p:sp>
        <p:nvSpPr>
          <p:cNvPr id="31" name="Rectangle 30">
            <a:extLst>
              <a:ext uri="{FF2B5EF4-FFF2-40B4-BE49-F238E27FC236}">
                <a16:creationId xmlns:a16="http://schemas.microsoft.com/office/drawing/2014/main" id="{CB14006E-D9C0-4D92-BA26-C2AE0D7838DF}"/>
              </a:ext>
            </a:extLst>
          </p:cNvPr>
          <p:cNvSpPr>
            <a:spLocks noGrp="1"/>
          </p:cNvSpPr>
          <p:nvPr/>
        </p:nvSpPr>
        <p:spPr>
          <a:xfrm>
            <a:off x="3391509" y="464515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7BC6A327-84A3-4C0C-92BA-5BF7E6A77F30}"/>
              </a:ext>
            </a:extLst>
          </p:cNvPr>
          <p:cNvSpPr>
            <a:spLocks noGrp="1"/>
          </p:cNvSpPr>
          <p:nvPr/>
        </p:nvSpPr>
        <p:spPr>
          <a:xfrm>
            <a:off x="3464661" y="471830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A newly combined model waiting for every check</a:t>
            </a:r>
          </a:p>
        </p:txBody>
      </p:sp>
      <p:sp>
        <p:nvSpPr>
          <p:cNvPr id="33" name="Rectangle 32">
            <a:extLst>
              <a:ext uri="{FF2B5EF4-FFF2-40B4-BE49-F238E27FC236}">
                <a16:creationId xmlns:a16="http://schemas.microsoft.com/office/drawing/2014/main" id="{0C8831F0-7FE8-4CE5-9F5C-AC01B1C74153}"/>
              </a:ext>
            </a:extLst>
          </p:cNvPr>
          <p:cNvSpPr>
            <a:spLocks noGrp="1"/>
          </p:cNvSpPr>
          <p:nvPr/>
        </p:nvSpPr>
        <p:spPr>
          <a:xfrm>
            <a:off x="7502194" y="464515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D9BC41C7-12CA-49DD-B21A-2842B470EEA6}"/>
              </a:ext>
            </a:extLst>
          </p:cNvPr>
          <p:cNvSpPr>
            <a:spLocks noGrp="1"/>
          </p:cNvSpPr>
          <p:nvPr/>
        </p:nvSpPr>
        <p:spPr>
          <a:xfrm>
            <a:off x="7575346" y="471830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It is not a release and must not silently replace the current model</a:t>
            </a:r>
          </a:p>
        </p:txBody>
      </p:sp>
      <p:sp>
        <p:nvSpPr>
          <p:cNvPr id="35" name="Rectangle 34">
            <a:extLst>
              <a:ext uri="{FF2B5EF4-FFF2-40B4-BE49-F238E27FC236}">
                <a16:creationId xmlns:a16="http://schemas.microsoft.com/office/drawing/2014/main" id="{8C08C939-B03B-40D8-A0AC-F9FECE411770}"/>
              </a:ext>
            </a:extLst>
          </p:cNvPr>
          <p:cNvSpPr>
            <a:spLocks noGrp="1"/>
          </p:cNvSpPr>
          <p:nvPr/>
        </p:nvSpPr>
        <p:spPr>
          <a:xfrm>
            <a:off x="502920" y="5399532"/>
            <a:ext cx="2888589"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20428393-C352-48CE-8EE3-95676E46C147}"/>
              </a:ext>
            </a:extLst>
          </p:cNvPr>
          <p:cNvSpPr>
            <a:spLocks noGrp="1"/>
          </p:cNvSpPr>
          <p:nvPr/>
        </p:nvSpPr>
        <p:spPr>
          <a:xfrm>
            <a:off x="576072" y="5472684"/>
            <a:ext cx="2742285" cy="644652"/>
          </a:xfrm>
          <a:prstGeom prst="rect">
            <a:avLst/>
          </a:prstGeom>
          <a:noFill/>
        </p:spPr>
        <p:txBody>
          <a:bodyPr wrap="square">
            <a:spAutoFit/>
          </a:bodyPr>
          <a:lstStyle/>
          <a:p>
            <a:pPr algn="l">
              <a:buNone/>
            </a:pPr>
            <a:r>
              <a:rPr sz="1000" b="0">
                <a:solidFill>
                  <a:srgbClr val="15201B"/>
                </a:solidFill>
                <a:latin typeface="Aptos"/>
                <a:ea typeface="Aptos"/>
                <a:cs typeface="Aptos"/>
              </a:rPr>
              <a:t>Dropout / quorum</a:t>
            </a:r>
          </a:p>
        </p:txBody>
      </p:sp>
      <p:sp>
        <p:nvSpPr>
          <p:cNvPr id="37" name="Rectangle 36">
            <a:extLst>
              <a:ext uri="{FF2B5EF4-FFF2-40B4-BE49-F238E27FC236}">
                <a16:creationId xmlns:a16="http://schemas.microsoft.com/office/drawing/2014/main" id="{89B7E1E8-B494-4075-9967-EAC444533778}"/>
              </a:ext>
            </a:extLst>
          </p:cNvPr>
          <p:cNvSpPr>
            <a:spLocks noGrp="1"/>
          </p:cNvSpPr>
          <p:nvPr/>
        </p:nvSpPr>
        <p:spPr>
          <a:xfrm>
            <a:off x="3391509" y="539953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DDCB4B39-747E-485F-8D7F-1DA41FF4926A}"/>
              </a:ext>
            </a:extLst>
          </p:cNvPr>
          <p:cNvSpPr>
            <a:spLocks noGrp="1"/>
          </p:cNvSpPr>
          <p:nvPr/>
        </p:nvSpPr>
        <p:spPr>
          <a:xfrm>
            <a:off x="3464661" y="547268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A missing site / the minimum completed sites required</a:t>
            </a:r>
          </a:p>
        </p:txBody>
      </p:sp>
      <p:sp>
        <p:nvSpPr>
          <p:cNvPr id="39" name="Rectangle 38">
            <a:extLst>
              <a:ext uri="{FF2B5EF4-FFF2-40B4-BE49-F238E27FC236}">
                <a16:creationId xmlns:a16="http://schemas.microsoft.com/office/drawing/2014/main" id="{A146F475-A664-45DE-8E1A-8D68FE14EB33}"/>
              </a:ext>
            </a:extLst>
          </p:cNvPr>
          <p:cNvSpPr>
            <a:spLocks noGrp="1"/>
          </p:cNvSpPr>
          <p:nvPr/>
        </p:nvSpPr>
        <p:spPr>
          <a:xfrm>
            <a:off x="7502194" y="5399532"/>
            <a:ext cx="4110685" cy="754380"/>
          </a:xfrm>
          <a:prstGeom prst="rect">
            <a:avLst/>
          </a:prstGeom>
          <a:solidFill>
            <a:srgbClr val="FFFFFF"/>
          </a:solidFill>
          <a:ln>
            <a:solidFill>
              <a:srgbClr val="BEBEB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E4A41FF-3F45-423C-AE62-D1955E617499}"/>
              </a:ext>
            </a:extLst>
          </p:cNvPr>
          <p:cNvSpPr>
            <a:spLocks noGrp="1"/>
          </p:cNvSpPr>
          <p:nvPr/>
        </p:nvSpPr>
        <p:spPr>
          <a:xfrm>
            <a:off x="7575346" y="5472684"/>
            <a:ext cx="3964381" cy="644652"/>
          </a:xfrm>
          <a:prstGeom prst="rect">
            <a:avLst/>
          </a:prstGeom>
          <a:noFill/>
        </p:spPr>
        <p:txBody>
          <a:bodyPr wrap="square">
            <a:spAutoFit/>
          </a:bodyPr>
          <a:lstStyle/>
          <a:p>
            <a:pPr algn="l">
              <a:buNone/>
            </a:pPr>
            <a:r>
              <a:rPr sz="1000" b="0">
                <a:solidFill>
                  <a:srgbClr val="15201B"/>
                </a:solidFill>
                <a:latin typeface="Aptos"/>
                <a:ea typeface="Aptos"/>
                <a:cs typeface="Aptos"/>
              </a:rPr>
              <a:t>Cancel safely when too few approved sites complete</a:t>
            </a:r>
          </a:p>
        </p:txBody>
      </p:sp>
      <p:sp>
        <p:nvSpPr>
          <p:cNvPr id="41" name="TextBox 40">
            <a:extLst>
              <a:ext uri="{FF2B5EF4-FFF2-40B4-BE49-F238E27FC236}">
                <a16:creationId xmlns:a16="http://schemas.microsoft.com/office/drawing/2014/main" id="{E75FBFE2-8640-4A2C-801D-9487E96EEB43}"/>
              </a:ext>
            </a:extLst>
          </p:cNvPr>
          <p:cNvSpPr>
            <a:spLocks noGrp="1"/>
          </p:cNvSpPr>
          <p:nvPr/>
        </p:nvSpPr>
        <p:spPr>
          <a:xfrm>
            <a:off x="566928" y="6355080"/>
            <a:ext cx="3657600" cy="335280"/>
          </a:xfrm>
          <a:prstGeom prst="rect">
            <a:avLst/>
          </a:prstGeom>
          <a:noFill/>
        </p:spPr>
        <p:txBody>
          <a:bodyPr wrap="square">
            <a:spAutoFit/>
          </a:bodyPr>
          <a:lstStyle/>
          <a:p>
            <a:pPr algn="l">
              <a:buNone/>
            </a:pPr>
            <a:r>
              <a:rPr sz="800" b="0">
                <a:solidFill>
                  <a:srgbClr val="53635B"/>
                </a:solidFill>
                <a:latin typeface="Aptos"/>
                <a:ea typeface="Aptos"/>
                <a:cs typeface="Aptos"/>
              </a:rPr>
              <a:t>Canary and rollback occur only after a candidate passes the release gates / A10</a:t>
            </a:r>
          </a:p>
        </p:txBody>
      </p:sp>
    </p:spTree>
    <p:extLst>
      <p:ext uri="{BB962C8B-B14F-4D97-AF65-F5344CB8AC3E}">
        <p14:creationId xmlns:p14="http://schemas.microsoft.com/office/powerpoint/2010/main" val="1134147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BB9CCDB-CDB6-46D2-AAB1-924DC0F3EDF6}"/>
              </a:ext>
            </a:extLst>
          </p:cNvPr>
          <p:cNvSpPr>
            <a:spLocks noGrp="1"/>
          </p:cNvSpPr>
          <p:nvPr/>
        </p:nvSpPr>
        <p:spPr>
          <a:xfrm>
            <a:off x="0" y="0"/>
            <a:ext cx="12192000" cy="6858000"/>
          </a:xfrm>
          <a:prstGeom prst="rect">
            <a:avLst/>
          </a:prstGeom>
          <a:solidFill>
            <a:srgbClr val="111815"/>
          </a:solidFill>
          <a:ln w="9525">
            <a:solidFill>
              <a:srgbClr val="111815"/>
            </a:solidFill>
          </a:ln>
        </p:spPr>
        <p:txBody>
          <a:bodyPr/>
          <a:lstStyle/>
          <a:p>
            <a:endParaRPr/>
          </a:p>
        </p:txBody>
      </p:sp>
      <p:sp>
        <p:nvSpPr>
          <p:cNvPr id="2" name="Rectangle 1">
            <a:extLst>
              <a:ext uri="{FF2B5EF4-FFF2-40B4-BE49-F238E27FC236}">
                <a16:creationId xmlns:a16="http://schemas.microsoft.com/office/drawing/2014/main" id="{93BB2566-7613-48BE-B8F4-6418A62A4686}"/>
              </a:ext>
            </a:extLst>
          </p:cNvPr>
          <p:cNvSpPr>
            <a:spLocks noGrp="1"/>
          </p:cNvSpPr>
          <p:nvPr/>
        </p:nvSpPr>
        <p:spPr>
          <a:xfrm>
            <a:off x="666750" y="400050"/>
            <a:ext cx="1619250" cy="238125"/>
          </a:xfrm>
          <a:prstGeom prst="rect">
            <a:avLst/>
          </a:prstGeom>
          <a:solidFill>
            <a:srgbClr val="2E6F4E"/>
          </a:solidFill>
          <a:ln w="9525">
            <a:solidFill>
              <a:srgbClr val="2E6F4E"/>
            </a:solidFill>
          </a:ln>
        </p:spPr>
        <p:txBody>
          <a:bodyPr lIns="0" tIns="0" rIns="0" bIns="0" anchor="ctr"/>
          <a:lstStyle/>
          <a:p>
            <a:pPr algn="ctr">
              <a:buNone/>
              <a:defRPr sz="900" b="1">
                <a:solidFill>
                  <a:srgbClr val="FFFFFF"/>
                </a:solidFill>
                <a:latin typeface="Aptos"/>
                <a:ea typeface="Aptos"/>
                <a:cs typeface="Aptos"/>
              </a:defRPr>
            </a:pPr>
            <a:r>
              <a:rPr sz="900" b="1">
                <a:solidFill>
                  <a:srgbClr val="FFFFFF"/>
                </a:solidFill>
                <a:latin typeface="Aptos"/>
                <a:ea typeface="Aptos"/>
                <a:cs typeface="Aptos"/>
              </a:rPr>
              <a:t>APPENDIX TAKEAWAY</a:t>
            </a:r>
          </a:p>
        </p:txBody>
      </p:sp>
      <p:sp>
        <p:nvSpPr>
          <p:cNvPr id="3" name="Rectangle 2">
            <a:extLst>
              <a:ext uri="{FF2B5EF4-FFF2-40B4-BE49-F238E27FC236}">
                <a16:creationId xmlns:a16="http://schemas.microsoft.com/office/drawing/2014/main" id="{F0F9FC07-4330-4143-B79D-8612B56C5543}"/>
              </a:ext>
            </a:extLst>
          </p:cNvPr>
          <p:cNvSpPr>
            <a:spLocks noGrp="1"/>
          </p:cNvSpPr>
          <p:nvPr/>
        </p:nvSpPr>
        <p:spPr>
          <a:xfrm>
            <a:off x="666750" y="781050"/>
            <a:ext cx="8191500" cy="838200"/>
          </a:xfrm>
          <a:prstGeom prst="rect">
            <a:avLst/>
          </a:prstGeom>
          <a:noFill/>
          <a:ln w="0">
            <a:noFill/>
          </a:ln>
        </p:spPr>
        <p:txBody>
          <a:bodyPr lIns="0" tIns="0" rIns="0" bIns="0" anchor="t"/>
          <a:lstStyle/>
          <a:p>
            <a:pPr algn="l">
              <a:buNone/>
              <a:defRPr sz="2550" b="0">
                <a:solidFill>
                  <a:srgbClr val="FFFFFF"/>
                </a:solidFill>
                <a:latin typeface="Georgia"/>
                <a:ea typeface="Georgia"/>
                <a:cs typeface="Georgia"/>
              </a:defRPr>
            </a:pPr>
            <a:r>
              <a:rPr sz="2550" b="0">
                <a:solidFill>
                  <a:srgbClr val="FFFFFF"/>
                </a:solidFill>
                <a:latin typeface="Georgia"/>
                <a:ea typeface="Georgia"/>
                <a:cs typeface="Georgia"/>
              </a:rPr>
              <a:t>You only need five ideas to explain the design.</a:t>
            </a:r>
          </a:p>
        </p:txBody>
      </p:sp>
      <p:sp>
        <p:nvSpPr>
          <p:cNvPr id="4" name="Rectangle 3">
            <a:extLst>
              <a:ext uri="{FF2B5EF4-FFF2-40B4-BE49-F238E27FC236}">
                <a16:creationId xmlns:a16="http://schemas.microsoft.com/office/drawing/2014/main" id="{7ECA9760-6385-4CDB-B187-EBB7C065B319}"/>
              </a:ext>
            </a:extLst>
          </p:cNvPr>
          <p:cNvSpPr>
            <a:spLocks noGrp="1"/>
          </p:cNvSpPr>
          <p:nvPr/>
        </p:nvSpPr>
        <p:spPr>
          <a:xfrm>
            <a:off x="685800" y="1676400"/>
            <a:ext cx="8763000" cy="400050"/>
          </a:xfrm>
          <a:prstGeom prst="rect">
            <a:avLst/>
          </a:prstGeom>
          <a:noFill/>
          <a:ln w="0">
            <a:noFill/>
          </a:ln>
        </p:spPr>
        <p:txBody>
          <a:bodyPr lIns="0" tIns="0" rIns="0" bIns="0" anchor="t"/>
          <a:lstStyle/>
          <a:p>
            <a:pPr algn="l">
              <a:buNone/>
              <a:defRPr sz="1200" b="0">
                <a:solidFill>
                  <a:srgbClr val="C6D2CB"/>
                </a:solidFill>
                <a:latin typeface="Aptos"/>
                <a:ea typeface="Aptos"/>
                <a:cs typeface="Aptos"/>
              </a:defRPr>
            </a:pPr>
            <a:r>
              <a:rPr sz="1200" b="0">
                <a:solidFill>
                  <a:srgbClr val="C6D2CB"/>
                </a:solidFill>
                <a:latin typeface="Aptos"/>
                <a:ea typeface="Aptos"/>
                <a:cs typeface="Aptos"/>
              </a:rPr>
              <a:t>FLARE runs the federation; Dagents governs how it becomes a controlled healthcare workflow.</a:t>
            </a:r>
          </a:p>
        </p:txBody>
      </p:sp>
      <p:sp>
        <p:nvSpPr>
          <p:cNvPr id="5" name="Rectangle 4">
            <a:extLst>
              <a:ext uri="{FF2B5EF4-FFF2-40B4-BE49-F238E27FC236}">
                <a16:creationId xmlns:a16="http://schemas.microsoft.com/office/drawing/2014/main" id="{3EB072AB-1C19-4895-B0A7-4060EE04F0E8}"/>
              </a:ext>
            </a:extLst>
          </p:cNvPr>
          <p:cNvSpPr>
            <a:spLocks noGrp="1"/>
          </p:cNvSpPr>
          <p:nvPr/>
        </p:nvSpPr>
        <p:spPr>
          <a:xfrm>
            <a:off x="1238250" y="2695575"/>
            <a:ext cx="114300" cy="114300"/>
          </a:xfrm>
          <a:prstGeom prst="rect">
            <a:avLst/>
          </a:prstGeom>
          <a:solidFill>
            <a:srgbClr val="2E6F4E"/>
          </a:solidFill>
          <a:ln w="9525">
            <a:solidFill>
              <a:srgbClr val="2E6F4E"/>
            </a:solidFill>
          </a:ln>
        </p:spPr>
        <p:txBody>
          <a:bodyPr/>
          <a:lstStyle/>
          <a:p>
            <a:endParaRPr/>
          </a:p>
        </p:txBody>
      </p:sp>
      <p:sp>
        <p:nvSpPr>
          <p:cNvPr id="6" name="Rectangle 5">
            <a:extLst>
              <a:ext uri="{FF2B5EF4-FFF2-40B4-BE49-F238E27FC236}">
                <a16:creationId xmlns:a16="http://schemas.microsoft.com/office/drawing/2014/main" id="{F50D9345-3D90-4ADB-8B0E-AC4618397D62}"/>
              </a:ext>
            </a:extLst>
          </p:cNvPr>
          <p:cNvSpPr>
            <a:spLocks noGrp="1"/>
          </p:cNvSpPr>
          <p:nvPr/>
        </p:nvSpPr>
        <p:spPr>
          <a:xfrm>
            <a:off x="1504950" y="26289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Raw data stays local, but model updates still need protection and review.</a:t>
            </a:r>
          </a:p>
        </p:txBody>
      </p:sp>
      <p:sp>
        <p:nvSpPr>
          <p:cNvPr id="7" name="Rectangle 6">
            <a:extLst>
              <a:ext uri="{FF2B5EF4-FFF2-40B4-BE49-F238E27FC236}">
                <a16:creationId xmlns:a16="http://schemas.microsoft.com/office/drawing/2014/main" id="{34E22953-DC38-4E78-9226-CFA14AEE5151}"/>
              </a:ext>
            </a:extLst>
          </p:cNvPr>
          <p:cNvSpPr>
            <a:spLocks noGrp="1"/>
          </p:cNvSpPr>
          <p:nvPr/>
        </p:nvSpPr>
        <p:spPr>
          <a:xfrm>
            <a:off x="1238250" y="3190875"/>
            <a:ext cx="114300" cy="114300"/>
          </a:xfrm>
          <a:prstGeom prst="rect">
            <a:avLst/>
          </a:prstGeom>
          <a:solidFill>
            <a:srgbClr val="2D5B7C"/>
          </a:solidFill>
          <a:ln w="9525">
            <a:solidFill>
              <a:srgbClr val="2D5B7C"/>
            </a:solidFill>
          </a:ln>
        </p:spPr>
        <p:txBody>
          <a:bodyPr/>
          <a:lstStyle/>
          <a:p>
            <a:endParaRPr/>
          </a:p>
        </p:txBody>
      </p:sp>
      <p:sp>
        <p:nvSpPr>
          <p:cNvPr id="8" name="Rectangle 7">
            <a:extLst>
              <a:ext uri="{FF2B5EF4-FFF2-40B4-BE49-F238E27FC236}">
                <a16:creationId xmlns:a16="http://schemas.microsoft.com/office/drawing/2014/main" id="{E201BC90-F2F2-4805-BA8E-271EFB531396}"/>
              </a:ext>
            </a:extLst>
          </p:cNvPr>
          <p:cNvSpPr>
            <a:spLocks noGrp="1"/>
          </p:cNvSpPr>
          <p:nvPr/>
        </p:nvSpPr>
        <p:spPr>
          <a:xfrm>
            <a:off x="1504950" y="31242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A controller assigns tasks; client executors or client code run them locally.</a:t>
            </a:r>
          </a:p>
        </p:txBody>
      </p:sp>
      <p:sp>
        <p:nvSpPr>
          <p:cNvPr id="9" name="Rectangle 8">
            <a:extLst>
              <a:ext uri="{FF2B5EF4-FFF2-40B4-BE49-F238E27FC236}">
                <a16:creationId xmlns:a16="http://schemas.microsoft.com/office/drawing/2014/main" id="{83C595F4-C3FC-4AC3-9C61-8E944966915E}"/>
              </a:ext>
            </a:extLst>
          </p:cNvPr>
          <p:cNvSpPr>
            <a:spLocks noGrp="1"/>
          </p:cNvSpPr>
          <p:nvPr/>
        </p:nvSpPr>
        <p:spPr>
          <a:xfrm>
            <a:off x="1238250" y="3686175"/>
            <a:ext cx="114300" cy="114300"/>
          </a:xfrm>
          <a:prstGeom prst="rect">
            <a:avLst/>
          </a:prstGeom>
          <a:solidFill>
            <a:srgbClr val="B4842B"/>
          </a:solidFill>
          <a:ln w="9525">
            <a:solidFill>
              <a:srgbClr val="B4842B"/>
            </a:solidFill>
          </a:ln>
        </p:spPr>
        <p:txBody>
          <a:bodyPr/>
          <a:lstStyle/>
          <a:p>
            <a:endParaRPr/>
          </a:p>
        </p:txBody>
      </p:sp>
      <p:sp>
        <p:nvSpPr>
          <p:cNvPr id="10" name="Rectangle 9">
            <a:extLst>
              <a:ext uri="{FF2B5EF4-FFF2-40B4-BE49-F238E27FC236}">
                <a16:creationId xmlns:a16="http://schemas.microsoft.com/office/drawing/2014/main" id="{DF788CBF-F21E-4EBF-9914-76AC84C9ADCD}"/>
              </a:ext>
            </a:extLst>
          </p:cNvPr>
          <p:cNvSpPr>
            <a:spLocks noGrp="1"/>
          </p:cNvSpPr>
          <p:nvPr/>
        </p:nvSpPr>
        <p:spPr>
          <a:xfrm>
            <a:off x="1504950" y="36195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Repeated rounds create candidate models—not automatic clinical releases.</a:t>
            </a:r>
          </a:p>
        </p:txBody>
      </p:sp>
      <p:sp>
        <p:nvSpPr>
          <p:cNvPr id="11" name="Rectangle 10">
            <a:extLst>
              <a:ext uri="{FF2B5EF4-FFF2-40B4-BE49-F238E27FC236}">
                <a16:creationId xmlns:a16="http://schemas.microsoft.com/office/drawing/2014/main" id="{191B8C96-263A-43AE-AA7B-D08F672A8504}"/>
              </a:ext>
            </a:extLst>
          </p:cNvPr>
          <p:cNvSpPr>
            <a:spLocks noGrp="1"/>
          </p:cNvSpPr>
          <p:nvPr/>
        </p:nvSpPr>
        <p:spPr>
          <a:xfrm>
            <a:off x="1238250" y="4181475"/>
            <a:ext cx="114300" cy="114300"/>
          </a:xfrm>
          <a:prstGeom prst="rect">
            <a:avLst/>
          </a:prstGeom>
          <a:solidFill>
            <a:srgbClr val="A34D3E"/>
          </a:solidFill>
          <a:ln w="9525">
            <a:solidFill>
              <a:srgbClr val="A34D3E"/>
            </a:solidFill>
          </a:ln>
        </p:spPr>
        <p:txBody>
          <a:bodyPr/>
          <a:lstStyle/>
          <a:p>
            <a:endParaRPr/>
          </a:p>
        </p:txBody>
      </p:sp>
      <p:sp>
        <p:nvSpPr>
          <p:cNvPr id="12" name="Rectangle 11">
            <a:extLst>
              <a:ext uri="{FF2B5EF4-FFF2-40B4-BE49-F238E27FC236}">
                <a16:creationId xmlns:a16="http://schemas.microsoft.com/office/drawing/2014/main" id="{229351B7-7389-422E-BC6A-7BB16FE694F4}"/>
              </a:ext>
            </a:extLst>
          </p:cNvPr>
          <p:cNvSpPr>
            <a:spLocks noGrp="1"/>
          </p:cNvSpPr>
          <p:nvPr/>
        </p:nvSpPr>
        <p:spPr>
          <a:xfrm>
            <a:off x="1504950" y="41148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Secure aggregation, differential privacy, mTLS, signatures, and authorization solve different risks.</a:t>
            </a:r>
          </a:p>
        </p:txBody>
      </p:sp>
      <p:sp>
        <p:nvSpPr>
          <p:cNvPr id="13" name="Rectangle 12">
            <a:extLst>
              <a:ext uri="{FF2B5EF4-FFF2-40B4-BE49-F238E27FC236}">
                <a16:creationId xmlns:a16="http://schemas.microsoft.com/office/drawing/2014/main" id="{B7051E74-2CCC-4F86-A1EB-E60028ACCA68}"/>
              </a:ext>
            </a:extLst>
          </p:cNvPr>
          <p:cNvSpPr>
            <a:spLocks noGrp="1"/>
          </p:cNvSpPr>
          <p:nvPr/>
        </p:nvSpPr>
        <p:spPr>
          <a:xfrm>
            <a:off x="1238250" y="4676775"/>
            <a:ext cx="114300" cy="114300"/>
          </a:xfrm>
          <a:prstGeom prst="rect">
            <a:avLst/>
          </a:prstGeom>
          <a:solidFill>
            <a:srgbClr val="65549A"/>
          </a:solidFill>
          <a:ln w="9525">
            <a:solidFill>
              <a:srgbClr val="65549A"/>
            </a:solidFill>
          </a:ln>
        </p:spPr>
        <p:txBody>
          <a:bodyPr/>
          <a:lstStyle/>
          <a:p>
            <a:endParaRPr/>
          </a:p>
        </p:txBody>
      </p:sp>
      <p:sp>
        <p:nvSpPr>
          <p:cNvPr id="14" name="Rectangle 13">
            <a:extLst>
              <a:ext uri="{FF2B5EF4-FFF2-40B4-BE49-F238E27FC236}">
                <a16:creationId xmlns:a16="http://schemas.microsoft.com/office/drawing/2014/main" id="{D8346266-EA9B-4C5E-A665-4242A6261EA6}"/>
              </a:ext>
            </a:extLst>
          </p:cNvPr>
          <p:cNvSpPr>
            <a:spLocks noGrp="1"/>
          </p:cNvSpPr>
          <p:nvPr/>
        </p:nvSpPr>
        <p:spPr>
          <a:xfrm>
            <a:off x="1504950" y="4610100"/>
            <a:ext cx="7924800" cy="457200"/>
          </a:xfrm>
          <a:prstGeom prst="rect">
            <a:avLst/>
          </a:prstGeom>
          <a:noFill/>
          <a:ln w="0">
            <a:noFill/>
          </a:ln>
        </p:spPr>
        <p:txBody>
          <a:bodyPr lIns="0" tIns="0" rIns="0" bIns="0" anchor="t"/>
          <a:lstStyle/>
          <a:p>
            <a:pPr algn="l">
              <a:buNone/>
              <a:defRPr sz="1500" b="0">
                <a:solidFill>
                  <a:srgbClr val="FFFFFF"/>
                </a:solidFill>
                <a:latin typeface="Aptos"/>
                <a:ea typeface="Aptos"/>
                <a:cs typeface="Aptos"/>
              </a:defRPr>
            </a:pPr>
            <a:r>
              <a:rPr sz="1500" b="0">
                <a:solidFill>
                  <a:srgbClr val="FFFFFF"/>
                </a:solidFill>
                <a:latin typeface="Aptos"/>
                <a:ea typeface="Aptos"/>
                <a:cs typeface="Aptos"/>
              </a:rPr>
              <a:t>Move from simulator to POC to production only when each stage supplies the required evidence.</a:t>
            </a:r>
          </a:p>
        </p:txBody>
      </p:sp>
      <p:sp>
        <p:nvSpPr>
          <p:cNvPr id="15" name="Rectangle 14">
            <a:extLst>
              <a:ext uri="{FF2B5EF4-FFF2-40B4-BE49-F238E27FC236}">
                <a16:creationId xmlns:a16="http://schemas.microsoft.com/office/drawing/2014/main" id="{6D813CCE-EE3F-4E16-87AA-303D37C09902}"/>
              </a:ext>
            </a:extLst>
          </p:cNvPr>
          <p:cNvSpPr>
            <a:spLocks noGrp="1"/>
          </p:cNvSpPr>
          <p:nvPr/>
        </p:nvSpPr>
        <p:spPr>
          <a:xfrm>
            <a:off x="666750" y="6457950"/>
            <a:ext cx="2476500" cy="171450"/>
          </a:xfrm>
          <a:prstGeom prst="rect">
            <a:avLst/>
          </a:prstGeom>
          <a:noFill/>
          <a:ln w="0">
            <a:noFill/>
          </a:ln>
        </p:spPr>
        <p:txBody>
          <a:bodyPr lIns="0" tIns="0" rIns="0" bIns="0" anchor="t"/>
          <a:lstStyle/>
          <a:p>
            <a:pPr algn="l">
              <a:buNone/>
              <a:defRPr sz="825" b="0">
                <a:solidFill>
                  <a:srgbClr val="94A39A"/>
                </a:solidFill>
                <a:latin typeface="Aptos"/>
                <a:ea typeface="Aptos"/>
                <a:cs typeface="Aptos"/>
              </a:defRPr>
            </a:pPr>
            <a:r>
              <a:rPr sz="825" b="0">
                <a:solidFill>
                  <a:srgbClr val="94A39A"/>
                </a:solidFill>
                <a:latin typeface="Aptos"/>
                <a:ea typeface="Aptos"/>
                <a:cs typeface="Aptos"/>
              </a:rPr>
              <a:t>Dagents Federated Healthcare / A11</a:t>
            </a:r>
          </a:p>
        </p:txBody>
      </p:sp>
    </p:spTree>
    <p:extLst>
      <p:ext uri="{BB962C8B-B14F-4D97-AF65-F5344CB8AC3E}">
        <p14:creationId xmlns:p14="http://schemas.microsoft.com/office/powerpoint/2010/main" val="2484234"/>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320040"/>
            <a:ext cx="2377440" cy="292608"/>
          </a:xfrm>
          <a:prstGeom prst="rect">
            <a:avLst/>
          </a:prstGeom>
          <a:noFill/>
        </p:spPr>
        <p:txBody>
          <a:bodyPr wrap="square">
            <a:noAutofit/>
          </a:bodyPr>
          <a:lstStyle/>
          <a:p>
            <a:r>
              <a:rPr sz="1300" b="1">
                <a:solidFill>
                  <a:srgbClr val="53635B"/>
                </a:solidFill>
                <a:latin typeface="Aptos"/>
              </a:rPr>
              <a:t>GRAILS</a:t>
            </a:r>
          </a:p>
        </p:txBody>
      </p:sp>
      <p:sp>
        <p:nvSpPr>
          <p:cNvPr id="3" name="TextBox 2"/>
          <p:cNvSpPr txBox="1"/>
          <p:nvPr/>
        </p:nvSpPr>
        <p:spPr>
          <a:xfrm>
            <a:off x="548640" y="658368"/>
            <a:ext cx="10424160" cy="594360"/>
          </a:xfrm>
          <a:prstGeom prst="rect">
            <a:avLst/>
          </a:prstGeom>
          <a:noFill/>
        </p:spPr>
        <p:txBody>
          <a:bodyPr wrap="square">
            <a:noAutofit/>
          </a:bodyPr>
          <a:lstStyle/>
          <a:p>
            <a:r>
              <a:rPr sz="2900" b="1">
                <a:solidFill>
                  <a:srgbClr val="15201B"/>
                </a:solidFill>
                <a:latin typeface="Aptos"/>
              </a:rPr>
              <a:t>A published way to decide who may see what.</a:t>
            </a:r>
          </a:p>
        </p:txBody>
      </p:sp>
      <p:sp>
        <p:nvSpPr>
          <p:cNvPr id="4" name="TextBox 3"/>
          <p:cNvSpPr txBox="1"/>
          <p:nvPr/>
        </p:nvSpPr>
        <p:spPr>
          <a:xfrm>
            <a:off x="566928" y="1225296"/>
            <a:ext cx="9784080" cy="521207"/>
          </a:xfrm>
          <a:prstGeom prst="rect">
            <a:avLst/>
          </a:prstGeom>
          <a:noFill/>
        </p:spPr>
        <p:txBody>
          <a:bodyPr wrap="square">
            <a:noAutofit/>
          </a:bodyPr>
          <a:lstStyle/>
          <a:p>
            <a:r>
              <a:rPr sz="1400" b="0">
                <a:solidFill>
                  <a:srgbClr val="53635B"/>
                </a:solidFill>
                <a:latin typeface="Aptos"/>
              </a:rPr>
              <a:t>GRAILS keeps the ethics rules out of the normal application code, so a policy change does not become a code change.</a:t>
            </a:r>
          </a:p>
        </p:txBody>
      </p:sp>
      <p:sp>
        <p:nvSpPr>
          <p:cNvPr id="5" name="Rounded Rectangle 4"/>
          <p:cNvSpPr/>
          <p:nvPr/>
        </p:nvSpPr>
        <p:spPr>
          <a:xfrm>
            <a:off x="777240" y="1737360"/>
            <a:ext cx="4892040" cy="1143000"/>
          </a:xfrm>
          <a:prstGeom prst="roundRect">
            <a:avLst/>
          </a:prstGeom>
          <a:solidFill>
            <a:srgbClr val="DCEBE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41832" y="1883664"/>
            <a:ext cx="4572000" cy="320040"/>
          </a:xfrm>
          <a:prstGeom prst="rect">
            <a:avLst/>
          </a:prstGeom>
          <a:noFill/>
        </p:spPr>
        <p:txBody>
          <a:bodyPr wrap="square">
            <a:noAutofit/>
          </a:bodyPr>
          <a:lstStyle/>
          <a:p>
            <a:r>
              <a:rPr sz="1500" b="1">
                <a:solidFill>
                  <a:srgbClr val="15201B"/>
                </a:solidFill>
                <a:latin typeface="Aptos"/>
              </a:rPr>
              <a:t>Two parts</a:t>
            </a:r>
          </a:p>
        </p:txBody>
      </p:sp>
      <p:sp>
        <p:nvSpPr>
          <p:cNvPr id="7" name="TextBox 6"/>
          <p:cNvSpPr txBox="1"/>
          <p:nvPr/>
        </p:nvSpPr>
        <p:spPr>
          <a:xfrm>
            <a:off x="941832" y="2267712"/>
            <a:ext cx="4572000" cy="484631"/>
          </a:xfrm>
          <a:prstGeom prst="rect">
            <a:avLst/>
          </a:prstGeom>
          <a:noFill/>
        </p:spPr>
        <p:txBody>
          <a:bodyPr wrap="square">
            <a:noAutofit/>
          </a:bodyPr>
          <a:lstStyle/>
          <a:p>
            <a:r>
              <a:rPr sz="1200" b="0">
                <a:solidFill>
                  <a:srgbClr val="53635B"/>
                </a:solidFill>
                <a:latin typeface="Aptos"/>
              </a:rPr>
              <a:t>The Rails work out what protection a request needs. The Guard applies it. Deciding and enforcing stay separate.</a:t>
            </a:r>
          </a:p>
        </p:txBody>
      </p:sp>
      <p:sp>
        <p:nvSpPr>
          <p:cNvPr id="8" name="Rounded Rectangle 7"/>
          <p:cNvSpPr/>
          <p:nvPr/>
        </p:nvSpPr>
        <p:spPr>
          <a:xfrm>
            <a:off x="6217920" y="1737360"/>
            <a:ext cx="4892040" cy="1143000"/>
          </a:xfrm>
          <a:prstGeom prst="roundRect">
            <a:avLst/>
          </a:prstGeom>
          <a:solidFill>
            <a:srgbClr val="DCE7F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82512" y="1883664"/>
            <a:ext cx="4572000" cy="320040"/>
          </a:xfrm>
          <a:prstGeom prst="rect">
            <a:avLst/>
          </a:prstGeom>
          <a:noFill/>
        </p:spPr>
        <p:txBody>
          <a:bodyPr wrap="square">
            <a:noAutofit/>
          </a:bodyPr>
          <a:lstStyle/>
          <a:p>
            <a:r>
              <a:rPr sz="1500" b="1">
                <a:solidFill>
                  <a:srgbClr val="15201B"/>
                </a:solidFill>
                <a:latin typeface="Aptos"/>
              </a:rPr>
              <a:t>Three questions</a:t>
            </a:r>
          </a:p>
        </p:txBody>
      </p:sp>
      <p:sp>
        <p:nvSpPr>
          <p:cNvPr id="10" name="TextBox 9"/>
          <p:cNvSpPr txBox="1"/>
          <p:nvPr/>
        </p:nvSpPr>
        <p:spPr>
          <a:xfrm>
            <a:off x="6382512" y="2267712"/>
            <a:ext cx="4572000" cy="484631"/>
          </a:xfrm>
          <a:prstGeom prst="rect">
            <a:avLst/>
          </a:prstGeom>
          <a:noFill/>
        </p:spPr>
        <p:txBody>
          <a:bodyPr wrap="square">
            <a:noAutofit/>
          </a:bodyPr>
          <a:lstStyle/>
          <a:p>
            <a:r>
              <a:rPr sz="1200" b="0">
                <a:solidFill>
                  <a:srgbClr val="53635B"/>
                </a:solidFill>
                <a:latin typeface="Aptos"/>
              </a:rPr>
              <a:t>How sensitive is the data? How far do we trust who is asking? How much are they asking for?</a:t>
            </a:r>
          </a:p>
        </p:txBody>
      </p:sp>
      <p:sp>
        <p:nvSpPr>
          <p:cNvPr id="11" name="Rounded Rectangle 10"/>
          <p:cNvSpPr/>
          <p:nvPr/>
        </p:nvSpPr>
        <p:spPr>
          <a:xfrm>
            <a:off x="777240" y="3383280"/>
            <a:ext cx="4892040" cy="1143000"/>
          </a:xfrm>
          <a:prstGeom prst="round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41832" y="3529584"/>
            <a:ext cx="4572000" cy="320040"/>
          </a:xfrm>
          <a:prstGeom prst="rect">
            <a:avLst/>
          </a:prstGeom>
          <a:noFill/>
        </p:spPr>
        <p:txBody>
          <a:bodyPr wrap="square">
            <a:noAutofit/>
          </a:bodyPr>
          <a:lstStyle/>
          <a:p>
            <a:r>
              <a:rPr sz="1500" b="1">
                <a:solidFill>
                  <a:srgbClr val="15201B"/>
                </a:solidFill>
                <a:latin typeface="Aptos"/>
              </a:rPr>
              <a:t>Added, not rebuilt</a:t>
            </a:r>
          </a:p>
        </p:txBody>
      </p:sp>
      <p:sp>
        <p:nvSpPr>
          <p:cNvPr id="13" name="TextBox 12"/>
          <p:cNvSpPr txBox="1"/>
          <p:nvPr/>
        </p:nvSpPr>
        <p:spPr>
          <a:xfrm>
            <a:off x="941832" y="3913632"/>
            <a:ext cx="4572000" cy="484631"/>
          </a:xfrm>
          <a:prstGeom prst="rect">
            <a:avLst/>
          </a:prstGeom>
          <a:noFill/>
        </p:spPr>
        <p:txBody>
          <a:bodyPr wrap="square">
            <a:noAutofit/>
          </a:bodyPr>
          <a:lstStyle/>
          <a:p>
            <a:r>
              <a:rPr sz="1200" b="0">
                <a:solidFill>
                  <a:srgbClr val="53635B"/>
                </a:solidFill>
                <a:latin typeface="Aptos"/>
              </a:rPr>
              <a:t>It plugs into software that already exists. The stroke pathway is not redesigned to add ethics to it.</a:t>
            </a:r>
          </a:p>
        </p:txBody>
      </p:sp>
      <p:sp>
        <p:nvSpPr>
          <p:cNvPr id="14" name="Rounded Rectangle 13"/>
          <p:cNvSpPr/>
          <p:nvPr/>
        </p:nvSpPr>
        <p:spPr>
          <a:xfrm>
            <a:off x="6217920" y="3383280"/>
            <a:ext cx="4892040" cy="1143000"/>
          </a:xfrm>
          <a:prstGeom prst="roundRect">
            <a:avLst/>
          </a:prstGeom>
          <a:solidFill>
            <a:srgbClr val="E9E1FA"/>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2512" y="3529584"/>
            <a:ext cx="4572000" cy="320040"/>
          </a:xfrm>
          <a:prstGeom prst="rect">
            <a:avLst/>
          </a:prstGeom>
          <a:noFill/>
        </p:spPr>
        <p:txBody>
          <a:bodyPr wrap="square">
            <a:noAutofit/>
          </a:bodyPr>
          <a:lstStyle/>
          <a:p>
            <a:r>
              <a:rPr sz="1500" b="1">
                <a:solidFill>
                  <a:srgbClr val="15201B"/>
                </a:solidFill>
                <a:latin typeface="Aptos"/>
              </a:rPr>
              <a:t>Wider than privacy</a:t>
            </a:r>
          </a:p>
        </p:txBody>
      </p:sp>
      <p:sp>
        <p:nvSpPr>
          <p:cNvPr id="16" name="TextBox 15"/>
          <p:cNvSpPr txBox="1"/>
          <p:nvPr/>
        </p:nvSpPr>
        <p:spPr>
          <a:xfrm>
            <a:off x="6382512" y="3913632"/>
            <a:ext cx="4572000" cy="484631"/>
          </a:xfrm>
          <a:prstGeom prst="rect">
            <a:avLst/>
          </a:prstGeom>
          <a:noFill/>
        </p:spPr>
        <p:txBody>
          <a:bodyPr wrap="square">
            <a:noAutofit/>
          </a:bodyPr>
          <a:lstStyle/>
          <a:p>
            <a:r>
              <a:rPr sz="1200" b="0">
                <a:solidFill>
                  <a:srgbClr val="53635B"/>
                </a:solidFill>
                <a:latin typeface="Aptos"/>
              </a:rPr>
              <a:t>Privacy is the paper's worked example. The same shape extends to fairness, transparency, and security.</a:t>
            </a:r>
          </a:p>
        </p:txBody>
      </p:sp>
      <p:sp>
        <p:nvSpPr>
          <p:cNvPr id="17" name="TextBox 16"/>
          <p:cNvSpPr txBox="1"/>
          <p:nvPr/>
        </p:nvSpPr>
        <p:spPr>
          <a:xfrm>
            <a:off x="914400" y="4983480"/>
            <a:ext cx="9875520" cy="457200"/>
          </a:xfrm>
          <a:prstGeom prst="rect">
            <a:avLst/>
          </a:prstGeom>
          <a:noFill/>
        </p:spPr>
        <p:txBody>
          <a:bodyPr wrap="square">
            <a:noAutofit/>
          </a:bodyPr>
          <a:lstStyle/>
          <a:p>
            <a:r>
              <a:rPr sz="1200" b="1">
                <a:solidFill>
                  <a:srgbClr val="15201B"/>
                </a:solidFill>
                <a:latin typeface="Aptos"/>
              </a:rPr>
              <a:t>Access rules based on job titles alone cannot express “this person, this field, this purpose, today”. GRAILS can.</a:t>
            </a:r>
          </a:p>
        </p:txBody>
      </p:sp>
      <p:sp>
        <p:nvSpPr>
          <p:cNvPr id="18" name="TextBox 17"/>
          <p:cNvSpPr txBox="1"/>
          <p:nvPr/>
        </p:nvSpPr>
        <p:spPr>
          <a:xfrm>
            <a:off x="566928" y="6355080"/>
            <a:ext cx="5669280" cy="274320"/>
          </a:xfrm>
          <a:prstGeom prst="rect">
            <a:avLst/>
          </a:prstGeom>
          <a:noFill/>
        </p:spPr>
        <p:txBody>
          <a:bodyPr wrap="square">
            <a:noAutofit/>
          </a:bodyPr>
          <a:lstStyle/>
          <a:p>
            <a:r>
              <a:rPr sz="800" b="0">
                <a:solidFill>
                  <a:srgbClr val="53635B"/>
                </a:solidFill>
                <a:latin typeface="Aptos"/>
              </a:rPr>
              <a:t>Kulkarni &amp; Ramanathan, AIES 2025, IIIT Bangalore / 21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320040"/>
            <a:ext cx="2377440" cy="292608"/>
          </a:xfrm>
          <a:prstGeom prst="rect">
            <a:avLst/>
          </a:prstGeom>
          <a:noFill/>
        </p:spPr>
        <p:txBody>
          <a:bodyPr wrap="square">
            <a:noAutofit/>
          </a:bodyPr>
          <a:lstStyle/>
          <a:p>
            <a:r>
              <a:rPr sz="1300" b="1">
                <a:solidFill>
                  <a:srgbClr val="53635B"/>
                </a:solidFill>
                <a:latin typeface="Aptos"/>
              </a:rPr>
              <a:t>GRAILS + STROKE</a:t>
            </a:r>
          </a:p>
        </p:txBody>
      </p:sp>
      <p:sp>
        <p:nvSpPr>
          <p:cNvPr id="3" name="TextBox 2"/>
          <p:cNvSpPr txBox="1"/>
          <p:nvPr/>
        </p:nvSpPr>
        <p:spPr>
          <a:xfrm>
            <a:off x="548640" y="658368"/>
            <a:ext cx="10424160" cy="594360"/>
          </a:xfrm>
          <a:prstGeom prst="rect">
            <a:avLst/>
          </a:prstGeom>
          <a:noFill/>
        </p:spPr>
        <p:txBody>
          <a:bodyPr wrap="square">
            <a:noAutofit/>
          </a:bodyPr>
          <a:lstStyle/>
          <a:p>
            <a:r>
              <a:rPr sz="2900" b="1">
                <a:solidFill>
                  <a:srgbClr val="15201B"/>
                </a:solidFill>
                <a:latin typeface="Aptos"/>
              </a:rPr>
              <a:t>The three dials, using stroke data.</a:t>
            </a:r>
          </a:p>
        </p:txBody>
      </p:sp>
      <p:sp>
        <p:nvSpPr>
          <p:cNvPr id="4" name="TextBox 3"/>
          <p:cNvSpPr txBox="1"/>
          <p:nvPr/>
        </p:nvSpPr>
        <p:spPr>
          <a:xfrm>
            <a:off x="566928" y="1225296"/>
            <a:ext cx="9784080" cy="521207"/>
          </a:xfrm>
          <a:prstGeom prst="rect">
            <a:avLst/>
          </a:prstGeom>
          <a:noFill/>
        </p:spPr>
        <p:txBody>
          <a:bodyPr wrap="square">
            <a:noAutofit/>
          </a:bodyPr>
          <a:lstStyle/>
          <a:p>
            <a:r>
              <a:rPr sz="1400" b="0">
                <a:solidFill>
                  <a:srgbClr val="53635B"/>
                </a:solidFill>
                <a:latin typeface="Aptos"/>
              </a:rPr>
              <a:t>The same request can get a different answer, depending on where the three dials sit.</a:t>
            </a:r>
          </a:p>
        </p:txBody>
      </p:sp>
      <p:sp>
        <p:nvSpPr>
          <p:cNvPr id="5" name="Rounded Rectangle 4"/>
          <p:cNvSpPr/>
          <p:nvPr/>
        </p:nvSpPr>
        <p:spPr>
          <a:xfrm>
            <a:off x="777240" y="1874519"/>
            <a:ext cx="3246120" cy="2651760"/>
          </a:xfrm>
          <a:prstGeom prst="roundRect">
            <a:avLst/>
          </a:prstGeom>
          <a:solidFill>
            <a:srgbClr val="DCEBE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41832" y="2020824"/>
            <a:ext cx="2926079" cy="320040"/>
          </a:xfrm>
          <a:prstGeom prst="rect">
            <a:avLst/>
          </a:prstGeom>
          <a:noFill/>
        </p:spPr>
        <p:txBody>
          <a:bodyPr wrap="square">
            <a:noAutofit/>
          </a:bodyPr>
          <a:lstStyle/>
          <a:p>
            <a:r>
              <a:rPr sz="1500" b="1">
                <a:solidFill>
                  <a:srgbClr val="15201B"/>
                </a:solidFill>
                <a:latin typeface="Aptos"/>
              </a:rPr>
              <a:t>HOW SENSITIVE</a:t>
            </a:r>
          </a:p>
        </p:txBody>
      </p:sp>
      <p:sp>
        <p:nvSpPr>
          <p:cNvPr id="7" name="TextBox 6"/>
          <p:cNvSpPr txBox="1"/>
          <p:nvPr/>
        </p:nvSpPr>
        <p:spPr>
          <a:xfrm>
            <a:off x="941832" y="2404872"/>
            <a:ext cx="2926079" cy="1993391"/>
          </a:xfrm>
          <a:prstGeom prst="rect">
            <a:avLst/>
          </a:prstGeom>
          <a:noFill/>
        </p:spPr>
        <p:txBody>
          <a:bodyPr wrap="square">
            <a:noAutofit/>
          </a:bodyPr>
          <a:lstStyle/>
          <a:p>
            <a:r>
              <a:rPr sz="1200" b="0">
                <a:solidFill>
                  <a:srgbClr val="53635B"/>
                </a:solidFill>
                <a:latin typeface="Aptos"/>
              </a:rPr>
              <a:t>A ward name is low. The time symptoms started is medium. The brain scan and the final diagnosis are high.</a:t>
            </a:r>
          </a:p>
        </p:txBody>
      </p:sp>
      <p:sp>
        <p:nvSpPr>
          <p:cNvPr id="8" name="TextBox 7"/>
          <p:cNvSpPr txBox="1"/>
          <p:nvPr/>
        </p:nvSpPr>
        <p:spPr>
          <a:xfrm>
            <a:off x="4069079" y="2944368"/>
            <a:ext cx="320040" cy="521207"/>
          </a:xfrm>
          <a:prstGeom prst="rect">
            <a:avLst/>
          </a:prstGeom>
          <a:noFill/>
        </p:spPr>
        <p:txBody>
          <a:bodyPr wrap="square">
            <a:noAutofit/>
          </a:bodyPr>
          <a:lstStyle/>
          <a:p>
            <a:r>
              <a:rPr sz="2800" b="1">
                <a:solidFill>
                  <a:srgbClr val="53635B"/>
                </a:solidFill>
                <a:latin typeface="Aptos"/>
              </a:rPr>
              <a:t>→</a:t>
            </a:r>
          </a:p>
        </p:txBody>
      </p:sp>
      <p:sp>
        <p:nvSpPr>
          <p:cNvPr id="9" name="Rounded Rectangle 8"/>
          <p:cNvSpPr/>
          <p:nvPr/>
        </p:nvSpPr>
        <p:spPr>
          <a:xfrm>
            <a:off x="4389120" y="1874519"/>
            <a:ext cx="3246120" cy="2651760"/>
          </a:xfrm>
          <a:prstGeom prst="roundRect">
            <a:avLst/>
          </a:prstGeom>
          <a:solidFill>
            <a:srgbClr val="DCE7F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53712" y="2020824"/>
            <a:ext cx="2926079" cy="320040"/>
          </a:xfrm>
          <a:prstGeom prst="rect">
            <a:avLst/>
          </a:prstGeom>
          <a:noFill/>
        </p:spPr>
        <p:txBody>
          <a:bodyPr wrap="square">
            <a:noAutofit/>
          </a:bodyPr>
          <a:lstStyle/>
          <a:p>
            <a:r>
              <a:rPr sz="1500" b="1">
                <a:solidFill>
                  <a:srgbClr val="15201B"/>
                </a:solidFill>
                <a:latin typeface="Aptos"/>
              </a:rPr>
              <a:t>HOW TRUSTED</a:t>
            </a:r>
          </a:p>
        </p:txBody>
      </p:sp>
      <p:sp>
        <p:nvSpPr>
          <p:cNvPr id="11" name="TextBox 10"/>
          <p:cNvSpPr txBox="1"/>
          <p:nvPr/>
        </p:nvSpPr>
        <p:spPr>
          <a:xfrm>
            <a:off x="4553712" y="2404872"/>
            <a:ext cx="2926079" cy="1993391"/>
          </a:xfrm>
          <a:prstGeom prst="rect">
            <a:avLst/>
          </a:prstGeom>
          <a:noFill/>
        </p:spPr>
        <p:txBody>
          <a:bodyPr wrap="square">
            <a:noAutofit/>
          </a:bodyPr>
          <a:lstStyle/>
          <a:p>
            <a:r>
              <a:rPr sz="1200" b="0">
                <a:solidFill>
                  <a:srgbClr val="53635B"/>
                </a:solidFill>
                <a:latin typeface="Aptos"/>
              </a:rPr>
              <a:t>A treating clinician on the stroke pathway, an internal audit reviewer, and an outside researcher are not the same requester.</a:t>
            </a:r>
          </a:p>
        </p:txBody>
      </p:sp>
      <p:sp>
        <p:nvSpPr>
          <p:cNvPr id="12" name="TextBox 11"/>
          <p:cNvSpPr txBox="1"/>
          <p:nvPr/>
        </p:nvSpPr>
        <p:spPr>
          <a:xfrm>
            <a:off x="7680960" y="2944368"/>
            <a:ext cx="320040" cy="521207"/>
          </a:xfrm>
          <a:prstGeom prst="rect">
            <a:avLst/>
          </a:prstGeom>
          <a:noFill/>
        </p:spPr>
        <p:txBody>
          <a:bodyPr wrap="square">
            <a:noAutofit/>
          </a:bodyPr>
          <a:lstStyle/>
          <a:p>
            <a:r>
              <a:rPr sz="2800" b="1">
                <a:solidFill>
                  <a:srgbClr val="53635B"/>
                </a:solidFill>
                <a:latin typeface="Aptos"/>
              </a:rPr>
              <a:t>→</a:t>
            </a:r>
          </a:p>
        </p:txBody>
      </p:sp>
      <p:sp>
        <p:nvSpPr>
          <p:cNvPr id="13" name="Rounded Rectangle 12"/>
          <p:cNvSpPr/>
          <p:nvPr/>
        </p:nvSpPr>
        <p:spPr>
          <a:xfrm>
            <a:off x="8001000" y="1874519"/>
            <a:ext cx="3246120" cy="2651760"/>
          </a:xfrm>
          <a:prstGeom prst="round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65592" y="2020824"/>
            <a:ext cx="2926079" cy="320040"/>
          </a:xfrm>
          <a:prstGeom prst="rect">
            <a:avLst/>
          </a:prstGeom>
          <a:noFill/>
        </p:spPr>
        <p:txBody>
          <a:bodyPr wrap="square">
            <a:noAutofit/>
          </a:bodyPr>
          <a:lstStyle/>
          <a:p>
            <a:r>
              <a:rPr sz="1500" b="1">
                <a:solidFill>
                  <a:srgbClr val="15201B"/>
                </a:solidFill>
                <a:latin typeface="Aptos"/>
              </a:rPr>
              <a:t>HOW MUCH</a:t>
            </a:r>
          </a:p>
        </p:txBody>
      </p:sp>
      <p:sp>
        <p:nvSpPr>
          <p:cNvPr id="15" name="TextBox 14"/>
          <p:cNvSpPr txBox="1"/>
          <p:nvPr/>
        </p:nvSpPr>
        <p:spPr>
          <a:xfrm>
            <a:off x="8165592" y="2404872"/>
            <a:ext cx="2926079" cy="1993391"/>
          </a:xfrm>
          <a:prstGeom prst="rect">
            <a:avLst/>
          </a:prstGeom>
          <a:noFill/>
        </p:spPr>
        <p:txBody>
          <a:bodyPr wrap="square">
            <a:noAutofit/>
          </a:bodyPr>
          <a:lstStyle/>
          <a:p>
            <a:r>
              <a:rPr sz="1200" b="0">
                <a:solidFill>
                  <a:srgbClr val="53635B"/>
                </a:solidFill>
                <a:latin typeface="Aptos"/>
              </a:rPr>
              <a:t>One value for one patient, one patient's whole record, one field across every stroke case, or the entire table.</a:t>
            </a:r>
          </a:p>
        </p:txBody>
      </p:sp>
      <p:sp>
        <p:nvSpPr>
          <p:cNvPr id="16" name="TextBox 15"/>
          <p:cNvSpPr txBox="1"/>
          <p:nvPr/>
        </p:nvSpPr>
        <p:spPr>
          <a:xfrm>
            <a:off x="914400" y="4892040"/>
            <a:ext cx="9875520" cy="457200"/>
          </a:xfrm>
          <a:prstGeom prst="rect">
            <a:avLst/>
          </a:prstGeom>
          <a:noFill/>
        </p:spPr>
        <p:txBody>
          <a:bodyPr wrap="square">
            <a:noAutofit/>
          </a:bodyPr>
          <a:lstStyle/>
          <a:p>
            <a:r>
              <a:rPr sz="1200" b="1">
                <a:solidFill>
                  <a:srgbClr val="15201B"/>
                </a:solidFill>
                <a:latin typeface="Aptos"/>
              </a:rPr>
              <a:t>High sensitivity, asked for by low trust, across a whole column is the case that must never quietly default to allow.</a:t>
            </a:r>
          </a:p>
        </p:txBody>
      </p:sp>
      <p:sp>
        <p:nvSpPr>
          <p:cNvPr id="17" name="TextBox 16"/>
          <p:cNvSpPr txBox="1"/>
          <p:nvPr/>
        </p:nvSpPr>
        <p:spPr>
          <a:xfrm>
            <a:off x="566928" y="6355080"/>
            <a:ext cx="5669280" cy="274320"/>
          </a:xfrm>
          <a:prstGeom prst="rect">
            <a:avLst/>
          </a:prstGeom>
          <a:noFill/>
        </p:spPr>
        <p:txBody>
          <a:bodyPr wrap="square">
            <a:noAutofit/>
          </a:bodyPr>
          <a:lstStyle/>
          <a:p>
            <a:r>
              <a:rPr sz="800" b="0">
                <a:solidFill>
                  <a:srgbClr val="53635B"/>
                </a:solidFill>
                <a:latin typeface="Aptos"/>
              </a:rPr>
              <a:t>Sensitivity, trust, and how much is asked for / 22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320040"/>
            <a:ext cx="2377440" cy="292608"/>
          </a:xfrm>
          <a:prstGeom prst="rect">
            <a:avLst/>
          </a:prstGeom>
          <a:noFill/>
        </p:spPr>
        <p:txBody>
          <a:bodyPr wrap="square">
            <a:noAutofit/>
          </a:bodyPr>
          <a:lstStyle/>
          <a:p>
            <a:r>
              <a:rPr sz="1300" b="1">
                <a:solidFill>
                  <a:srgbClr val="53635B"/>
                </a:solidFill>
                <a:latin typeface="Aptos"/>
              </a:rPr>
              <a:t>GRAILS + STROKE</a:t>
            </a:r>
          </a:p>
        </p:txBody>
      </p:sp>
      <p:sp>
        <p:nvSpPr>
          <p:cNvPr id="3" name="TextBox 2"/>
          <p:cNvSpPr txBox="1"/>
          <p:nvPr/>
        </p:nvSpPr>
        <p:spPr>
          <a:xfrm>
            <a:off x="548640" y="658368"/>
            <a:ext cx="10424160" cy="594360"/>
          </a:xfrm>
          <a:prstGeom prst="rect">
            <a:avLst/>
          </a:prstGeom>
          <a:noFill/>
        </p:spPr>
        <p:txBody>
          <a:bodyPr wrap="square">
            <a:noAutofit/>
          </a:bodyPr>
          <a:lstStyle/>
          <a:p>
            <a:r>
              <a:rPr sz="2900" b="1">
                <a:solidFill>
                  <a:srgbClr val="15201B"/>
                </a:solidFill>
                <a:latin typeface="Aptos"/>
              </a:rPr>
              <a:t>The same field, three different answers.</a:t>
            </a:r>
          </a:p>
        </p:txBody>
      </p:sp>
      <p:sp>
        <p:nvSpPr>
          <p:cNvPr id="4" name="TextBox 3"/>
          <p:cNvSpPr txBox="1"/>
          <p:nvPr/>
        </p:nvSpPr>
        <p:spPr>
          <a:xfrm>
            <a:off x="566928" y="1225296"/>
            <a:ext cx="9784080" cy="521207"/>
          </a:xfrm>
          <a:prstGeom prst="rect">
            <a:avLst/>
          </a:prstGeom>
          <a:noFill/>
        </p:spPr>
        <p:txBody>
          <a:bodyPr wrap="square">
            <a:noAutofit/>
          </a:bodyPr>
          <a:lstStyle/>
          <a:p>
            <a:r>
              <a:rPr sz="1400" b="0">
                <a:solidFill>
                  <a:srgbClr val="53635B"/>
                </a:solidFill>
                <a:latin typeface="Aptos"/>
              </a:rPr>
              <a:t>What a requester gets back depends on who they are, not only on what they asked for.</a:t>
            </a:r>
          </a:p>
        </p:txBody>
      </p:sp>
      <p:sp>
        <p:nvSpPr>
          <p:cNvPr id="5" name="Rectangle 4"/>
          <p:cNvSpPr/>
          <p:nvPr/>
        </p:nvSpPr>
        <p:spPr>
          <a:xfrm>
            <a:off x="548640" y="1664208"/>
            <a:ext cx="2834640" cy="676656"/>
          </a:xfrm>
          <a:prstGeom prst="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737360"/>
            <a:ext cx="2688336" cy="530352"/>
          </a:xfrm>
          <a:prstGeom prst="rect">
            <a:avLst/>
          </a:prstGeom>
          <a:noFill/>
        </p:spPr>
        <p:txBody>
          <a:bodyPr wrap="square" anchor="ctr">
            <a:noAutofit/>
          </a:bodyPr>
          <a:lstStyle/>
          <a:p>
            <a:r>
              <a:rPr sz="1100" b="1">
                <a:solidFill>
                  <a:srgbClr val="15201B"/>
                </a:solidFill>
                <a:latin typeface="Aptos"/>
              </a:rPr>
              <a:t>Stroke field</a:t>
            </a:r>
          </a:p>
        </p:txBody>
      </p:sp>
      <p:sp>
        <p:nvSpPr>
          <p:cNvPr id="7" name="Rectangle 6"/>
          <p:cNvSpPr/>
          <p:nvPr/>
        </p:nvSpPr>
        <p:spPr>
          <a:xfrm>
            <a:off x="3383280" y="1664208"/>
            <a:ext cx="2743200" cy="676656"/>
          </a:xfrm>
          <a:prstGeom prst="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56432" y="1737360"/>
            <a:ext cx="2596896" cy="530352"/>
          </a:xfrm>
          <a:prstGeom prst="rect">
            <a:avLst/>
          </a:prstGeom>
          <a:noFill/>
        </p:spPr>
        <p:txBody>
          <a:bodyPr wrap="square" anchor="ctr">
            <a:noAutofit/>
          </a:bodyPr>
          <a:lstStyle/>
          <a:p>
            <a:r>
              <a:rPr sz="1100" b="1">
                <a:solidFill>
                  <a:srgbClr val="15201B"/>
                </a:solidFill>
                <a:latin typeface="Aptos"/>
              </a:rPr>
              <a:t>Treating clinician</a:t>
            </a:r>
          </a:p>
        </p:txBody>
      </p:sp>
      <p:sp>
        <p:nvSpPr>
          <p:cNvPr id="9" name="Rectangle 8"/>
          <p:cNvSpPr/>
          <p:nvPr/>
        </p:nvSpPr>
        <p:spPr>
          <a:xfrm>
            <a:off x="6126480" y="1664208"/>
            <a:ext cx="2926080" cy="676656"/>
          </a:xfrm>
          <a:prstGeom prst="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99632" y="1737360"/>
            <a:ext cx="2779776" cy="530352"/>
          </a:xfrm>
          <a:prstGeom prst="rect">
            <a:avLst/>
          </a:prstGeom>
          <a:noFill/>
        </p:spPr>
        <p:txBody>
          <a:bodyPr wrap="square" anchor="ctr">
            <a:noAutofit/>
          </a:bodyPr>
          <a:lstStyle/>
          <a:p>
            <a:r>
              <a:rPr sz="1100" b="1">
                <a:solidFill>
                  <a:srgbClr val="15201B"/>
                </a:solidFill>
                <a:latin typeface="Aptos"/>
              </a:rPr>
              <a:t>Audit reviewer</a:t>
            </a:r>
          </a:p>
        </p:txBody>
      </p:sp>
      <p:sp>
        <p:nvSpPr>
          <p:cNvPr id="11" name="Rectangle 10"/>
          <p:cNvSpPr/>
          <p:nvPr/>
        </p:nvSpPr>
        <p:spPr>
          <a:xfrm>
            <a:off x="9052560" y="1664208"/>
            <a:ext cx="3017520" cy="676656"/>
          </a:xfrm>
          <a:prstGeom prst="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25712" y="1737360"/>
            <a:ext cx="2871215" cy="530352"/>
          </a:xfrm>
          <a:prstGeom prst="rect">
            <a:avLst/>
          </a:prstGeom>
          <a:noFill/>
        </p:spPr>
        <p:txBody>
          <a:bodyPr wrap="square" anchor="ctr">
            <a:noAutofit/>
          </a:bodyPr>
          <a:lstStyle/>
          <a:p>
            <a:r>
              <a:rPr sz="1100" b="1">
                <a:solidFill>
                  <a:srgbClr val="15201B"/>
                </a:solidFill>
                <a:latin typeface="Aptos"/>
              </a:rPr>
              <a:t>Outside researcher</a:t>
            </a:r>
          </a:p>
        </p:txBody>
      </p:sp>
      <p:sp>
        <p:nvSpPr>
          <p:cNvPr id="13" name="Rectangle 12"/>
          <p:cNvSpPr/>
          <p:nvPr/>
        </p:nvSpPr>
        <p:spPr>
          <a:xfrm>
            <a:off x="548640" y="2340864"/>
            <a:ext cx="283464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1792" y="2414016"/>
            <a:ext cx="2688336" cy="530352"/>
          </a:xfrm>
          <a:prstGeom prst="rect">
            <a:avLst/>
          </a:prstGeom>
          <a:noFill/>
        </p:spPr>
        <p:txBody>
          <a:bodyPr wrap="square" anchor="ctr">
            <a:noAutofit/>
          </a:bodyPr>
          <a:lstStyle/>
          <a:p>
            <a:r>
              <a:rPr sz="1000" b="0">
                <a:solidFill>
                  <a:srgbClr val="53635B"/>
                </a:solidFill>
                <a:latin typeface="Aptos"/>
              </a:rPr>
              <a:t>When symptoms started</a:t>
            </a:r>
          </a:p>
        </p:txBody>
      </p:sp>
      <p:sp>
        <p:nvSpPr>
          <p:cNvPr id="15" name="Rectangle 14"/>
          <p:cNvSpPr/>
          <p:nvPr/>
        </p:nvSpPr>
        <p:spPr>
          <a:xfrm>
            <a:off x="3383280" y="2340864"/>
            <a:ext cx="274320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456432" y="2414016"/>
            <a:ext cx="2596896" cy="530352"/>
          </a:xfrm>
          <a:prstGeom prst="rect">
            <a:avLst/>
          </a:prstGeom>
          <a:noFill/>
        </p:spPr>
        <p:txBody>
          <a:bodyPr wrap="square" anchor="ctr">
            <a:noAutofit/>
          </a:bodyPr>
          <a:lstStyle/>
          <a:p>
            <a:r>
              <a:rPr sz="1000" b="0">
                <a:solidFill>
                  <a:srgbClr val="53635B"/>
                </a:solidFill>
                <a:latin typeface="Aptos"/>
              </a:rPr>
              <a:t>Exact time</a:t>
            </a:r>
          </a:p>
        </p:txBody>
      </p:sp>
      <p:sp>
        <p:nvSpPr>
          <p:cNvPr id="17" name="Rectangle 16"/>
          <p:cNvSpPr/>
          <p:nvPr/>
        </p:nvSpPr>
        <p:spPr>
          <a:xfrm>
            <a:off x="6126480" y="2340864"/>
            <a:ext cx="292608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199632" y="2414016"/>
            <a:ext cx="2779776" cy="530352"/>
          </a:xfrm>
          <a:prstGeom prst="rect">
            <a:avLst/>
          </a:prstGeom>
          <a:noFill/>
        </p:spPr>
        <p:txBody>
          <a:bodyPr wrap="square" anchor="ctr">
            <a:noAutofit/>
          </a:bodyPr>
          <a:lstStyle/>
          <a:p>
            <a:r>
              <a:rPr sz="1000" b="0">
                <a:solidFill>
                  <a:srgbClr val="53635B"/>
                </a:solidFill>
                <a:latin typeface="Aptos"/>
              </a:rPr>
              <a:t>Rounded to the hour</a:t>
            </a:r>
          </a:p>
        </p:txBody>
      </p:sp>
      <p:sp>
        <p:nvSpPr>
          <p:cNvPr id="19" name="Rectangle 18"/>
          <p:cNvSpPr/>
          <p:nvPr/>
        </p:nvSpPr>
        <p:spPr>
          <a:xfrm>
            <a:off x="9052560" y="2340864"/>
            <a:ext cx="301752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25712" y="2414016"/>
            <a:ext cx="2871215" cy="530352"/>
          </a:xfrm>
          <a:prstGeom prst="rect">
            <a:avLst/>
          </a:prstGeom>
          <a:noFill/>
        </p:spPr>
        <p:txBody>
          <a:bodyPr wrap="square" anchor="ctr">
            <a:noAutofit/>
          </a:bodyPr>
          <a:lstStyle/>
          <a:p>
            <a:r>
              <a:rPr sz="1000" b="0">
                <a:solidFill>
                  <a:srgbClr val="53635B"/>
                </a:solidFill>
                <a:latin typeface="Aptos"/>
              </a:rPr>
              <a:t>Time band only</a:t>
            </a:r>
          </a:p>
        </p:txBody>
      </p:sp>
      <p:sp>
        <p:nvSpPr>
          <p:cNvPr id="21" name="Rectangle 20"/>
          <p:cNvSpPr/>
          <p:nvPr/>
        </p:nvSpPr>
        <p:spPr>
          <a:xfrm>
            <a:off x="548640" y="3017520"/>
            <a:ext cx="283464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1792" y="3090672"/>
            <a:ext cx="2688336" cy="530352"/>
          </a:xfrm>
          <a:prstGeom prst="rect">
            <a:avLst/>
          </a:prstGeom>
          <a:noFill/>
        </p:spPr>
        <p:txBody>
          <a:bodyPr wrap="square" anchor="ctr">
            <a:noAutofit/>
          </a:bodyPr>
          <a:lstStyle/>
          <a:p>
            <a:r>
              <a:rPr sz="1000" b="0">
                <a:solidFill>
                  <a:srgbClr val="53635B"/>
                </a:solidFill>
                <a:latin typeface="Aptos"/>
              </a:rPr>
              <a:t>Brain scan image</a:t>
            </a:r>
          </a:p>
        </p:txBody>
      </p:sp>
      <p:sp>
        <p:nvSpPr>
          <p:cNvPr id="23" name="Rectangle 22"/>
          <p:cNvSpPr/>
          <p:nvPr/>
        </p:nvSpPr>
        <p:spPr>
          <a:xfrm>
            <a:off x="3383280" y="3017520"/>
            <a:ext cx="274320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456432" y="3090672"/>
            <a:ext cx="2596896" cy="530352"/>
          </a:xfrm>
          <a:prstGeom prst="rect">
            <a:avLst/>
          </a:prstGeom>
          <a:noFill/>
        </p:spPr>
        <p:txBody>
          <a:bodyPr wrap="square" anchor="ctr">
            <a:noAutofit/>
          </a:bodyPr>
          <a:lstStyle/>
          <a:p>
            <a:r>
              <a:rPr sz="1000" b="0">
                <a:solidFill>
                  <a:srgbClr val="53635B"/>
                </a:solidFill>
                <a:latin typeface="Aptos"/>
              </a:rPr>
              <a:t>Full image</a:t>
            </a:r>
          </a:p>
        </p:txBody>
      </p:sp>
      <p:sp>
        <p:nvSpPr>
          <p:cNvPr id="25" name="Rectangle 24"/>
          <p:cNvSpPr/>
          <p:nvPr/>
        </p:nvSpPr>
        <p:spPr>
          <a:xfrm>
            <a:off x="6126480" y="3017520"/>
            <a:ext cx="292608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199632" y="3090672"/>
            <a:ext cx="2779776" cy="530352"/>
          </a:xfrm>
          <a:prstGeom prst="rect">
            <a:avLst/>
          </a:prstGeom>
          <a:noFill/>
        </p:spPr>
        <p:txBody>
          <a:bodyPr wrap="square" anchor="ctr">
            <a:noAutofit/>
          </a:bodyPr>
          <a:lstStyle/>
          <a:p>
            <a:r>
              <a:rPr sz="1000" b="0">
                <a:solidFill>
                  <a:srgbClr val="53635B"/>
                </a:solidFill>
                <a:latin typeface="Aptos"/>
              </a:rPr>
              <a:t>Report text, not the image</a:t>
            </a:r>
          </a:p>
        </p:txBody>
      </p:sp>
      <p:sp>
        <p:nvSpPr>
          <p:cNvPr id="27" name="Rectangle 26"/>
          <p:cNvSpPr/>
          <p:nvPr/>
        </p:nvSpPr>
        <p:spPr>
          <a:xfrm>
            <a:off x="9052560" y="3017520"/>
            <a:ext cx="301752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25712" y="3090672"/>
            <a:ext cx="2871215" cy="530352"/>
          </a:xfrm>
          <a:prstGeom prst="rect">
            <a:avLst/>
          </a:prstGeom>
          <a:noFill/>
        </p:spPr>
        <p:txBody>
          <a:bodyPr wrap="square" anchor="ctr">
            <a:noAutofit/>
          </a:bodyPr>
          <a:lstStyle/>
          <a:p>
            <a:r>
              <a:rPr sz="1000" b="0">
                <a:solidFill>
                  <a:srgbClr val="53635B"/>
                </a:solidFill>
                <a:latin typeface="Aptos"/>
              </a:rPr>
              <a:t>Not released</a:t>
            </a:r>
          </a:p>
        </p:txBody>
      </p:sp>
      <p:sp>
        <p:nvSpPr>
          <p:cNvPr id="29" name="Rectangle 28"/>
          <p:cNvSpPr/>
          <p:nvPr/>
        </p:nvSpPr>
        <p:spPr>
          <a:xfrm>
            <a:off x="548640" y="3694176"/>
            <a:ext cx="283464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1792" y="3767328"/>
            <a:ext cx="2688336" cy="530352"/>
          </a:xfrm>
          <a:prstGeom prst="rect">
            <a:avLst/>
          </a:prstGeom>
          <a:noFill/>
        </p:spPr>
        <p:txBody>
          <a:bodyPr wrap="square" anchor="ctr">
            <a:noAutofit/>
          </a:bodyPr>
          <a:lstStyle/>
          <a:p>
            <a:r>
              <a:rPr sz="1000" b="0">
                <a:solidFill>
                  <a:srgbClr val="53635B"/>
                </a:solidFill>
                <a:latin typeface="Aptos"/>
              </a:rPr>
              <a:t>Stroke severity score</a:t>
            </a:r>
          </a:p>
        </p:txBody>
      </p:sp>
      <p:sp>
        <p:nvSpPr>
          <p:cNvPr id="31" name="Rectangle 30"/>
          <p:cNvSpPr/>
          <p:nvPr/>
        </p:nvSpPr>
        <p:spPr>
          <a:xfrm>
            <a:off x="3383280" y="3694176"/>
            <a:ext cx="274320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56432" y="3767328"/>
            <a:ext cx="2596896" cy="530352"/>
          </a:xfrm>
          <a:prstGeom prst="rect">
            <a:avLst/>
          </a:prstGeom>
          <a:noFill/>
        </p:spPr>
        <p:txBody>
          <a:bodyPr wrap="square" anchor="ctr">
            <a:noAutofit/>
          </a:bodyPr>
          <a:lstStyle/>
          <a:p>
            <a:r>
              <a:rPr sz="1000" b="0">
                <a:solidFill>
                  <a:srgbClr val="53635B"/>
                </a:solidFill>
                <a:latin typeface="Aptos"/>
              </a:rPr>
              <a:t>Exact score</a:t>
            </a:r>
          </a:p>
        </p:txBody>
      </p:sp>
      <p:sp>
        <p:nvSpPr>
          <p:cNvPr id="33" name="Rectangle 32"/>
          <p:cNvSpPr/>
          <p:nvPr/>
        </p:nvSpPr>
        <p:spPr>
          <a:xfrm>
            <a:off x="6126480" y="3694176"/>
            <a:ext cx="292608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199632" y="3767328"/>
            <a:ext cx="2779776" cy="530352"/>
          </a:xfrm>
          <a:prstGeom prst="rect">
            <a:avLst/>
          </a:prstGeom>
          <a:noFill/>
        </p:spPr>
        <p:txBody>
          <a:bodyPr wrap="square" anchor="ctr">
            <a:noAutofit/>
          </a:bodyPr>
          <a:lstStyle/>
          <a:p>
            <a:r>
              <a:rPr sz="1000" b="0">
                <a:solidFill>
                  <a:srgbClr val="53635B"/>
                </a:solidFill>
                <a:latin typeface="Aptos"/>
              </a:rPr>
              <a:t>Grouped into bands</a:t>
            </a:r>
          </a:p>
        </p:txBody>
      </p:sp>
      <p:sp>
        <p:nvSpPr>
          <p:cNvPr id="35" name="Rectangle 34"/>
          <p:cNvSpPr/>
          <p:nvPr/>
        </p:nvSpPr>
        <p:spPr>
          <a:xfrm>
            <a:off x="9052560" y="3694176"/>
            <a:ext cx="301752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25712" y="3767328"/>
            <a:ext cx="2871215" cy="530352"/>
          </a:xfrm>
          <a:prstGeom prst="rect">
            <a:avLst/>
          </a:prstGeom>
          <a:noFill/>
        </p:spPr>
        <p:txBody>
          <a:bodyPr wrap="square" anchor="ctr">
            <a:noAutofit/>
          </a:bodyPr>
          <a:lstStyle/>
          <a:p>
            <a:r>
              <a:rPr sz="1000" b="0">
                <a:solidFill>
                  <a:srgbClr val="53635B"/>
                </a:solidFill>
                <a:latin typeface="Aptos"/>
              </a:rPr>
              <a:t>Bands, small groups hidden</a:t>
            </a:r>
          </a:p>
        </p:txBody>
      </p:sp>
      <p:sp>
        <p:nvSpPr>
          <p:cNvPr id="37" name="Rectangle 36"/>
          <p:cNvSpPr/>
          <p:nvPr/>
        </p:nvSpPr>
        <p:spPr>
          <a:xfrm>
            <a:off x="548640" y="4370832"/>
            <a:ext cx="283464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21792" y="4443984"/>
            <a:ext cx="2688336" cy="530352"/>
          </a:xfrm>
          <a:prstGeom prst="rect">
            <a:avLst/>
          </a:prstGeom>
          <a:noFill/>
        </p:spPr>
        <p:txBody>
          <a:bodyPr wrap="square" anchor="ctr">
            <a:noAutofit/>
          </a:bodyPr>
          <a:lstStyle/>
          <a:p>
            <a:r>
              <a:rPr sz="1000" b="0">
                <a:solidFill>
                  <a:srgbClr val="53635B"/>
                </a:solidFill>
                <a:latin typeface="Aptos"/>
              </a:rPr>
              <a:t>Final diagnosis</a:t>
            </a:r>
          </a:p>
        </p:txBody>
      </p:sp>
      <p:sp>
        <p:nvSpPr>
          <p:cNvPr id="39" name="Rectangle 38"/>
          <p:cNvSpPr/>
          <p:nvPr/>
        </p:nvSpPr>
        <p:spPr>
          <a:xfrm>
            <a:off x="3383280" y="4370832"/>
            <a:ext cx="274320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3456432" y="4443984"/>
            <a:ext cx="2596896" cy="530352"/>
          </a:xfrm>
          <a:prstGeom prst="rect">
            <a:avLst/>
          </a:prstGeom>
          <a:noFill/>
        </p:spPr>
        <p:txBody>
          <a:bodyPr wrap="square" anchor="ctr">
            <a:noAutofit/>
          </a:bodyPr>
          <a:lstStyle/>
          <a:p>
            <a:r>
              <a:rPr sz="1000" b="0">
                <a:solidFill>
                  <a:srgbClr val="53635B"/>
                </a:solidFill>
                <a:latin typeface="Aptos"/>
              </a:rPr>
              <a:t>Full detail</a:t>
            </a:r>
          </a:p>
        </p:txBody>
      </p:sp>
      <p:sp>
        <p:nvSpPr>
          <p:cNvPr id="41" name="Rectangle 40"/>
          <p:cNvSpPr/>
          <p:nvPr/>
        </p:nvSpPr>
        <p:spPr>
          <a:xfrm>
            <a:off x="6126480" y="4370832"/>
            <a:ext cx="292608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199632" y="4443984"/>
            <a:ext cx="2779776" cy="530352"/>
          </a:xfrm>
          <a:prstGeom prst="rect">
            <a:avLst/>
          </a:prstGeom>
          <a:noFill/>
        </p:spPr>
        <p:txBody>
          <a:bodyPr wrap="square" anchor="ctr">
            <a:noAutofit/>
          </a:bodyPr>
          <a:lstStyle/>
          <a:p>
            <a:r>
              <a:rPr sz="1000" b="0">
                <a:solidFill>
                  <a:srgbClr val="53635B"/>
                </a:solidFill>
                <a:latin typeface="Aptos"/>
              </a:rPr>
              <a:t>Grouped category</a:t>
            </a:r>
          </a:p>
        </p:txBody>
      </p:sp>
      <p:sp>
        <p:nvSpPr>
          <p:cNvPr id="43" name="Rectangle 42"/>
          <p:cNvSpPr/>
          <p:nvPr/>
        </p:nvSpPr>
        <p:spPr>
          <a:xfrm>
            <a:off x="9052560" y="4370832"/>
            <a:ext cx="3017520" cy="676656"/>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125712" y="4443984"/>
            <a:ext cx="2871215" cy="530352"/>
          </a:xfrm>
          <a:prstGeom prst="rect">
            <a:avLst/>
          </a:prstGeom>
          <a:noFill/>
        </p:spPr>
        <p:txBody>
          <a:bodyPr wrap="square" anchor="ctr">
            <a:noAutofit/>
          </a:bodyPr>
          <a:lstStyle/>
          <a:p>
            <a:r>
              <a:rPr sz="1000" b="0">
                <a:solidFill>
                  <a:srgbClr val="53635B"/>
                </a:solidFill>
                <a:latin typeface="Aptos"/>
              </a:rPr>
              <a:t>Counts only, minimum group size</a:t>
            </a:r>
          </a:p>
        </p:txBody>
      </p:sp>
      <p:sp>
        <p:nvSpPr>
          <p:cNvPr id="45" name="TextBox 44"/>
          <p:cNvSpPr txBox="1"/>
          <p:nvPr/>
        </p:nvSpPr>
        <p:spPr>
          <a:xfrm>
            <a:off x="914400" y="5138928"/>
            <a:ext cx="9875520" cy="457200"/>
          </a:xfrm>
          <a:prstGeom prst="rect">
            <a:avLst/>
          </a:prstGeom>
          <a:noFill/>
        </p:spPr>
        <p:txBody>
          <a:bodyPr wrap="square">
            <a:noAutofit/>
          </a:bodyPr>
          <a:lstStyle/>
          <a:p>
            <a:r>
              <a:rPr sz="1200" b="1">
                <a:solidFill>
                  <a:srgbClr val="15201B"/>
                </a:solidFill>
                <a:latin typeface="Aptos"/>
              </a:rPr>
              <a:t>None of this is an if-statement inside the application. The row is looked up from the three dials.</a:t>
            </a:r>
          </a:p>
        </p:txBody>
      </p:sp>
      <p:sp>
        <p:nvSpPr>
          <p:cNvPr id="46" name="TextBox 45"/>
          <p:cNvSpPr txBox="1"/>
          <p:nvPr/>
        </p:nvSpPr>
        <p:spPr>
          <a:xfrm>
            <a:off x="566928" y="6355080"/>
            <a:ext cx="5669280" cy="274320"/>
          </a:xfrm>
          <a:prstGeom prst="rect">
            <a:avLst/>
          </a:prstGeom>
          <a:noFill/>
        </p:spPr>
        <p:txBody>
          <a:bodyPr wrap="square">
            <a:noAutofit/>
          </a:bodyPr>
          <a:lstStyle/>
          <a:p>
            <a:r>
              <a:rPr sz="800" b="0">
                <a:solidFill>
                  <a:srgbClr val="53635B"/>
                </a:solidFill>
                <a:latin typeface="Aptos"/>
              </a:rPr>
              <a:t>Stroke fields under the three dials / 23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320040"/>
            <a:ext cx="2377440" cy="292608"/>
          </a:xfrm>
          <a:prstGeom prst="rect">
            <a:avLst/>
          </a:prstGeom>
          <a:noFill/>
        </p:spPr>
        <p:txBody>
          <a:bodyPr wrap="square">
            <a:noAutofit/>
          </a:bodyPr>
          <a:lstStyle/>
          <a:p>
            <a:r>
              <a:rPr sz="1300" b="1">
                <a:solidFill>
                  <a:srgbClr val="53635B"/>
                </a:solidFill>
                <a:latin typeface="Aptos"/>
              </a:rPr>
              <a:t>GRAILS + DAGENTS</a:t>
            </a:r>
          </a:p>
        </p:txBody>
      </p:sp>
      <p:sp>
        <p:nvSpPr>
          <p:cNvPr id="3" name="TextBox 2"/>
          <p:cNvSpPr txBox="1"/>
          <p:nvPr/>
        </p:nvSpPr>
        <p:spPr>
          <a:xfrm>
            <a:off x="548640" y="658368"/>
            <a:ext cx="10424160" cy="594360"/>
          </a:xfrm>
          <a:prstGeom prst="rect">
            <a:avLst/>
          </a:prstGeom>
          <a:noFill/>
        </p:spPr>
        <p:txBody>
          <a:bodyPr wrap="square">
            <a:noAutofit/>
          </a:bodyPr>
          <a:lstStyle/>
          <a:p>
            <a:r>
              <a:rPr sz="2900" b="1">
                <a:solidFill>
                  <a:srgbClr val="15201B"/>
                </a:solidFill>
                <a:latin typeface="Aptos"/>
              </a:rPr>
              <a:t>GRAILS splits the same way Dagents already splits.</a:t>
            </a:r>
          </a:p>
        </p:txBody>
      </p:sp>
      <p:sp>
        <p:nvSpPr>
          <p:cNvPr id="4" name="TextBox 3"/>
          <p:cNvSpPr txBox="1"/>
          <p:nvPr/>
        </p:nvSpPr>
        <p:spPr>
          <a:xfrm>
            <a:off x="566928" y="1225296"/>
            <a:ext cx="9784080" cy="521207"/>
          </a:xfrm>
          <a:prstGeom prst="rect">
            <a:avLst/>
          </a:prstGeom>
          <a:noFill/>
        </p:spPr>
        <p:txBody>
          <a:bodyPr wrap="square">
            <a:noAutofit/>
          </a:bodyPr>
          <a:lstStyle/>
          <a:p>
            <a:r>
              <a:rPr sz="1400" b="0">
                <a:solidFill>
                  <a:srgbClr val="53635B"/>
                </a:solidFill>
                <a:latin typeface="Aptos"/>
              </a:rPr>
              <a:t>The Rails are planning. The Guard is runtime. That line is the one Dagents is built on.</a:t>
            </a:r>
          </a:p>
        </p:txBody>
      </p:sp>
      <p:sp>
        <p:nvSpPr>
          <p:cNvPr id="5" name="Rounded Rectangle 4"/>
          <p:cNvSpPr/>
          <p:nvPr/>
        </p:nvSpPr>
        <p:spPr>
          <a:xfrm>
            <a:off x="777240" y="1691640"/>
            <a:ext cx="4892040" cy="1463040"/>
          </a:xfrm>
          <a:prstGeom prst="roundRect">
            <a:avLst/>
          </a:prstGeom>
          <a:solidFill>
            <a:srgbClr val="E9E1FA"/>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41832" y="1837944"/>
            <a:ext cx="4572000" cy="320040"/>
          </a:xfrm>
          <a:prstGeom prst="rect">
            <a:avLst/>
          </a:prstGeom>
          <a:noFill/>
        </p:spPr>
        <p:txBody>
          <a:bodyPr wrap="square">
            <a:noAutofit/>
          </a:bodyPr>
          <a:lstStyle/>
          <a:p>
            <a:r>
              <a:rPr sz="1500" b="1">
                <a:solidFill>
                  <a:srgbClr val="15201B"/>
                </a:solidFill>
                <a:latin typeface="Aptos"/>
              </a:rPr>
              <a:t>Rails = planning</a:t>
            </a:r>
          </a:p>
        </p:txBody>
      </p:sp>
      <p:sp>
        <p:nvSpPr>
          <p:cNvPr id="7" name="TextBox 6"/>
          <p:cNvSpPr txBox="1"/>
          <p:nvPr/>
        </p:nvSpPr>
        <p:spPr>
          <a:xfrm>
            <a:off x="941832" y="2221992"/>
            <a:ext cx="4572000" cy="804672"/>
          </a:xfrm>
          <a:prstGeom prst="rect">
            <a:avLst/>
          </a:prstGeom>
          <a:noFill/>
        </p:spPr>
        <p:txBody>
          <a:bodyPr wrap="square">
            <a:noAutofit/>
          </a:bodyPr>
          <a:lstStyle/>
          <a:p>
            <a:r>
              <a:rPr sz="1200" b="0">
                <a:solidFill>
                  <a:srgbClr val="53635B"/>
                </a:solidFill>
                <a:latin typeface="Aptos"/>
              </a:rPr>
              <a:t>Work out the protection plan. Pure, typed, repeatable, and no input or output. This belongs in the OCaml layer, beside the dataset and model planners.</a:t>
            </a:r>
          </a:p>
        </p:txBody>
      </p:sp>
      <p:sp>
        <p:nvSpPr>
          <p:cNvPr id="8" name="Rounded Rectangle 7"/>
          <p:cNvSpPr/>
          <p:nvPr/>
        </p:nvSpPr>
        <p:spPr>
          <a:xfrm>
            <a:off x="6217920" y="1691640"/>
            <a:ext cx="4892040" cy="1463040"/>
          </a:xfrm>
          <a:prstGeom prst="roundRect">
            <a:avLst/>
          </a:prstGeom>
          <a:solidFill>
            <a:srgbClr val="DCE7F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82512" y="1837944"/>
            <a:ext cx="4572000" cy="320040"/>
          </a:xfrm>
          <a:prstGeom prst="rect">
            <a:avLst/>
          </a:prstGeom>
          <a:noFill/>
        </p:spPr>
        <p:txBody>
          <a:bodyPr wrap="square">
            <a:noAutofit/>
          </a:bodyPr>
          <a:lstStyle/>
          <a:p>
            <a:r>
              <a:rPr sz="1500" b="1">
                <a:solidFill>
                  <a:srgbClr val="15201B"/>
                </a:solidFill>
                <a:latin typeface="Aptos"/>
              </a:rPr>
              <a:t>Guard = runtime</a:t>
            </a:r>
          </a:p>
        </p:txBody>
      </p:sp>
      <p:sp>
        <p:nvSpPr>
          <p:cNvPr id="10" name="TextBox 9"/>
          <p:cNvSpPr txBox="1"/>
          <p:nvPr/>
        </p:nvSpPr>
        <p:spPr>
          <a:xfrm>
            <a:off x="6382512" y="2221992"/>
            <a:ext cx="4572000" cy="804672"/>
          </a:xfrm>
          <a:prstGeom prst="rect">
            <a:avLst/>
          </a:prstGeom>
          <a:noFill/>
        </p:spPr>
        <p:txBody>
          <a:bodyPr wrap="square">
            <a:noAutofit/>
          </a:bodyPr>
          <a:lstStyle/>
          <a:p>
            <a:r>
              <a:rPr sz="1200" b="0">
                <a:solidFill>
                  <a:srgbClr val="53635B"/>
                </a:solidFill>
                <a:latin typeface="Aptos"/>
              </a:rPr>
              <a:t>Apply the plan to real data and record what was decided. This belongs in the LMA and GMA, where the side effects already are.</a:t>
            </a:r>
          </a:p>
        </p:txBody>
      </p:sp>
      <p:sp>
        <p:nvSpPr>
          <p:cNvPr id="11" name="Rectangle 10"/>
          <p:cNvSpPr/>
          <p:nvPr/>
        </p:nvSpPr>
        <p:spPr>
          <a:xfrm>
            <a:off x="548640" y="3310128"/>
            <a:ext cx="2560320" cy="658368"/>
          </a:xfrm>
          <a:prstGeom prst="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1792" y="3383280"/>
            <a:ext cx="2414015" cy="512063"/>
          </a:xfrm>
          <a:prstGeom prst="rect">
            <a:avLst/>
          </a:prstGeom>
          <a:noFill/>
        </p:spPr>
        <p:txBody>
          <a:bodyPr wrap="square" anchor="ctr">
            <a:noAutofit/>
          </a:bodyPr>
          <a:lstStyle/>
          <a:p>
            <a:r>
              <a:rPr sz="1100" b="1">
                <a:solidFill>
                  <a:srgbClr val="15201B"/>
                </a:solidFill>
                <a:latin typeface="Aptos"/>
              </a:rPr>
              <a:t>GRAILS part</a:t>
            </a:r>
          </a:p>
        </p:txBody>
      </p:sp>
      <p:sp>
        <p:nvSpPr>
          <p:cNvPr id="13" name="Rectangle 12"/>
          <p:cNvSpPr/>
          <p:nvPr/>
        </p:nvSpPr>
        <p:spPr>
          <a:xfrm>
            <a:off x="3108960" y="3310128"/>
            <a:ext cx="3108960" cy="658368"/>
          </a:xfrm>
          <a:prstGeom prst="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182112" y="3383280"/>
            <a:ext cx="2962656" cy="512063"/>
          </a:xfrm>
          <a:prstGeom prst="rect">
            <a:avLst/>
          </a:prstGeom>
          <a:noFill/>
        </p:spPr>
        <p:txBody>
          <a:bodyPr wrap="square" anchor="ctr">
            <a:noAutofit/>
          </a:bodyPr>
          <a:lstStyle/>
          <a:p>
            <a:r>
              <a:rPr sz="1100" b="1">
                <a:solidFill>
                  <a:srgbClr val="15201B"/>
                </a:solidFill>
                <a:latin typeface="Aptos"/>
              </a:rPr>
              <a:t>Where it goes in Dagents</a:t>
            </a:r>
          </a:p>
        </p:txBody>
      </p:sp>
      <p:sp>
        <p:nvSpPr>
          <p:cNvPr id="15" name="Rectangle 14"/>
          <p:cNvSpPr/>
          <p:nvPr/>
        </p:nvSpPr>
        <p:spPr>
          <a:xfrm>
            <a:off x="6217920" y="3310128"/>
            <a:ext cx="5303520" cy="658368"/>
          </a:xfrm>
          <a:prstGeom prst="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291072" y="3383280"/>
            <a:ext cx="5157216" cy="512063"/>
          </a:xfrm>
          <a:prstGeom prst="rect">
            <a:avLst/>
          </a:prstGeom>
          <a:noFill/>
        </p:spPr>
        <p:txBody>
          <a:bodyPr wrap="square" anchor="ctr">
            <a:noAutofit/>
          </a:bodyPr>
          <a:lstStyle/>
          <a:p>
            <a:r>
              <a:rPr sz="1100" b="1">
                <a:solidFill>
                  <a:srgbClr val="15201B"/>
                </a:solidFill>
                <a:latin typeface="Aptos"/>
              </a:rPr>
              <a:t>Why there</a:t>
            </a:r>
          </a:p>
        </p:txBody>
      </p:sp>
      <p:sp>
        <p:nvSpPr>
          <p:cNvPr id="17" name="Rectangle 16"/>
          <p:cNvSpPr/>
          <p:nvPr/>
        </p:nvSpPr>
        <p:spPr>
          <a:xfrm>
            <a:off x="548640" y="3968496"/>
            <a:ext cx="2560320" cy="658368"/>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792" y="4041648"/>
            <a:ext cx="2414015" cy="512063"/>
          </a:xfrm>
          <a:prstGeom prst="rect">
            <a:avLst/>
          </a:prstGeom>
          <a:noFill/>
        </p:spPr>
        <p:txBody>
          <a:bodyPr wrap="square" anchor="ctr">
            <a:noAutofit/>
          </a:bodyPr>
          <a:lstStyle/>
          <a:p>
            <a:r>
              <a:rPr sz="1000" b="0">
                <a:solidFill>
                  <a:srgbClr val="53635B"/>
                </a:solidFill>
                <a:latin typeface="Aptos"/>
              </a:rPr>
              <a:t>Restriction Planner</a:t>
            </a:r>
          </a:p>
        </p:txBody>
      </p:sp>
      <p:sp>
        <p:nvSpPr>
          <p:cNvPr id="19" name="Rectangle 18"/>
          <p:cNvSpPr/>
          <p:nvPr/>
        </p:nvSpPr>
        <p:spPr>
          <a:xfrm>
            <a:off x="3108960" y="3968496"/>
            <a:ext cx="3108960" cy="658368"/>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182112" y="4041648"/>
            <a:ext cx="2962656" cy="512063"/>
          </a:xfrm>
          <a:prstGeom prst="rect">
            <a:avLst/>
          </a:prstGeom>
          <a:noFill/>
        </p:spPr>
        <p:txBody>
          <a:bodyPr wrap="square" anchor="ctr">
            <a:noAutofit/>
          </a:bodyPr>
          <a:lstStyle/>
          <a:p>
            <a:r>
              <a:rPr sz="1000" b="0">
                <a:solidFill>
                  <a:srgbClr val="53635B"/>
                </a:solidFill>
                <a:latin typeface="Aptos"/>
              </a:rPr>
              <a:t>OCaml planner module</a:t>
            </a:r>
          </a:p>
        </p:txBody>
      </p:sp>
      <p:sp>
        <p:nvSpPr>
          <p:cNvPr id="21" name="Rectangle 20"/>
          <p:cNvSpPr/>
          <p:nvPr/>
        </p:nvSpPr>
        <p:spPr>
          <a:xfrm>
            <a:off x="6217920" y="3968496"/>
            <a:ext cx="5303520" cy="658368"/>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91072" y="4041648"/>
            <a:ext cx="5157216" cy="512063"/>
          </a:xfrm>
          <a:prstGeom prst="rect">
            <a:avLst/>
          </a:prstGeom>
          <a:noFill/>
        </p:spPr>
        <p:txBody>
          <a:bodyPr wrap="square" anchor="ctr">
            <a:noAutofit/>
          </a:bodyPr>
          <a:lstStyle/>
          <a:p>
            <a:r>
              <a:rPr sz="1000" b="0">
                <a:solidFill>
                  <a:srgbClr val="53635B"/>
                </a:solidFill>
                <a:latin typeface="Aptos"/>
              </a:rPr>
              <a:t>The paper compares it to a database query planner. Dagents already has that layer.</a:t>
            </a:r>
          </a:p>
        </p:txBody>
      </p:sp>
      <p:sp>
        <p:nvSpPr>
          <p:cNvPr id="23" name="Rectangle 22"/>
          <p:cNvSpPr/>
          <p:nvPr/>
        </p:nvSpPr>
        <p:spPr>
          <a:xfrm>
            <a:off x="548640" y="4626864"/>
            <a:ext cx="2560320" cy="658368"/>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21792" y="4700016"/>
            <a:ext cx="2414015" cy="512063"/>
          </a:xfrm>
          <a:prstGeom prst="rect">
            <a:avLst/>
          </a:prstGeom>
          <a:noFill/>
        </p:spPr>
        <p:txBody>
          <a:bodyPr wrap="square" anchor="ctr">
            <a:noAutofit/>
          </a:bodyPr>
          <a:lstStyle/>
          <a:p>
            <a:r>
              <a:rPr sz="1000" b="0">
                <a:solidFill>
                  <a:srgbClr val="53635B"/>
                </a:solidFill>
                <a:latin typeface="Aptos"/>
              </a:rPr>
              <a:t>Ethical Guard</a:t>
            </a:r>
          </a:p>
        </p:txBody>
      </p:sp>
      <p:sp>
        <p:nvSpPr>
          <p:cNvPr id="25" name="Rectangle 24"/>
          <p:cNvSpPr/>
          <p:nvPr/>
        </p:nvSpPr>
        <p:spPr>
          <a:xfrm>
            <a:off x="3108960" y="4626864"/>
            <a:ext cx="3108960" cy="658368"/>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182112" y="4700016"/>
            <a:ext cx="2962656" cy="512063"/>
          </a:xfrm>
          <a:prstGeom prst="rect">
            <a:avLst/>
          </a:prstGeom>
          <a:noFill/>
        </p:spPr>
        <p:txBody>
          <a:bodyPr wrap="square" anchor="ctr">
            <a:noAutofit/>
          </a:bodyPr>
          <a:lstStyle/>
          <a:p>
            <a:r>
              <a:rPr sz="1000" b="0">
                <a:solidFill>
                  <a:srgbClr val="53635B"/>
                </a:solidFill>
                <a:latin typeface="Aptos"/>
              </a:rPr>
              <a:t>LMA and GMA request path</a:t>
            </a:r>
          </a:p>
        </p:txBody>
      </p:sp>
      <p:sp>
        <p:nvSpPr>
          <p:cNvPr id="27" name="Rectangle 26"/>
          <p:cNvSpPr/>
          <p:nvPr/>
        </p:nvSpPr>
        <p:spPr>
          <a:xfrm>
            <a:off x="6217920" y="4626864"/>
            <a:ext cx="5303520" cy="658368"/>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91072" y="4700016"/>
            <a:ext cx="5157216" cy="512063"/>
          </a:xfrm>
          <a:prstGeom prst="rect">
            <a:avLst/>
          </a:prstGeom>
          <a:noFill/>
        </p:spPr>
        <p:txBody>
          <a:bodyPr wrap="square" anchor="ctr">
            <a:noAutofit/>
          </a:bodyPr>
          <a:lstStyle/>
          <a:p>
            <a:r>
              <a:rPr sz="1000" b="0">
                <a:solidFill>
                  <a:srgbClr val="53635B"/>
                </a:solidFill>
                <a:latin typeface="Aptos"/>
              </a:rPr>
              <a:t>Enforcement needs real data, a real requester, and an audit log.</a:t>
            </a:r>
          </a:p>
        </p:txBody>
      </p:sp>
      <p:sp>
        <p:nvSpPr>
          <p:cNvPr id="29" name="Rectangle 28"/>
          <p:cNvSpPr/>
          <p:nvPr/>
        </p:nvSpPr>
        <p:spPr>
          <a:xfrm>
            <a:off x="548640" y="5285232"/>
            <a:ext cx="2560320" cy="658368"/>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1792" y="5358384"/>
            <a:ext cx="2414015" cy="512063"/>
          </a:xfrm>
          <a:prstGeom prst="rect">
            <a:avLst/>
          </a:prstGeom>
          <a:noFill/>
        </p:spPr>
        <p:txBody>
          <a:bodyPr wrap="square" anchor="ctr">
            <a:noAutofit/>
          </a:bodyPr>
          <a:lstStyle/>
          <a:p>
            <a:r>
              <a:rPr sz="1000" b="0">
                <a:solidFill>
                  <a:srgbClr val="53635B"/>
                </a:solidFill>
                <a:latin typeface="Aptos"/>
              </a:rPr>
              <a:t>Rules and regulations</a:t>
            </a:r>
          </a:p>
        </p:txBody>
      </p:sp>
      <p:sp>
        <p:nvSpPr>
          <p:cNvPr id="31" name="Rectangle 30"/>
          <p:cNvSpPr/>
          <p:nvPr/>
        </p:nvSpPr>
        <p:spPr>
          <a:xfrm>
            <a:off x="3108960" y="5285232"/>
            <a:ext cx="3108960" cy="658368"/>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182112" y="5358384"/>
            <a:ext cx="2962656" cy="512063"/>
          </a:xfrm>
          <a:prstGeom prst="rect">
            <a:avLst/>
          </a:prstGeom>
          <a:noFill/>
        </p:spPr>
        <p:txBody>
          <a:bodyPr wrap="square" anchor="ctr">
            <a:noAutofit/>
          </a:bodyPr>
          <a:lstStyle/>
          <a:p>
            <a:r>
              <a:rPr sz="1000" b="0">
                <a:solidFill>
                  <a:srgbClr val="53635B"/>
                </a:solidFill>
                <a:latin typeface="Aptos"/>
              </a:rPr>
              <a:t>Configuration, not code</a:t>
            </a:r>
          </a:p>
        </p:txBody>
      </p:sp>
      <p:sp>
        <p:nvSpPr>
          <p:cNvPr id="33" name="Rectangle 32"/>
          <p:cNvSpPr/>
          <p:nvPr/>
        </p:nvSpPr>
        <p:spPr>
          <a:xfrm>
            <a:off x="6217920" y="5285232"/>
            <a:ext cx="5303520" cy="658368"/>
          </a:xfrm>
          <a:prstGeom prst="rect">
            <a:avLst/>
          </a:prstGeom>
          <a:solidFill>
            <a:srgbClr val="FFFFFF"/>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291072" y="5358384"/>
            <a:ext cx="5157216" cy="512063"/>
          </a:xfrm>
          <a:prstGeom prst="rect">
            <a:avLst/>
          </a:prstGeom>
          <a:noFill/>
        </p:spPr>
        <p:txBody>
          <a:bodyPr wrap="square" anchor="ctr">
            <a:noAutofit/>
          </a:bodyPr>
          <a:lstStyle/>
          <a:p>
            <a:r>
              <a:rPr sz="1000" b="0">
                <a:solidFill>
                  <a:srgbClr val="53635B"/>
                </a:solidFill>
                <a:latin typeface="Aptos"/>
              </a:rPr>
              <a:t>Hospital policy changes far more often than the framework does.</a:t>
            </a:r>
          </a:p>
        </p:txBody>
      </p:sp>
      <p:sp>
        <p:nvSpPr>
          <p:cNvPr id="35" name="TextBox 34"/>
          <p:cNvSpPr txBox="1"/>
          <p:nvPr/>
        </p:nvSpPr>
        <p:spPr>
          <a:xfrm>
            <a:off x="566928" y="6355080"/>
            <a:ext cx="5669280" cy="274320"/>
          </a:xfrm>
          <a:prstGeom prst="rect">
            <a:avLst/>
          </a:prstGeom>
          <a:noFill/>
        </p:spPr>
        <p:txBody>
          <a:bodyPr wrap="square">
            <a:noAutofit/>
          </a:bodyPr>
          <a:lstStyle/>
          <a:p>
            <a:r>
              <a:rPr sz="800" b="0">
                <a:solidFill>
                  <a:srgbClr val="53635B"/>
                </a:solidFill>
                <a:latin typeface="Aptos"/>
              </a:rPr>
              <a:t>Plan first, then enforce / 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320040"/>
            <a:ext cx="2377440" cy="292608"/>
          </a:xfrm>
          <a:prstGeom prst="rect">
            <a:avLst/>
          </a:prstGeom>
          <a:noFill/>
        </p:spPr>
        <p:txBody>
          <a:bodyPr wrap="square">
            <a:noAutofit/>
          </a:bodyPr>
          <a:lstStyle/>
          <a:p>
            <a:r>
              <a:rPr sz="1300" b="1">
                <a:solidFill>
                  <a:srgbClr val="53635B"/>
                </a:solidFill>
                <a:latin typeface="Aptos"/>
              </a:rPr>
              <a:t>GRAILS + STROKE</a:t>
            </a:r>
          </a:p>
        </p:txBody>
      </p:sp>
      <p:sp>
        <p:nvSpPr>
          <p:cNvPr id="3" name="TextBox 2"/>
          <p:cNvSpPr txBox="1"/>
          <p:nvPr/>
        </p:nvSpPr>
        <p:spPr>
          <a:xfrm>
            <a:off x="548640" y="658368"/>
            <a:ext cx="10424160" cy="594360"/>
          </a:xfrm>
          <a:prstGeom prst="rect">
            <a:avLst/>
          </a:prstGeom>
          <a:noFill/>
        </p:spPr>
        <p:txBody>
          <a:bodyPr wrap="square">
            <a:noAutofit/>
          </a:bodyPr>
          <a:lstStyle/>
          <a:p>
            <a:r>
              <a:rPr sz="2900" b="1">
                <a:solidFill>
                  <a:srgbClr val="15201B"/>
                </a:solidFill>
                <a:latin typeface="Aptos"/>
              </a:rPr>
              <a:t>The guard stands at the four gates you already have.</a:t>
            </a:r>
          </a:p>
        </p:txBody>
      </p:sp>
      <p:sp>
        <p:nvSpPr>
          <p:cNvPr id="4" name="TextBox 3"/>
          <p:cNvSpPr txBox="1"/>
          <p:nvPr/>
        </p:nvSpPr>
        <p:spPr>
          <a:xfrm>
            <a:off x="566928" y="1225296"/>
            <a:ext cx="9784080" cy="521207"/>
          </a:xfrm>
          <a:prstGeom prst="rect">
            <a:avLst/>
          </a:prstGeom>
          <a:noFill/>
        </p:spPr>
        <p:txBody>
          <a:bodyPr wrap="square">
            <a:noAutofit/>
          </a:bodyPr>
          <a:lstStyle/>
          <a:p>
            <a:r>
              <a:rPr sz="1400" b="0">
                <a:solidFill>
                  <a:srgbClr val="53635B"/>
                </a:solidFill>
                <a:latin typeface="Aptos"/>
              </a:rPr>
              <a:t>GRAILS does not add a fifth gate. It makes the existing ones concrete and reviewable.</a:t>
            </a:r>
          </a:p>
        </p:txBody>
      </p:sp>
      <p:sp>
        <p:nvSpPr>
          <p:cNvPr id="5" name="Rounded Rectangle 4"/>
          <p:cNvSpPr/>
          <p:nvPr/>
        </p:nvSpPr>
        <p:spPr>
          <a:xfrm>
            <a:off x="685800" y="1874519"/>
            <a:ext cx="2423160" cy="2560320"/>
          </a:xfrm>
          <a:prstGeom prst="roundRect">
            <a:avLst/>
          </a:prstGeom>
          <a:solidFill>
            <a:srgbClr val="DCEBE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50392" y="2020824"/>
            <a:ext cx="2103120" cy="320040"/>
          </a:xfrm>
          <a:prstGeom prst="rect">
            <a:avLst/>
          </a:prstGeom>
          <a:noFill/>
        </p:spPr>
        <p:txBody>
          <a:bodyPr wrap="square">
            <a:noAutofit/>
          </a:bodyPr>
          <a:lstStyle/>
          <a:p>
            <a:r>
              <a:rPr sz="1500" b="1">
                <a:solidFill>
                  <a:srgbClr val="15201B"/>
                </a:solidFill>
                <a:latin typeface="Aptos"/>
              </a:rPr>
              <a:t>1. SCOPE + SITE</a:t>
            </a:r>
          </a:p>
        </p:txBody>
      </p:sp>
      <p:sp>
        <p:nvSpPr>
          <p:cNvPr id="7" name="TextBox 6"/>
          <p:cNvSpPr txBox="1"/>
          <p:nvPr/>
        </p:nvSpPr>
        <p:spPr>
          <a:xfrm>
            <a:off x="850392" y="2404872"/>
            <a:ext cx="2103120" cy="1901951"/>
          </a:xfrm>
          <a:prstGeom prst="rect">
            <a:avLst/>
          </a:prstGeom>
          <a:noFill/>
        </p:spPr>
        <p:txBody>
          <a:bodyPr wrap="square">
            <a:noAutofit/>
          </a:bodyPr>
          <a:lstStyle/>
          <a:p>
            <a:r>
              <a:rPr sz="1200" b="0">
                <a:solidFill>
                  <a:srgbClr val="53635B"/>
                </a:solidFill>
                <a:latin typeface="Aptos"/>
              </a:rPr>
              <a:t>The trust score decides whether this hospital, this study, and this requester may run at all.</a:t>
            </a:r>
          </a:p>
        </p:txBody>
      </p:sp>
      <p:sp>
        <p:nvSpPr>
          <p:cNvPr id="8" name="TextBox 7"/>
          <p:cNvSpPr txBox="1"/>
          <p:nvPr/>
        </p:nvSpPr>
        <p:spPr>
          <a:xfrm>
            <a:off x="3154679" y="2898648"/>
            <a:ext cx="320040" cy="521207"/>
          </a:xfrm>
          <a:prstGeom prst="rect">
            <a:avLst/>
          </a:prstGeom>
          <a:noFill/>
        </p:spPr>
        <p:txBody>
          <a:bodyPr wrap="square">
            <a:noAutofit/>
          </a:bodyPr>
          <a:lstStyle/>
          <a:p>
            <a:r>
              <a:rPr sz="2800" b="1">
                <a:solidFill>
                  <a:srgbClr val="53635B"/>
                </a:solidFill>
                <a:latin typeface="Aptos"/>
              </a:rPr>
              <a:t>→</a:t>
            </a:r>
          </a:p>
        </p:txBody>
      </p:sp>
      <p:sp>
        <p:nvSpPr>
          <p:cNvPr id="9" name="Rounded Rectangle 8"/>
          <p:cNvSpPr/>
          <p:nvPr/>
        </p:nvSpPr>
        <p:spPr>
          <a:xfrm>
            <a:off x="3474720" y="1874519"/>
            <a:ext cx="2423160" cy="2560320"/>
          </a:xfrm>
          <a:prstGeom prst="roundRect">
            <a:avLst/>
          </a:prstGeom>
          <a:solidFill>
            <a:srgbClr val="DCE7F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39312" y="2020824"/>
            <a:ext cx="2103120" cy="320040"/>
          </a:xfrm>
          <a:prstGeom prst="rect">
            <a:avLst/>
          </a:prstGeom>
          <a:noFill/>
        </p:spPr>
        <p:txBody>
          <a:bodyPr wrap="square">
            <a:noAutofit/>
          </a:bodyPr>
          <a:lstStyle/>
          <a:p>
            <a:r>
              <a:rPr sz="1500" b="1">
                <a:solidFill>
                  <a:srgbClr val="15201B"/>
                </a:solidFill>
                <a:latin typeface="Aptos"/>
              </a:rPr>
              <a:t>2. CODE + DATA</a:t>
            </a:r>
          </a:p>
        </p:txBody>
      </p:sp>
      <p:sp>
        <p:nvSpPr>
          <p:cNvPr id="11" name="TextBox 10"/>
          <p:cNvSpPr txBox="1"/>
          <p:nvPr/>
        </p:nvSpPr>
        <p:spPr>
          <a:xfrm>
            <a:off x="3639312" y="2404872"/>
            <a:ext cx="2103120" cy="1901951"/>
          </a:xfrm>
          <a:prstGeom prst="rect">
            <a:avLst/>
          </a:prstGeom>
          <a:noFill/>
        </p:spPr>
        <p:txBody>
          <a:bodyPr wrap="square">
            <a:noAutofit/>
          </a:bodyPr>
          <a:lstStyle/>
          <a:p>
            <a:r>
              <a:rPr sz="1200" b="0">
                <a:solidFill>
                  <a:srgbClr val="53635B"/>
                </a:solidFill>
                <a:latin typeface="Aptos"/>
              </a:rPr>
              <a:t>Only fields on the stroke feature contract can be read. Anything else is refused before a scan is ever opened.</a:t>
            </a:r>
          </a:p>
        </p:txBody>
      </p:sp>
      <p:sp>
        <p:nvSpPr>
          <p:cNvPr id="12" name="TextBox 11"/>
          <p:cNvSpPr txBox="1"/>
          <p:nvPr/>
        </p:nvSpPr>
        <p:spPr>
          <a:xfrm>
            <a:off x="5943599" y="2898648"/>
            <a:ext cx="320040" cy="521207"/>
          </a:xfrm>
          <a:prstGeom prst="rect">
            <a:avLst/>
          </a:prstGeom>
          <a:noFill/>
        </p:spPr>
        <p:txBody>
          <a:bodyPr wrap="square">
            <a:noAutofit/>
          </a:bodyPr>
          <a:lstStyle/>
          <a:p>
            <a:r>
              <a:rPr sz="2800" b="1">
                <a:solidFill>
                  <a:srgbClr val="53635B"/>
                </a:solidFill>
                <a:latin typeface="Aptos"/>
              </a:rPr>
              <a:t>→</a:t>
            </a:r>
          </a:p>
        </p:txBody>
      </p:sp>
      <p:sp>
        <p:nvSpPr>
          <p:cNvPr id="13" name="Rounded Rectangle 12"/>
          <p:cNvSpPr/>
          <p:nvPr/>
        </p:nvSpPr>
        <p:spPr>
          <a:xfrm>
            <a:off x="6263640" y="1874519"/>
            <a:ext cx="2423160" cy="2560320"/>
          </a:xfrm>
          <a:prstGeom prst="round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2020824"/>
            <a:ext cx="2103120" cy="320040"/>
          </a:xfrm>
          <a:prstGeom prst="rect">
            <a:avLst/>
          </a:prstGeom>
          <a:noFill/>
        </p:spPr>
        <p:txBody>
          <a:bodyPr wrap="square">
            <a:noAutofit/>
          </a:bodyPr>
          <a:lstStyle/>
          <a:p>
            <a:r>
              <a:rPr sz="1500" b="1">
                <a:solidFill>
                  <a:srgbClr val="15201B"/>
                </a:solidFill>
                <a:latin typeface="Aptos"/>
              </a:rPr>
              <a:t>3. PRIVACY</a:t>
            </a:r>
          </a:p>
        </p:txBody>
      </p:sp>
      <p:sp>
        <p:nvSpPr>
          <p:cNvPr id="15" name="TextBox 14"/>
          <p:cNvSpPr txBox="1"/>
          <p:nvPr/>
        </p:nvSpPr>
        <p:spPr>
          <a:xfrm>
            <a:off x="6428231" y="2404872"/>
            <a:ext cx="2103120" cy="1901951"/>
          </a:xfrm>
          <a:prstGeom prst="rect">
            <a:avLst/>
          </a:prstGeom>
          <a:noFill/>
        </p:spPr>
        <p:txBody>
          <a:bodyPr wrap="square">
            <a:noAutofit/>
          </a:bodyPr>
          <a:lstStyle/>
          <a:p>
            <a:r>
              <a:rPr sz="1200" b="0">
                <a:solidFill>
                  <a:srgbClr val="53635B"/>
                </a:solidFill>
                <a:latin typeface="Aptos"/>
              </a:rPr>
              <a:t>The restriction plan sets the limit on the update and the counts before they leave the hospital network.</a:t>
            </a:r>
          </a:p>
        </p:txBody>
      </p:sp>
      <p:sp>
        <p:nvSpPr>
          <p:cNvPr id="16" name="TextBox 15"/>
          <p:cNvSpPr txBox="1"/>
          <p:nvPr/>
        </p:nvSpPr>
        <p:spPr>
          <a:xfrm>
            <a:off x="8732520" y="2898648"/>
            <a:ext cx="320040" cy="521207"/>
          </a:xfrm>
          <a:prstGeom prst="rect">
            <a:avLst/>
          </a:prstGeom>
          <a:noFill/>
        </p:spPr>
        <p:txBody>
          <a:bodyPr wrap="square">
            <a:noAutofit/>
          </a:bodyPr>
          <a:lstStyle/>
          <a:p>
            <a:r>
              <a:rPr sz="2800" b="1">
                <a:solidFill>
                  <a:srgbClr val="53635B"/>
                </a:solidFill>
                <a:latin typeface="Aptos"/>
              </a:rPr>
              <a:t>→</a:t>
            </a:r>
          </a:p>
        </p:txBody>
      </p:sp>
      <p:sp>
        <p:nvSpPr>
          <p:cNvPr id="17" name="Rounded Rectangle 16"/>
          <p:cNvSpPr/>
          <p:nvPr/>
        </p:nvSpPr>
        <p:spPr>
          <a:xfrm>
            <a:off x="9052559" y="1874519"/>
            <a:ext cx="2423160" cy="2560320"/>
          </a:xfrm>
          <a:prstGeom prst="roundRect">
            <a:avLst/>
          </a:prstGeom>
          <a:solidFill>
            <a:srgbClr val="E9E1FA"/>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217151" y="2020824"/>
            <a:ext cx="2103120" cy="320040"/>
          </a:xfrm>
          <a:prstGeom prst="rect">
            <a:avLst/>
          </a:prstGeom>
          <a:noFill/>
        </p:spPr>
        <p:txBody>
          <a:bodyPr wrap="square">
            <a:noAutofit/>
          </a:bodyPr>
          <a:lstStyle/>
          <a:p>
            <a:r>
              <a:rPr sz="1500" b="1">
                <a:solidFill>
                  <a:srgbClr val="15201B"/>
                </a:solidFill>
                <a:latin typeface="Aptos"/>
              </a:rPr>
              <a:t>4. RELEASE</a:t>
            </a:r>
          </a:p>
        </p:txBody>
      </p:sp>
      <p:sp>
        <p:nvSpPr>
          <p:cNvPr id="19" name="TextBox 18"/>
          <p:cNvSpPr txBox="1"/>
          <p:nvPr/>
        </p:nvSpPr>
        <p:spPr>
          <a:xfrm>
            <a:off x="9217151" y="2404872"/>
            <a:ext cx="2103120" cy="1901951"/>
          </a:xfrm>
          <a:prstGeom prst="rect">
            <a:avLst/>
          </a:prstGeom>
          <a:noFill/>
        </p:spPr>
        <p:txBody>
          <a:bodyPr wrap="square">
            <a:noAutofit/>
          </a:bodyPr>
          <a:lstStyle/>
          <a:p>
            <a:r>
              <a:rPr sz="1200" b="0">
                <a:solidFill>
                  <a:srgbClr val="53635B"/>
                </a:solidFill>
                <a:latin typeface="Aptos"/>
              </a:rPr>
              <a:t>The GMA checks the plan was followed and the evidence exists before it signs anything as released.</a:t>
            </a:r>
          </a:p>
        </p:txBody>
      </p:sp>
      <p:sp>
        <p:nvSpPr>
          <p:cNvPr id="20" name="TextBox 19"/>
          <p:cNvSpPr txBox="1"/>
          <p:nvPr/>
        </p:nvSpPr>
        <p:spPr>
          <a:xfrm>
            <a:off x="914400" y="4800600"/>
            <a:ext cx="9875520" cy="457200"/>
          </a:xfrm>
          <a:prstGeom prst="rect">
            <a:avLst/>
          </a:prstGeom>
          <a:noFill/>
        </p:spPr>
        <p:txBody>
          <a:bodyPr wrap="square">
            <a:noAutofit/>
          </a:bodyPr>
          <a:lstStyle/>
          <a:p>
            <a:r>
              <a:rPr sz="1200" b="1">
                <a:solidFill>
                  <a:srgbClr val="15201B"/>
                </a:solidFill>
                <a:latin typeface="Aptos"/>
              </a:rPr>
              <a:t>Every decision writes down what it decided, why, and which round it belonged to.</a:t>
            </a:r>
          </a:p>
        </p:txBody>
      </p:sp>
      <p:sp>
        <p:nvSpPr>
          <p:cNvPr id="21" name="TextBox 20"/>
          <p:cNvSpPr txBox="1"/>
          <p:nvPr/>
        </p:nvSpPr>
        <p:spPr>
          <a:xfrm>
            <a:off x="566928" y="6355080"/>
            <a:ext cx="5669280" cy="274320"/>
          </a:xfrm>
          <a:prstGeom prst="rect">
            <a:avLst/>
          </a:prstGeom>
          <a:noFill/>
        </p:spPr>
        <p:txBody>
          <a:bodyPr wrap="square">
            <a:noAutofit/>
          </a:bodyPr>
          <a:lstStyle/>
          <a:p>
            <a:r>
              <a:rPr sz="800" b="0">
                <a:solidFill>
                  <a:srgbClr val="53635B"/>
                </a:solidFill>
                <a:latin typeface="Aptos"/>
              </a:rPr>
              <a:t>Guard placement on the existing gates / 25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3EA"/>
        </a:solidFill>
        <a:effectLst/>
      </p:bgPr>
    </p:bg>
    <p:spTree>
      <p:nvGrpSpPr>
        <p:cNvPr id="1" name=""/>
        <p:cNvGrpSpPr/>
        <p:nvPr/>
      </p:nvGrpSpPr>
      <p:grpSpPr/>
      <p:sp>
        <p:nvSpPr>
          <p:cNvPr id="2" name="TextBox 1"/>
          <p:cNvSpPr txBox="1"/>
          <p:nvPr/>
        </p:nvSpPr>
        <p:spPr>
          <a:xfrm>
            <a:off x="548640" y="320040"/>
            <a:ext cx="2377440" cy="292608"/>
          </a:xfrm>
          <a:prstGeom prst="rect">
            <a:avLst/>
          </a:prstGeom>
          <a:noFill/>
        </p:spPr>
        <p:txBody>
          <a:bodyPr wrap="square">
            <a:noAutofit/>
          </a:bodyPr>
          <a:lstStyle/>
          <a:p>
            <a:r>
              <a:rPr sz="1300" b="1">
                <a:solidFill>
                  <a:srgbClr val="53635B"/>
                </a:solidFill>
                <a:latin typeface="Aptos"/>
              </a:rPr>
              <a:t>GRAILS + FEDERATION</a:t>
            </a:r>
          </a:p>
        </p:txBody>
      </p:sp>
      <p:sp>
        <p:nvSpPr>
          <p:cNvPr id="3" name="TextBox 2"/>
          <p:cNvSpPr txBox="1"/>
          <p:nvPr/>
        </p:nvSpPr>
        <p:spPr>
          <a:xfrm>
            <a:off x="548640" y="658368"/>
            <a:ext cx="10424160" cy="594360"/>
          </a:xfrm>
          <a:prstGeom prst="rect">
            <a:avLst/>
          </a:prstGeom>
          <a:noFill/>
        </p:spPr>
        <p:txBody>
          <a:bodyPr wrap="square">
            <a:noAutofit/>
          </a:bodyPr>
          <a:lstStyle/>
          <a:p>
            <a:r>
              <a:rPr sz="2900" b="1">
                <a:solidFill>
                  <a:srgbClr val="15201B"/>
                </a:solidFill>
                <a:latin typeface="Aptos"/>
              </a:rPr>
              <a:t>GRAILS protects rows. A stroke round sends updates.</a:t>
            </a:r>
          </a:p>
        </p:txBody>
      </p:sp>
      <p:sp>
        <p:nvSpPr>
          <p:cNvPr id="4" name="TextBox 3"/>
          <p:cNvSpPr txBox="1"/>
          <p:nvPr/>
        </p:nvSpPr>
        <p:spPr>
          <a:xfrm>
            <a:off x="566928" y="1225296"/>
            <a:ext cx="9784080" cy="521207"/>
          </a:xfrm>
          <a:prstGeom prst="rect">
            <a:avLst/>
          </a:prstGeom>
          <a:noFill/>
        </p:spPr>
        <p:txBody>
          <a:bodyPr wrap="square">
            <a:noAutofit/>
          </a:bodyPr>
          <a:lstStyle/>
          <a:p>
            <a:r>
              <a:rPr sz="1400" b="0">
                <a:solidFill>
                  <a:srgbClr val="53635B"/>
                </a:solidFill>
                <a:latin typeface="Aptos"/>
              </a:rPr>
              <a:t>This is the one place the framework has to be extended, and it is the contribution this project can make.</a:t>
            </a:r>
          </a:p>
        </p:txBody>
      </p:sp>
      <p:sp>
        <p:nvSpPr>
          <p:cNvPr id="5" name="Rounded Rectangle 4"/>
          <p:cNvSpPr/>
          <p:nvPr/>
        </p:nvSpPr>
        <p:spPr>
          <a:xfrm>
            <a:off x="777240" y="1691640"/>
            <a:ext cx="4892040" cy="1325880"/>
          </a:xfrm>
          <a:prstGeom prst="roundRect">
            <a:avLst/>
          </a:prstGeom>
          <a:solidFill>
            <a:srgbClr val="DCEBE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41832" y="1837944"/>
            <a:ext cx="4572000" cy="320040"/>
          </a:xfrm>
          <a:prstGeom prst="rect">
            <a:avLst/>
          </a:prstGeom>
          <a:noFill/>
        </p:spPr>
        <p:txBody>
          <a:bodyPr wrap="square">
            <a:noAutofit/>
          </a:bodyPr>
          <a:lstStyle/>
          <a:p>
            <a:r>
              <a:rPr sz="1500" b="1">
                <a:solidFill>
                  <a:srgbClr val="15201B"/>
                </a:solidFill>
                <a:latin typeface="Aptos"/>
              </a:rPr>
              <a:t>What it covers today</a:t>
            </a:r>
          </a:p>
        </p:txBody>
      </p:sp>
      <p:sp>
        <p:nvSpPr>
          <p:cNvPr id="7" name="TextBox 6"/>
          <p:cNvSpPr txBox="1"/>
          <p:nvPr/>
        </p:nvSpPr>
        <p:spPr>
          <a:xfrm>
            <a:off x="941832" y="2221992"/>
            <a:ext cx="4572000" cy="667511"/>
          </a:xfrm>
          <a:prstGeom prst="rect">
            <a:avLst/>
          </a:prstGeom>
          <a:noFill/>
        </p:spPr>
        <p:txBody>
          <a:bodyPr wrap="square">
            <a:noAutofit/>
          </a:bodyPr>
          <a:lstStyle/>
          <a:p>
            <a:r>
              <a:rPr sz="1200" b="0">
                <a:solidFill>
                  <a:srgbClr val="53635B"/>
                </a:solidFill>
                <a:latin typeface="Aptos"/>
              </a:rPr>
              <a:t>One value, one row, one column, or a whole table. All of them are data you can point at and read.</a:t>
            </a:r>
          </a:p>
        </p:txBody>
      </p:sp>
      <p:sp>
        <p:nvSpPr>
          <p:cNvPr id="8" name="Rounded Rectangle 7"/>
          <p:cNvSpPr/>
          <p:nvPr/>
        </p:nvSpPr>
        <p:spPr>
          <a:xfrm>
            <a:off x="6217920" y="1691640"/>
            <a:ext cx="4892040" cy="1325880"/>
          </a:xfrm>
          <a:prstGeom prst="roundRect">
            <a:avLst/>
          </a:prstGeom>
          <a:solidFill>
            <a:srgbClr val="F4E8D0"/>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382512" y="1837944"/>
            <a:ext cx="4572000" cy="320040"/>
          </a:xfrm>
          <a:prstGeom prst="rect">
            <a:avLst/>
          </a:prstGeom>
          <a:noFill/>
        </p:spPr>
        <p:txBody>
          <a:bodyPr wrap="square">
            <a:noAutofit/>
          </a:bodyPr>
          <a:lstStyle/>
          <a:p>
            <a:r>
              <a:rPr sz="1500" b="1">
                <a:solidFill>
                  <a:srgbClr val="15201B"/>
                </a:solidFill>
                <a:latin typeface="Aptos"/>
              </a:rPr>
              <a:t>What a stroke round adds</a:t>
            </a:r>
          </a:p>
        </p:txBody>
      </p:sp>
      <p:sp>
        <p:nvSpPr>
          <p:cNvPr id="10" name="TextBox 9"/>
          <p:cNvSpPr txBox="1"/>
          <p:nvPr/>
        </p:nvSpPr>
        <p:spPr>
          <a:xfrm>
            <a:off x="6382512" y="2221992"/>
            <a:ext cx="4572000" cy="667511"/>
          </a:xfrm>
          <a:prstGeom prst="rect">
            <a:avLst/>
          </a:prstGeom>
          <a:noFill/>
        </p:spPr>
        <p:txBody>
          <a:bodyPr wrap="square">
            <a:noAutofit/>
          </a:bodyPr>
          <a:lstStyle/>
          <a:p>
            <a:r>
              <a:rPr sz="1200" b="0">
                <a:solidFill>
                  <a:srgbClr val="53635B"/>
                </a:solidFill>
                <a:latin typeface="Aptos"/>
              </a:rPr>
              <a:t>A model update is not a row, but it still carries patient signal. It has to become a fifth thing the rules cover.</a:t>
            </a:r>
          </a:p>
        </p:txBody>
      </p:sp>
      <p:sp>
        <p:nvSpPr>
          <p:cNvPr id="11" name="Rounded Rectangle 10"/>
          <p:cNvSpPr/>
          <p:nvPr/>
        </p:nvSpPr>
        <p:spPr>
          <a:xfrm>
            <a:off x="777240" y="3246120"/>
            <a:ext cx="3429000" cy="1417320"/>
          </a:xfrm>
          <a:prstGeom prst="roundRect">
            <a:avLst/>
          </a:prstGeom>
          <a:solidFill>
            <a:srgbClr val="E9E1FA"/>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41832" y="3392424"/>
            <a:ext cx="3108960" cy="320040"/>
          </a:xfrm>
          <a:prstGeom prst="rect">
            <a:avLst/>
          </a:prstGeom>
          <a:noFill/>
        </p:spPr>
        <p:txBody>
          <a:bodyPr wrap="square">
            <a:noAutofit/>
          </a:bodyPr>
          <a:lstStyle/>
          <a:p>
            <a:r>
              <a:rPr sz="1500" b="1">
                <a:solidFill>
                  <a:srgbClr val="15201B"/>
                </a:solidFill>
                <a:latin typeface="Aptos"/>
              </a:rPr>
              <a:t>Sensitivity becomes</a:t>
            </a:r>
          </a:p>
        </p:txBody>
      </p:sp>
      <p:sp>
        <p:nvSpPr>
          <p:cNvPr id="13" name="TextBox 12"/>
          <p:cNvSpPr txBox="1"/>
          <p:nvPr/>
        </p:nvSpPr>
        <p:spPr>
          <a:xfrm>
            <a:off x="941832" y="3776472"/>
            <a:ext cx="3108960" cy="758952"/>
          </a:xfrm>
          <a:prstGeom prst="rect">
            <a:avLst/>
          </a:prstGeom>
          <a:noFill/>
        </p:spPr>
        <p:txBody>
          <a:bodyPr wrap="square">
            <a:noAutofit/>
          </a:bodyPr>
          <a:lstStyle/>
          <a:p>
            <a:r>
              <a:rPr sz="1200" b="0">
                <a:solidFill>
                  <a:srgbClr val="53635B"/>
                </a:solidFill>
                <a:latin typeface="Aptos"/>
              </a:rPr>
              <a:t>How much stroke-patient signal an update can carry out of the hospital.</a:t>
            </a:r>
          </a:p>
        </p:txBody>
      </p:sp>
      <p:sp>
        <p:nvSpPr>
          <p:cNvPr id="14" name="Rounded Rectangle 13"/>
          <p:cNvSpPr/>
          <p:nvPr/>
        </p:nvSpPr>
        <p:spPr>
          <a:xfrm>
            <a:off x="4434840" y="3246120"/>
            <a:ext cx="3429000" cy="1417320"/>
          </a:xfrm>
          <a:prstGeom prst="roundRect">
            <a:avLst/>
          </a:prstGeom>
          <a:solidFill>
            <a:srgbClr val="DCE7F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99431" y="3392424"/>
            <a:ext cx="3108960" cy="320040"/>
          </a:xfrm>
          <a:prstGeom prst="rect">
            <a:avLst/>
          </a:prstGeom>
          <a:noFill/>
        </p:spPr>
        <p:txBody>
          <a:bodyPr wrap="square">
            <a:noAutofit/>
          </a:bodyPr>
          <a:lstStyle/>
          <a:p>
            <a:r>
              <a:rPr sz="1500" b="1">
                <a:solidFill>
                  <a:srgbClr val="15201B"/>
                </a:solidFill>
                <a:latin typeface="Aptos"/>
              </a:rPr>
              <a:t>Trust becomes</a:t>
            </a:r>
          </a:p>
        </p:txBody>
      </p:sp>
      <p:sp>
        <p:nvSpPr>
          <p:cNvPr id="16" name="TextBox 15"/>
          <p:cNvSpPr txBox="1"/>
          <p:nvPr/>
        </p:nvSpPr>
        <p:spPr>
          <a:xfrm>
            <a:off x="4599431" y="3776472"/>
            <a:ext cx="3108960" cy="758952"/>
          </a:xfrm>
          <a:prstGeom prst="rect">
            <a:avLst/>
          </a:prstGeom>
          <a:noFill/>
        </p:spPr>
        <p:txBody>
          <a:bodyPr wrap="square">
            <a:noAutofit/>
          </a:bodyPr>
          <a:lstStyle/>
          <a:p>
            <a:r>
              <a:rPr sz="1200" b="0">
                <a:solidFill>
                  <a:srgbClr val="53635B"/>
                </a:solidFill>
                <a:latin typeface="Aptos"/>
              </a:rPr>
              <a:t>The receiving site and the coordinator, not only a named person.</a:t>
            </a:r>
          </a:p>
        </p:txBody>
      </p:sp>
      <p:sp>
        <p:nvSpPr>
          <p:cNvPr id="17" name="Rounded Rectangle 16"/>
          <p:cNvSpPr/>
          <p:nvPr/>
        </p:nvSpPr>
        <p:spPr>
          <a:xfrm>
            <a:off x="8092440" y="3246120"/>
            <a:ext cx="3017520" cy="1417320"/>
          </a:xfrm>
          <a:prstGeom prst="roundRect">
            <a:avLst/>
          </a:prstGeom>
          <a:solidFill>
            <a:srgbClr val="DCEBE1"/>
          </a:solidFill>
          <a:ln w="12700">
            <a:solidFill>
              <a:srgbClr val="B9C2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57031" y="3392424"/>
            <a:ext cx="2697479" cy="320040"/>
          </a:xfrm>
          <a:prstGeom prst="rect">
            <a:avLst/>
          </a:prstGeom>
          <a:noFill/>
        </p:spPr>
        <p:txBody>
          <a:bodyPr wrap="square">
            <a:noAutofit/>
          </a:bodyPr>
          <a:lstStyle/>
          <a:p>
            <a:r>
              <a:rPr sz="1500" b="1">
                <a:solidFill>
                  <a:srgbClr val="15201B"/>
                </a:solidFill>
                <a:latin typeface="Aptos"/>
              </a:rPr>
              <a:t>Action becomes</a:t>
            </a:r>
          </a:p>
        </p:txBody>
      </p:sp>
      <p:sp>
        <p:nvSpPr>
          <p:cNvPr id="19" name="TextBox 18"/>
          <p:cNvSpPr txBox="1"/>
          <p:nvPr/>
        </p:nvSpPr>
        <p:spPr>
          <a:xfrm>
            <a:off x="8257031" y="3776472"/>
            <a:ext cx="2697479" cy="758952"/>
          </a:xfrm>
          <a:prstGeom prst="rect">
            <a:avLst/>
          </a:prstGeom>
          <a:noFill/>
        </p:spPr>
        <p:txBody>
          <a:bodyPr wrap="square">
            <a:noAutofit/>
          </a:bodyPr>
          <a:lstStyle/>
          <a:p>
            <a:r>
              <a:rPr sz="1200" b="0">
                <a:solidFill>
                  <a:srgbClr val="53635B"/>
                </a:solidFill>
                <a:latin typeface="Aptos"/>
              </a:rPr>
              <a:t>Limit the contribution, require enough sites, add noise, or refuse to send.</a:t>
            </a:r>
          </a:p>
        </p:txBody>
      </p:sp>
      <p:sp>
        <p:nvSpPr>
          <p:cNvPr id="20" name="TextBox 19"/>
          <p:cNvSpPr txBox="1"/>
          <p:nvPr/>
        </p:nvSpPr>
        <p:spPr>
          <a:xfrm>
            <a:off x="914400" y="4892040"/>
            <a:ext cx="9875520" cy="457200"/>
          </a:xfrm>
          <a:prstGeom prst="rect">
            <a:avLst/>
          </a:prstGeom>
          <a:noFill/>
        </p:spPr>
        <p:txBody>
          <a:bodyPr wrap="square">
            <a:noAutofit/>
          </a:bodyPr>
          <a:lstStyle/>
          <a:p>
            <a:r>
              <a:rPr sz="1200" b="1">
                <a:solidFill>
                  <a:srgbClr val="15201B"/>
                </a:solidFill>
                <a:latin typeface="Aptos"/>
              </a:rPr>
              <a:t>This is a real extension of the published framework, not a restatement of it.</a:t>
            </a:r>
          </a:p>
        </p:txBody>
      </p:sp>
      <p:sp>
        <p:nvSpPr>
          <p:cNvPr id="21" name="TextBox 20"/>
          <p:cNvSpPr txBox="1"/>
          <p:nvPr/>
        </p:nvSpPr>
        <p:spPr>
          <a:xfrm>
            <a:off x="566928" y="6355080"/>
            <a:ext cx="5669280" cy="274320"/>
          </a:xfrm>
          <a:prstGeom prst="rect">
            <a:avLst/>
          </a:prstGeom>
          <a:noFill/>
        </p:spPr>
        <p:txBody>
          <a:bodyPr wrap="square">
            <a:noAutofit/>
          </a:bodyPr>
          <a:lstStyle/>
          <a:p>
            <a:r>
              <a:rPr sz="800" b="0">
                <a:solidFill>
                  <a:srgbClr val="53635B"/>
                </a:solidFill>
                <a:latin typeface="Aptos"/>
              </a:rPr>
              <a:t>Extending the rules to model updates / 26</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8246</Words>
  <Application>Microsoft Macintosh PowerPoint</Application>
  <DocSecurity>0</DocSecurity>
  <PresentationFormat>Widescreen</PresentationFormat>
  <Paragraphs>726</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Aptos</vt:lpstr>
      <vt:lpstr>Calibri</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IMT2022525 Devarakonda Pradyun</cp:lastModifiedBy>
  <cp:revision>2</cp:revision>
  <dcterms:created xsi:type="dcterms:W3CDTF">2026-08-28T11:26:47Z</dcterms:created>
  <dcterms:modified xsi:type="dcterms:W3CDTF">2026-08-28T11:41:39Z</dcterms:modified>
</cp:coreProperties>
</file>