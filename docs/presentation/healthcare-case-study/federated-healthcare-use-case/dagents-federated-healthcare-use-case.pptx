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5"/>
  </p:normalViewPr>
  <p:slideViewPr>
    <p:cSldViewPr snapToGrid="0">
      <p:cViewPr varScale="1">
        <p:scale>
          <a:sx n="215" d="100"/>
          <a:sy n="215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Dagents is proposed as the orchestration and release layer around cross-silo federated learning. It is not presented as a clinical product or as a replacement for a specialist federated-learning runtime.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 proposed division of responsibilities. Dagents owns orchestration and governance; the federated engine owns specialist distributed-learning mechanics.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learning reduces raw-data collection, but individual model updates may expose information. Secure aggregation and privacy analysis are separate requirements.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five-hospital scope and sequencing are design assumptions for a professor-facing use case. Clinical details must be approved by the participating hospitals before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/Users/pradyundevarakonda/Developer/Dagents/docs/presentation/healthcare-case-study/federated-healthcare-use-case/dagents-federated-healthcare-use-case.md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 is a proposed architecture. The GMA coordinates round and release state; a specialist engine performs secure aggregation; every hospital retains its raw data and detailed trace.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FedAvg is the common illustrative algorithm: start from a global model, train locally, aggregate updates, and repeat. Production requires much more than averaging.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lifecycle deliberately borrows baseline, catalog, integrity, and restore concepts from enterprise backup operations. A model update is not assumed trustworthy merely because it is incremental.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documents client-side privacy policies and site-controlled execution. NVIDIA also demonstrates local code acceptance using hashes or digital signatures.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/Users/pradyundevarakonda/Developer/Dagents/agents/lma/README.md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extends the current GMA role. The repository has registration and model-run patterns, but not a production federated round controller or secure aggregator.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/Users/pradyundevarakonda/Developer/Dagents/agents/gma/README.md</a:t>
            </a:r>
          </a:p>
          <a:p>
            <a:r>
              <a:t>- /Users/pradyundevarakonda/Developer/Dagents/contracts/grpc/dagents/agents/v1/lma_gma.proto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reveals approved aggregates rather than training updates. Database federation supplies logical access to remote sources and may still move or expose detailed results. Backup is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https://helpcenter.veeam.com/docs/vbr/userguide/backup_architecture.html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EXAM predicted oxygen requirements for symptomatic patients with COVID-19 using chest X-ray and electronic-record inputs. The results and study limits belong to that use case; they are not transferred to the proposed sepsis model.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supports simulator-to-production workflows, federated statistics, client-side privacy policies, and customizable controllers. NVIDIA also documents site-side code acceptance using hashes or signatures.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- https://www.nature.com/articles/s41591-021-01506-3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Veeam documents a central server, source-side data movers, incremental chains, restore points, and backup health checks. CISA and NIST emphasize protected backups and regularly tested recovery.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https://helpcenter.veeam.com/docs/vbr/userguide/backup_architecture.html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- https://csrc.nist.gov/pubs/other/2020/04/24/protecting-data-from-ransomware-and-other-data-los/final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distinguishes existing Dagents service boundaries from the proposed federated engine and signed registry extensions.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/Users/pradyundevarakonda/Developer/Dagents/services/pipeline-service/README.md</a:t>
            </a:r>
          </a:p>
          <a:p>
            <a:r>
              <a:t>- /Users/pradyundevarakonda/Developer/Dagents/services/model-service/README.md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HIPAA and SOC 2 cover organizational and operational controls beyond architecture. Clinical decision-support status and regulatory obligations depend on intended use and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https://www.hhs.gov/hipaa/for-professionals/security/index.html</a:t>
            </a:r>
          </a:p>
          <a:p>
            <a:r>
              <a:t>- https://www.hhs.gov/hipaa/for-professionals/privacy/guidance/minimum-necessary-requirement/index.html</a:t>
            </a:r>
          </a:p>
          <a:p>
            <a:r>
              <a:t>- https://www.aicpa-cima.com/resources/download/2017-trust-services-criteria-with-revised-points-of-focus-2022</a:t>
            </a:r>
          </a:p>
          <a:p>
            <a:r>
              <a:t>- https://www.fda.gov/regulatory-information/search-fda-guidance-documents/clinical-decision-support-software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code-approval gate is supported by NVIDIA's example of hospital-side job acceptance based on code hashes or signatures. Secure aggregation requires a threshold and does not replace all privacy or security controls.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https://developer.nvidia.com/blog/?p=71033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an architectural pros-and-cons comparison, not a vendor benchmark. Dagents is strongest when paired with a specialist federated-learning engine; its main tradeoff is integration and operational ownership.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is recommended before federated training because it proves source contracts, measures, aggregation, and privacy boundaries with less model-change risk.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evaluation groups combine clinical-model evidence, data minimization, distributed-operations reliability, and backup-inspired recovery assurance.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https://research.google/blog/distributed-differential-privacy-for-federated-learning/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recommendation composes Dagents with specialist federated-learning technology. It does not recommend implementing clinical deployment in the current repository state.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these as working definitions for the presentation. Federated database behavior is based on IBM Db2 federation; backup language is used only as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https://helpcenter.veeam.com/docs/vdc/userguide/aws_backup_chain_ec2.html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adyunuydarp/Dagents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hlinkClick r:id="rId3"/>
            <a:extLst>
              <a:ext uri="{FF2B5EF4-FFF2-40B4-BE49-F238E27FC236}">
                <a16:creationId xmlns:a16="http://schemas.microsoft.com/office/drawing/2014/main" id="{DBAD7086-21FE-4FD0-95D7-1188A3E82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684ED2-C417-447E-BC93-3DDECEBC401B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HEALTHCARE USE CASE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2AADAB-1301-46D6-B41A-E64CF809AE50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8382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31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 for Federated Hospital Learning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5700B-61E4-42B5-88FF-89C9CE76EE4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7239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lang="en-US" sz="150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S</a:t>
            </a:r>
            <a:r>
              <a:rPr sz="1500" b="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end a signed seed model to hospitals, train and evaluate locally, aggregate protected updates, and release only after cross-site review.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D4DF1-5B75-4D5B-B480-0169FB7D537F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0A53B9-A4E7-484F-8034-98A213935481}"/>
              </a:ext>
            </a:extLst>
          </p:cNvPr>
          <p:cNvSpPr>
            <a:spLocks noGrp="1"/>
          </p:cNvSpPr>
          <p:nvPr/>
        </p:nvSpPr>
        <p:spPr>
          <a:xfrm>
            <a:off x="298704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LMAs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66A10A-F573-49D6-877E-CE49EE18CAEE}"/>
              </a:ext>
            </a:extLst>
          </p:cNvPr>
          <p:cNvSpPr>
            <a:spLocks noGrp="1"/>
          </p:cNvSpPr>
          <p:nvPr/>
        </p:nvSpPr>
        <p:spPr>
          <a:xfrm>
            <a:off x="505968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Protected updates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63E76E-89CD-4533-B12B-BA23CA95D353}"/>
              </a:ext>
            </a:extLst>
          </p:cNvPr>
          <p:cNvSpPr>
            <a:spLocks noGrp="1"/>
          </p:cNvSpPr>
          <p:nvPr/>
        </p:nvSpPr>
        <p:spPr>
          <a:xfrm>
            <a:off x="713232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review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B2C03F-8B20-492A-AE4E-3EBDA2782D40}"/>
              </a:ext>
            </a:extLst>
          </p:cNvPr>
          <p:cNvSpPr>
            <a:spLocks noGrp="1"/>
          </p:cNvSpPr>
          <p:nvPr/>
        </p:nvSpPr>
        <p:spPr>
          <a:xfrm>
            <a:off x="920496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Signed release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E66650-CFE7-4B7A-A510-5BEC7C131A0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63BD50-1495-DE9C-D046-E7C5F535B0B9}"/>
              </a:ext>
            </a:extLst>
          </p:cNvPr>
          <p:cNvSpPr>
            <a:spLocks noGrp="1"/>
          </p:cNvSpPr>
          <p:nvPr/>
        </p:nvSpPr>
        <p:spPr>
          <a:xfrm>
            <a:off x="9525230" y="6044625"/>
            <a:ext cx="358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Pradyun Devarakonda</a:t>
            </a:r>
          </a:p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Professor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6166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5AB7B7-DB75-496C-AF33-7FDD3DC5DDB8}"/>
              </a:ext>
            </a:extLst>
          </p:cNvPr>
          <p:cNvSpPr>
            <a:spLocks noGrp="1"/>
          </p:cNvSpPr>
          <p:nvPr/>
        </p:nvSpPr>
        <p:spPr>
          <a:xfrm>
            <a:off x="0" y="1016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0CB6B-1963-477D-B18C-AB79936C089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PROPOSAL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C1414-F0F6-4931-BEC7-D0662752965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One control plane; hospital data stays local.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7BF40-0B73-4C09-A35E-0D4ED4DD4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coordinates a five-hospital, sepsis-specific research pilot. A specialist federated engine performs protected aggregation.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65F7-D72B-4FC0-8B6C-84B3DA6B0C7C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9396F-9F48-4223-9DC1-50C44F9FC983}"/>
              </a:ext>
            </a:extLst>
          </p:cNvPr>
          <p:cNvSpPr>
            <a:spLocks noGrp="1"/>
          </p:cNvSpPr>
          <p:nvPr/>
        </p:nvSpPr>
        <p:spPr>
          <a:xfrm>
            <a:off x="1162050" y="25527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First case: improve and evaluate one sepsis warning model across five hospitals.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DD299-2942-409C-BFC4-E2056759A9B7}"/>
              </a:ext>
            </a:extLst>
          </p:cNvPr>
          <p:cNvSpPr>
            <a:spLocks noGrp="1"/>
          </p:cNvSpPr>
          <p:nvPr/>
        </p:nvSpPr>
        <p:spPr>
          <a:xfrm>
            <a:off x="8953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482D2-0A91-47D9-A818-77C822FA6B14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GMA: selects sites, sends signed jobs, records rounds, and coordinates release or rollback.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AE66C-3EE0-4B2E-9E99-FDA787C86E27}"/>
              </a:ext>
            </a:extLst>
          </p:cNvPr>
          <p:cNvSpPr>
            <a:spLocks noGrp="1"/>
          </p:cNvSpPr>
          <p:nvPr/>
        </p:nvSpPr>
        <p:spPr>
          <a:xfrm>
            <a:off x="8953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3A9C4-A310-4B43-8A33-95A416DEEACF}"/>
              </a:ext>
            </a:extLst>
          </p:cNvPr>
          <p:cNvSpPr>
            <a:spLocks noGrp="1"/>
          </p:cNvSpPr>
          <p:nvPr/>
        </p:nvSpPr>
        <p:spPr>
          <a:xfrm>
            <a:off x="1162050" y="36195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LMA: validates and runs beside local records; patient rows and detailed evidence remain local.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55E17F-99CE-40DB-9406-767DA14F48F5}"/>
              </a:ext>
            </a:extLst>
          </p:cNvPr>
          <p:cNvSpPr>
            <a:spLocks noGrp="1"/>
          </p:cNvSpPr>
          <p:nvPr/>
        </p:nvSpPr>
        <p:spPr>
          <a:xfrm>
            <a:off x="895350" y="42195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6EEE6-1447-4276-909E-B92E08A9697B}"/>
              </a:ext>
            </a:extLst>
          </p:cNvPr>
          <p:cNvSpPr>
            <a:spLocks noGrp="1"/>
          </p:cNvSpPr>
          <p:nvPr/>
        </p:nvSpPr>
        <p:spPr>
          <a:xfrm>
            <a:off x="1162050" y="41529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Specialist layer: NVIDIA FLARE or an equivalent engine handles federated aggregation and privacy mechanisms.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F5ED820-7FB5-428B-8432-AE58353A927D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SIGNED JOB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C1672-6BDD-43C0-9DA7-5B38D6D9634F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protected update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3ADD2C-E510-4357-90C6-78A126127BF2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REVIEW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024E7-A8F2-449F-B740-B0F40BDA2C9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Federated Healthcare / 02</a:t>
            </a:r>
          </a:p>
        </p:txBody>
      </p:sp>
    </p:spTree>
    <p:extLst>
      <p:ext uri="{BB962C8B-B14F-4D97-AF65-F5344CB8AC3E}">
        <p14:creationId xmlns:p14="http://schemas.microsoft.com/office/powerpoint/2010/main" val="3233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Pooling raw hospital records is not the only way to learn.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system must handle data boundaries, site differences, update privacy, and safe operations—not just model accuracy.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 cannot simply move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Privacy, contracts, sovereignty, and breach risk make a central patient-data copy a poor default.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do not match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Populations, units, systems, labels, and workflows differ. One global setting may not fit every site.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Updates can still leak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Weights and gradients are not automatically anonymous. Aggregation and privacy controls still matter.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decide safety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Identity, code approval, retries, versions, evidence, canaries, and rollback determine whether learning is controllable.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use case is distributed learning plus governed operations / 03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USE-CASE BOUNDARY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Start narrow enough to prove the whole system.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Illustrative research pilot: five hospitals, adult inpatient wards, sepsis first, past-data testing followed by silent live evaluation.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clinical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Near-term sepsis deterioration risk. A clinical committee defines the reference event, horizon, exclusions, and safe use.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Approved seed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from public, de-identified, consented, synthetic, or otherwise permitted data—not a central copy of hospital records.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automatic care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Past-data and silent live stages first. No diagnosis, treatment, or clinician-facing warning without a separate approved study.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condition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Later cases could cover stroke, heart attack, sudden kidney injury, or breathing decline. Each needs its own model, workflow, owner, and safety evidence.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Proposed research boundary—not a clinical or regulatory conclusion / 04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E53F3A-15C4-4E87-B1FC-FD206D4F9D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84829-7899-4AD9-909A-707E198CB69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7AFF5-32B7-4744-9598-EC73A05D289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controls the round; a federated engine aggregates.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0B3257-4C1E-4555-8FD9-857EDB8DB61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Signed jobs go out, protected updates come back, and raw records plus patient-level traces stay at each hospital.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473067"/>
            <a:ext cx="11049000" cy="23404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9A9093-40E4-42D4-AA15-CBE19544F38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Federated control and data boundaries / 05</a:t>
            </a:r>
          </a:p>
        </p:txBody>
      </p:sp>
    </p:spTree>
    <p:extLst>
      <p:ext uri="{BB962C8B-B14F-4D97-AF65-F5344CB8AC3E}">
        <p14:creationId xmlns:p14="http://schemas.microsoft.com/office/powerpoint/2010/main" val="738132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ONE FEDERATED 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 round moves code and updates—not patient records.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coordinator never treats ‘weights only’ as a privacy guarantee.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DISTRIBUTE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GMA selects approved sites and sends a signed seed, code hash, data contract, privacy profile, and round 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LMA checks inputs, trains or evaluates inside the hospital, and bounds its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+ AGGREGATE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Secure aggregation and a minimum-participant rule reveal only the allowed combined update.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EVALUATE + DECIDE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candidate returns to sites; cross-site evidence and governance decide release or rejection.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Any failed gate cancels the round; the current approved model keeps running.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round sequence / 06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RELEASE LIFECYCLE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Treat every model version as a recoverable release.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training creates candidates; governance creates releases.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Record the seed model, code, features, dependencies, intended use, approved sites, and safe fallback.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Create a round manifest; collect bounded updates and approved aggregate results.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Re-evaluate at every site; check privacy, performance, subgroup, integrity, and operational gates.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OR RESTORE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Sign a candidate for a small rollout—or keep and restore the last known-good model and settings.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No candidate silently replaces the approved model.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Versioned release lifecycle / 07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LOCAL AGENT (LMA)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LMA is the hospital’s enforcement point.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accepts only approved jobs, touches only approved fields, and keeps the detailed trace under hospital control.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 signer, code hash, dependencies, condition, allowed fields, privacy settings, and local approval. The hospital may reject.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PREPARE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Build the approved feature view; validate units, time windows, missingness, cohort, and label availability.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+ EVALUATE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Run an isolated workload, calculate local measures, and clip or bound the site contribution.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PUBLISH MINIMUM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only the protected update, allowed measures, status, versions, and a local evidence pointer.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Detailed records, features, and patient-level predictions never belong in the GMA result.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Hospital-local execution boundary / 08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GLOBAL AGENT (GMA)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GMA controls participation, rounds, and releases.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coordinates the federation; it does not become a raw patient database.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Track each hospital, LMA, approved use, capability, schema version, certificate, and sharing rule.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PLAN ROUND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Choose participants, minimum threshold, seed version, privacy profile, evaluation plan, and stop conditions.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signed jobs; track acknowledgements, timeouts, dropouts, retries, cancellation, and aggregate status.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+ ROLLBACK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Collect cross-site evidence, sign a canary release, watch health, or restore the known-good version.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When secure aggregation is required, the GMA should not read any hospital’s individual update.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control plane / 09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METHOD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‘federated’ ideas solve different problems.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Use them together, but do not treat the names as interchangeable.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does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role / important limit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Trains a shared model from updates computed at each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a specialist FL engine; Dagents coordinates jobs, evidence, releases, and rollback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Computes local counts, statistics, and evaluation; reveals approved aggregates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Best first phase; small groups and repeated queries can still reveal sensitive facts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Offers one query layer across remote sources and can push work to the source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inside a hospital; unrestricted cross-site patient queries are out of scope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Copies data into one place for central processing and analytics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some needs, but not a required dependency for this time-sensitive path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versions with baselines, increments, catalogs, checks, and recovery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model only; backup software does not train or validate a clinical 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Federation is a design family—not a single product or guarantee / 10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NVIDIA FLARE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EXAM shows cross-hospital federation can work.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 for the operating model—not a performance promise for sepsis or Dagents.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20 institutions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study coordinated hospitals and research sites across several countries.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16,148 cases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Chest X-rays and electronic-record features were used in the research cohort.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dataset exchange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Sites trained through a client/server federation instead of sending raw site datasets to one repository.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Reported improvement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For the 24-hour task: 16% average AUC improvement and 38% average generalizability improvement versus local models.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paper reported average AUC above 0.92 and stated the model was research-only and not regulator approved.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WHAT DAGENTS SHOULD LEARN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lesson is the operating model, not the brand.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real healthcare federation needs repeatable experiments, site workers, evaluation, privacy controls, and release governance.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Many traceable rounds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EXAM study ran many experiments. Dagents needs durable round state, inputs, outputs, versions, and reasons.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Local site capability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hospital needs approved compute, data preparation, training, evaluation, and evidence storage.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Heterogeneity stays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Shared features do not erase site differences. Every candidate needs site-level and group-level evaluation.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Code + privacy approval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Hospitals should verify job code and data access; secure aggregation and privacy controls remain separate work.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Integrate NVIDIA FLARE or an equivalent runtime; keep Dagents as the reusable governance and orchestration layer / 12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ENTERPRISE BACKUP LESSONS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 make model releases safer.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Borrow central policy, local workers, integrity checks, and recovery—not the idea that an update is automatically trustworthy.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 + increments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full backup plus changed blocks maps to a signed seed package plus bounded round updates.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 + lineage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backup catalog maps to model, code, feature-contract, round, participant, candidate, and release history.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Integrity checks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Checksums, signatures, reproducible evaluation, and locked releases detect corruption or silent change.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4417" y="3529584"/>
            <a:ext cx="457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drills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rollback plan is incomplete until teams regularly prove that the known-good model can be restored.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Seed → bounded updates → verified candidate → immutable release → tested rollback / 13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479A346-CD14-411A-AFB6-6934DCA38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29DDB-6D69-4CA7-A898-3289B0DC06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DAGENTS MAPPING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7BB917-2BF2-4DEC-9B37-1BA2E428C27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supplies the control plane around specialist federation.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704B30-3E55-43AC-B117-A3BC57094B3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Five framework capabilities compose the use case; no single service is the whole solution.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3081A4-6899-453F-BDDB-D3AF6CA62CF7}"/>
              </a:ext>
            </a:extLst>
          </p:cNvPr>
          <p:cNvSpPr>
            <a:spLocks noGrp="1"/>
          </p:cNvSpPr>
          <p:nvPr/>
        </p:nvSpPr>
        <p:spPr>
          <a:xfrm>
            <a:off x="666750" y="2381249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3E67488-16FF-4721-B16B-EED624647858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 near the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A21E9-90FD-423B-94CD-5AE2604AE6C4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the job, build local features, train or evaluate, keep detailed evidence, and publish the minimum result.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EBE119-5A68-4F66-9ECE-171920DB925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2C0DF7-A365-4208-97B7-95B9C2846808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 plans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66C7E8-D30E-4F8F-A2A3-A470D4067A7E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Define repeatable readiness, training, evaluation, packaging, approval, rollout, and recovery steps.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2E24A4-0141-4B37-8928-691636878792}"/>
              </a:ext>
            </a:extLst>
          </p:cNvPr>
          <p:cNvSpPr>
            <a:spLocks noGrp="1"/>
          </p:cNvSpPr>
          <p:nvPr/>
        </p:nvSpPr>
        <p:spPr>
          <a:xfrm>
            <a:off x="5276850" y="2381248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327AB3-C9C1-4F2A-A6D0-10D7A4A645FF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56E01-AE91-43A1-8163-B51B0EF3698D}"/>
              </a:ext>
            </a:extLst>
          </p:cNvPr>
          <p:cNvSpPr>
            <a:spLocks noGrp="1"/>
          </p:cNvSpPr>
          <p:nvPr/>
        </p:nvSpPr>
        <p:spPr>
          <a:xfrm>
            <a:off x="54292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FedAvg or another approved algorithm, secure aggregation, privacy mechanisms, and dropout handling.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F730831-E735-4AF3-8B89-EC1D8BA5E7F2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4B2B6C-E9FC-4DAE-AEEF-1C30741DD9A8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registry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AE6955-92C1-481D-8741-E1B4ACD11D07}"/>
              </a:ext>
            </a:extLst>
          </p:cNvPr>
          <p:cNvSpPr>
            <a:spLocks noGrp="1"/>
          </p:cNvSpPr>
          <p:nvPr/>
        </p:nvSpPr>
        <p:spPr>
          <a:xfrm>
            <a:off x="773430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Store signed seeds, candidates, releases, code digests, feature contracts, evidence pointers, and rollback targets.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DFFB37-32AB-426D-936F-2F09D6103545}"/>
              </a:ext>
            </a:extLst>
          </p:cNvPr>
          <p:cNvSpPr>
            <a:spLocks noGrp="1"/>
          </p:cNvSpPr>
          <p:nvPr/>
        </p:nvSpPr>
        <p:spPr>
          <a:xfrm>
            <a:off x="9582150" y="2381249"/>
            <a:ext cx="1771650" cy="1685923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7216B4A-3BF2-4504-852C-8A99711EC0E0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 + core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5BB77E-A396-45E8-81E6-0554EE3EAA7C}"/>
              </a:ext>
            </a:extLst>
          </p:cNvPr>
          <p:cNvSpPr>
            <a:spLocks noGrp="1"/>
          </p:cNvSpPr>
          <p:nvPr/>
        </p:nvSpPr>
        <p:spPr>
          <a:xfrm>
            <a:off x="973455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sites, plan rounds, compile workloads, coordinate release, monitor health, pause, and restore.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02936F-D2E1-4B65-BA8E-7DDEA9BF716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9620250" cy="7429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Controls across every step: identity, least privilege, minimum messages, signatures, retention, evidence, and human approval.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41F84D-20B4-45ED-993A-A1BBBB1ECECB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federation component map / 14</a:t>
            </a:r>
          </a:p>
        </p:txBody>
      </p:sp>
    </p:spTree>
    <p:extLst>
      <p:ext uri="{BB962C8B-B14F-4D97-AF65-F5344CB8AC3E}">
        <p14:creationId xmlns:p14="http://schemas.microsoft.com/office/powerpoint/2010/main" val="1579118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D648CF-CF55-43A3-BA43-EB8791CF677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COMPLIANCE + SAFETY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B496F-1310-475C-A519-C8BA8F24DD5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Less data movement does not equal compliance.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AC7B1-6DBE-4302-9E28-BB63F1715338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Technical controls help, but hospitals and the consortium still own policy, operations, clinical evidence, and accountable decisions.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F423318-1869-493B-A37C-9D8807C2FB93}"/>
              </a:ext>
            </a:extLst>
          </p:cNvPr>
          <p:cNvSpPr>
            <a:spLocks noGrp="1"/>
          </p:cNvSpPr>
          <p:nvPr/>
        </p:nvSpPr>
        <p:spPr>
          <a:xfrm>
            <a:off x="731520" y="1691640"/>
            <a:ext cx="3291840" cy="20574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090CC2-FE5E-4144-BAB1-0D654DEF05B0}"/>
              </a:ext>
            </a:extLst>
          </p:cNvPr>
          <p:cNvSpPr>
            <a:spLocks noGrp="1"/>
          </p:cNvSpPr>
          <p:nvPr/>
        </p:nvSpPr>
        <p:spPr>
          <a:xfrm>
            <a:off x="89611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HIPAA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B981C-D1C5-43B3-ACBD-9791320C0E2A}"/>
              </a:ext>
            </a:extLst>
          </p:cNvPr>
          <p:cNvSpPr>
            <a:spLocks noGrp="1"/>
          </p:cNvSpPr>
          <p:nvPr/>
        </p:nvSpPr>
        <p:spPr>
          <a:xfrm>
            <a:off x="89611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Keeping records local can reduce copies. Teams still need approved purpose, minimum-necessary decisions, access control, encryption, BAAs, retention, audit, risk analysis, and incident response.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8914DE6-27C2-4D94-B667-557896AC0B67}"/>
              </a:ext>
            </a:extLst>
          </p:cNvPr>
          <p:cNvSpPr>
            <a:spLocks noGrp="1"/>
          </p:cNvSpPr>
          <p:nvPr/>
        </p:nvSpPr>
        <p:spPr>
          <a:xfrm>
            <a:off x="4434840" y="1691640"/>
            <a:ext cx="3291840" cy="20574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B7709-14E5-4061-8DC5-0E6C77010337}"/>
              </a:ext>
            </a:extLst>
          </p:cNvPr>
          <p:cNvSpPr>
            <a:spLocks noGrp="1"/>
          </p:cNvSpPr>
          <p:nvPr/>
        </p:nvSpPr>
        <p:spPr>
          <a:xfrm>
            <a:off x="4599431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SOC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9E10-F8E5-4106-95F5-F683B86639AB}"/>
              </a:ext>
            </a:extLst>
          </p:cNvPr>
          <p:cNvSpPr>
            <a:spLocks noGrp="1"/>
          </p:cNvSpPr>
          <p:nvPr/>
        </p:nvSpPr>
        <p:spPr>
          <a:xfrm>
            <a:off x="4599431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can produce health, change, and recovery evidence. The organization still needs control owners, access reviews, change management, availability targets, vendor risk work, and an independent examination.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04290-7355-4C3D-A11F-9C147701D543}"/>
              </a:ext>
            </a:extLst>
          </p:cNvPr>
          <p:cNvSpPr>
            <a:spLocks noGrp="1"/>
          </p:cNvSpPr>
          <p:nvPr/>
        </p:nvSpPr>
        <p:spPr>
          <a:xfrm>
            <a:off x="8138160" y="1691640"/>
            <a:ext cx="3291840" cy="20574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0F19C-CA8E-4655-950F-AAC22240870F}"/>
              </a:ext>
            </a:extLst>
          </p:cNvPr>
          <p:cNvSpPr>
            <a:spLocks noGrp="1"/>
          </p:cNvSpPr>
          <p:nvPr/>
        </p:nvSpPr>
        <p:spPr>
          <a:xfrm>
            <a:off x="830275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CLINICAL AI SAFETY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4295D3-D8DF-4565-A41A-39801B37A06F}"/>
              </a:ext>
            </a:extLst>
          </p:cNvPr>
          <p:cNvSpPr>
            <a:spLocks noGrp="1"/>
          </p:cNvSpPr>
          <p:nvPr/>
        </p:nvSpPr>
        <p:spPr>
          <a:xfrm>
            <a:off x="830275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sepsis model needs a defined intended use, site and group validation, usability testing, clinician authority, monitoring, rollback, and regulatory analysis before care use.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F717F3-1A00-49A6-B673-1840A77E5987}"/>
              </a:ext>
            </a:extLst>
          </p:cNvPr>
          <p:cNvSpPr>
            <a:spLocks noGrp="1"/>
          </p:cNvSpPr>
          <p:nvPr/>
        </p:nvSpPr>
        <p:spPr>
          <a:xfrm>
            <a:off x="868680" y="42519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Federated architecture is a control choice—not legal, audit, privacy, or medical approval / 15</a:t>
            </a:r>
          </a:p>
        </p:txBody>
      </p:sp>
    </p:spTree>
    <p:extLst>
      <p:ext uri="{BB962C8B-B14F-4D97-AF65-F5344CB8AC3E}">
        <p14:creationId xmlns:p14="http://schemas.microsoft.com/office/powerpoint/2010/main" val="1156893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ROUND SAFETY GATES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gates must pass before a round changes the model.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Any failure cancels the candidate, records the reason, and keeps the current release in service.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SCOPE + SITE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Is the hospital, condition, patient group, seed version, feature contract, and purpose approved?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CODE +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the hospital verify the signer and code hash? Are units, cohort, labels, freshness, and quality acceptable?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PRIVACY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Are contributions bounded, participant threshold met, egress allowed, and aggregation/privacy settings correct?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RELEASE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every site evaluation, subgroup, security, clinical, canary, and rollback check pass?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 successful aggregation is only a candidate—not permission to deploy.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safety gates / 16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CHOICE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Dagents over a framework or SaaS alone?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fit: Dagents supplies reusable control and release governance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Advantages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+ FL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Source-local LMA boundary; reusable GMA orchestration; portable contracts; evidence and rollback in one design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More integration and operational ownership; privacy, identity, and clinical controls still need production work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FL framework alone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Mature algorithms, simulation, aggregation, and privacy extensions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Needs a surrounding control plane for orchestration, evidence, releases, and product integration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Managed FL SaaS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Fast onboarding, hosted services, and vendor support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Lock-in, recurring cost, deployment constraints, and less control over evidence or recovery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 + ML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Familiar central analytics and model tools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Large and delayed data flows, duplicated sensitive records, and a larger governance boundary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One-off custom build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Can match one hospital network exactly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Slow to reuse and maintain; likely to create incompatible contracts for the next condition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wins on control, portability, and recoverability—not on lowest initial effort / 17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616C7F-5DE1-4780-8723-F2B4F47C5526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PILOT 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26162-FC55-4072-9ED2-CB330866CB7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Prove federation in stages.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87E13-600F-4E88-BC5E-106AEBF65EB7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with federated analytics; enable training only after the data, privacy, and recovery paths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383E6C-1657-4B5B-8879-7FC0AEC261AE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852928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815377-4277-4F34-B2E8-94C36D9C4436}"/>
              </a:ext>
            </a:extLst>
          </p:cNvPr>
          <p:cNvSpPr>
            <a:spLocks noGrp="1"/>
          </p:cNvSpPr>
          <p:nvPr/>
        </p:nvSpPr>
        <p:spPr>
          <a:xfrm>
            <a:off x="667512" y="17647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Phase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170B6-5F27-4C0A-8103-AABE975610F3}"/>
              </a:ext>
            </a:extLst>
          </p:cNvPr>
          <p:cNvSpPr>
            <a:spLocks noGrp="1"/>
          </p:cNvSpPr>
          <p:nvPr/>
        </p:nvSpPr>
        <p:spPr>
          <a:xfrm>
            <a:off x="3447288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4AA2-CC5C-4831-A728-17A703311F53}"/>
              </a:ext>
            </a:extLst>
          </p:cNvPr>
          <p:cNvSpPr>
            <a:spLocks noGrp="1"/>
          </p:cNvSpPr>
          <p:nvPr/>
        </p:nvSpPr>
        <p:spPr>
          <a:xfrm>
            <a:off x="3520440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6EF320-5BD6-4E93-BE04-B66DC0DBE514}"/>
              </a:ext>
            </a:extLst>
          </p:cNvPr>
          <p:cNvSpPr>
            <a:spLocks noGrp="1"/>
          </p:cNvSpPr>
          <p:nvPr/>
        </p:nvSpPr>
        <p:spPr>
          <a:xfrm>
            <a:off x="7507224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EAA19-880D-4305-B631-18BEDD802D77}"/>
              </a:ext>
            </a:extLst>
          </p:cNvPr>
          <p:cNvSpPr>
            <a:spLocks noGrp="1"/>
          </p:cNvSpPr>
          <p:nvPr/>
        </p:nvSpPr>
        <p:spPr>
          <a:xfrm>
            <a:off x="7580376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needed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D077EF-7B73-4A48-BF93-BE2FF98AD55C}"/>
              </a:ext>
            </a:extLst>
          </p:cNvPr>
          <p:cNvSpPr>
            <a:spLocks noGrp="1"/>
          </p:cNvSpPr>
          <p:nvPr/>
        </p:nvSpPr>
        <p:spPr>
          <a:xfrm>
            <a:off x="594360" y="236982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30F56B-65E8-4B4D-AE87-7B800F1570AE}"/>
              </a:ext>
            </a:extLst>
          </p:cNvPr>
          <p:cNvSpPr>
            <a:spLocks noGrp="1"/>
          </p:cNvSpPr>
          <p:nvPr/>
        </p:nvSpPr>
        <p:spPr>
          <a:xfrm>
            <a:off x="667512" y="244297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1. Define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A7A60E-3308-46B9-8ED0-A94A1248497E}"/>
              </a:ext>
            </a:extLst>
          </p:cNvPr>
          <p:cNvSpPr>
            <a:spLocks noGrp="1"/>
          </p:cNvSpPr>
          <p:nvPr/>
        </p:nvSpPr>
        <p:spPr>
          <a:xfrm>
            <a:off x="3447288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2E768-B155-4108-A917-81CEC8DEFE13}"/>
              </a:ext>
            </a:extLst>
          </p:cNvPr>
          <p:cNvSpPr>
            <a:spLocks noGrp="1"/>
          </p:cNvSpPr>
          <p:nvPr/>
        </p:nvSpPr>
        <p:spPr>
          <a:xfrm>
            <a:off x="3520440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 the sepsis research question, patient group, outcome, horizon, sources, site owners, and stop conditions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5302B5-AEFF-4AC3-A299-F08E8F36F866}"/>
              </a:ext>
            </a:extLst>
          </p:cNvPr>
          <p:cNvSpPr>
            <a:spLocks noGrp="1"/>
          </p:cNvSpPr>
          <p:nvPr/>
        </p:nvSpPr>
        <p:spPr>
          <a:xfrm>
            <a:off x="7507224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7A7815-5F24-4450-95EC-DD6BE8725C25}"/>
              </a:ext>
            </a:extLst>
          </p:cNvPr>
          <p:cNvSpPr>
            <a:spLocks noGrp="1"/>
          </p:cNvSpPr>
          <p:nvPr/>
        </p:nvSpPr>
        <p:spPr>
          <a:xfrm>
            <a:off x="7580376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Signed clinical and data contract; named owners; no automatic care 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E41A3F-8B3A-42AB-AA96-2BA4DC29AD3B}"/>
              </a:ext>
            </a:extLst>
          </p:cNvPr>
          <p:cNvSpPr>
            <a:spLocks noGrp="1"/>
          </p:cNvSpPr>
          <p:nvPr/>
        </p:nvSpPr>
        <p:spPr>
          <a:xfrm>
            <a:off x="594360" y="304800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F5F03-3944-44F7-B5E4-9E1086F02AB1}"/>
              </a:ext>
            </a:extLst>
          </p:cNvPr>
          <p:cNvSpPr>
            <a:spLocks noGrp="1"/>
          </p:cNvSpPr>
          <p:nvPr/>
        </p:nvSpPr>
        <p:spPr>
          <a:xfrm>
            <a:off x="667512" y="312115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2. 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AA2085-00F1-42F1-853E-7AC03F183B23}"/>
              </a:ext>
            </a:extLst>
          </p:cNvPr>
          <p:cNvSpPr>
            <a:spLocks noGrp="1"/>
          </p:cNvSpPr>
          <p:nvPr/>
        </p:nvSpPr>
        <p:spPr>
          <a:xfrm>
            <a:off x="3447288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66ED5F-A66B-4934-ABC4-E83734BE467F}"/>
              </a:ext>
            </a:extLst>
          </p:cNvPr>
          <p:cNvSpPr>
            <a:spLocks noGrp="1"/>
          </p:cNvSpPr>
          <p:nvPr/>
        </p:nvSpPr>
        <p:spPr>
          <a:xfrm>
            <a:off x="3520440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 local counts, missingness, units, labels, and seed-model measures; reveal approved aggregates only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5B3F9-6E5F-47E9-85B6-FB13ED306D04}"/>
              </a:ext>
            </a:extLst>
          </p:cNvPr>
          <p:cNvSpPr>
            <a:spLocks noGrp="1"/>
          </p:cNvSpPr>
          <p:nvPr/>
        </p:nvSpPr>
        <p:spPr>
          <a:xfrm>
            <a:off x="7507224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212C95-D024-49DF-A483-9058E582E581}"/>
              </a:ext>
            </a:extLst>
          </p:cNvPr>
          <p:cNvSpPr>
            <a:spLocks noGrp="1"/>
          </p:cNvSpPr>
          <p:nvPr/>
        </p:nvSpPr>
        <p:spPr>
          <a:xfrm>
            <a:off x="7580376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Same meaning at every site; minimum-message path; privacy threshold and audit trail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6FE044-3348-4E4C-85FC-0F05D67F7015}"/>
              </a:ext>
            </a:extLst>
          </p:cNvPr>
          <p:cNvSpPr>
            <a:spLocks noGrp="1"/>
          </p:cNvSpPr>
          <p:nvPr/>
        </p:nvSpPr>
        <p:spPr>
          <a:xfrm>
            <a:off x="594360" y="372618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C3BAFB-5BF5-4B01-8498-D3546837CBE9}"/>
              </a:ext>
            </a:extLst>
          </p:cNvPr>
          <p:cNvSpPr>
            <a:spLocks noGrp="1"/>
          </p:cNvSpPr>
          <p:nvPr/>
        </p:nvSpPr>
        <p:spPr>
          <a:xfrm>
            <a:off x="667512" y="379933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3. Simulate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D6D3CF-7424-4D18-9890-24D763128CDA}"/>
              </a:ext>
            </a:extLst>
          </p:cNvPr>
          <p:cNvSpPr>
            <a:spLocks noGrp="1"/>
          </p:cNvSpPr>
          <p:nvPr/>
        </p:nvSpPr>
        <p:spPr>
          <a:xfrm>
            <a:off x="3447288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CA9F4-FF5F-4C24-A036-12A0C3216696}"/>
              </a:ext>
            </a:extLst>
          </p:cNvPr>
          <p:cNvSpPr>
            <a:spLocks noGrp="1"/>
          </p:cNvSpPr>
          <p:nvPr/>
        </p:nvSpPr>
        <p:spPr>
          <a:xfrm>
            <a:off x="3520440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Exercise complete rounds with approved test data, including site rejection, dropout, retry, bad update, and rollback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E31BD2-C02C-48F0-A0FE-5BBBB95B0C51}"/>
              </a:ext>
            </a:extLst>
          </p:cNvPr>
          <p:cNvSpPr>
            <a:spLocks noGrp="1"/>
          </p:cNvSpPr>
          <p:nvPr/>
        </p:nvSpPr>
        <p:spPr>
          <a:xfrm>
            <a:off x="7507224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21A96-7DBE-4B73-92D8-36238161F7A4}"/>
              </a:ext>
            </a:extLst>
          </p:cNvPr>
          <p:cNvSpPr>
            <a:spLocks noGrp="1"/>
          </p:cNvSpPr>
          <p:nvPr/>
        </p:nvSpPr>
        <p:spPr>
          <a:xfrm>
            <a:off x="7580376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Deterministic recovery, signatures, round state, and no individual-update exposure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FC2832-250A-4D49-8EBF-4722A2F7531D}"/>
              </a:ext>
            </a:extLst>
          </p:cNvPr>
          <p:cNvSpPr>
            <a:spLocks noGrp="1"/>
          </p:cNvSpPr>
          <p:nvPr/>
        </p:nvSpPr>
        <p:spPr>
          <a:xfrm>
            <a:off x="594360" y="440436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1A0B1-652A-4252-85BC-BD3E5B3D5858}"/>
              </a:ext>
            </a:extLst>
          </p:cNvPr>
          <p:cNvSpPr>
            <a:spLocks noGrp="1"/>
          </p:cNvSpPr>
          <p:nvPr/>
        </p:nvSpPr>
        <p:spPr>
          <a:xfrm>
            <a:off x="667512" y="447751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Retrospective train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74D9192-44C0-4A4A-AFE8-E45CE995A1D6}"/>
              </a:ext>
            </a:extLst>
          </p:cNvPr>
          <p:cNvSpPr>
            <a:spLocks noGrp="1"/>
          </p:cNvSpPr>
          <p:nvPr/>
        </p:nvSpPr>
        <p:spPr>
          <a:xfrm>
            <a:off x="3447288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880F6-2B6F-4633-8D56-D150FD6C1945}"/>
              </a:ext>
            </a:extLst>
          </p:cNvPr>
          <p:cNvSpPr>
            <a:spLocks noGrp="1"/>
          </p:cNvSpPr>
          <p:nvPr/>
        </p:nvSpPr>
        <p:spPr>
          <a:xfrm>
            <a:off x="3520440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on historical local data; evaluate every candidate locally and compare with local-only and current baselines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40F8CA7-3636-4591-A377-3CB024DBE12B}"/>
              </a:ext>
            </a:extLst>
          </p:cNvPr>
          <p:cNvSpPr>
            <a:spLocks noGrp="1"/>
          </p:cNvSpPr>
          <p:nvPr/>
        </p:nvSpPr>
        <p:spPr>
          <a:xfrm>
            <a:off x="7507224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8A6AC6-8C69-48F4-9C9E-8763D385948D}"/>
              </a:ext>
            </a:extLst>
          </p:cNvPr>
          <p:cNvSpPr>
            <a:spLocks noGrp="1"/>
          </p:cNvSpPr>
          <p:nvPr/>
        </p:nvSpPr>
        <p:spPr>
          <a:xfrm>
            <a:off x="7580376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and subgroup evidence; privacy report; candidate rejected when any gate fails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7DBE89-C515-4B02-83EF-50CDFCD86217}"/>
              </a:ext>
            </a:extLst>
          </p:cNvPr>
          <p:cNvSpPr>
            <a:spLocks noGrp="1"/>
          </p:cNvSpPr>
          <p:nvPr/>
        </p:nvSpPr>
        <p:spPr>
          <a:xfrm>
            <a:off x="594360" y="508254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674F3-FB7C-44A9-A53F-62A858865527}"/>
              </a:ext>
            </a:extLst>
          </p:cNvPr>
          <p:cNvSpPr>
            <a:spLocks noGrp="1"/>
          </p:cNvSpPr>
          <p:nvPr/>
        </p:nvSpPr>
        <p:spPr>
          <a:xfrm>
            <a:off x="667512" y="51556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5. Silent live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DED86A-8DF5-4D99-B9D6-C41B6D36E250}"/>
              </a:ext>
            </a:extLst>
          </p:cNvPr>
          <p:cNvSpPr>
            <a:spLocks noGrp="1"/>
          </p:cNvSpPr>
          <p:nvPr/>
        </p:nvSpPr>
        <p:spPr>
          <a:xfrm>
            <a:off x="3447288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4DD496-AB69-4A09-920B-2DFCCCC582F8}"/>
              </a:ext>
            </a:extLst>
          </p:cNvPr>
          <p:cNvSpPr>
            <a:spLocks noGrp="1"/>
          </p:cNvSpPr>
          <p:nvPr/>
        </p:nvSpPr>
        <p:spPr>
          <a:xfrm>
            <a:off x="3520440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the approved model on current data without displaying warnings to clinicians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B578E8A-A664-4A81-A466-F2903CA08D64}"/>
              </a:ext>
            </a:extLst>
          </p:cNvPr>
          <p:cNvSpPr>
            <a:spLocks noGrp="1"/>
          </p:cNvSpPr>
          <p:nvPr/>
        </p:nvSpPr>
        <p:spPr>
          <a:xfrm>
            <a:off x="7507224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67822-8C6A-4AA1-9B75-C58DF72BBE26}"/>
              </a:ext>
            </a:extLst>
          </p:cNvPr>
          <p:cNvSpPr>
            <a:spLocks noGrp="1"/>
          </p:cNvSpPr>
          <p:nvPr/>
        </p:nvSpPr>
        <p:spPr>
          <a:xfrm>
            <a:off x="7580376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Reliability, drift, alert volume, security, recovery, and separate clinical approval for any next stage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D0300A-8102-422A-B87C-10ACE4D3BDF4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Evidence—not calendar dates—advances the federation / 18</a:t>
            </a:r>
          </a:p>
        </p:txBody>
      </p:sp>
    </p:spTree>
    <p:extLst>
      <p:ext uri="{BB962C8B-B14F-4D97-AF65-F5344CB8AC3E}">
        <p14:creationId xmlns:p14="http://schemas.microsoft.com/office/powerpoint/2010/main" val="1705652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SUCCESS MEASURES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Success means quality, privacy, and recovery.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No single accuracy number proves that the federated system is safe or useful.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model evidence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Calibration and discrimination at every hospital; approved group results; comparison with local-only and current baselines.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Minimal data movement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Zero raw patient rows in the GMA path; measured message size; blocked fields; cohort and privacy-threshold compliance.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Reliable rounds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Completion, timeout, dropout, retry, cancellation, signature verification, and time to stop a bad round.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of recovery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Complete seed-to-release lineage; immutable approved versions; successful scheduled rollback and evidence-recovery drills.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Set measured baselines before targets; do not borrow NVIDIA study results as project goals / 19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BB9CCDB-CDB6-46D2-AAB1-924DC0F3E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B2566-7613-48BE-B8F4-6418A62A468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9FC07-4330-4143-B79D-8612B56C5543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Start with federated analytics; earn the right to train.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A9760-6385-4CDB-B187-EBB7C065B31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Use Dagents as the governed orchestration and release layer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072AB-1C19-4895-B0A7-4060EE04F0E8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0D9345-3D90-4ADB-8B0E-AC4618397D62}"/>
              </a:ext>
            </a:extLst>
          </p:cNvPr>
          <p:cNvSpPr>
            <a:spLocks noGrp="1"/>
          </p:cNvSpPr>
          <p:nvPr/>
        </p:nvSpPr>
        <p:spPr>
          <a:xfrm>
            <a:off x="1504950" y="26289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Define one sepsis research use, feature contract, participant policy, site owner, and safe fallback.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22953-DC38-4E78-9226-CFA14AEE5151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1BC90-F2F2-4805-BA8E-271EFB531396}"/>
              </a:ext>
            </a:extLst>
          </p:cNvPr>
          <p:cNvSpPr>
            <a:spLocks noGrp="1"/>
          </p:cNvSpPr>
          <p:nvPr/>
        </p:nvSpPr>
        <p:spPr>
          <a:xfrm>
            <a:off x="1504950" y="31242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Run data-readiness and seed-model evaluation locally; share only protected aggregate measures.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C595F4-C3FC-4AC3-9C61-8E944966915E}"/>
              </a:ext>
            </a:extLst>
          </p:cNvPr>
          <p:cNvSpPr>
            <a:spLocks noGrp="1"/>
          </p:cNvSpPr>
          <p:nvPr/>
        </p:nvSpPr>
        <p:spPr>
          <a:xfrm>
            <a:off x="12382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88CBF-F21E-4EBF-9914-76AC84C9ADCD}"/>
              </a:ext>
            </a:extLst>
          </p:cNvPr>
          <p:cNvSpPr>
            <a:spLocks noGrp="1"/>
          </p:cNvSpPr>
          <p:nvPr/>
        </p:nvSpPr>
        <p:spPr>
          <a:xfrm>
            <a:off x="1504950" y="36195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Integrate NVIDIA FLARE or an equivalent engine behind Dagents round and result contracts.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1B8C96-263A-43AE-AA7B-D08F672A8504}"/>
              </a:ext>
            </a:extLst>
          </p:cNvPr>
          <p:cNvSpPr>
            <a:spLocks noGrp="1"/>
          </p:cNvSpPr>
          <p:nvPr/>
        </p:nvSpPr>
        <p:spPr>
          <a:xfrm>
            <a:off x="1238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351B7-7389-422E-BC6A-7BB16FE694F4}"/>
              </a:ext>
            </a:extLst>
          </p:cNvPr>
          <p:cNvSpPr>
            <a:spLocks noGrp="1"/>
          </p:cNvSpPr>
          <p:nvPr/>
        </p:nvSpPr>
        <p:spPr>
          <a:xfrm>
            <a:off x="1504950" y="41148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 local code approval, secure aggregation where needed, signed releases, and complete lineage.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051E74-2CCC-4F86-A1EB-E60028ACCA68}"/>
              </a:ext>
            </a:extLst>
          </p:cNvPr>
          <p:cNvSpPr>
            <a:spLocks noGrp="1"/>
          </p:cNvSpPr>
          <p:nvPr/>
        </p:nvSpPr>
        <p:spPr>
          <a:xfrm>
            <a:off x="1238250" y="467677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46266-EA9B-4C5E-A665-4242A6261EA6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Practice cancellation and rollback before retrospective training—and again before any clinician-facing study.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13CCE-EE3F-4E16-87AA-303D37C0990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20</a:t>
            </a:r>
          </a:p>
        </p:txBody>
      </p:sp>
    </p:spTree>
    <p:extLst>
      <p:ext uri="{BB962C8B-B14F-4D97-AF65-F5344CB8AC3E}">
        <p14:creationId xmlns:p14="http://schemas.microsoft.com/office/powerpoint/2010/main" val="2484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GLOSSARY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Federated-system terms in plain language.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terms describe different jobs; none is automatic proof of privacy, security, safety, or compliance.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Term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Plain meaning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it matters 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train locally and send protected model updates instead of records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Improves one shared model; requires a specialist engine and privacy controls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calculate approved measures locally and reveal combined results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safest first cross-hospital workload for readiness and evaluation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query layer can reach several remote data sources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local feature views; can still expose or move detailed results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Secure aggregation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coordinator learns a combined update without reading each site’s update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Reduces exposure; does not solve poisoning, memorization, or governance alone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point / rollback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 locked known-good release / return to that release after a problem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Backup-inspired control that makes model changes reversible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healthcare glossary / 21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4501</Words>
  <Application>Microsoft Macintosh PowerPoint</Application>
  <DocSecurity>0</DocSecurity>
  <PresentationFormat>Widescreen</PresentationFormat>
  <Paragraphs>450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Calibri</vt:lpstr>
      <vt:lpstr>Georgia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IMT2022525 Devarakonda Pradyun</cp:lastModifiedBy>
  <cp:revision>2</cp:revision>
  <dcterms:created xsi:type="dcterms:W3CDTF">2026-08-21T06:05:42Z</dcterms:created>
  <dcterms:modified xsi:type="dcterms:W3CDTF">2026-08-28T07:36:46Z</dcterms:modified>
</cp:coreProperties>
</file>