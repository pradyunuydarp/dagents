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7" r:id="rId28"/>
    <p:sldId id="278" r:id="rId29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5"/>
  </p:normalViewPr>
  <p:slideViewPr>
    <p:cSldViewPr snapToGrid="0">
      <p:cViewPr varScale="1">
        <p:scale>
          <a:sx n="215" d="100"/>
          <a:sy n="215" d="100"/>
        </p:scale>
        <p:origin x="10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Opening: Dagents is proposed as the orchestration and release layer around cross-silo federated learning. It is not presented as a clinical product or as a replacement for a specialist federated-learning runtime.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/Users/pradyundevarakonda/Developer/Dagents/docs/agents/lma-gma-architecture.md</a:t>
            </a:r>
          </a:p>
          <a:p>
            <a:r>
              <a:t>- https://research.google/pubs/communication-efficient-learning-of-deep-networks-from-decentralized-data/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proposed division of responsibilities. Dagents owns orchestration and governance; the federated engine owns specialist distributed-learning mechanics.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/Users/pradyundevarakonda/Developer/Dagents/AGENTS.md</a:t>
            </a:r>
          </a:p>
          <a:p>
            <a:r>
              <a:t>- https://developer.nvidia.com/blog/creating-robust-and-generalizable-ai-models-with-nvidia-flare/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Federated learning reduces raw-data collection, but individual model updates may expose information. Secure aggregation and privacy analysis are separate requirements.</a:t>
            </a:r>
          </a:p>
          <a:p>
            <a:endParaRPr/>
          </a:p>
          <a:p>
            <a:r>
              <a:t>[Sources]</a:t>
            </a:r>
          </a:p>
          <a:p>
            <a:r>
              <a:t>- https://research.google/pubs/practical-secure-aggregation-for-privacy-preserving-machine-learning/</a:t>
            </a:r>
          </a:p>
          <a:p>
            <a:r>
              <a:t>- https://research.google/blog/distributed-differential-privacy-for-federated-learning/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five-hospital scope and sequencing are design assumptions for a professor-facing use case. Clinical details must be approved by the participating hospitals before implementation.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/Users/pradyundevarakonda/Developer/Dagents/docs/presentation/healthcare-case-study/federated-healthcare-use-case/dagents-federated-healthcare-use-case.md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diagram is a proposed architecture. The GMA coordinates round and release state; a specialist engine performs secure aggregation; every hospital retains its raw data and detailed trace.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/Users/pradyundevarakonda/Developer/Dagents/docs/agents/lma-gma-architecture.md</a:t>
            </a:r>
          </a:p>
          <a:p>
            <a:r>
              <a:t>- https://developer.nvidia.com/blog/creating-robust-and-generalizable-ai-models-with-nvidia-flare/</a:t>
            </a:r>
          </a:p>
          <a:p>
            <a:r>
              <a:t>- https://research.google/pubs/practical-secure-aggregation-for-privacy-preserving-machine-learning/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FedAvg is the common illustrative algorithm: start from a global model, train locally, aggregate updates, and repeat. Production requires much more than averaging.</a:t>
            </a:r>
          </a:p>
          <a:p>
            <a:endParaRPr/>
          </a:p>
          <a:p>
            <a:r>
              <a:t>[Sources]</a:t>
            </a:r>
          </a:p>
          <a:p>
            <a:r>
              <a:t>- https://research.google/pubs/communication-efficient-learning-of-deep-networks-from-decentralized-data/</a:t>
            </a:r>
          </a:p>
          <a:p>
            <a:r>
              <a:t>- https://developer.nvidia.com/blog/creating-robust-and-generalizable-ai-models-with-nvidia-flare/</a:t>
            </a:r>
          </a:p>
          <a:p>
            <a:r>
              <a:t>- https://research.google/pubs/practical-secure-aggregation-for-privacy-preserving-machine-learning/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lifecycle deliberately borrows baseline, catalog, integrity, and restore concepts from enterprise backup operations. A model update is not assumed trustworthy merely because it is incremental.</a:t>
            </a:r>
          </a:p>
          <a:p>
            <a:endParaRPr/>
          </a:p>
          <a:p>
            <a:r>
              <a:t>[Sources]</a:t>
            </a:r>
          </a:p>
          <a:p>
            <a:r>
              <a:t>- https://helpcenter.veeam.com/docs/vdc/userguide/aws_backup_chain_ec2.html</a:t>
            </a:r>
          </a:p>
          <a:p>
            <a:r>
              <a:t>- https://helpcenter.veeam.com/docs/vbr/userguide/backup_health_check.html</a:t>
            </a:r>
          </a:p>
          <a:p>
            <a:r>
              <a:t>- https://www.cisa.gov/stopransomware/ransomware-guide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NVIDIA FLARE documents client-side privacy policies and site-controlled execution. NVIDIA also demonstrates local code acceptance using hashes or digital signatures.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/Users/pradyundevarakonda/Developer/Dagents/dagents/lma/README.md</a:t>
            </a:r>
          </a:p>
          <a:p>
            <a:r>
              <a:t>- https://developer.nvidia.com/blog/federated-learning-from-simulation-to-production-with-nvidia-flare/</a:t>
            </a:r>
          </a:p>
          <a:p>
            <a:r>
              <a:t>- https://developer.nvidia.com/blog/?p=71033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extends the current GMA role. The repository has registration and model-run patterns, but not a production federated round controller or secure aggregator.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/Users/pradyundevarakonda/Developer/Dagents/dagents/gma/README.md</a:t>
            </a:r>
          </a:p>
          <a:p>
            <a:r>
              <a:t>- /Users/pradyundevarakonda/Developer/Dagents/contracts/grpc/dagents/agents/v1/lma_gma.proto</a:t>
            </a:r>
          </a:p>
          <a:p>
            <a:r>
              <a:t>- https://research.google/pubs/practical-secure-aggregation-for-privacy-preserving-machine-learning/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Federated analytics reveals approved aggregates rather than training updates. Database federation supplies logical access to remote sources and may still move or expose detailed results. Backup is an operations analogy.</a:t>
            </a:r>
          </a:p>
          <a:p>
            <a:endParaRPr/>
          </a:p>
          <a:p>
            <a:r>
              <a:t>[Sources]</a:t>
            </a:r>
          </a:p>
          <a:p>
            <a:r>
              <a:t>- https://research.google/blog/federated-analytics-collaborative-data-science-without-data-collection/</a:t>
            </a:r>
          </a:p>
          <a:p>
            <a:r>
              <a:t>- https://www.ibm.com/docs/en/db2/11.1.0?topic=federation-federated-systems</a:t>
            </a:r>
          </a:p>
          <a:p>
            <a:r>
              <a:t>- https://helpcenter.veeam.com/docs/vbr/userguide/backup_architecture.html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EXAM predicted oxygen requirements for symptomatic patients with COVID-19 using chest X-ray and electronic-record inputs. The results and study limits belong to that use case; they are not transferred to the proposed sepsis model.</a:t>
            </a:r>
          </a:p>
          <a:p>
            <a:endParaRPr/>
          </a:p>
          <a:p>
            <a:r>
              <a:t>[Sources]</a:t>
            </a:r>
          </a:p>
          <a:p>
            <a:r>
              <a:t>- https://www.nature.com/articles/s41591-021-01506-3</a:t>
            </a:r>
          </a:p>
          <a:p>
            <a:r>
              <a:t>- https://developer.nvidia.com/blog/creating-robust-and-generalizable-ai-models-with-nvidia-flare/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NVIDIA FLARE supports simulator-to-production workflows, federated statistics, client-side privacy policies, and customizable controllers. NVIDIA also documents site-side code acceptance using hashes or signatures.</a:t>
            </a:r>
          </a:p>
          <a:p>
            <a:endParaRPr/>
          </a:p>
          <a:p>
            <a:r>
              <a:t>[Sources]</a:t>
            </a:r>
          </a:p>
          <a:p>
            <a:r>
              <a:t>- https://developer.nvidia.com/blog/federated-learning-from-simulation-to-production-with-nvidia-flare/</a:t>
            </a:r>
          </a:p>
          <a:p>
            <a:r>
              <a:t>- https://developer.nvidia.com/blog/?p=71033</a:t>
            </a:r>
          </a:p>
          <a:p>
            <a:r>
              <a:t>- https://www.nature.com/articles/s41591-021-01506-3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Veeam documents a central server, source-side data movers, incremental chains, restore points, and backup health checks. CISA and NIST emphasize protected backups and regularly tested recovery.</a:t>
            </a:r>
          </a:p>
          <a:p>
            <a:endParaRPr/>
          </a:p>
          <a:p>
            <a:r>
              <a:t>[Sources]</a:t>
            </a:r>
          </a:p>
          <a:p>
            <a:r>
              <a:t>- https://helpcenter.veeam.com/docs/vbr/userguide/backup_architecture.html</a:t>
            </a:r>
          </a:p>
          <a:p>
            <a:r>
              <a:t>- https://helpcenter.veeam.com/docs/vdc/userguide/aws_backup_chain_ec2.html</a:t>
            </a:r>
          </a:p>
          <a:p>
            <a:r>
              <a:t>- https://helpcenter.veeam.com/docs/vbr/userguide/backup_health_check.html</a:t>
            </a:r>
          </a:p>
          <a:p>
            <a:r>
              <a:t>- https://www.cisa.gov/stopransomware/ransomware-guide</a:t>
            </a:r>
          </a:p>
          <a:p>
            <a:r>
              <a:t>- https://csrc.nist.gov/pubs/other/2020/04/24/protecting-data-from-ransomware-and-other-data-los/final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distinguishes existing Dagents service boundaries from the proposed federated engine and signed registry extensions.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/Users/pradyundevarakonda/Developer/Dagents/AGENTS.md</a:t>
            </a:r>
          </a:p>
          <a:p>
            <a:r>
              <a:t>- /Users/pradyundevarakonda/Developer/Dagents/docs/agents/lma-gma-architecture.md</a:t>
            </a:r>
          </a:p>
          <a:p>
            <a:r>
              <a:t>- /Users/pradyundevarakonda/Developer/Dagents/services/pipeline-service/README.md</a:t>
            </a:r>
          </a:p>
          <a:p>
            <a:r>
              <a:t>- /Users/pradyundevarakonda/Developer/Dagents/services/model-service/README.md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HIPAA and SOC 2 cover organizational and operational controls beyond architecture. Clinical decision-support status and regulatory obligations depend on intended use and implementation.</a:t>
            </a:r>
          </a:p>
          <a:p>
            <a:endParaRPr/>
          </a:p>
          <a:p>
            <a:r>
              <a:t>[Sources]</a:t>
            </a:r>
          </a:p>
          <a:p>
            <a:r>
              <a:t>- https://www.hhs.gov/hipaa/for-professionals/security/index.html</a:t>
            </a:r>
          </a:p>
          <a:p>
            <a:r>
              <a:t>- https://www.hhs.gov/hipaa/for-professionals/privacy/guidance/minimum-necessary-requirement/index.html</a:t>
            </a:r>
          </a:p>
          <a:p>
            <a:r>
              <a:t>- https://www.aicpa-cima.com/resources/download/2017-trust-services-criteria-with-revised-points-of-focus-2022</a:t>
            </a:r>
          </a:p>
          <a:p>
            <a:r>
              <a:t>- https://www.fda.gov/regulatory-information/search-fda-guidance-documents/clinical-decision-support-software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code-approval gate is supported by NVIDIA's example of hospital-side job acceptance based on code hashes or signatures. Secure aggregation requires a threshold and does not replace all privacy or security controls.</a:t>
            </a:r>
          </a:p>
          <a:p>
            <a:endParaRPr/>
          </a:p>
          <a:p>
            <a:r>
              <a:t>[Sources]</a:t>
            </a:r>
          </a:p>
          <a:p>
            <a:r>
              <a:t>- https://developer.nvidia.com/blog/?p=71033</a:t>
            </a:r>
          </a:p>
          <a:p>
            <a:r>
              <a:t>- https://research.google/pubs/practical-secure-aggregation-for-privacy-preserving-machine-learning/</a:t>
            </a:r>
          </a:p>
          <a:p>
            <a:r>
              <a:t>- https://research.google/blog/distributed-differential-privacy-for-federated-learning/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an architectural pros-and-cons comparison, not a vendor benchmark. Dagents is strongest when paired with a specialist federated-learning engine; its main tradeoff is integration and operational ownership.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/Users/pradyundevarakonda/Developer/Dagents/AGENTS.md</a:t>
            </a:r>
          </a:p>
          <a:p>
            <a:r>
              <a:t>- /Users/pradyundevarakonda/Developer/Dagents/docs/agents/lma-gma-architecture.md</a:t>
            </a:r>
          </a:p>
          <a:p>
            <a:r>
              <a:t>- https://developer.nvidia.com/blog/creating-robust-and-generalizable-ai-models-with-nvidia-flare/</a:t>
            </a:r>
          </a:p>
          <a:p>
            <a:r>
              <a:t>- https://research.google/blog/federated-analytics-collaborative-data-science-without-data-collection/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Federated analytics is recommended before federated training because it proves source contracts, measures, aggregation, and privacy boundaries with less model-change risk.</a:t>
            </a:r>
          </a:p>
          <a:p>
            <a:endParaRPr/>
          </a:p>
          <a:p>
            <a:r>
              <a:t>[Sources]</a:t>
            </a:r>
          </a:p>
          <a:p>
            <a:r>
              <a:t>- https://research.google/blog/federated-analytics-collaborative-data-science-without-data-collection/</a:t>
            </a:r>
          </a:p>
          <a:p>
            <a:r>
              <a:t>- https://developer.nvidia.com/blog/federated-learning-from-simulation-to-production-with-nvidia-flare/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four evaluation groups combine clinical-model evidence, data minimization, distributed-operations reliability, and backup-inspired recovery assurance.</a:t>
            </a:r>
          </a:p>
          <a:p>
            <a:endParaRPr/>
          </a:p>
          <a:p>
            <a:r>
              <a:t>[Sources]</a:t>
            </a:r>
          </a:p>
          <a:p>
            <a:r>
              <a:t>- https://www.nature.com/articles/s41591-021-01506-3</a:t>
            </a:r>
          </a:p>
          <a:p>
            <a:r>
              <a:t>- https://research.google/blog/distributed-differential-privacy-for-federated-learning/</a:t>
            </a:r>
          </a:p>
          <a:p>
            <a:r>
              <a:t>- https://www.cisa.gov/stopransomware/ransomware-guide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recommendation composes Dagents with specialist federated-learning technology. It does not recommend implementing clinical deployment in the current repository state.</a:t>
            </a:r>
          </a:p>
          <a:p>
            <a:endParaRPr/>
          </a:p>
          <a:p>
            <a:r>
              <a:t>[Sources]</a:t>
            </a:r>
          </a:p>
          <a:p>
            <a:r>
              <a:t>- /Users/pradyundevarakonda/Developer/Dagents/AGENTS.md</a:t>
            </a:r>
          </a:p>
          <a:p>
            <a:r>
              <a:t>- https://research.google/blog/federated-analytics-collaborative-data-science-without-data-collection/</a:t>
            </a:r>
          </a:p>
          <a:p>
            <a:r>
              <a:t>- https://developer.nvidia.com/blog/creating-robust-and-generalizable-ai-models-with-nvidia-flare/</a:t>
            </a:r>
          </a:p>
          <a:p>
            <a:r>
              <a:t>- https://www.cisa.gov/stopransomware/ransomware-guide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these as working definitions for the presentation. Federated database behavior is based on IBM Db2 federation; backup language is used only as an operations analogy.</a:t>
            </a:r>
          </a:p>
          <a:p>
            <a:endParaRPr/>
          </a:p>
          <a:p>
            <a:r>
              <a:t>[Sources]</a:t>
            </a:r>
          </a:p>
          <a:p>
            <a:r>
              <a:t>- https://research.google/pubs/communication-efficient-learning-of-deep-networks-from-decentralized-data/</a:t>
            </a:r>
          </a:p>
          <a:p>
            <a:r>
              <a:t>- https://research.google/blog/federated-analytics-collaborative-data-science-without-data-collection/</a:t>
            </a:r>
          </a:p>
          <a:p>
            <a:r>
              <a:t>- https://www.ibm.com/docs/en/db2/11.1.0?topic=federation-federated-systems</a:t>
            </a:r>
          </a:p>
          <a:p>
            <a:r>
              <a:t>- https://research.google/pubs/practical-secure-aggregation-for-privacy-preserving-machine-learning/</a:t>
            </a:r>
          </a:p>
          <a:p>
            <a:r>
              <a:t>- https://helpcenter.veeam.com/docs/vdc/userguide/aws_backup_chain_ec2.html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pradyunuydarp/Dagents.git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hlinkClick r:id="rId3"/>
            <a:extLst>
              <a:ext uri="{FF2B5EF4-FFF2-40B4-BE49-F238E27FC236}">
                <a16:creationId xmlns:a16="http://schemas.microsoft.com/office/drawing/2014/main" id="{DBAD7086-21FE-4FD0-95D7-1188A3E82C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15"/>
          </a:solidFill>
          <a:ln w="9525">
            <a:solidFill>
              <a:srgbClr val="11181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684ED2-C417-447E-BC93-3DDECEBC401B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619250" cy="24765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FEDERATED HEALTHCARE USE CASE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2AADAB-1301-46D6-B41A-E64CF809AE50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83820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3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Dagents for Federated Hospital 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35700B-61E4-42B5-88FF-89C9CE76EE4C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7239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C6D2CB"/>
                </a:solidFill>
                <a:latin typeface="Aptos"/>
                <a:ea typeface="Aptos"/>
                <a:cs typeface="Aptos"/>
              </a:defRPr>
            </a:pPr>
            <a:r>
              <a:rPr lang="en-US" sz="1500" dirty="0">
                <a:solidFill>
                  <a:srgbClr val="C6D2CB"/>
                </a:solidFill>
                <a:latin typeface="Aptos"/>
                <a:ea typeface="Aptos"/>
                <a:cs typeface="Aptos"/>
              </a:rPr>
              <a:t>S</a:t>
            </a:r>
            <a:r>
              <a:rPr sz="1500" b="0" dirty="0">
                <a:solidFill>
                  <a:srgbClr val="C6D2CB"/>
                </a:solidFill>
                <a:latin typeface="Aptos"/>
                <a:ea typeface="Aptos"/>
                <a:cs typeface="Aptos"/>
              </a:rPr>
              <a:t>end a signed seed model to hospitals, train and evaluate locally, aggregate protected updates, and release only after cross-site review.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8D4DF1-5B75-4D5B-B480-0169FB7D537F}"/>
              </a:ext>
            </a:extLst>
          </p:cNvPr>
          <p:cNvSpPr>
            <a:spLocks noGrp="1"/>
          </p:cNvSpPr>
          <p:nvPr/>
        </p:nvSpPr>
        <p:spPr>
          <a:xfrm>
            <a:off x="914400" y="4210050"/>
            <a:ext cx="1920240" cy="647700"/>
          </a:xfrm>
          <a:prstGeom prst="roundRect">
            <a:avLst>
              <a:gd name="adj" fmla="val 5882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Seed model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60A53B9-A4E7-484F-8034-98A213935481}"/>
              </a:ext>
            </a:extLst>
          </p:cNvPr>
          <p:cNvSpPr>
            <a:spLocks noGrp="1"/>
          </p:cNvSpPr>
          <p:nvPr/>
        </p:nvSpPr>
        <p:spPr>
          <a:xfrm>
            <a:off x="2987040" y="4210050"/>
            <a:ext cx="1920240" cy="647700"/>
          </a:xfrm>
          <a:prstGeom prst="roundRect">
            <a:avLst>
              <a:gd name="adj" fmla="val 5882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LMAs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566A10A-F573-49D6-877E-CE49EE18CAEE}"/>
              </a:ext>
            </a:extLst>
          </p:cNvPr>
          <p:cNvSpPr>
            <a:spLocks noGrp="1"/>
          </p:cNvSpPr>
          <p:nvPr/>
        </p:nvSpPr>
        <p:spPr>
          <a:xfrm>
            <a:off x="5059680" y="4210050"/>
            <a:ext cx="1920240" cy="647700"/>
          </a:xfrm>
          <a:prstGeom prst="roundRect">
            <a:avLst>
              <a:gd name="adj" fmla="val 5882"/>
            </a:avLst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Protected updates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C63E76E-89CD-4533-B12B-BA23CA95D353}"/>
              </a:ext>
            </a:extLst>
          </p:cNvPr>
          <p:cNvSpPr>
            <a:spLocks noGrp="1"/>
          </p:cNvSpPr>
          <p:nvPr/>
        </p:nvSpPr>
        <p:spPr>
          <a:xfrm>
            <a:off x="7132320" y="4210050"/>
            <a:ext cx="1920240" cy="647700"/>
          </a:xfrm>
          <a:prstGeom prst="roundRect">
            <a:avLst>
              <a:gd name="adj" fmla="val 5882"/>
            </a:avLst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Global review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B2C03F-8B20-492A-AE4E-3EBDA2782D40}"/>
              </a:ext>
            </a:extLst>
          </p:cNvPr>
          <p:cNvSpPr>
            <a:spLocks noGrp="1"/>
          </p:cNvSpPr>
          <p:nvPr/>
        </p:nvSpPr>
        <p:spPr>
          <a:xfrm>
            <a:off x="9204960" y="4210050"/>
            <a:ext cx="1920240" cy="647700"/>
          </a:xfrm>
          <a:prstGeom prst="roundRect">
            <a:avLst>
              <a:gd name="adj" fmla="val 5882"/>
            </a:avLst>
          </a:prstGeom>
          <a:solidFill>
            <a:srgbClr val="65549A"/>
          </a:solidFill>
          <a:ln w="9525">
            <a:solidFill>
              <a:srgbClr val="65549A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Signed release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E66650-CFE7-4B7A-A510-5BEC7C131A06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94A3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9A"/>
                </a:solidFill>
                <a:latin typeface="Aptos"/>
                <a:ea typeface="Aptos"/>
                <a:cs typeface="Aptos"/>
              </a:rPr>
              <a:t>Dagents Federated Healthcare / 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63BD50-1495-DE9C-D046-E7C5F535B0B9}"/>
              </a:ext>
            </a:extLst>
          </p:cNvPr>
          <p:cNvSpPr>
            <a:spLocks noGrp="1"/>
          </p:cNvSpPr>
          <p:nvPr/>
        </p:nvSpPr>
        <p:spPr>
          <a:xfrm>
            <a:off x="9525230" y="6044625"/>
            <a:ext cx="358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chemeClr val="bg2">
                    <a:lumMod val="75000"/>
                  </a:schemeClr>
                </a:solidFill>
              </a:rPr>
              <a:t>Pradyun Devarakonda</a:t>
            </a:r>
          </a:p>
          <a:p>
            <a:r>
              <a:rPr sz="1600">
                <a:solidFill>
                  <a:schemeClr val="bg2">
                    <a:lumMod val="75000"/>
                  </a:schemeClr>
                </a:solidFill>
              </a:rPr>
              <a:t>Professor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61663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45AB7B7-DB75-496C-AF33-7FDD3DC5DDB8}"/>
              </a:ext>
            </a:extLst>
          </p:cNvPr>
          <p:cNvSpPr>
            <a:spLocks noGrp="1"/>
          </p:cNvSpPr>
          <p:nvPr/>
        </p:nvSpPr>
        <p:spPr>
          <a:xfrm>
            <a:off x="0" y="1016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A0CB6B-1963-477D-B18C-AB79936C089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PROPOSAL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EC1414-F0F6-4931-BEC7-D06627529650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One control plane; hospital data stays local.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7BF40-0B73-4C09-A35E-0D4ED4DD423D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coordinates a five-hospital, sepsis-specific research pilot. A specialist federated engine performs protected aggregation.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6465F7-D72B-4FC0-8B6C-84B3DA6B0C7C}"/>
              </a:ext>
            </a:extLst>
          </p:cNvPr>
          <p:cNvSpPr>
            <a:spLocks noGrp="1"/>
          </p:cNvSpPr>
          <p:nvPr/>
        </p:nvSpPr>
        <p:spPr>
          <a:xfrm>
            <a:off x="895350" y="261937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59396F-9F48-4223-9DC1-50C44F9FC983}"/>
              </a:ext>
            </a:extLst>
          </p:cNvPr>
          <p:cNvSpPr>
            <a:spLocks noGrp="1"/>
          </p:cNvSpPr>
          <p:nvPr/>
        </p:nvSpPr>
        <p:spPr>
          <a:xfrm>
            <a:off x="1162050" y="255270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First case: improve and evaluate one sepsis warning model across five hospitals.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3DD299-2942-409C-BFC4-E2056759A9B7}"/>
              </a:ext>
            </a:extLst>
          </p:cNvPr>
          <p:cNvSpPr>
            <a:spLocks noGrp="1"/>
          </p:cNvSpPr>
          <p:nvPr/>
        </p:nvSpPr>
        <p:spPr>
          <a:xfrm>
            <a:off x="895350" y="3152775"/>
            <a:ext cx="114300" cy="11430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2482D2-0A91-47D9-A818-77C822FA6B14}"/>
              </a:ext>
            </a:extLst>
          </p:cNvPr>
          <p:cNvSpPr>
            <a:spLocks noGrp="1"/>
          </p:cNvSpPr>
          <p:nvPr/>
        </p:nvSpPr>
        <p:spPr>
          <a:xfrm>
            <a:off x="1162050" y="308610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GMA: selects sites, sends signed jobs, records rounds, and coordinates release or rollback.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5AE66C-3EE0-4B2E-9E99-FDA787C86E27}"/>
              </a:ext>
            </a:extLst>
          </p:cNvPr>
          <p:cNvSpPr>
            <a:spLocks noGrp="1"/>
          </p:cNvSpPr>
          <p:nvPr/>
        </p:nvSpPr>
        <p:spPr>
          <a:xfrm>
            <a:off x="895350" y="3686175"/>
            <a:ext cx="114300" cy="114300"/>
          </a:xfrm>
          <a:prstGeom prst="rect">
            <a:avLst/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83A9C4-A310-4B43-8A33-95A416DEEACF}"/>
              </a:ext>
            </a:extLst>
          </p:cNvPr>
          <p:cNvSpPr>
            <a:spLocks noGrp="1"/>
          </p:cNvSpPr>
          <p:nvPr/>
        </p:nvSpPr>
        <p:spPr>
          <a:xfrm>
            <a:off x="1162050" y="361950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LMA: validates and runs beside local records; patient rows and detailed evidence remain local.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55E17F-99CE-40DB-9406-767DA14F48F5}"/>
              </a:ext>
            </a:extLst>
          </p:cNvPr>
          <p:cNvSpPr>
            <a:spLocks noGrp="1"/>
          </p:cNvSpPr>
          <p:nvPr/>
        </p:nvSpPr>
        <p:spPr>
          <a:xfrm>
            <a:off x="895350" y="4219575"/>
            <a:ext cx="114300" cy="114300"/>
          </a:xfrm>
          <a:prstGeom prst="rect">
            <a:avLst/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26EEE6-1447-4276-909E-B92E08A9697B}"/>
              </a:ext>
            </a:extLst>
          </p:cNvPr>
          <p:cNvSpPr>
            <a:spLocks noGrp="1"/>
          </p:cNvSpPr>
          <p:nvPr/>
        </p:nvSpPr>
        <p:spPr>
          <a:xfrm>
            <a:off x="1162050" y="415290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Specialist layer: NVIDIA FLARE or an equivalent engine handles federated aggregation and privacy mechanisms.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F5ED820-7FB5-428B-8432-AE58353A927D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SEED MODEL</a:t>
            </a:r>
          </a:p>
          <a:p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SIGNED JOB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4C1672-6BDD-43C0-9DA7-5B38D6D9634F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75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protected update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13ADD2C-E510-4357-90C6-78A126127BF2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CANDIDATE</a:t>
            </a:r>
          </a:p>
          <a:p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9024E7-A8F2-449F-B740-B0F40BDA2C94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Federated Healthcare / 02</a:t>
            </a:r>
          </a:p>
        </p:txBody>
      </p:sp>
    </p:spTree>
    <p:extLst>
      <p:ext uri="{BB962C8B-B14F-4D97-AF65-F5344CB8AC3E}">
        <p14:creationId xmlns:p14="http://schemas.microsoft.com/office/powerpoint/2010/main" val="323325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7D0897-00AD-4965-8CE2-0C3E3BDAA895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EF4B8-D416-44CC-8F0F-CD690DE62B0E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Pooling raw hospital records is not the only way to learn.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C6F23-B794-41CB-9828-0309755B56BA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system must handle data boundaries, site differences, update privacy, and safe operations—not just model accuracy.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85A7CA-8862-4A59-84A7-D6796384C0A0}"/>
              </a:ext>
            </a:extLst>
          </p:cNvPr>
          <p:cNvSpPr>
            <a:spLocks noGrp="1"/>
          </p:cNvSpPr>
          <p:nvPr/>
        </p:nvSpPr>
        <p:spPr>
          <a:xfrm>
            <a:off x="777240" y="1737360"/>
            <a:ext cx="4892040" cy="114300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6ABA7-B17F-4F9D-95AC-A9AD1840DA5F}"/>
              </a:ext>
            </a:extLst>
          </p:cNvPr>
          <p:cNvSpPr>
            <a:spLocks noGrp="1"/>
          </p:cNvSpPr>
          <p:nvPr/>
        </p:nvSpPr>
        <p:spPr>
          <a:xfrm>
            <a:off x="94183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Data cannot simply move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C6DE5-10AC-4D7B-A902-BE1A4B95FA97}"/>
              </a:ext>
            </a:extLst>
          </p:cNvPr>
          <p:cNvSpPr>
            <a:spLocks noGrp="1"/>
          </p:cNvSpPr>
          <p:nvPr/>
        </p:nvSpPr>
        <p:spPr>
          <a:xfrm>
            <a:off x="94183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Privacy, contracts, sovereignty, and breach risk make a central patient-data copy a poor default.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689BD0-DEBE-4890-84C2-52C9C0F87691}"/>
              </a:ext>
            </a:extLst>
          </p:cNvPr>
          <p:cNvSpPr>
            <a:spLocks noGrp="1"/>
          </p:cNvSpPr>
          <p:nvPr/>
        </p:nvSpPr>
        <p:spPr>
          <a:xfrm>
            <a:off x="6217920" y="1737360"/>
            <a:ext cx="4892040" cy="114300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C22423-3633-4CFF-9783-DEDD0DB789E8}"/>
              </a:ext>
            </a:extLst>
          </p:cNvPr>
          <p:cNvSpPr>
            <a:spLocks noGrp="1"/>
          </p:cNvSpPr>
          <p:nvPr/>
        </p:nvSpPr>
        <p:spPr>
          <a:xfrm>
            <a:off x="638251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Hospitals do not match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7BA40-A629-4F2C-9946-C9AFDE739862}"/>
              </a:ext>
            </a:extLst>
          </p:cNvPr>
          <p:cNvSpPr>
            <a:spLocks noGrp="1"/>
          </p:cNvSpPr>
          <p:nvPr/>
        </p:nvSpPr>
        <p:spPr>
          <a:xfrm>
            <a:off x="638251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Populations, units, systems, labels, and workflows differ. One global setting may not fit every site.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CF9E1F-B30B-4AF0-BFE2-3E3E214ECC1C}"/>
              </a:ext>
            </a:extLst>
          </p:cNvPr>
          <p:cNvSpPr>
            <a:spLocks noGrp="1"/>
          </p:cNvSpPr>
          <p:nvPr/>
        </p:nvSpPr>
        <p:spPr>
          <a:xfrm>
            <a:off x="777240" y="3383280"/>
            <a:ext cx="4892040" cy="114300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C606A-7A36-4A56-AE5F-ED90CCBB9865}"/>
              </a:ext>
            </a:extLst>
          </p:cNvPr>
          <p:cNvSpPr>
            <a:spLocks noGrp="1"/>
          </p:cNvSpPr>
          <p:nvPr/>
        </p:nvSpPr>
        <p:spPr>
          <a:xfrm>
            <a:off x="941832" y="3529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Updates can still leak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DE3C6-7B14-47CE-984B-4FEA66D42DD9}"/>
              </a:ext>
            </a:extLst>
          </p:cNvPr>
          <p:cNvSpPr>
            <a:spLocks noGrp="1"/>
          </p:cNvSpPr>
          <p:nvPr/>
        </p:nvSpPr>
        <p:spPr>
          <a:xfrm>
            <a:off x="941832" y="391363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Weights and gradients are not automatically anonymous. Aggregation and privacy controls still matter.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2068F01-5A1E-4CA8-BAC8-5916EBED6DE1}"/>
              </a:ext>
            </a:extLst>
          </p:cNvPr>
          <p:cNvSpPr>
            <a:spLocks noGrp="1"/>
          </p:cNvSpPr>
          <p:nvPr/>
        </p:nvSpPr>
        <p:spPr>
          <a:xfrm>
            <a:off x="6217920" y="3383280"/>
            <a:ext cx="4892040" cy="114300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F3519E-A7D4-4C26-97BE-CCD863D217C3}"/>
              </a:ext>
            </a:extLst>
          </p:cNvPr>
          <p:cNvSpPr>
            <a:spLocks noGrp="1"/>
          </p:cNvSpPr>
          <p:nvPr/>
        </p:nvSpPr>
        <p:spPr>
          <a:xfrm>
            <a:off x="6382512" y="3529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Operations decide safety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48AC81-5D4F-4221-91E2-2B61032AA866}"/>
              </a:ext>
            </a:extLst>
          </p:cNvPr>
          <p:cNvSpPr>
            <a:spLocks noGrp="1"/>
          </p:cNvSpPr>
          <p:nvPr/>
        </p:nvSpPr>
        <p:spPr>
          <a:xfrm>
            <a:off x="6382512" y="391363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Identity, code approval, retries, versions, evidence, canaries, and rollback determine whether learning is controllable.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89CDBE-DBE1-4102-896D-D470C23C8EA5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use case is distributed learning plus governed operations / 03</a:t>
            </a:r>
          </a:p>
        </p:txBody>
      </p:sp>
    </p:spTree>
    <p:extLst>
      <p:ext uri="{BB962C8B-B14F-4D97-AF65-F5344CB8AC3E}">
        <p14:creationId xmlns:p14="http://schemas.microsoft.com/office/powerpoint/2010/main" val="1152305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7D0897-00AD-4965-8CE2-0C3E3BDAA895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USE-CASE BOUNDARY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EF4B8-D416-44CC-8F0F-CD690DE62B0E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Start narrow enough to prove the whole system.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C6F23-B794-41CB-9828-0309755B56BA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Illustrative research pilot: five hospitals, adult inpatient wards, sepsis first, past-data testing followed by silent live evaluation.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85A7CA-8862-4A59-84A7-D6796384C0A0}"/>
              </a:ext>
            </a:extLst>
          </p:cNvPr>
          <p:cNvSpPr>
            <a:spLocks noGrp="1"/>
          </p:cNvSpPr>
          <p:nvPr/>
        </p:nvSpPr>
        <p:spPr>
          <a:xfrm>
            <a:off x="777240" y="1737360"/>
            <a:ext cx="4892040" cy="114300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6ABA7-B17F-4F9D-95AC-A9AD1840DA5F}"/>
              </a:ext>
            </a:extLst>
          </p:cNvPr>
          <p:cNvSpPr>
            <a:spLocks noGrp="1"/>
          </p:cNvSpPr>
          <p:nvPr/>
        </p:nvSpPr>
        <p:spPr>
          <a:xfrm>
            <a:off x="94183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One clinical question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C6DE5-10AC-4D7B-A902-BE1A4B95FA97}"/>
              </a:ext>
            </a:extLst>
          </p:cNvPr>
          <p:cNvSpPr>
            <a:spLocks noGrp="1"/>
          </p:cNvSpPr>
          <p:nvPr/>
        </p:nvSpPr>
        <p:spPr>
          <a:xfrm>
            <a:off x="94183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Near-term sepsis deterioration risk. A clinical committee defines the reference event, horizon, exclusions, and safe use.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689BD0-DEBE-4890-84C2-52C9C0F87691}"/>
              </a:ext>
            </a:extLst>
          </p:cNvPr>
          <p:cNvSpPr>
            <a:spLocks noGrp="1"/>
          </p:cNvSpPr>
          <p:nvPr/>
        </p:nvSpPr>
        <p:spPr>
          <a:xfrm>
            <a:off x="6217920" y="1737360"/>
            <a:ext cx="4892040" cy="114300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C22423-3633-4CFF-9783-DEDD0DB789E8}"/>
              </a:ext>
            </a:extLst>
          </p:cNvPr>
          <p:cNvSpPr>
            <a:spLocks noGrp="1"/>
          </p:cNvSpPr>
          <p:nvPr/>
        </p:nvSpPr>
        <p:spPr>
          <a:xfrm>
            <a:off x="638251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Approved seed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7BA40-A629-4F2C-9946-C9AFDE739862}"/>
              </a:ext>
            </a:extLst>
          </p:cNvPr>
          <p:cNvSpPr>
            <a:spLocks noGrp="1"/>
          </p:cNvSpPr>
          <p:nvPr/>
        </p:nvSpPr>
        <p:spPr>
          <a:xfrm>
            <a:off x="6382512" y="226771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Start from public, de-identified, consented, synthetic, or otherwise permitted data—not a central copy of hospital records.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CF9E1F-B30B-4AF0-BFE2-3E3E214ECC1C}"/>
              </a:ext>
            </a:extLst>
          </p:cNvPr>
          <p:cNvSpPr>
            <a:spLocks noGrp="1"/>
          </p:cNvSpPr>
          <p:nvPr/>
        </p:nvSpPr>
        <p:spPr>
          <a:xfrm>
            <a:off x="777240" y="3383280"/>
            <a:ext cx="4892040" cy="114300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C606A-7A36-4A56-AE5F-ED90CCBB9865}"/>
              </a:ext>
            </a:extLst>
          </p:cNvPr>
          <p:cNvSpPr>
            <a:spLocks noGrp="1"/>
          </p:cNvSpPr>
          <p:nvPr/>
        </p:nvSpPr>
        <p:spPr>
          <a:xfrm>
            <a:off x="941832" y="3529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No automatic care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DE3C6-7B14-47CE-984B-4FEA66D42DD9}"/>
              </a:ext>
            </a:extLst>
          </p:cNvPr>
          <p:cNvSpPr>
            <a:spLocks noGrp="1"/>
          </p:cNvSpPr>
          <p:nvPr/>
        </p:nvSpPr>
        <p:spPr>
          <a:xfrm>
            <a:off x="941832" y="391363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Past-data and silent live stages first. No diagnosis, treatment, or clinician-facing warning without a separate approved study.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2068F01-5A1E-4CA8-BAC8-5916EBED6DE1}"/>
              </a:ext>
            </a:extLst>
          </p:cNvPr>
          <p:cNvSpPr>
            <a:spLocks noGrp="1"/>
          </p:cNvSpPr>
          <p:nvPr/>
        </p:nvSpPr>
        <p:spPr>
          <a:xfrm>
            <a:off x="6217920" y="3383280"/>
            <a:ext cx="4892040" cy="114300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F3519E-A7D4-4C26-97BE-CCD863D217C3}"/>
              </a:ext>
            </a:extLst>
          </p:cNvPr>
          <p:cNvSpPr>
            <a:spLocks noGrp="1"/>
          </p:cNvSpPr>
          <p:nvPr/>
        </p:nvSpPr>
        <p:spPr>
          <a:xfrm>
            <a:off x="6382512" y="3529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One condition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48AC81-5D4F-4221-91E2-2B61032AA866}"/>
              </a:ext>
            </a:extLst>
          </p:cNvPr>
          <p:cNvSpPr>
            <a:spLocks noGrp="1"/>
          </p:cNvSpPr>
          <p:nvPr/>
        </p:nvSpPr>
        <p:spPr>
          <a:xfrm>
            <a:off x="6382512" y="391363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Later cases could cover stroke, heart attack, sudden kidney injury, or breathing decline. Each needs its own model, workflow, owner, and safety evidence.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89CDBE-DBE1-4102-896D-D470C23C8EA5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Proposed research boundary—not a clinical or regulatory conclusion / 04</a:t>
            </a:r>
          </a:p>
        </p:txBody>
      </p:sp>
    </p:spTree>
    <p:extLst>
      <p:ext uri="{BB962C8B-B14F-4D97-AF65-F5344CB8AC3E}">
        <p14:creationId xmlns:p14="http://schemas.microsoft.com/office/powerpoint/2010/main" val="1152305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0E53F3A-15C4-4E87-B1FC-FD206D4F9D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784829-7899-4AD9-909A-707E198CB695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FEDERATED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A7AFF5-32B7-4744-9598-EC73A05D2890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Dagents controls the round; a federated engine aggregates.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0B3257-4C1E-4555-8FD9-857EDB8DB616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Signed jobs go out, protected updates come back, and raw records plus patient-level traces stay at each hospital.</a:t>
            </a:r>
          </a:p>
        </p:txBody>
      </p:sp>
      <p:pic>
        <p:nvPicPr>
          <p:cNvPr id="13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473067"/>
            <a:ext cx="11049000" cy="23404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9A9093-40E4-42D4-AA15-CBE19544F380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Federated control and data boundaries / 07</a:t>
            </a:r>
          </a:p>
        </p:txBody>
      </p:sp>
    </p:spTree>
    <p:extLst>
      <p:ext uri="{BB962C8B-B14F-4D97-AF65-F5344CB8AC3E}">
        <p14:creationId xmlns:p14="http://schemas.microsoft.com/office/powerpoint/2010/main" val="738132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D1158-DC0C-4870-9A1F-691F8C825EE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ONE FEDERATED 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56273-0838-4E98-9C35-87AA81425751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 round moves code and updates—not patient records.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DD751-E4A4-4D59-8F78-D01EFE7D22D5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coordinator never treats ‘weights only’ as a privacy guarantee.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E36FB3-EF4F-4471-8C0C-A6391FFA5999}"/>
              </a:ext>
            </a:extLst>
          </p:cNvPr>
          <p:cNvSpPr>
            <a:spLocks noGrp="1"/>
          </p:cNvSpPr>
          <p:nvPr/>
        </p:nvSpPr>
        <p:spPr>
          <a:xfrm>
            <a:off x="685800" y="1874519"/>
            <a:ext cx="2423160" cy="2560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54123-D6D6-43E5-8E10-D9956C94BDCE}"/>
              </a:ext>
            </a:extLst>
          </p:cNvPr>
          <p:cNvSpPr>
            <a:spLocks noGrp="1"/>
          </p:cNvSpPr>
          <p:nvPr/>
        </p:nvSpPr>
        <p:spPr>
          <a:xfrm>
            <a:off x="85039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DISTRIBUTE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5C917-0DA9-4A9D-81A2-91E6CAEF835A}"/>
              </a:ext>
            </a:extLst>
          </p:cNvPr>
          <p:cNvSpPr>
            <a:spLocks noGrp="1"/>
          </p:cNvSpPr>
          <p:nvPr/>
        </p:nvSpPr>
        <p:spPr>
          <a:xfrm>
            <a:off x="85039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GMA selects approved sites and sends a signed seed, code hash, data contract, privacy profile, and round ID.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583F2-18F8-47B5-B953-1BE32838718A}"/>
              </a:ext>
            </a:extLst>
          </p:cNvPr>
          <p:cNvSpPr>
            <a:spLocks noGrp="1"/>
          </p:cNvSpPr>
          <p:nvPr/>
        </p:nvSpPr>
        <p:spPr>
          <a:xfrm>
            <a:off x="3154680" y="2926080"/>
            <a:ext cx="3200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B06795-DCE9-4C8D-B015-25CADBD41A99}"/>
              </a:ext>
            </a:extLst>
          </p:cNvPr>
          <p:cNvSpPr>
            <a:spLocks noGrp="1"/>
          </p:cNvSpPr>
          <p:nvPr/>
        </p:nvSpPr>
        <p:spPr>
          <a:xfrm>
            <a:off x="3474720" y="1874519"/>
            <a:ext cx="2423160" cy="2560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60983-67AA-4183-B04A-ACC05DF791ED}"/>
              </a:ext>
            </a:extLst>
          </p:cNvPr>
          <p:cNvSpPr>
            <a:spLocks noGrp="1"/>
          </p:cNvSpPr>
          <p:nvPr/>
        </p:nvSpPr>
        <p:spPr>
          <a:xfrm>
            <a:off x="363931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TRAIN LOCALLY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09C7A-CE49-4C0C-BAB7-7F16C2331F9C}"/>
              </a:ext>
            </a:extLst>
          </p:cNvPr>
          <p:cNvSpPr>
            <a:spLocks noGrp="1"/>
          </p:cNvSpPr>
          <p:nvPr/>
        </p:nvSpPr>
        <p:spPr>
          <a:xfrm>
            <a:off x="363931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Each LMA checks inputs, trains or evaluates inside the hospital, and bounds its contribution.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FFCDD-207D-447E-AD8D-0C3AEB782266}"/>
              </a:ext>
            </a:extLst>
          </p:cNvPr>
          <p:cNvSpPr>
            <a:spLocks noGrp="1"/>
          </p:cNvSpPr>
          <p:nvPr/>
        </p:nvSpPr>
        <p:spPr>
          <a:xfrm>
            <a:off x="5943600" y="2926080"/>
            <a:ext cx="3200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266D72-A8AA-4D4D-B477-7E6D7F171E6D}"/>
              </a:ext>
            </a:extLst>
          </p:cNvPr>
          <p:cNvSpPr>
            <a:spLocks noGrp="1"/>
          </p:cNvSpPr>
          <p:nvPr/>
        </p:nvSpPr>
        <p:spPr>
          <a:xfrm>
            <a:off x="6263640" y="1874519"/>
            <a:ext cx="2423160" cy="25603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4BA714-596E-48B7-B7FB-8173266FCE0E}"/>
              </a:ext>
            </a:extLst>
          </p:cNvPr>
          <p:cNvSpPr>
            <a:spLocks noGrp="1"/>
          </p:cNvSpPr>
          <p:nvPr/>
        </p:nvSpPr>
        <p:spPr>
          <a:xfrm>
            <a:off x="6428231" y="202082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PROTECT + AGGREGATE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1A9390-FE67-4674-85D7-F68E58244653}"/>
              </a:ext>
            </a:extLst>
          </p:cNvPr>
          <p:cNvSpPr>
            <a:spLocks noGrp="1"/>
          </p:cNvSpPr>
          <p:nvPr/>
        </p:nvSpPr>
        <p:spPr>
          <a:xfrm>
            <a:off x="642823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Secure aggregation and a minimum-participant rule reveal only the allowed combined update.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7B0A54-6410-4C3C-9E18-B02B32C485DB}"/>
              </a:ext>
            </a:extLst>
          </p:cNvPr>
          <p:cNvSpPr>
            <a:spLocks noGrp="1"/>
          </p:cNvSpPr>
          <p:nvPr/>
        </p:nvSpPr>
        <p:spPr>
          <a:xfrm>
            <a:off x="8732520" y="2926080"/>
            <a:ext cx="3200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7F04C6-72CF-4D13-82CA-222128D1F2CF}"/>
              </a:ext>
            </a:extLst>
          </p:cNvPr>
          <p:cNvSpPr>
            <a:spLocks noGrp="1"/>
          </p:cNvSpPr>
          <p:nvPr/>
        </p:nvSpPr>
        <p:spPr>
          <a:xfrm>
            <a:off x="9052559" y="1874519"/>
            <a:ext cx="2423160" cy="256032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6E707-0227-4865-8B3F-1C65728A0F1A}"/>
              </a:ext>
            </a:extLst>
          </p:cNvPr>
          <p:cNvSpPr>
            <a:spLocks noGrp="1"/>
          </p:cNvSpPr>
          <p:nvPr/>
        </p:nvSpPr>
        <p:spPr>
          <a:xfrm>
            <a:off x="921715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EVALUATE + DECIDE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8E6459-BE37-4D1A-BC1C-440076936B49}"/>
              </a:ext>
            </a:extLst>
          </p:cNvPr>
          <p:cNvSpPr>
            <a:spLocks noGrp="1"/>
          </p:cNvSpPr>
          <p:nvPr/>
        </p:nvSpPr>
        <p:spPr>
          <a:xfrm>
            <a:off x="921715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candidate returns to sites; cross-site evidence and governance decide release or rejection.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002B24-9FFE-495E-9B87-E5DD1FE8718C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5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Any failed gate cancels the round; the current approved model keeps running.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64141-C074-4DC7-BBE3-D0FC1209659F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Federated round sequence / 08</a:t>
            </a:r>
          </a:p>
        </p:txBody>
      </p:sp>
    </p:spTree>
    <p:extLst>
      <p:ext uri="{BB962C8B-B14F-4D97-AF65-F5344CB8AC3E}">
        <p14:creationId xmlns:p14="http://schemas.microsoft.com/office/powerpoint/2010/main" val="1530383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D1158-DC0C-4870-9A1F-691F8C825EE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RELEASE LIFECYCLE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56273-0838-4E98-9C35-87AA81425751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Treat every model version as a recoverable release.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DD751-E4A4-4D59-8F78-D01EFE7D22D5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Federated training creates candidates; governance creates releases.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E36FB3-EF4F-4471-8C0C-A6391FFA5999}"/>
              </a:ext>
            </a:extLst>
          </p:cNvPr>
          <p:cNvSpPr>
            <a:spLocks noGrp="1"/>
          </p:cNvSpPr>
          <p:nvPr/>
        </p:nvSpPr>
        <p:spPr>
          <a:xfrm>
            <a:off x="685800" y="1874519"/>
            <a:ext cx="2423160" cy="2560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54123-D6D6-43E5-8E10-D9956C94BDCE}"/>
              </a:ext>
            </a:extLst>
          </p:cNvPr>
          <p:cNvSpPr>
            <a:spLocks noGrp="1"/>
          </p:cNvSpPr>
          <p:nvPr/>
        </p:nvSpPr>
        <p:spPr>
          <a:xfrm>
            <a:off x="85039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5C917-0DA9-4A9D-81A2-91E6CAEF835A}"/>
              </a:ext>
            </a:extLst>
          </p:cNvPr>
          <p:cNvSpPr>
            <a:spLocks noGrp="1"/>
          </p:cNvSpPr>
          <p:nvPr/>
        </p:nvSpPr>
        <p:spPr>
          <a:xfrm>
            <a:off x="85039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Record the seed model, code, features, dependencies, intended use, approved sites, and safe fallback.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583F2-18F8-47B5-B953-1BE32838718A}"/>
              </a:ext>
            </a:extLst>
          </p:cNvPr>
          <p:cNvSpPr>
            <a:spLocks noGrp="1"/>
          </p:cNvSpPr>
          <p:nvPr/>
        </p:nvSpPr>
        <p:spPr>
          <a:xfrm>
            <a:off x="3154680" y="2926080"/>
            <a:ext cx="3200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B06795-DCE9-4C8D-B015-25CADBD41A99}"/>
              </a:ext>
            </a:extLst>
          </p:cNvPr>
          <p:cNvSpPr>
            <a:spLocks noGrp="1"/>
          </p:cNvSpPr>
          <p:nvPr/>
        </p:nvSpPr>
        <p:spPr>
          <a:xfrm>
            <a:off x="3474720" y="1874519"/>
            <a:ext cx="2423160" cy="2560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60983-67AA-4183-B04A-ACC05DF791ED}"/>
              </a:ext>
            </a:extLst>
          </p:cNvPr>
          <p:cNvSpPr>
            <a:spLocks noGrp="1"/>
          </p:cNvSpPr>
          <p:nvPr/>
        </p:nvSpPr>
        <p:spPr>
          <a:xfrm>
            <a:off x="363931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INCREMENT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09C7A-CE49-4C0C-BAB7-7F16C2331F9C}"/>
              </a:ext>
            </a:extLst>
          </p:cNvPr>
          <p:cNvSpPr>
            <a:spLocks noGrp="1"/>
          </p:cNvSpPr>
          <p:nvPr/>
        </p:nvSpPr>
        <p:spPr>
          <a:xfrm>
            <a:off x="363931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Create a round manifest; collect bounded updates and approved aggregate results.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FFCDD-207D-447E-AD8D-0C3AEB782266}"/>
              </a:ext>
            </a:extLst>
          </p:cNvPr>
          <p:cNvSpPr>
            <a:spLocks noGrp="1"/>
          </p:cNvSpPr>
          <p:nvPr/>
        </p:nvSpPr>
        <p:spPr>
          <a:xfrm>
            <a:off x="5943600" y="2926080"/>
            <a:ext cx="3200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266D72-A8AA-4D4D-B477-7E6D7F171E6D}"/>
              </a:ext>
            </a:extLst>
          </p:cNvPr>
          <p:cNvSpPr>
            <a:spLocks noGrp="1"/>
          </p:cNvSpPr>
          <p:nvPr/>
        </p:nvSpPr>
        <p:spPr>
          <a:xfrm>
            <a:off x="6263640" y="1874519"/>
            <a:ext cx="2423160" cy="25603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4BA714-596E-48B7-B7FB-8173266FCE0E}"/>
              </a:ext>
            </a:extLst>
          </p:cNvPr>
          <p:cNvSpPr>
            <a:spLocks noGrp="1"/>
          </p:cNvSpPr>
          <p:nvPr/>
        </p:nvSpPr>
        <p:spPr>
          <a:xfrm>
            <a:off x="642823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1A9390-FE67-4674-85D7-F68E58244653}"/>
              </a:ext>
            </a:extLst>
          </p:cNvPr>
          <p:cNvSpPr>
            <a:spLocks noGrp="1"/>
          </p:cNvSpPr>
          <p:nvPr/>
        </p:nvSpPr>
        <p:spPr>
          <a:xfrm>
            <a:off x="642823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Re-evaluate at every site; check privacy, performance, subgroup, integrity, and operational gates.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7B0A54-6410-4C3C-9E18-B02B32C485DB}"/>
              </a:ext>
            </a:extLst>
          </p:cNvPr>
          <p:cNvSpPr>
            <a:spLocks noGrp="1"/>
          </p:cNvSpPr>
          <p:nvPr/>
        </p:nvSpPr>
        <p:spPr>
          <a:xfrm>
            <a:off x="8732520" y="2926080"/>
            <a:ext cx="3200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7F04C6-72CF-4D13-82CA-222128D1F2CF}"/>
              </a:ext>
            </a:extLst>
          </p:cNvPr>
          <p:cNvSpPr>
            <a:spLocks noGrp="1"/>
          </p:cNvSpPr>
          <p:nvPr/>
        </p:nvSpPr>
        <p:spPr>
          <a:xfrm>
            <a:off x="9052559" y="1874519"/>
            <a:ext cx="2423160" cy="256032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6E707-0227-4865-8B3F-1C65728A0F1A}"/>
              </a:ext>
            </a:extLst>
          </p:cNvPr>
          <p:cNvSpPr>
            <a:spLocks noGrp="1"/>
          </p:cNvSpPr>
          <p:nvPr/>
        </p:nvSpPr>
        <p:spPr>
          <a:xfrm>
            <a:off x="9217151" y="202082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RELEASE OR RESTORE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8E6459-BE37-4D1A-BC1C-440076936B49}"/>
              </a:ext>
            </a:extLst>
          </p:cNvPr>
          <p:cNvSpPr>
            <a:spLocks noGrp="1"/>
          </p:cNvSpPr>
          <p:nvPr/>
        </p:nvSpPr>
        <p:spPr>
          <a:xfrm>
            <a:off x="921715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Sign a candidate for a small rollout—or keep and restore the last known-good model and settings.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002B24-9FFE-495E-9B87-E5DD1FE8718C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5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No candidate silently replaces the approved model.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64141-C074-4DC7-BBE3-D0FC1209659F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Versioned release lifecycle / 09</a:t>
            </a:r>
          </a:p>
        </p:txBody>
      </p:sp>
    </p:spTree>
    <p:extLst>
      <p:ext uri="{BB962C8B-B14F-4D97-AF65-F5344CB8AC3E}">
        <p14:creationId xmlns:p14="http://schemas.microsoft.com/office/powerpoint/2010/main" val="1530383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D1158-DC0C-4870-9A1F-691F8C825EE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LOCAL AGENT (LMA)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56273-0838-4E98-9C35-87AA81425751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The LMA is the hospital’s enforcement point.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DD751-E4A4-4D59-8F78-D01EFE7D22D5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It accepts only approved jobs, touches only approved fields, and keeps the detailed trace under hospital control.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E36FB3-EF4F-4471-8C0C-A6391FFA5999}"/>
              </a:ext>
            </a:extLst>
          </p:cNvPr>
          <p:cNvSpPr>
            <a:spLocks noGrp="1"/>
          </p:cNvSpPr>
          <p:nvPr/>
        </p:nvSpPr>
        <p:spPr>
          <a:xfrm>
            <a:off x="685800" y="1874519"/>
            <a:ext cx="2423160" cy="2560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54123-D6D6-43E5-8E10-D9956C94BDCE}"/>
              </a:ext>
            </a:extLst>
          </p:cNvPr>
          <p:cNvSpPr>
            <a:spLocks noGrp="1"/>
          </p:cNvSpPr>
          <p:nvPr/>
        </p:nvSpPr>
        <p:spPr>
          <a:xfrm>
            <a:off x="85039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VERIFY JOB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5C917-0DA9-4A9D-81A2-91E6CAEF835A}"/>
              </a:ext>
            </a:extLst>
          </p:cNvPr>
          <p:cNvSpPr>
            <a:spLocks noGrp="1"/>
          </p:cNvSpPr>
          <p:nvPr/>
        </p:nvSpPr>
        <p:spPr>
          <a:xfrm>
            <a:off x="85039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Check signer, code hash, dependencies, condition, allowed fields, privacy settings, and local approval. The hospital may reject.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583F2-18F8-47B5-B953-1BE32838718A}"/>
              </a:ext>
            </a:extLst>
          </p:cNvPr>
          <p:cNvSpPr>
            <a:spLocks noGrp="1"/>
          </p:cNvSpPr>
          <p:nvPr/>
        </p:nvSpPr>
        <p:spPr>
          <a:xfrm>
            <a:off x="3154680" y="2926080"/>
            <a:ext cx="3200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B06795-DCE9-4C8D-B015-25CADBD41A99}"/>
              </a:ext>
            </a:extLst>
          </p:cNvPr>
          <p:cNvSpPr>
            <a:spLocks noGrp="1"/>
          </p:cNvSpPr>
          <p:nvPr/>
        </p:nvSpPr>
        <p:spPr>
          <a:xfrm>
            <a:off x="3474720" y="1874519"/>
            <a:ext cx="2423160" cy="2560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60983-67AA-4183-B04A-ACC05DF791ED}"/>
              </a:ext>
            </a:extLst>
          </p:cNvPr>
          <p:cNvSpPr>
            <a:spLocks noGrp="1"/>
          </p:cNvSpPr>
          <p:nvPr/>
        </p:nvSpPr>
        <p:spPr>
          <a:xfrm>
            <a:off x="363931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PREPARE LOCALLY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09C7A-CE49-4C0C-BAB7-7F16C2331F9C}"/>
              </a:ext>
            </a:extLst>
          </p:cNvPr>
          <p:cNvSpPr>
            <a:spLocks noGrp="1"/>
          </p:cNvSpPr>
          <p:nvPr/>
        </p:nvSpPr>
        <p:spPr>
          <a:xfrm>
            <a:off x="363931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Build the approved feature view; validate units, time windows, missingness, cohort, and label availability.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FFCDD-207D-447E-AD8D-0C3AEB782266}"/>
              </a:ext>
            </a:extLst>
          </p:cNvPr>
          <p:cNvSpPr>
            <a:spLocks noGrp="1"/>
          </p:cNvSpPr>
          <p:nvPr/>
        </p:nvSpPr>
        <p:spPr>
          <a:xfrm>
            <a:off x="5943600" y="2926080"/>
            <a:ext cx="3200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266D72-A8AA-4D4D-B477-7E6D7F171E6D}"/>
              </a:ext>
            </a:extLst>
          </p:cNvPr>
          <p:cNvSpPr>
            <a:spLocks noGrp="1"/>
          </p:cNvSpPr>
          <p:nvPr/>
        </p:nvSpPr>
        <p:spPr>
          <a:xfrm>
            <a:off x="6263640" y="1874519"/>
            <a:ext cx="2423160" cy="25603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4BA714-596E-48B7-B7FB-8173266FCE0E}"/>
              </a:ext>
            </a:extLst>
          </p:cNvPr>
          <p:cNvSpPr>
            <a:spLocks noGrp="1"/>
          </p:cNvSpPr>
          <p:nvPr/>
        </p:nvSpPr>
        <p:spPr>
          <a:xfrm>
            <a:off x="6428231" y="202082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TRAIN + EVALUATE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1A9390-FE67-4674-85D7-F68E58244653}"/>
              </a:ext>
            </a:extLst>
          </p:cNvPr>
          <p:cNvSpPr>
            <a:spLocks noGrp="1"/>
          </p:cNvSpPr>
          <p:nvPr/>
        </p:nvSpPr>
        <p:spPr>
          <a:xfrm>
            <a:off x="642823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Run an isolated workload, calculate local measures, and clip or bound the site contribution.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7B0A54-6410-4C3C-9E18-B02B32C485DB}"/>
              </a:ext>
            </a:extLst>
          </p:cNvPr>
          <p:cNvSpPr>
            <a:spLocks noGrp="1"/>
          </p:cNvSpPr>
          <p:nvPr/>
        </p:nvSpPr>
        <p:spPr>
          <a:xfrm>
            <a:off x="8732520" y="2926080"/>
            <a:ext cx="3200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7F04C6-72CF-4D13-82CA-222128D1F2CF}"/>
              </a:ext>
            </a:extLst>
          </p:cNvPr>
          <p:cNvSpPr>
            <a:spLocks noGrp="1"/>
          </p:cNvSpPr>
          <p:nvPr/>
        </p:nvSpPr>
        <p:spPr>
          <a:xfrm>
            <a:off x="9052559" y="1874519"/>
            <a:ext cx="2423160" cy="256032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6E707-0227-4865-8B3F-1C65728A0F1A}"/>
              </a:ext>
            </a:extLst>
          </p:cNvPr>
          <p:cNvSpPr>
            <a:spLocks noGrp="1"/>
          </p:cNvSpPr>
          <p:nvPr/>
        </p:nvSpPr>
        <p:spPr>
          <a:xfrm>
            <a:off x="921715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PUBLISH MINIMUM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8E6459-BE37-4D1A-BC1C-440076936B49}"/>
              </a:ext>
            </a:extLst>
          </p:cNvPr>
          <p:cNvSpPr>
            <a:spLocks noGrp="1"/>
          </p:cNvSpPr>
          <p:nvPr/>
        </p:nvSpPr>
        <p:spPr>
          <a:xfrm>
            <a:off x="921715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Send only the protected update, allowed measures, status, versions, and a local evidence pointer.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002B24-9FFE-495E-9B87-E5DD1FE8718C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5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Detailed records, features, and patient-level predictions never belong in the GMA result.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64141-C074-4DC7-BBE3-D0FC1209659F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Hospital-local execution boundary / 10</a:t>
            </a:r>
          </a:p>
        </p:txBody>
      </p:sp>
    </p:spTree>
    <p:extLst>
      <p:ext uri="{BB962C8B-B14F-4D97-AF65-F5344CB8AC3E}">
        <p14:creationId xmlns:p14="http://schemas.microsoft.com/office/powerpoint/2010/main" val="1530383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D1158-DC0C-4870-9A1F-691F8C825EE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GLOBAL AGENT (GMA)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56273-0838-4E98-9C35-87AA81425751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The GMA controls participation, rounds, and releases.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DD751-E4A4-4D59-8F78-D01EFE7D22D5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It coordinates the federation; it does not become a raw patient database.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E36FB3-EF4F-4471-8C0C-A6391FFA5999}"/>
              </a:ext>
            </a:extLst>
          </p:cNvPr>
          <p:cNvSpPr>
            <a:spLocks noGrp="1"/>
          </p:cNvSpPr>
          <p:nvPr/>
        </p:nvSpPr>
        <p:spPr>
          <a:xfrm>
            <a:off x="685800" y="1874519"/>
            <a:ext cx="2423160" cy="2560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54123-D6D6-43E5-8E10-D9956C94BDCE}"/>
              </a:ext>
            </a:extLst>
          </p:cNvPr>
          <p:cNvSpPr>
            <a:spLocks noGrp="1"/>
          </p:cNvSpPr>
          <p:nvPr/>
        </p:nvSpPr>
        <p:spPr>
          <a:xfrm>
            <a:off x="85039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5C917-0DA9-4A9D-81A2-91E6CAEF835A}"/>
              </a:ext>
            </a:extLst>
          </p:cNvPr>
          <p:cNvSpPr>
            <a:spLocks noGrp="1"/>
          </p:cNvSpPr>
          <p:nvPr/>
        </p:nvSpPr>
        <p:spPr>
          <a:xfrm>
            <a:off x="85039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Track each hospital, LMA, approved use, capability, schema version, certificate, and sharing rule.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583F2-18F8-47B5-B953-1BE32838718A}"/>
              </a:ext>
            </a:extLst>
          </p:cNvPr>
          <p:cNvSpPr>
            <a:spLocks noGrp="1"/>
          </p:cNvSpPr>
          <p:nvPr/>
        </p:nvSpPr>
        <p:spPr>
          <a:xfrm>
            <a:off x="3154680" y="2926080"/>
            <a:ext cx="3200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B06795-DCE9-4C8D-B015-25CADBD41A99}"/>
              </a:ext>
            </a:extLst>
          </p:cNvPr>
          <p:cNvSpPr>
            <a:spLocks noGrp="1"/>
          </p:cNvSpPr>
          <p:nvPr/>
        </p:nvSpPr>
        <p:spPr>
          <a:xfrm>
            <a:off x="3474720" y="1874519"/>
            <a:ext cx="2423160" cy="2560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60983-67AA-4183-B04A-ACC05DF791ED}"/>
              </a:ext>
            </a:extLst>
          </p:cNvPr>
          <p:cNvSpPr>
            <a:spLocks noGrp="1"/>
          </p:cNvSpPr>
          <p:nvPr/>
        </p:nvSpPr>
        <p:spPr>
          <a:xfrm>
            <a:off x="363931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PLAN ROUND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09C7A-CE49-4C0C-BAB7-7F16C2331F9C}"/>
              </a:ext>
            </a:extLst>
          </p:cNvPr>
          <p:cNvSpPr>
            <a:spLocks noGrp="1"/>
          </p:cNvSpPr>
          <p:nvPr/>
        </p:nvSpPr>
        <p:spPr>
          <a:xfrm>
            <a:off x="363931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Choose participants, minimum threshold, seed version, privacy profile, evaluation plan, and stop conditions.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FFCDD-207D-447E-AD8D-0C3AEB782266}"/>
              </a:ext>
            </a:extLst>
          </p:cNvPr>
          <p:cNvSpPr>
            <a:spLocks noGrp="1"/>
          </p:cNvSpPr>
          <p:nvPr/>
        </p:nvSpPr>
        <p:spPr>
          <a:xfrm>
            <a:off x="5943600" y="2926080"/>
            <a:ext cx="3200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266D72-A8AA-4D4D-B477-7E6D7F171E6D}"/>
              </a:ext>
            </a:extLst>
          </p:cNvPr>
          <p:cNvSpPr>
            <a:spLocks noGrp="1"/>
          </p:cNvSpPr>
          <p:nvPr/>
        </p:nvSpPr>
        <p:spPr>
          <a:xfrm>
            <a:off x="6263640" y="1874519"/>
            <a:ext cx="2423160" cy="25603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4BA714-596E-48B7-B7FB-8173266FCE0E}"/>
              </a:ext>
            </a:extLst>
          </p:cNvPr>
          <p:cNvSpPr>
            <a:spLocks noGrp="1"/>
          </p:cNvSpPr>
          <p:nvPr/>
        </p:nvSpPr>
        <p:spPr>
          <a:xfrm>
            <a:off x="6428231" y="202082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COORDINATE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1A9390-FE67-4674-85D7-F68E58244653}"/>
              </a:ext>
            </a:extLst>
          </p:cNvPr>
          <p:cNvSpPr>
            <a:spLocks noGrp="1"/>
          </p:cNvSpPr>
          <p:nvPr/>
        </p:nvSpPr>
        <p:spPr>
          <a:xfrm>
            <a:off x="642823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Send signed jobs; track acknowledgements, timeouts, dropouts, retries, cancellation, and aggregate status.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7B0A54-6410-4C3C-9E18-B02B32C485DB}"/>
              </a:ext>
            </a:extLst>
          </p:cNvPr>
          <p:cNvSpPr>
            <a:spLocks noGrp="1"/>
          </p:cNvSpPr>
          <p:nvPr/>
        </p:nvSpPr>
        <p:spPr>
          <a:xfrm>
            <a:off x="8732520" y="2926080"/>
            <a:ext cx="3200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7F04C6-72CF-4D13-82CA-222128D1F2CF}"/>
              </a:ext>
            </a:extLst>
          </p:cNvPr>
          <p:cNvSpPr>
            <a:spLocks noGrp="1"/>
          </p:cNvSpPr>
          <p:nvPr/>
        </p:nvSpPr>
        <p:spPr>
          <a:xfrm>
            <a:off x="9052559" y="1874519"/>
            <a:ext cx="2423160" cy="256032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6E707-0227-4865-8B3F-1C65728A0F1A}"/>
              </a:ext>
            </a:extLst>
          </p:cNvPr>
          <p:cNvSpPr>
            <a:spLocks noGrp="1"/>
          </p:cNvSpPr>
          <p:nvPr/>
        </p:nvSpPr>
        <p:spPr>
          <a:xfrm>
            <a:off x="9217151" y="202082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RELEASE + ROLLBACK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8E6459-BE37-4D1A-BC1C-440076936B49}"/>
              </a:ext>
            </a:extLst>
          </p:cNvPr>
          <p:cNvSpPr>
            <a:spLocks noGrp="1"/>
          </p:cNvSpPr>
          <p:nvPr/>
        </p:nvSpPr>
        <p:spPr>
          <a:xfrm>
            <a:off x="921715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Collect cross-site evidence, sign a canary release, watch health, or restore the known-good version.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002B24-9FFE-495E-9B87-E5DD1FE8718C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5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When secure aggregation is required, the GMA should not read any hospital’s individual update.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64141-C074-4DC7-BBE3-D0FC1209659F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Federated control plane / 11</a:t>
            </a:r>
          </a:p>
        </p:txBody>
      </p:sp>
    </p:spTree>
    <p:extLst>
      <p:ext uri="{BB962C8B-B14F-4D97-AF65-F5344CB8AC3E}">
        <p14:creationId xmlns:p14="http://schemas.microsoft.com/office/powerpoint/2010/main" val="1530383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4E8989-E57F-4626-85F5-D8BB0621247D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METHOD BOUNDARIES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5C766-C07D-40C3-8F6C-307209C139EF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Four ‘federated’ ideas solve different problems.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B5261-56CE-4F96-91CB-9740E59EC576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Use them together, but do not treat the names as interchangeable.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1805F-EF62-40CE-BCC7-2EA7A166CF07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2852928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D3499-D0BC-4ABC-A3C7-D355723F9CAF}"/>
              </a:ext>
            </a:extLst>
          </p:cNvPr>
          <p:cNvSpPr>
            <a:spLocks noGrp="1"/>
          </p:cNvSpPr>
          <p:nvPr/>
        </p:nvSpPr>
        <p:spPr>
          <a:xfrm>
            <a:off x="621792" y="176479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68C4C9-3A06-4D8E-9457-27812CB3FD93}"/>
              </a:ext>
            </a:extLst>
          </p:cNvPr>
          <p:cNvSpPr>
            <a:spLocks noGrp="1"/>
          </p:cNvSpPr>
          <p:nvPr/>
        </p:nvSpPr>
        <p:spPr>
          <a:xfrm>
            <a:off x="3401568" y="1691640"/>
            <a:ext cx="4059935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EDBD8-A00D-4F14-B5B3-60D7F12E8467}"/>
              </a:ext>
            </a:extLst>
          </p:cNvPr>
          <p:cNvSpPr>
            <a:spLocks noGrp="1"/>
          </p:cNvSpPr>
          <p:nvPr/>
        </p:nvSpPr>
        <p:spPr>
          <a:xfrm>
            <a:off x="3474720" y="17647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E3E1CA-6083-4A33-8D95-CA2C3D0D0CAE}"/>
              </a:ext>
            </a:extLst>
          </p:cNvPr>
          <p:cNvSpPr>
            <a:spLocks noGrp="1"/>
          </p:cNvSpPr>
          <p:nvPr/>
        </p:nvSpPr>
        <p:spPr>
          <a:xfrm>
            <a:off x="7461504" y="1691640"/>
            <a:ext cx="4059935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9FA0D1-4AF6-4EE6-BCBF-ED4B4BA258E3}"/>
              </a:ext>
            </a:extLst>
          </p:cNvPr>
          <p:cNvSpPr>
            <a:spLocks noGrp="1"/>
          </p:cNvSpPr>
          <p:nvPr/>
        </p:nvSpPr>
        <p:spPr>
          <a:xfrm>
            <a:off x="7534656" y="17647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 role / important limit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044D66-81C0-4F26-A06F-E69907D2A2C4}"/>
              </a:ext>
            </a:extLst>
          </p:cNvPr>
          <p:cNvSpPr>
            <a:spLocks noGrp="1"/>
          </p:cNvSpPr>
          <p:nvPr/>
        </p:nvSpPr>
        <p:spPr>
          <a:xfrm>
            <a:off x="548640" y="240030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E5DD4A-EB51-4AD5-A0CA-86FC255DDF91}"/>
              </a:ext>
            </a:extLst>
          </p:cNvPr>
          <p:cNvSpPr>
            <a:spLocks noGrp="1"/>
          </p:cNvSpPr>
          <p:nvPr/>
        </p:nvSpPr>
        <p:spPr>
          <a:xfrm>
            <a:off x="621792" y="247345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Federated learning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848C07-0190-44A9-94C2-153602F25B14}"/>
              </a:ext>
            </a:extLst>
          </p:cNvPr>
          <p:cNvSpPr>
            <a:spLocks noGrp="1"/>
          </p:cNvSpPr>
          <p:nvPr/>
        </p:nvSpPr>
        <p:spPr>
          <a:xfrm>
            <a:off x="3401568" y="240030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75CCE3-CCB8-45CB-9D13-41B0F49DB43B}"/>
              </a:ext>
            </a:extLst>
          </p:cNvPr>
          <p:cNvSpPr>
            <a:spLocks noGrp="1"/>
          </p:cNvSpPr>
          <p:nvPr/>
        </p:nvSpPr>
        <p:spPr>
          <a:xfrm>
            <a:off x="3474720" y="247345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Trains a shared model from updates computed at each hospital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DD7280-F293-4742-A23C-F4BA857B98C4}"/>
              </a:ext>
            </a:extLst>
          </p:cNvPr>
          <p:cNvSpPr>
            <a:spLocks noGrp="1"/>
          </p:cNvSpPr>
          <p:nvPr/>
        </p:nvSpPr>
        <p:spPr>
          <a:xfrm>
            <a:off x="7461504" y="240030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7D715B-A37D-41DE-8799-5723E13FBB3B}"/>
              </a:ext>
            </a:extLst>
          </p:cNvPr>
          <p:cNvSpPr>
            <a:spLocks noGrp="1"/>
          </p:cNvSpPr>
          <p:nvPr/>
        </p:nvSpPr>
        <p:spPr>
          <a:xfrm>
            <a:off x="7534656" y="247345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Use a specialist FL engine; Dagents coordinates jobs, evidence, releases, and rollback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6B42DB-0925-4B13-9BDF-D84C345503F4}"/>
              </a:ext>
            </a:extLst>
          </p:cNvPr>
          <p:cNvSpPr>
            <a:spLocks noGrp="1"/>
          </p:cNvSpPr>
          <p:nvPr/>
        </p:nvSpPr>
        <p:spPr>
          <a:xfrm>
            <a:off x="548640" y="310896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76EFD7-E340-4FB2-BC76-B94625762EF7}"/>
              </a:ext>
            </a:extLst>
          </p:cNvPr>
          <p:cNvSpPr>
            <a:spLocks noGrp="1"/>
          </p:cNvSpPr>
          <p:nvPr/>
        </p:nvSpPr>
        <p:spPr>
          <a:xfrm>
            <a:off x="621792" y="318211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Federated analytics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769EAF-01DB-4FB3-A301-3E373765833F}"/>
              </a:ext>
            </a:extLst>
          </p:cNvPr>
          <p:cNvSpPr>
            <a:spLocks noGrp="1"/>
          </p:cNvSpPr>
          <p:nvPr/>
        </p:nvSpPr>
        <p:spPr>
          <a:xfrm>
            <a:off x="3401568" y="310896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E32270-6044-458E-9EA3-F00CDCD3710F}"/>
              </a:ext>
            </a:extLst>
          </p:cNvPr>
          <p:cNvSpPr>
            <a:spLocks noGrp="1"/>
          </p:cNvSpPr>
          <p:nvPr/>
        </p:nvSpPr>
        <p:spPr>
          <a:xfrm>
            <a:off x="3474720" y="318211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Computes local counts, statistics, and evaluation; reveals approved aggregates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7CC1B5-E443-4F95-95D5-DB135876C29E}"/>
              </a:ext>
            </a:extLst>
          </p:cNvPr>
          <p:cNvSpPr>
            <a:spLocks noGrp="1"/>
          </p:cNvSpPr>
          <p:nvPr/>
        </p:nvSpPr>
        <p:spPr>
          <a:xfrm>
            <a:off x="7461504" y="310896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98D1C9-37AF-4BEA-91FB-A63BEF14D797}"/>
              </a:ext>
            </a:extLst>
          </p:cNvPr>
          <p:cNvSpPr>
            <a:spLocks noGrp="1"/>
          </p:cNvSpPr>
          <p:nvPr/>
        </p:nvSpPr>
        <p:spPr>
          <a:xfrm>
            <a:off x="7534656" y="318211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Best first phase; small groups and repeated queries can still reveal sensitive facts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5F381D-1153-47FA-A0BB-109C5DD96653}"/>
              </a:ext>
            </a:extLst>
          </p:cNvPr>
          <p:cNvSpPr>
            <a:spLocks noGrp="1"/>
          </p:cNvSpPr>
          <p:nvPr/>
        </p:nvSpPr>
        <p:spPr>
          <a:xfrm>
            <a:off x="548640" y="381762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AF97B7-0EC7-492E-8216-12B43368AEDD}"/>
              </a:ext>
            </a:extLst>
          </p:cNvPr>
          <p:cNvSpPr>
            <a:spLocks noGrp="1"/>
          </p:cNvSpPr>
          <p:nvPr/>
        </p:nvSpPr>
        <p:spPr>
          <a:xfrm>
            <a:off x="621792" y="389077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Federated database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E449BD-0545-4D14-92B0-C0C03BBAFF33}"/>
              </a:ext>
            </a:extLst>
          </p:cNvPr>
          <p:cNvSpPr>
            <a:spLocks noGrp="1"/>
          </p:cNvSpPr>
          <p:nvPr/>
        </p:nvSpPr>
        <p:spPr>
          <a:xfrm>
            <a:off x="3401568" y="381762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8A814C-2F17-404B-A854-B3C72CE13365}"/>
              </a:ext>
            </a:extLst>
          </p:cNvPr>
          <p:cNvSpPr>
            <a:spLocks noGrp="1"/>
          </p:cNvSpPr>
          <p:nvPr/>
        </p:nvSpPr>
        <p:spPr>
          <a:xfrm>
            <a:off x="3474720" y="389077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Offers one query layer across remote sources and can push work to the source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1C8B34-EAA6-4DE3-B12F-AA600A1B12A1}"/>
              </a:ext>
            </a:extLst>
          </p:cNvPr>
          <p:cNvSpPr>
            <a:spLocks noGrp="1"/>
          </p:cNvSpPr>
          <p:nvPr/>
        </p:nvSpPr>
        <p:spPr>
          <a:xfrm>
            <a:off x="7461504" y="381762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CB038B-9458-4F3C-B60D-C76CC950198B}"/>
              </a:ext>
            </a:extLst>
          </p:cNvPr>
          <p:cNvSpPr>
            <a:spLocks noGrp="1"/>
          </p:cNvSpPr>
          <p:nvPr/>
        </p:nvSpPr>
        <p:spPr>
          <a:xfrm>
            <a:off x="7534656" y="389077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Useful inside a hospital; unrestricted cross-site patient queries are out of scope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BFFB0F-F26A-4B25-BDDE-4A02E13B10D4}"/>
              </a:ext>
            </a:extLst>
          </p:cNvPr>
          <p:cNvSpPr>
            <a:spLocks noGrp="1"/>
          </p:cNvSpPr>
          <p:nvPr/>
        </p:nvSpPr>
        <p:spPr>
          <a:xfrm>
            <a:off x="548640" y="452628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F68200-F02A-4EF6-8662-A4CB7975F2EB}"/>
              </a:ext>
            </a:extLst>
          </p:cNvPr>
          <p:cNvSpPr>
            <a:spLocks noGrp="1"/>
          </p:cNvSpPr>
          <p:nvPr/>
        </p:nvSpPr>
        <p:spPr>
          <a:xfrm>
            <a:off x="621792" y="459943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Central warehouse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033B15-3D32-4139-9093-C3EC0D52C72B}"/>
              </a:ext>
            </a:extLst>
          </p:cNvPr>
          <p:cNvSpPr>
            <a:spLocks noGrp="1"/>
          </p:cNvSpPr>
          <p:nvPr/>
        </p:nvSpPr>
        <p:spPr>
          <a:xfrm>
            <a:off x="3401568" y="452628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B4A3BF-0609-4D48-BB1C-CAAF8C3117CD}"/>
              </a:ext>
            </a:extLst>
          </p:cNvPr>
          <p:cNvSpPr>
            <a:spLocks noGrp="1"/>
          </p:cNvSpPr>
          <p:nvPr/>
        </p:nvSpPr>
        <p:spPr>
          <a:xfrm>
            <a:off x="3474720" y="459943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Copies data into one place for central processing and analytics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367BC6-3FF2-4B63-8123-85C14F4AE04D}"/>
              </a:ext>
            </a:extLst>
          </p:cNvPr>
          <p:cNvSpPr>
            <a:spLocks noGrp="1"/>
          </p:cNvSpPr>
          <p:nvPr/>
        </p:nvSpPr>
        <p:spPr>
          <a:xfrm>
            <a:off x="7461504" y="452628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117802-2B97-47AE-A1C3-A536E4CCB58D}"/>
              </a:ext>
            </a:extLst>
          </p:cNvPr>
          <p:cNvSpPr>
            <a:spLocks noGrp="1"/>
          </p:cNvSpPr>
          <p:nvPr/>
        </p:nvSpPr>
        <p:spPr>
          <a:xfrm>
            <a:off x="7534656" y="459943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Useful for some needs, but not a required dependency for this time-sensitive path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6EFD778-B6C6-47AA-84F1-9B01BBEC5F74}"/>
              </a:ext>
            </a:extLst>
          </p:cNvPr>
          <p:cNvSpPr>
            <a:spLocks noGrp="1"/>
          </p:cNvSpPr>
          <p:nvPr/>
        </p:nvSpPr>
        <p:spPr>
          <a:xfrm>
            <a:off x="548640" y="523494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1FE5C2-7C69-4B76-AFAD-6C3053287881}"/>
              </a:ext>
            </a:extLst>
          </p:cNvPr>
          <p:cNvSpPr>
            <a:spLocks noGrp="1"/>
          </p:cNvSpPr>
          <p:nvPr/>
        </p:nvSpPr>
        <p:spPr>
          <a:xfrm>
            <a:off x="621792" y="530809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Backup patterns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A16C5C-A3F7-4D95-919C-C36CB3FC5A8D}"/>
              </a:ext>
            </a:extLst>
          </p:cNvPr>
          <p:cNvSpPr>
            <a:spLocks noGrp="1"/>
          </p:cNvSpPr>
          <p:nvPr/>
        </p:nvSpPr>
        <p:spPr>
          <a:xfrm>
            <a:off x="3401568" y="523494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A9917C-CB0F-42EF-A94E-9F39FAF1E497}"/>
              </a:ext>
            </a:extLst>
          </p:cNvPr>
          <p:cNvSpPr>
            <a:spLocks noGrp="1"/>
          </p:cNvSpPr>
          <p:nvPr/>
        </p:nvSpPr>
        <p:spPr>
          <a:xfrm>
            <a:off x="3474720" y="53080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Protect versions with baselines, increments, catalogs, checks, and recovery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1E8843-AA41-4085-AB1E-55C106CB7396}"/>
              </a:ext>
            </a:extLst>
          </p:cNvPr>
          <p:cNvSpPr>
            <a:spLocks noGrp="1"/>
          </p:cNvSpPr>
          <p:nvPr/>
        </p:nvSpPr>
        <p:spPr>
          <a:xfrm>
            <a:off x="7461504" y="523494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852803-0465-4E91-BB33-E4EA6A463B73}"/>
              </a:ext>
            </a:extLst>
          </p:cNvPr>
          <p:cNvSpPr>
            <a:spLocks noGrp="1"/>
          </p:cNvSpPr>
          <p:nvPr/>
        </p:nvSpPr>
        <p:spPr>
          <a:xfrm>
            <a:off x="7534656" y="53080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Operations model only; backup software does not train or validate a clinical model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5CA374-23DB-499D-BD95-A09CAB022F85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Federation is a design family—not a single product or guarantee / 12</a:t>
            </a:r>
          </a:p>
        </p:txBody>
      </p:sp>
    </p:spTree>
    <p:extLst>
      <p:ext uri="{BB962C8B-B14F-4D97-AF65-F5344CB8AC3E}">
        <p14:creationId xmlns:p14="http://schemas.microsoft.com/office/powerpoint/2010/main" val="201909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7D0897-00AD-4965-8CE2-0C3E3BDAA895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NVIDIA FLARE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EF4B8-D416-44CC-8F0F-CD690DE62B0E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EXAM shows cross-hospital federation can work.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C6F23-B794-41CB-9828-0309755B56BA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Evidence for the operating model—not a performance promise for sepsis or Dagents.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85A7CA-8862-4A59-84A7-D6796384C0A0}"/>
              </a:ext>
            </a:extLst>
          </p:cNvPr>
          <p:cNvSpPr>
            <a:spLocks noGrp="1"/>
          </p:cNvSpPr>
          <p:nvPr/>
        </p:nvSpPr>
        <p:spPr>
          <a:xfrm>
            <a:off x="777240" y="1737360"/>
            <a:ext cx="4892040" cy="114300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6ABA7-B17F-4F9D-95AC-A9AD1840DA5F}"/>
              </a:ext>
            </a:extLst>
          </p:cNvPr>
          <p:cNvSpPr>
            <a:spLocks noGrp="1"/>
          </p:cNvSpPr>
          <p:nvPr/>
        </p:nvSpPr>
        <p:spPr>
          <a:xfrm>
            <a:off x="94183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20 institutions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C6DE5-10AC-4D7B-A902-BE1A4B95FA97}"/>
              </a:ext>
            </a:extLst>
          </p:cNvPr>
          <p:cNvSpPr>
            <a:spLocks noGrp="1"/>
          </p:cNvSpPr>
          <p:nvPr/>
        </p:nvSpPr>
        <p:spPr>
          <a:xfrm>
            <a:off x="94183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study coordinated hospitals and research sites across several countries.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689BD0-DEBE-4890-84C2-52C9C0F87691}"/>
              </a:ext>
            </a:extLst>
          </p:cNvPr>
          <p:cNvSpPr>
            <a:spLocks noGrp="1"/>
          </p:cNvSpPr>
          <p:nvPr/>
        </p:nvSpPr>
        <p:spPr>
          <a:xfrm>
            <a:off x="6217920" y="1737360"/>
            <a:ext cx="4892040" cy="114300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C22423-3633-4CFF-9783-DEDD0DB789E8}"/>
              </a:ext>
            </a:extLst>
          </p:cNvPr>
          <p:cNvSpPr>
            <a:spLocks noGrp="1"/>
          </p:cNvSpPr>
          <p:nvPr/>
        </p:nvSpPr>
        <p:spPr>
          <a:xfrm>
            <a:off x="638251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16,148 cases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7BA40-A629-4F2C-9946-C9AFDE739862}"/>
              </a:ext>
            </a:extLst>
          </p:cNvPr>
          <p:cNvSpPr>
            <a:spLocks noGrp="1"/>
          </p:cNvSpPr>
          <p:nvPr/>
        </p:nvSpPr>
        <p:spPr>
          <a:xfrm>
            <a:off x="638251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Chest X-rays and electronic-record features were used in the research cohort.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CF9E1F-B30B-4AF0-BFE2-3E3E214ECC1C}"/>
              </a:ext>
            </a:extLst>
          </p:cNvPr>
          <p:cNvSpPr>
            <a:spLocks noGrp="1"/>
          </p:cNvSpPr>
          <p:nvPr/>
        </p:nvSpPr>
        <p:spPr>
          <a:xfrm>
            <a:off x="777240" y="3383280"/>
            <a:ext cx="4892040" cy="114300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C606A-7A36-4A56-AE5F-ED90CCBB9865}"/>
              </a:ext>
            </a:extLst>
          </p:cNvPr>
          <p:cNvSpPr>
            <a:spLocks noGrp="1"/>
          </p:cNvSpPr>
          <p:nvPr/>
        </p:nvSpPr>
        <p:spPr>
          <a:xfrm>
            <a:off x="941832" y="3529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No dataset exchange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DE3C6-7B14-47CE-984B-4FEA66D42DD9}"/>
              </a:ext>
            </a:extLst>
          </p:cNvPr>
          <p:cNvSpPr>
            <a:spLocks noGrp="1"/>
          </p:cNvSpPr>
          <p:nvPr/>
        </p:nvSpPr>
        <p:spPr>
          <a:xfrm>
            <a:off x="941832" y="391363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Sites trained through a client/server federation instead of sending raw site datasets to one repository.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2068F01-5A1E-4CA8-BAC8-5916EBED6DE1}"/>
              </a:ext>
            </a:extLst>
          </p:cNvPr>
          <p:cNvSpPr>
            <a:spLocks noGrp="1"/>
          </p:cNvSpPr>
          <p:nvPr/>
        </p:nvSpPr>
        <p:spPr>
          <a:xfrm>
            <a:off x="6217920" y="3383280"/>
            <a:ext cx="4892040" cy="114300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F3519E-A7D4-4C26-97BE-CCD863D217C3}"/>
              </a:ext>
            </a:extLst>
          </p:cNvPr>
          <p:cNvSpPr>
            <a:spLocks noGrp="1"/>
          </p:cNvSpPr>
          <p:nvPr/>
        </p:nvSpPr>
        <p:spPr>
          <a:xfrm>
            <a:off x="6382512" y="3529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Reported improvement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48AC81-5D4F-4221-91E2-2B61032AA866}"/>
              </a:ext>
            </a:extLst>
          </p:cNvPr>
          <p:cNvSpPr>
            <a:spLocks noGrp="1"/>
          </p:cNvSpPr>
          <p:nvPr/>
        </p:nvSpPr>
        <p:spPr>
          <a:xfrm>
            <a:off x="6382512" y="391363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For the 24-hour task: 16% average AUC improvement and 38% average generalizability improvement versus local models.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89CDBE-DBE1-4102-896D-D470C23C8EA5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paper reported average AUC above 0.92 and stated the model was research-only and not regulator approved.</a:t>
            </a:r>
          </a:p>
        </p:txBody>
      </p:sp>
    </p:spTree>
    <p:extLst>
      <p:ext uri="{BB962C8B-B14F-4D97-AF65-F5344CB8AC3E}">
        <p14:creationId xmlns:p14="http://schemas.microsoft.com/office/powerpoint/2010/main" val="1152305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7D0897-00AD-4965-8CE2-0C3E3BDAA895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WHAT DAGENTS SHOULD LEARN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EF4B8-D416-44CC-8F0F-CD690DE62B0E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The lesson is the operating model, not the brand.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C6F23-B794-41CB-9828-0309755B56BA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 real healthcare federation needs repeatable experiments, site workers, evaluation, privacy controls, and release governance.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85A7CA-8862-4A59-84A7-D6796384C0A0}"/>
              </a:ext>
            </a:extLst>
          </p:cNvPr>
          <p:cNvSpPr>
            <a:spLocks noGrp="1"/>
          </p:cNvSpPr>
          <p:nvPr/>
        </p:nvSpPr>
        <p:spPr>
          <a:xfrm>
            <a:off x="777240" y="1737360"/>
            <a:ext cx="4892040" cy="114300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6ABA7-B17F-4F9D-95AC-A9AD1840DA5F}"/>
              </a:ext>
            </a:extLst>
          </p:cNvPr>
          <p:cNvSpPr>
            <a:spLocks noGrp="1"/>
          </p:cNvSpPr>
          <p:nvPr/>
        </p:nvSpPr>
        <p:spPr>
          <a:xfrm>
            <a:off x="94183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Many traceable rounds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C6DE5-10AC-4D7B-A902-BE1A4B95FA97}"/>
              </a:ext>
            </a:extLst>
          </p:cNvPr>
          <p:cNvSpPr>
            <a:spLocks noGrp="1"/>
          </p:cNvSpPr>
          <p:nvPr/>
        </p:nvSpPr>
        <p:spPr>
          <a:xfrm>
            <a:off x="94183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EXAM study ran many experiments. Dagents needs durable round state, inputs, outputs, versions, and reasons.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689BD0-DEBE-4890-84C2-52C9C0F87691}"/>
              </a:ext>
            </a:extLst>
          </p:cNvPr>
          <p:cNvSpPr>
            <a:spLocks noGrp="1"/>
          </p:cNvSpPr>
          <p:nvPr/>
        </p:nvSpPr>
        <p:spPr>
          <a:xfrm>
            <a:off x="6217920" y="1737360"/>
            <a:ext cx="4892040" cy="114300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C22423-3633-4CFF-9783-DEDD0DB789E8}"/>
              </a:ext>
            </a:extLst>
          </p:cNvPr>
          <p:cNvSpPr>
            <a:spLocks noGrp="1"/>
          </p:cNvSpPr>
          <p:nvPr/>
        </p:nvSpPr>
        <p:spPr>
          <a:xfrm>
            <a:off x="638251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Local site capability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7BA40-A629-4F2C-9946-C9AFDE739862}"/>
              </a:ext>
            </a:extLst>
          </p:cNvPr>
          <p:cNvSpPr>
            <a:spLocks noGrp="1"/>
          </p:cNvSpPr>
          <p:nvPr/>
        </p:nvSpPr>
        <p:spPr>
          <a:xfrm>
            <a:off x="638251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Each hospital needs approved compute, data preparation, training, evaluation, and evidence storage.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CF9E1F-B30B-4AF0-BFE2-3E3E214ECC1C}"/>
              </a:ext>
            </a:extLst>
          </p:cNvPr>
          <p:cNvSpPr>
            <a:spLocks noGrp="1"/>
          </p:cNvSpPr>
          <p:nvPr/>
        </p:nvSpPr>
        <p:spPr>
          <a:xfrm>
            <a:off x="777240" y="3383280"/>
            <a:ext cx="4892040" cy="114300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C606A-7A36-4A56-AE5F-ED90CCBB9865}"/>
              </a:ext>
            </a:extLst>
          </p:cNvPr>
          <p:cNvSpPr>
            <a:spLocks noGrp="1"/>
          </p:cNvSpPr>
          <p:nvPr/>
        </p:nvSpPr>
        <p:spPr>
          <a:xfrm>
            <a:off x="941832" y="3529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Heterogeneity stays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DE3C6-7B14-47CE-984B-4FEA66D42DD9}"/>
              </a:ext>
            </a:extLst>
          </p:cNvPr>
          <p:cNvSpPr>
            <a:spLocks noGrp="1"/>
          </p:cNvSpPr>
          <p:nvPr/>
        </p:nvSpPr>
        <p:spPr>
          <a:xfrm>
            <a:off x="941832" y="391363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Shared features do not erase site differences. Every candidate needs site-level and group-level evaluation.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2068F01-5A1E-4CA8-BAC8-5916EBED6DE1}"/>
              </a:ext>
            </a:extLst>
          </p:cNvPr>
          <p:cNvSpPr>
            <a:spLocks noGrp="1"/>
          </p:cNvSpPr>
          <p:nvPr/>
        </p:nvSpPr>
        <p:spPr>
          <a:xfrm>
            <a:off x="6217920" y="3383280"/>
            <a:ext cx="4892040" cy="114300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F3519E-A7D4-4C26-97BE-CCD863D217C3}"/>
              </a:ext>
            </a:extLst>
          </p:cNvPr>
          <p:cNvSpPr>
            <a:spLocks noGrp="1"/>
          </p:cNvSpPr>
          <p:nvPr/>
        </p:nvSpPr>
        <p:spPr>
          <a:xfrm>
            <a:off x="6382512" y="3529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Code + privacy approval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48AC81-5D4F-4221-91E2-2B61032AA866}"/>
              </a:ext>
            </a:extLst>
          </p:cNvPr>
          <p:cNvSpPr>
            <a:spLocks noGrp="1"/>
          </p:cNvSpPr>
          <p:nvPr/>
        </p:nvSpPr>
        <p:spPr>
          <a:xfrm>
            <a:off x="6382512" y="391363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Hospitals should verify job code and data access; secure aggregation and privacy controls remain separate work.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89CDBE-DBE1-4102-896D-D470C23C8EA5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Integrate NVIDIA FLARE or an equivalent runtime; keep Dagents as the reusable governance and orchestration layer / 14</a:t>
            </a:r>
          </a:p>
        </p:txBody>
      </p:sp>
    </p:spTree>
    <p:extLst>
      <p:ext uri="{BB962C8B-B14F-4D97-AF65-F5344CB8AC3E}">
        <p14:creationId xmlns:p14="http://schemas.microsoft.com/office/powerpoint/2010/main" val="1152305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7D0897-00AD-4965-8CE2-0C3E3BDAA895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48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ENTERPRISE BACKUP LESSONS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EF4B8-D416-44CC-8F0F-CD690DE62B0E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Backup patterns make model releases safer.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C6F23-B794-41CB-9828-0309755B56BA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Borrow central policy, local workers, integrity checks, and recovery—not the idea that an update is automatically trustworthy.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85A7CA-8862-4A59-84A7-D6796384C0A0}"/>
              </a:ext>
            </a:extLst>
          </p:cNvPr>
          <p:cNvSpPr>
            <a:spLocks noGrp="1"/>
          </p:cNvSpPr>
          <p:nvPr/>
        </p:nvSpPr>
        <p:spPr>
          <a:xfrm>
            <a:off x="777240" y="1737360"/>
            <a:ext cx="4892040" cy="114300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6ABA7-B17F-4F9D-95AC-A9AD1840DA5F}"/>
              </a:ext>
            </a:extLst>
          </p:cNvPr>
          <p:cNvSpPr>
            <a:spLocks noGrp="1"/>
          </p:cNvSpPr>
          <p:nvPr/>
        </p:nvSpPr>
        <p:spPr>
          <a:xfrm>
            <a:off x="94183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Baseline + increments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C6DE5-10AC-4D7B-A902-BE1A4B95FA97}"/>
              </a:ext>
            </a:extLst>
          </p:cNvPr>
          <p:cNvSpPr>
            <a:spLocks noGrp="1"/>
          </p:cNvSpPr>
          <p:nvPr/>
        </p:nvSpPr>
        <p:spPr>
          <a:xfrm>
            <a:off x="94183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 full backup plus changed blocks maps to a signed seed package plus bounded round updates.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689BD0-DEBE-4890-84C2-52C9C0F87691}"/>
              </a:ext>
            </a:extLst>
          </p:cNvPr>
          <p:cNvSpPr>
            <a:spLocks noGrp="1"/>
          </p:cNvSpPr>
          <p:nvPr/>
        </p:nvSpPr>
        <p:spPr>
          <a:xfrm>
            <a:off x="6217920" y="1737360"/>
            <a:ext cx="4892040" cy="114300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C22423-3633-4CFF-9783-DEDD0DB789E8}"/>
              </a:ext>
            </a:extLst>
          </p:cNvPr>
          <p:cNvSpPr>
            <a:spLocks noGrp="1"/>
          </p:cNvSpPr>
          <p:nvPr/>
        </p:nvSpPr>
        <p:spPr>
          <a:xfrm>
            <a:off x="638251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Catalog + lineage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7BA40-A629-4F2C-9946-C9AFDE739862}"/>
              </a:ext>
            </a:extLst>
          </p:cNvPr>
          <p:cNvSpPr>
            <a:spLocks noGrp="1"/>
          </p:cNvSpPr>
          <p:nvPr/>
        </p:nvSpPr>
        <p:spPr>
          <a:xfrm>
            <a:off x="638251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 backup catalog maps to model, code, feature-contract, round, participant, candidate, and release history.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CF9E1F-B30B-4AF0-BFE2-3E3E214ECC1C}"/>
              </a:ext>
            </a:extLst>
          </p:cNvPr>
          <p:cNvSpPr>
            <a:spLocks noGrp="1"/>
          </p:cNvSpPr>
          <p:nvPr/>
        </p:nvSpPr>
        <p:spPr>
          <a:xfrm>
            <a:off x="777240" y="3383280"/>
            <a:ext cx="4892040" cy="114300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C606A-7A36-4A56-AE5F-ED90CCBB9865}"/>
              </a:ext>
            </a:extLst>
          </p:cNvPr>
          <p:cNvSpPr>
            <a:spLocks noGrp="1"/>
          </p:cNvSpPr>
          <p:nvPr/>
        </p:nvSpPr>
        <p:spPr>
          <a:xfrm>
            <a:off x="941832" y="3529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Integrity checks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DE3C6-7B14-47CE-984B-4FEA66D42DD9}"/>
              </a:ext>
            </a:extLst>
          </p:cNvPr>
          <p:cNvSpPr>
            <a:spLocks noGrp="1"/>
          </p:cNvSpPr>
          <p:nvPr/>
        </p:nvSpPr>
        <p:spPr>
          <a:xfrm>
            <a:off x="941832" y="391363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Checksums, signatures, reproducible evaluation, and locked releases detect corruption or silent change.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2068F01-5A1E-4CA8-BAC8-5916EBED6DE1}"/>
              </a:ext>
            </a:extLst>
          </p:cNvPr>
          <p:cNvSpPr>
            <a:spLocks noGrp="1"/>
          </p:cNvSpPr>
          <p:nvPr/>
        </p:nvSpPr>
        <p:spPr>
          <a:xfrm>
            <a:off x="6217920" y="3383280"/>
            <a:ext cx="4892040" cy="114300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F3519E-A7D4-4C26-97BE-CCD863D217C3}"/>
              </a:ext>
            </a:extLst>
          </p:cNvPr>
          <p:cNvSpPr>
            <a:spLocks noGrp="1"/>
          </p:cNvSpPr>
          <p:nvPr/>
        </p:nvSpPr>
        <p:spPr>
          <a:xfrm>
            <a:off x="6384417" y="3529584"/>
            <a:ext cx="457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Restore drills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48AC81-5D4F-4221-91E2-2B61032AA866}"/>
              </a:ext>
            </a:extLst>
          </p:cNvPr>
          <p:cNvSpPr>
            <a:spLocks noGrp="1"/>
          </p:cNvSpPr>
          <p:nvPr/>
        </p:nvSpPr>
        <p:spPr>
          <a:xfrm>
            <a:off x="6382512" y="391363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 rollback plan is incomplete until teams regularly prove that the known-good model can be restored.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89CDBE-DBE1-4102-896D-D470C23C8EA5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Seed → bounded updates → verified candidate → immutable release → tested rollback / 15</a:t>
            </a:r>
          </a:p>
        </p:txBody>
      </p:sp>
    </p:spTree>
    <p:extLst>
      <p:ext uri="{BB962C8B-B14F-4D97-AF65-F5344CB8AC3E}">
        <p14:creationId xmlns:p14="http://schemas.microsoft.com/office/powerpoint/2010/main" val="1152305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479A346-CD14-411A-AFB6-6934DCA382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129DDB-6D69-4CA7-A898-3289B0DC064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DAGENTS MAPPING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7BB917-2BF2-4DEC-9B37-1BA2E428C27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Dagents supplies the control plane around specialist federation.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704B30-3E55-43AC-B117-A3BC57094B3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Five framework capabilities compose the use case; no single service is the whole solution.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3081A4-6899-453F-BDDB-D3AF6CA62CF7}"/>
              </a:ext>
            </a:extLst>
          </p:cNvPr>
          <p:cNvSpPr>
            <a:spLocks noGrp="1"/>
          </p:cNvSpPr>
          <p:nvPr/>
        </p:nvSpPr>
        <p:spPr>
          <a:xfrm>
            <a:off x="666750" y="2381249"/>
            <a:ext cx="2076450" cy="1685925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3E67488-16FF-4721-B16B-EED624647858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2076450" cy="361950"/>
          </a:xfrm>
          <a:prstGeom prst="roundRect">
            <a:avLst>
              <a:gd name="adj" fmla="val 10526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LMA near the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A21E9-90FD-423B-94CD-5AE2604AE6C4}"/>
              </a:ext>
            </a:extLst>
          </p:cNvPr>
          <p:cNvSpPr>
            <a:spLocks noGrp="1"/>
          </p:cNvSpPr>
          <p:nvPr/>
        </p:nvSpPr>
        <p:spPr>
          <a:xfrm>
            <a:off x="819150" y="2895600"/>
            <a:ext cx="17716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Verify the job, build local features, train or evaluate, keep detailed evidence, and publish the minimum result.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AEBE119-5A68-4F66-9ECE-171920DB925C}"/>
              </a:ext>
            </a:extLst>
          </p:cNvPr>
          <p:cNvSpPr>
            <a:spLocks noGrp="1"/>
          </p:cNvSpPr>
          <p:nvPr/>
        </p:nvSpPr>
        <p:spPr>
          <a:xfrm>
            <a:off x="2971800" y="2381250"/>
            <a:ext cx="2076450" cy="1685924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92C0DF7-A365-4208-97B7-95B9C2846808}"/>
              </a:ext>
            </a:extLst>
          </p:cNvPr>
          <p:cNvSpPr>
            <a:spLocks noGrp="1"/>
          </p:cNvSpPr>
          <p:nvPr/>
        </p:nvSpPr>
        <p:spPr>
          <a:xfrm>
            <a:off x="2971800" y="2381250"/>
            <a:ext cx="2076450" cy="361950"/>
          </a:xfrm>
          <a:prstGeom prst="roundRect">
            <a:avLst>
              <a:gd name="adj" fmla="val 10526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Pipeline plans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66C7E8-D30E-4F8F-A2A3-A470D4067A7E}"/>
              </a:ext>
            </a:extLst>
          </p:cNvPr>
          <p:cNvSpPr>
            <a:spLocks noGrp="1"/>
          </p:cNvSpPr>
          <p:nvPr/>
        </p:nvSpPr>
        <p:spPr>
          <a:xfrm>
            <a:off x="3124200" y="2895600"/>
            <a:ext cx="17716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Define repeatable readiness, training, evaluation, packaging, approval, rollout, and recovery steps.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2E24A4-0141-4B37-8928-691636878792}"/>
              </a:ext>
            </a:extLst>
          </p:cNvPr>
          <p:cNvSpPr>
            <a:spLocks noGrp="1"/>
          </p:cNvSpPr>
          <p:nvPr/>
        </p:nvSpPr>
        <p:spPr>
          <a:xfrm>
            <a:off x="5276850" y="2381248"/>
            <a:ext cx="2076450" cy="1685925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7327AB3-C9C1-4F2A-A6D0-10D7A4A645FF}"/>
              </a:ext>
            </a:extLst>
          </p:cNvPr>
          <p:cNvSpPr>
            <a:spLocks noGrp="1"/>
          </p:cNvSpPr>
          <p:nvPr/>
        </p:nvSpPr>
        <p:spPr>
          <a:xfrm>
            <a:off x="5276850" y="2381250"/>
            <a:ext cx="2076450" cy="361950"/>
          </a:xfrm>
          <a:prstGeom prst="roundRect">
            <a:avLst>
              <a:gd name="adj" fmla="val 10526"/>
            </a:avLst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Federated engine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D56E01-AE91-43A1-8163-B51B0EF3698D}"/>
              </a:ext>
            </a:extLst>
          </p:cNvPr>
          <p:cNvSpPr>
            <a:spLocks noGrp="1"/>
          </p:cNvSpPr>
          <p:nvPr/>
        </p:nvSpPr>
        <p:spPr>
          <a:xfrm>
            <a:off x="5429250" y="2895600"/>
            <a:ext cx="17716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Run FedAvg or another approved algorithm, secure aggregation, privacy mechanisms, and dropout handling.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F730831-E735-4AF3-8B89-EC1D8BA5E7F2}"/>
              </a:ext>
            </a:extLst>
          </p:cNvPr>
          <p:cNvSpPr>
            <a:spLocks noGrp="1"/>
          </p:cNvSpPr>
          <p:nvPr/>
        </p:nvSpPr>
        <p:spPr>
          <a:xfrm>
            <a:off x="7581900" y="2381250"/>
            <a:ext cx="1771650" cy="1685924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84B2B6C-E9FC-4DAE-AEEF-1C30741DD9A8}"/>
              </a:ext>
            </a:extLst>
          </p:cNvPr>
          <p:cNvSpPr>
            <a:spLocks noGrp="1"/>
          </p:cNvSpPr>
          <p:nvPr/>
        </p:nvSpPr>
        <p:spPr>
          <a:xfrm>
            <a:off x="7581900" y="2381250"/>
            <a:ext cx="1771650" cy="361950"/>
          </a:xfrm>
          <a:prstGeom prst="roundRect">
            <a:avLst>
              <a:gd name="adj" fmla="val 10526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 registry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AE6955-92C1-481D-8741-E1B4ACD11D07}"/>
              </a:ext>
            </a:extLst>
          </p:cNvPr>
          <p:cNvSpPr>
            <a:spLocks noGrp="1"/>
          </p:cNvSpPr>
          <p:nvPr/>
        </p:nvSpPr>
        <p:spPr>
          <a:xfrm>
            <a:off x="7734300" y="2895600"/>
            <a:ext cx="14668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Store signed seeds, candidates, releases, code digests, feature contracts, evidence pointers, and rollback targets.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7DFFB37-32AB-426D-936F-2F09D6103545}"/>
              </a:ext>
            </a:extLst>
          </p:cNvPr>
          <p:cNvSpPr>
            <a:spLocks noGrp="1"/>
          </p:cNvSpPr>
          <p:nvPr/>
        </p:nvSpPr>
        <p:spPr>
          <a:xfrm>
            <a:off x="9582150" y="2381249"/>
            <a:ext cx="1771650" cy="1685923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7216B4A-3BF2-4504-852C-8A99711EC0E0}"/>
              </a:ext>
            </a:extLst>
          </p:cNvPr>
          <p:cNvSpPr>
            <a:spLocks noGrp="1"/>
          </p:cNvSpPr>
          <p:nvPr/>
        </p:nvSpPr>
        <p:spPr>
          <a:xfrm>
            <a:off x="9582150" y="2381250"/>
            <a:ext cx="1771650" cy="361950"/>
          </a:xfrm>
          <a:prstGeom prst="roundRect">
            <a:avLst>
              <a:gd name="adj" fmla="val 10526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GMA + core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5BB77E-A396-45E8-81E6-0554EE3EAA7C}"/>
              </a:ext>
            </a:extLst>
          </p:cNvPr>
          <p:cNvSpPr>
            <a:spLocks noGrp="1"/>
          </p:cNvSpPr>
          <p:nvPr/>
        </p:nvSpPr>
        <p:spPr>
          <a:xfrm>
            <a:off x="9734550" y="2895600"/>
            <a:ext cx="14668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Register sites, plan rounds, compile workloads, coordinate release, monitor health, pause, and restore.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02936F-D2E1-4B65-BA8E-7DDEA9BF7168}"/>
              </a:ext>
            </a:extLst>
          </p:cNvPr>
          <p:cNvSpPr>
            <a:spLocks noGrp="1"/>
          </p:cNvSpPr>
          <p:nvPr/>
        </p:nvSpPr>
        <p:spPr>
          <a:xfrm>
            <a:off x="1257300" y="4524375"/>
            <a:ext cx="9620250" cy="742950"/>
          </a:xfrm>
          <a:prstGeom prst="rect">
            <a:avLst/>
          </a:prstGeom>
          <a:solidFill>
            <a:srgbClr val="ECE6D9"/>
          </a:solidFill>
          <a:ln w="9525">
            <a:solidFill>
              <a:srgbClr val="D5CDBF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Controls across every step: identity, least privilege, minimum messages, signatures, retention, evidence, and human approval.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41F84D-20B4-45ED-993A-A1BBBB1ECECB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federation component map / 16</a:t>
            </a:r>
          </a:p>
        </p:txBody>
      </p:sp>
    </p:spTree>
    <p:extLst>
      <p:ext uri="{BB962C8B-B14F-4D97-AF65-F5344CB8AC3E}">
        <p14:creationId xmlns:p14="http://schemas.microsoft.com/office/powerpoint/2010/main" val="1579118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D648CF-CF55-43A3-BA43-EB8791CF677F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COMPLIANCE + SAFETY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CB496F-1310-475C-A519-C8BA8F24DD53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Less data movement does not equal compliance.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AC7B1-6DBE-4302-9E28-BB63F1715338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Technical controls help, but hospitals and the consortium still own policy, operations, clinical evidence, and accountable decisions.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423318-1869-493B-A37C-9D8807C2FB93}"/>
              </a:ext>
            </a:extLst>
          </p:cNvPr>
          <p:cNvSpPr>
            <a:spLocks noGrp="1"/>
          </p:cNvSpPr>
          <p:nvPr/>
        </p:nvSpPr>
        <p:spPr>
          <a:xfrm>
            <a:off x="731520" y="1691640"/>
            <a:ext cx="3291840" cy="205740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90CC2-FE5E-4144-BAB1-0D654DEF05B0}"/>
              </a:ext>
            </a:extLst>
          </p:cNvPr>
          <p:cNvSpPr>
            <a:spLocks noGrp="1"/>
          </p:cNvSpPr>
          <p:nvPr/>
        </p:nvSpPr>
        <p:spPr>
          <a:xfrm>
            <a:off x="896112" y="183794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HIPAA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2B981C-D1C5-43B3-ACBD-9791320C0E2A}"/>
              </a:ext>
            </a:extLst>
          </p:cNvPr>
          <p:cNvSpPr>
            <a:spLocks noGrp="1"/>
          </p:cNvSpPr>
          <p:nvPr/>
        </p:nvSpPr>
        <p:spPr>
          <a:xfrm>
            <a:off x="896112" y="2221992"/>
            <a:ext cx="2971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Keeping records local can reduce copies. Teams still need approved purpose, minimum-necessary decisions, access control, encryption, BAAs, retention, audit, risk analysis, and incident response.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8914DE6-27C2-4D94-B667-557896AC0B67}"/>
              </a:ext>
            </a:extLst>
          </p:cNvPr>
          <p:cNvSpPr>
            <a:spLocks noGrp="1"/>
          </p:cNvSpPr>
          <p:nvPr/>
        </p:nvSpPr>
        <p:spPr>
          <a:xfrm>
            <a:off x="4434840" y="1691640"/>
            <a:ext cx="3291840" cy="205740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CB7709-14E5-4061-8DC5-0E6C77010337}"/>
              </a:ext>
            </a:extLst>
          </p:cNvPr>
          <p:cNvSpPr>
            <a:spLocks noGrp="1"/>
          </p:cNvSpPr>
          <p:nvPr/>
        </p:nvSpPr>
        <p:spPr>
          <a:xfrm>
            <a:off x="4599431" y="183794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SOC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E9E10-F8E5-4106-95F5-F683B86639AB}"/>
              </a:ext>
            </a:extLst>
          </p:cNvPr>
          <p:cNvSpPr>
            <a:spLocks noGrp="1"/>
          </p:cNvSpPr>
          <p:nvPr/>
        </p:nvSpPr>
        <p:spPr>
          <a:xfrm>
            <a:off x="4599431" y="2221992"/>
            <a:ext cx="2971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can produce health, change, and recovery evidence. The organization still needs control owners, access reviews, change management, availability targets, vendor risk work, and an independent examination.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6B04290-7355-4C3D-A11F-9C147701D543}"/>
              </a:ext>
            </a:extLst>
          </p:cNvPr>
          <p:cNvSpPr>
            <a:spLocks noGrp="1"/>
          </p:cNvSpPr>
          <p:nvPr/>
        </p:nvSpPr>
        <p:spPr>
          <a:xfrm>
            <a:off x="8138160" y="1691640"/>
            <a:ext cx="3291840" cy="205740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90F19C-CA8E-4655-950F-AAC22240870F}"/>
              </a:ext>
            </a:extLst>
          </p:cNvPr>
          <p:cNvSpPr>
            <a:spLocks noGrp="1"/>
          </p:cNvSpPr>
          <p:nvPr/>
        </p:nvSpPr>
        <p:spPr>
          <a:xfrm>
            <a:off x="8302752" y="183794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CLINICAL AI SAFETY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4295D3-D8DF-4565-A41A-39801B37A06F}"/>
              </a:ext>
            </a:extLst>
          </p:cNvPr>
          <p:cNvSpPr>
            <a:spLocks noGrp="1"/>
          </p:cNvSpPr>
          <p:nvPr/>
        </p:nvSpPr>
        <p:spPr>
          <a:xfrm>
            <a:off x="8302752" y="2221992"/>
            <a:ext cx="2971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Each sepsis model needs a defined intended use, site and group validation, usability testing, clinician authority, monitoring, rollback, and regulatory analysis before care use.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F717F3-1A00-49A6-B673-1840A77E5987}"/>
              </a:ext>
            </a:extLst>
          </p:cNvPr>
          <p:cNvSpPr>
            <a:spLocks noGrp="1"/>
          </p:cNvSpPr>
          <p:nvPr/>
        </p:nvSpPr>
        <p:spPr>
          <a:xfrm>
            <a:off x="868680" y="42519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6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Federated architecture is a control choice—not legal, audit, privacy, or medical approval / 15</a:t>
            </a:r>
          </a:p>
        </p:txBody>
      </p:sp>
    </p:spTree>
    <p:extLst>
      <p:ext uri="{BB962C8B-B14F-4D97-AF65-F5344CB8AC3E}">
        <p14:creationId xmlns:p14="http://schemas.microsoft.com/office/powerpoint/2010/main" val="1156893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D1158-DC0C-4870-9A1F-691F8C825EE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ROUND SAFETY GATES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56273-0838-4E98-9C35-87AA81425751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Four gates must pass before a round changes the model.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DD751-E4A4-4D59-8F78-D01EFE7D22D5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Any failure cancels the candidate, records the reason, and keeps the current release in service.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E36FB3-EF4F-4471-8C0C-A6391FFA5999}"/>
              </a:ext>
            </a:extLst>
          </p:cNvPr>
          <p:cNvSpPr>
            <a:spLocks noGrp="1"/>
          </p:cNvSpPr>
          <p:nvPr/>
        </p:nvSpPr>
        <p:spPr>
          <a:xfrm>
            <a:off x="685800" y="1874519"/>
            <a:ext cx="2423160" cy="2560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54123-D6D6-43E5-8E10-D9956C94BDCE}"/>
              </a:ext>
            </a:extLst>
          </p:cNvPr>
          <p:cNvSpPr>
            <a:spLocks noGrp="1"/>
          </p:cNvSpPr>
          <p:nvPr/>
        </p:nvSpPr>
        <p:spPr>
          <a:xfrm>
            <a:off x="85039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1. SCOPE + SITE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5C917-0DA9-4A9D-81A2-91E6CAEF835A}"/>
              </a:ext>
            </a:extLst>
          </p:cNvPr>
          <p:cNvSpPr>
            <a:spLocks noGrp="1"/>
          </p:cNvSpPr>
          <p:nvPr/>
        </p:nvSpPr>
        <p:spPr>
          <a:xfrm>
            <a:off x="85039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Is the hospital, condition, patient group, seed version, feature contract, and purpose approved?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583F2-18F8-47B5-B953-1BE32838718A}"/>
              </a:ext>
            </a:extLst>
          </p:cNvPr>
          <p:cNvSpPr>
            <a:spLocks noGrp="1"/>
          </p:cNvSpPr>
          <p:nvPr/>
        </p:nvSpPr>
        <p:spPr>
          <a:xfrm>
            <a:off x="3154680" y="2926080"/>
            <a:ext cx="3200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B06795-DCE9-4C8D-B015-25CADBD41A99}"/>
              </a:ext>
            </a:extLst>
          </p:cNvPr>
          <p:cNvSpPr>
            <a:spLocks noGrp="1"/>
          </p:cNvSpPr>
          <p:nvPr/>
        </p:nvSpPr>
        <p:spPr>
          <a:xfrm>
            <a:off x="3474720" y="1874519"/>
            <a:ext cx="2423160" cy="2560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60983-67AA-4183-B04A-ACC05DF791ED}"/>
              </a:ext>
            </a:extLst>
          </p:cNvPr>
          <p:cNvSpPr>
            <a:spLocks noGrp="1"/>
          </p:cNvSpPr>
          <p:nvPr/>
        </p:nvSpPr>
        <p:spPr>
          <a:xfrm>
            <a:off x="363931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2. CODE +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09C7A-CE49-4C0C-BAB7-7F16C2331F9C}"/>
              </a:ext>
            </a:extLst>
          </p:cNvPr>
          <p:cNvSpPr>
            <a:spLocks noGrp="1"/>
          </p:cNvSpPr>
          <p:nvPr/>
        </p:nvSpPr>
        <p:spPr>
          <a:xfrm>
            <a:off x="363931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Did the hospital verify the signer and code hash? Are units, cohort, labels, freshness, and quality acceptable?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FFCDD-207D-447E-AD8D-0C3AEB782266}"/>
              </a:ext>
            </a:extLst>
          </p:cNvPr>
          <p:cNvSpPr>
            <a:spLocks noGrp="1"/>
          </p:cNvSpPr>
          <p:nvPr/>
        </p:nvSpPr>
        <p:spPr>
          <a:xfrm>
            <a:off x="5943600" y="2926080"/>
            <a:ext cx="3200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266D72-A8AA-4D4D-B477-7E6D7F171E6D}"/>
              </a:ext>
            </a:extLst>
          </p:cNvPr>
          <p:cNvSpPr>
            <a:spLocks noGrp="1"/>
          </p:cNvSpPr>
          <p:nvPr/>
        </p:nvSpPr>
        <p:spPr>
          <a:xfrm>
            <a:off x="6263640" y="1874519"/>
            <a:ext cx="2423160" cy="25603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4BA714-596E-48B7-B7FB-8173266FCE0E}"/>
              </a:ext>
            </a:extLst>
          </p:cNvPr>
          <p:cNvSpPr>
            <a:spLocks noGrp="1"/>
          </p:cNvSpPr>
          <p:nvPr/>
        </p:nvSpPr>
        <p:spPr>
          <a:xfrm>
            <a:off x="642823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3. PRIVACY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1A9390-FE67-4674-85D7-F68E58244653}"/>
              </a:ext>
            </a:extLst>
          </p:cNvPr>
          <p:cNvSpPr>
            <a:spLocks noGrp="1"/>
          </p:cNvSpPr>
          <p:nvPr/>
        </p:nvSpPr>
        <p:spPr>
          <a:xfrm>
            <a:off x="642823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Are contributions bounded, participant threshold met, egress allowed, and aggregation/privacy settings correct?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7B0A54-6410-4C3C-9E18-B02B32C485DB}"/>
              </a:ext>
            </a:extLst>
          </p:cNvPr>
          <p:cNvSpPr>
            <a:spLocks noGrp="1"/>
          </p:cNvSpPr>
          <p:nvPr/>
        </p:nvSpPr>
        <p:spPr>
          <a:xfrm>
            <a:off x="8732520" y="2926080"/>
            <a:ext cx="32004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7F04C6-72CF-4D13-82CA-222128D1F2CF}"/>
              </a:ext>
            </a:extLst>
          </p:cNvPr>
          <p:cNvSpPr>
            <a:spLocks noGrp="1"/>
          </p:cNvSpPr>
          <p:nvPr/>
        </p:nvSpPr>
        <p:spPr>
          <a:xfrm>
            <a:off x="9052559" y="1874519"/>
            <a:ext cx="2423160" cy="256032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6E707-0227-4865-8B3F-1C65728A0F1A}"/>
              </a:ext>
            </a:extLst>
          </p:cNvPr>
          <p:cNvSpPr>
            <a:spLocks noGrp="1"/>
          </p:cNvSpPr>
          <p:nvPr/>
        </p:nvSpPr>
        <p:spPr>
          <a:xfrm>
            <a:off x="921715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4. RELEASE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8E6459-BE37-4D1A-BC1C-440076936B49}"/>
              </a:ext>
            </a:extLst>
          </p:cNvPr>
          <p:cNvSpPr>
            <a:spLocks noGrp="1"/>
          </p:cNvSpPr>
          <p:nvPr/>
        </p:nvSpPr>
        <p:spPr>
          <a:xfrm>
            <a:off x="921715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Did every site evaluation, subgroup, security, clinical, canary, and rollback check pass?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002B24-9FFE-495E-9B87-E5DD1FE8718C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5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A successful aggregation is only a candidate—not permission to deploy.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64141-C074-4DC7-BBE3-D0FC1209659F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Federated safety gates / 18</a:t>
            </a:r>
          </a:p>
        </p:txBody>
      </p:sp>
    </p:spTree>
    <p:extLst>
      <p:ext uri="{BB962C8B-B14F-4D97-AF65-F5344CB8AC3E}">
        <p14:creationId xmlns:p14="http://schemas.microsoft.com/office/powerpoint/2010/main" val="1530383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DBD12-B4E5-4D50-862A-EE95276939B5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CHOICE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A5135A-B7C2-4A3F-A4B9-1A19657118BC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Why Dagents over a framework or SaaS alone?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F016E-D41B-49E9-9DA2-D7111539AAC2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Best fit: Dagents supplies reusable control and release governance around a specialist federated-learning engine.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E8E996-E424-4293-8C1C-AF9D6E1AB446}"/>
              </a:ext>
            </a:extLst>
          </p:cNvPr>
          <p:cNvSpPr>
            <a:spLocks noGrp="1"/>
          </p:cNvSpPr>
          <p:nvPr/>
        </p:nvSpPr>
        <p:spPr>
          <a:xfrm>
            <a:off x="502920" y="1627632"/>
            <a:ext cx="2888589" cy="7543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342B3-FAB8-43E7-96EC-D556D6737311}"/>
              </a:ext>
            </a:extLst>
          </p:cNvPr>
          <p:cNvSpPr>
            <a:spLocks noGrp="1"/>
          </p:cNvSpPr>
          <p:nvPr/>
        </p:nvSpPr>
        <p:spPr>
          <a:xfrm>
            <a:off x="576072" y="170078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Option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2CF242-7638-4E68-8FA8-D78A0F42581E}"/>
              </a:ext>
            </a:extLst>
          </p:cNvPr>
          <p:cNvSpPr>
            <a:spLocks noGrp="1"/>
          </p:cNvSpPr>
          <p:nvPr/>
        </p:nvSpPr>
        <p:spPr>
          <a:xfrm>
            <a:off x="3391509" y="1627632"/>
            <a:ext cx="4110685" cy="7543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79A8A-1ADC-407D-865C-BB8D994150C0}"/>
              </a:ext>
            </a:extLst>
          </p:cNvPr>
          <p:cNvSpPr>
            <a:spLocks noGrp="1"/>
          </p:cNvSpPr>
          <p:nvPr/>
        </p:nvSpPr>
        <p:spPr>
          <a:xfrm>
            <a:off x="3464661" y="170078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Advantages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467CD7-205E-45FC-9D3C-702CF1606E65}"/>
              </a:ext>
            </a:extLst>
          </p:cNvPr>
          <p:cNvSpPr>
            <a:spLocks noGrp="1"/>
          </p:cNvSpPr>
          <p:nvPr/>
        </p:nvSpPr>
        <p:spPr>
          <a:xfrm>
            <a:off x="7502194" y="1627632"/>
            <a:ext cx="4110685" cy="7543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D5641A-7A5E-448B-8A7F-B80482867BF1}"/>
              </a:ext>
            </a:extLst>
          </p:cNvPr>
          <p:cNvSpPr>
            <a:spLocks noGrp="1"/>
          </p:cNvSpPr>
          <p:nvPr/>
        </p:nvSpPr>
        <p:spPr>
          <a:xfrm>
            <a:off x="7575346" y="170078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Tradeoffs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FEFA45-D8D3-4A9C-96A4-DF0C960481D7}"/>
              </a:ext>
            </a:extLst>
          </p:cNvPr>
          <p:cNvSpPr>
            <a:spLocks noGrp="1"/>
          </p:cNvSpPr>
          <p:nvPr/>
        </p:nvSpPr>
        <p:spPr>
          <a:xfrm>
            <a:off x="502920" y="238201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780A78-0661-4E04-B7B9-70E32540089F}"/>
              </a:ext>
            </a:extLst>
          </p:cNvPr>
          <p:cNvSpPr>
            <a:spLocks noGrp="1"/>
          </p:cNvSpPr>
          <p:nvPr/>
        </p:nvSpPr>
        <p:spPr>
          <a:xfrm>
            <a:off x="576072" y="245516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 + FL engine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1933A7-9FF4-435B-B5FF-A7C3853C93C5}"/>
              </a:ext>
            </a:extLst>
          </p:cNvPr>
          <p:cNvSpPr>
            <a:spLocks noGrp="1"/>
          </p:cNvSpPr>
          <p:nvPr/>
        </p:nvSpPr>
        <p:spPr>
          <a:xfrm>
            <a:off x="3391509" y="238201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842238-9A3F-4E78-B85C-E0D55061F392}"/>
              </a:ext>
            </a:extLst>
          </p:cNvPr>
          <p:cNvSpPr>
            <a:spLocks noGrp="1"/>
          </p:cNvSpPr>
          <p:nvPr/>
        </p:nvSpPr>
        <p:spPr>
          <a:xfrm>
            <a:off x="3464661" y="245516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Source-local LMA boundary; reusable GMA orchestration; portable contracts; evidence and rollback in one design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451E3A-FC4E-40B7-BC28-6148F8CF2167}"/>
              </a:ext>
            </a:extLst>
          </p:cNvPr>
          <p:cNvSpPr>
            <a:spLocks noGrp="1"/>
          </p:cNvSpPr>
          <p:nvPr/>
        </p:nvSpPr>
        <p:spPr>
          <a:xfrm>
            <a:off x="7502194" y="238201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74E3E5-309C-446F-98C9-71A8971D04D0}"/>
              </a:ext>
            </a:extLst>
          </p:cNvPr>
          <p:cNvSpPr>
            <a:spLocks noGrp="1"/>
          </p:cNvSpPr>
          <p:nvPr/>
        </p:nvSpPr>
        <p:spPr>
          <a:xfrm>
            <a:off x="7575346" y="245516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More integration and operational ownership; privacy, identity, and clinical controls still need production work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5E18DC-73DC-4E75-9B6E-E9FD5FA926E0}"/>
              </a:ext>
            </a:extLst>
          </p:cNvPr>
          <p:cNvSpPr>
            <a:spLocks noGrp="1"/>
          </p:cNvSpPr>
          <p:nvPr/>
        </p:nvSpPr>
        <p:spPr>
          <a:xfrm>
            <a:off x="502920" y="313639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18314E-8CA6-45E6-9DB4-5A0A01FE4EF5}"/>
              </a:ext>
            </a:extLst>
          </p:cNvPr>
          <p:cNvSpPr>
            <a:spLocks noGrp="1"/>
          </p:cNvSpPr>
          <p:nvPr/>
        </p:nvSpPr>
        <p:spPr>
          <a:xfrm>
            <a:off x="576072" y="320954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FL framework alone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D4F55D-7290-4A1A-B1AA-1202B3E96581}"/>
              </a:ext>
            </a:extLst>
          </p:cNvPr>
          <p:cNvSpPr>
            <a:spLocks noGrp="1"/>
          </p:cNvSpPr>
          <p:nvPr/>
        </p:nvSpPr>
        <p:spPr>
          <a:xfrm>
            <a:off x="3391509" y="313639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9DA9AE-C9EA-4E8B-99E2-9C3D9CA6335A}"/>
              </a:ext>
            </a:extLst>
          </p:cNvPr>
          <p:cNvSpPr>
            <a:spLocks noGrp="1"/>
          </p:cNvSpPr>
          <p:nvPr/>
        </p:nvSpPr>
        <p:spPr>
          <a:xfrm>
            <a:off x="3464661" y="320954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Mature algorithms, simulation, aggregation, and privacy extensions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59F6ED-810F-4C83-86D5-41384E8BEAFA}"/>
              </a:ext>
            </a:extLst>
          </p:cNvPr>
          <p:cNvSpPr>
            <a:spLocks noGrp="1"/>
          </p:cNvSpPr>
          <p:nvPr/>
        </p:nvSpPr>
        <p:spPr>
          <a:xfrm>
            <a:off x="7502194" y="313639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A3B850-E077-4340-B122-134E8C1E3C94}"/>
              </a:ext>
            </a:extLst>
          </p:cNvPr>
          <p:cNvSpPr>
            <a:spLocks noGrp="1"/>
          </p:cNvSpPr>
          <p:nvPr/>
        </p:nvSpPr>
        <p:spPr>
          <a:xfrm>
            <a:off x="7575346" y="320954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Needs a surrounding control plane for orchestration, evidence, releases, and product integration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906D7F-DE00-4FB9-B671-BE04D37B5AED}"/>
              </a:ext>
            </a:extLst>
          </p:cNvPr>
          <p:cNvSpPr>
            <a:spLocks noGrp="1"/>
          </p:cNvSpPr>
          <p:nvPr/>
        </p:nvSpPr>
        <p:spPr>
          <a:xfrm>
            <a:off x="502920" y="389077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2AE019-BFA0-4AA7-AF8E-95A18B590175}"/>
              </a:ext>
            </a:extLst>
          </p:cNvPr>
          <p:cNvSpPr>
            <a:spLocks noGrp="1"/>
          </p:cNvSpPr>
          <p:nvPr/>
        </p:nvSpPr>
        <p:spPr>
          <a:xfrm>
            <a:off x="576072" y="396392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Managed FL SaaS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EAF58D-8638-4C52-B131-4FB895092805}"/>
              </a:ext>
            </a:extLst>
          </p:cNvPr>
          <p:cNvSpPr>
            <a:spLocks noGrp="1"/>
          </p:cNvSpPr>
          <p:nvPr/>
        </p:nvSpPr>
        <p:spPr>
          <a:xfrm>
            <a:off x="3391509" y="389077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F9B0E1-A2E7-48D6-802D-BFA82A23E450}"/>
              </a:ext>
            </a:extLst>
          </p:cNvPr>
          <p:cNvSpPr>
            <a:spLocks noGrp="1"/>
          </p:cNvSpPr>
          <p:nvPr/>
        </p:nvSpPr>
        <p:spPr>
          <a:xfrm>
            <a:off x="3464661" y="396392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Fast onboarding, hosted services, and vendor support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47C103-7BCD-4BBF-8FED-74868A3C3695}"/>
              </a:ext>
            </a:extLst>
          </p:cNvPr>
          <p:cNvSpPr>
            <a:spLocks noGrp="1"/>
          </p:cNvSpPr>
          <p:nvPr/>
        </p:nvSpPr>
        <p:spPr>
          <a:xfrm>
            <a:off x="7502194" y="389077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EA3D92-36D0-4F25-8F70-B08D576FB91C}"/>
              </a:ext>
            </a:extLst>
          </p:cNvPr>
          <p:cNvSpPr>
            <a:spLocks noGrp="1"/>
          </p:cNvSpPr>
          <p:nvPr/>
        </p:nvSpPr>
        <p:spPr>
          <a:xfrm>
            <a:off x="7575346" y="396392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Lock-in, recurring cost, deployment constraints, and less control over evidence or recovery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C8D755-973E-4DFA-A9BB-4D1561BC8F2D}"/>
              </a:ext>
            </a:extLst>
          </p:cNvPr>
          <p:cNvSpPr>
            <a:spLocks noGrp="1"/>
          </p:cNvSpPr>
          <p:nvPr/>
        </p:nvSpPr>
        <p:spPr>
          <a:xfrm>
            <a:off x="502920" y="464515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38EB1B-F066-4BCF-8C4F-5B2A81D6B611}"/>
              </a:ext>
            </a:extLst>
          </p:cNvPr>
          <p:cNvSpPr>
            <a:spLocks noGrp="1"/>
          </p:cNvSpPr>
          <p:nvPr/>
        </p:nvSpPr>
        <p:spPr>
          <a:xfrm>
            <a:off x="576072" y="471830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Central warehouse + ML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14006E-D9C0-4D92-BA26-C2AE0D7838DF}"/>
              </a:ext>
            </a:extLst>
          </p:cNvPr>
          <p:cNvSpPr>
            <a:spLocks noGrp="1"/>
          </p:cNvSpPr>
          <p:nvPr/>
        </p:nvSpPr>
        <p:spPr>
          <a:xfrm>
            <a:off x="3391509" y="464515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C6A327-84A3-4C0C-92BA-5BF7E6A77F30}"/>
              </a:ext>
            </a:extLst>
          </p:cNvPr>
          <p:cNvSpPr>
            <a:spLocks noGrp="1"/>
          </p:cNvSpPr>
          <p:nvPr/>
        </p:nvSpPr>
        <p:spPr>
          <a:xfrm>
            <a:off x="3464661" y="471830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Familiar central analytics and model tools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8831F0-7FE8-4CE5-9F5C-AC01B1C74153}"/>
              </a:ext>
            </a:extLst>
          </p:cNvPr>
          <p:cNvSpPr>
            <a:spLocks noGrp="1"/>
          </p:cNvSpPr>
          <p:nvPr/>
        </p:nvSpPr>
        <p:spPr>
          <a:xfrm>
            <a:off x="7502194" y="464515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BC41C7-12CA-49DD-B21A-2842B470EEA6}"/>
              </a:ext>
            </a:extLst>
          </p:cNvPr>
          <p:cNvSpPr>
            <a:spLocks noGrp="1"/>
          </p:cNvSpPr>
          <p:nvPr/>
        </p:nvSpPr>
        <p:spPr>
          <a:xfrm>
            <a:off x="7575346" y="471830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Large and delayed data flows, duplicated sensitive records, and a larger governance boundary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08C939-B03B-40D8-A0AC-F9FECE411770}"/>
              </a:ext>
            </a:extLst>
          </p:cNvPr>
          <p:cNvSpPr>
            <a:spLocks noGrp="1"/>
          </p:cNvSpPr>
          <p:nvPr/>
        </p:nvSpPr>
        <p:spPr>
          <a:xfrm>
            <a:off x="502920" y="539953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428393-C352-48CE-8EE3-95676E46C147}"/>
              </a:ext>
            </a:extLst>
          </p:cNvPr>
          <p:cNvSpPr>
            <a:spLocks noGrp="1"/>
          </p:cNvSpPr>
          <p:nvPr/>
        </p:nvSpPr>
        <p:spPr>
          <a:xfrm>
            <a:off x="576072" y="547268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One-off custom build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9B7E1E8-B494-4075-9967-EAC444533778}"/>
              </a:ext>
            </a:extLst>
          </p:cNvPr>
          <p:cNvSpPr>
            <a:spLocks noGrp="1"/>
          </p:cNvSpPr>
          <p:nvPr/>
        </p:nvSpPr>
        <p:spPr>
          <a:xfrm>
            <a:off x="3391509" y="539953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CB4B39-747E-485F-8D7F-1DA41FF4926A}"/>
              </a:ext>
            </a:extLst>
          </p:cNvPr>
          <p:cNvSpPr>
            <a:spLocks noGrp="1"/>
          </p:cNvSpPr>
          <p:nvPr/>
        </p:nvSpPr>
        <p:spPr>
          <a:xfrm>
            <a:off x="3464661" y="547268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Can match one hospital network exactly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46F475-A664-45DE-8E1A-8D68FE14EB33}"/>
              </a:ext>
            </a:extLst>
          </p:cNvPr>
          <p:cNvSpPr>
            <a:spLocks noGrp="1"/>
          </p:cNvSpPr>
          <p:nvPr/>
        </p:nvSpPr>
        <p:spPr>
          <a:xfrm>
            <a:off x="7502194" y="539953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4A41FF-3F45-423C-AE62-D1955E617499}"/>
              </a:ext>
            </a:extLst>
          </p:cNvPr>
          <p:cNvSpPr>
            <a:spLocks noGrp="1"/>
          </p:cNvSpPr>
          <p:nvPr/>
        </p:nvSpPr>
        <p:spPr>
          <a:xfrm>
            <a:off x="7575346" y="547268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Slow to reuse and maintain; likely to create incompatible contracts for the next condition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5FBFE2-8640-4A2C-801D-9487E96EEB43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wins on control, portability, and recoverability—not on lowest initial effort / 26</a:t>
            </a:r>
          </a:p>
        </p:txBody>
      </p:sp>
    </p:spTree>
    <p:extLst>
      <p:ext uri="{BB962C8B-B14F-4D97-AF65-F5344CB8AC3E}">
        <p14:creationId xmlns:p14="http://schemas.microsoft.com/office/powerpoint/2010/main" val="1134147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616C7F-5DE1-4780-8723-F2B4F47C5526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PILOT 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A26162-FC55-4072-9ED2-CB330866CB78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Prove federation in stages.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87E13-600F-4E88-BC5E-106AEBF65EB7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Start with federated analytics; enable training only after the data, privacy, and recovery paths work.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383E6C-1657-4B5B-8879-7FC0AEC261AE}"/>
              </a:ext>
            </a:extLst>
          </p:cNvPr>
          <p:cNvSpPr>
            <a:spLocks noGrp="1"/>
          </p:cNvSpPr>
          <p:nvPr/>
        </p:nvSpPr>
        <p:spPr>
          <a:xfrm>
            <a:off x="594360" y="1691640"/>
            <a:ext cx="2852928" cy="6781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815377-4277-4F34-B2E8-94C36D9C4436}"/>
              </a:ext>
            </a:extLst>
          </p:cNvPr>
          <p:cNvSpPr>
            <a:spLocks noGrp="1"/>
          </p:cNvSpPr>
          <p:nvPr/>
        </p:nvSpPr>
        <p:spPr>
          <a:xfrm>
            <a:off x="667512" y="176479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Phase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3170B6-5F27-4C0A-8103-AABE975610F3}"/>
              </a:ext>
            </a:extLst>
          </p:cNvPr>
          <p:cNvSpPr>
            <a:spLocks noGrp="1"/>
          </p:cNvSpPr>
          <p:nvPr/>
        </p:nvSpPr>
        <p:spPr>
          <a:xfrm>
            <a:off x="3447288" y="1691640"/>
            <a:ext cx="4059935" cy="6781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74AA2-CC5C-4831-A728-17A703311F53}"/>
              </a:ext>
            </a:extLst>
          </p:cNvPr>
          <p:cNvSpPr>
            <a:spLocks noGrp="1"/>
          </p:cNvSpPr>
          <p:nvPr/>
        </p:nvSpPr>
        <p:spPr>
          <a:xfrm>
            <a:off x="3520440" y="176479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What happens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6EF320-5BD6-4E93-BE04-B66DC0DBE514}"/>
              </a:ext>
            </a:extLst>
          </p:cNvPr>
          <p:cNvSpPr>
            <a:spLocks noGrp="1"/>
          </p:cNvSpPr>
          <p:nvPr/>
        </p:nvSpPr>
        <p:spPr>
          <a:xfrm>
            <a:off x="7507224" y="1691640"/>
            <a:ext cx="4059935" cy="6781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5EAA19-880D-4305-B631-18BEDD802D77}"/>
              </a:ext>
            </a:extLst>
          </p:cNvPr>
          <p:cNvSpPr>
            <a:spLocks noGrp="1"/>
          </p:cNvSpPr>
          <p:nvPr/>
        </p:nvSpPr>
        <p:spPr>
          <a:xfrm>
            <a:off x="7580376" y="176479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Proof needed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D077EF-7B73-4A48-BF93-BE2FF98AD55C}"/>
              </a:ext>
            </a:extLst>
          </p:cNvPr>
          <p:cNvSpPr>
            <a:spLocks noGrp="1"/>
          </p:cNvSpPr>
          <p:nvPr/>
        </p:nvSpPr>
        <p:spPr>
          <a:xfrm>
            <a:off x="594360" y="2369820"/>
            <a:ext cx="2852928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30F56B-65E8-4B4D-AE87-7B800F1570AE}"/>
              </a:ext>
            </a:extLst>
          </p:cNvPr>
          <p:cNvSpPr>
            <a:spLocks noGrp="1"/>
          </p:cNvSpPr>
          <p:nvPr/>
        </p:nvSpPr>
        <p:spPr>
          <a:xfrm>
            <a:off x="667512" y="244297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1. Define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A7A60E-3308-46B9-8ED0-A94A1248497E}"/>
              </a:ext>
            </a:extLst>
          </p:cNvPr>
          <p:cNvSpPr>
            <a:spLocks noGrp="1"/>
          </p:cNvSpPr>
          <p:nvPr/>
        </p:nvSpPr>
        <p:spPr>
          <a:xfrm>
            <a:off x="3447288" y="236982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E2E768-B155-4108-A917-81CEC8DEFE13}"/>
              </a:ext>
            </a:extLst>
          </p:cNvPr>
          <p:cNvSpPr>
            <a:spLocks noGrp="1"/>
          </p:cNvSpPr>
          <p:nvPr/>
        </p:nvSpPr>
        <p:spPr>
          <a:xfrm>
            <a:off x="3520440" y="244297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Approve the sepsis research question, patient group, outcome, horizon, sources, site owners, and stop conditions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5302B5-AEFF-4AC3-A299-F08E8F36F866}"/>
              </a:ext>
            </a:extLst>
          </p:cNvPr>
          <p:cNvSpPr>
            <a:spLocks noGrp="1"/>
          </p:cNvSpPr>
          <p:nvPr/>
        </p:nvSpPr>
        <p:spPr>
          <a:xfrm>
            <a:off x="7507224" y="236982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7A7815-5F24-4450-95EC-DD6BE8725C25}"/>
              </a:ext>
            </a:extLst>
          </p:cNvPr>
          <p:cNvSpPr>
            <a:spLocks noGrp="1"/>
          </p:cNvSpPr>
          <p:nvPr/>
        </p:nvSpPr>
        <p:spPr>
          <a:xfrm>
            <a:off x="7580376" y="244297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Signed clinical and data contract; named owners; no automatic care action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E41A3F-8B3A-42AB-AA96-2BA4DC29AD3B}"/>
              </a:ext>
            </a:extLst>
          </p:cNvPr>
          <p:cNvSpPr>
            <a:spLocks noGrp="1"/>
          </p:cNvSpPr>
          <p:nvPr/>
        </p:nvSpPr>
        <p:spPr>
          <a:xfrm>
            <a:off x="594360" y="3048000"/>
            <a:ext cx="2852928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4F5F03-3944-44F7-B5E4-9E1086F02AB1}"/>
              </a:ext>
            </a:extLst>
          </p:cNvPr>
          <p:cNvSpPr>
            <a:spLocks noGrp="1"/>
          </p:cNvSpPr>
          <p:nvPr/>
        </p:nvSpPr>
        <p:spPr>
          <a:xfrm>
            <a:off x="667512" y="312115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2. Federated analytics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AA2085-00F1-42F1-853E-7AC03F183B23}"/>
              </a:ext>
            </a:extLst>
          </p:cNvPr>
          <p:cNvSpPr>
            <a:spLocks noGrp="1"/>
          </p:cNvSpPr>
          <p:nvPr/>
        </p:nvSpPr>
        <p:spPr>
          <a:xfrm>
            <a:off x="3447288" y="304800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66ED5F-A66B-4934-ABC4-E83734BE467F}"/>
              </a:ext>
            </a:extLst>
          </p:cNvPr>
          <p:cNvSpPr>
            <a:spLocks noGrp="1"/>
          </p:cNvSpPr>
          <p:nvPr/>
        </p:nvSpPr>
        <p:spPr>
          <a:xfrm>
            <a:off x="3520440" y="312115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Compute local counts, missingness, units, labels, and seed-model measures; reveal approved aggregates only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C5B3F9-6E5F-47E9-85B6-FB13ED306D04}"/>
              </a:ext>
            </a:extLst>
          </p:cNvPr>
          <p:cNvSpPr>
            <a:spLocks noGrp="1"/>
          </p:cNvSpPr>
          <p:nvPr/>
        </p:nvSpPr>
        <p:spPr>
          <a:xfrm>
            <a:off x="7507224" y="304800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212C95-D024-49DF-A483-9058E582E581}"/>
              </a:ext>
            </a:extLst>
          </p:cNvPr>
          <p:cNvSpPr>
            <a:spLocks noGrp="1"/>
          </p:cNvSpPr>
          <p:nvPr/>
        </p:nvSpPr>
        <p:spPr>
          <a:xfrm>
            <a:off x="7580376" y="312115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Same meaning at every site; minimum-message path; privacy threshold and audit trail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6FE044-3348-4E4C-85FC-0F05D67F7015}"/>
              </a:ext>
            </a:extLst>
          </p:cNvPr>
          <p:cNvSpPr>
            <a:spLocks noGrp="1"/>
          </p:cNvSpPr>
          <p:nvPr/>
        </p:nvSpPr>
        <p:spPr>
          <a:xfrm>
            <a:off x="594360" y="3726180"/>
            <a:ext cx="2852928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C3BAFB-5BF5-4B01-8498-D3546837CBE9}"/>
              </a:ext>
            </a:extLst>
          </p:cNvPr>
          <p:cNvSpPr>
            <a:spLocks noGrp="1"/>
          </p:cNvSpPr>
          <p:nvPr/>
        </p:nvSpPr>
        <p:spPr>
          <a:xfrm>
            <a:off x="667512" y="379933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3. Simulate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D6D3CF-7424-4D18-9890-24D763128CDA}"/>
              </a:ext>
            </a:extLst>
          </p:cNvPr>
          <p:cNvSpPr>
            <a:spLocks noGrp="1"/>
          </p:cNvSpPr>
          <p:nvPr/>
        </p:nvSpPr>
        <p:spPr>
          <a:xfrm>
            <a:off x="3447288" y="372618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7CA9F4-FF5F-4C24-A036-12A0C3216696}"/>
              </a:ext>
            </a:extLst>
          </p:cNvPr>
          <p:cNvSpPr>
            <a:spLocks noGrp="1"/>
          </p:cNvSpPr>
          <p:nvPr/>
        </p:nvSpPr>
        <p:spPr>
          <a:xfrm>
            <a:off x="3520440" y="379933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Exercise complete rounds with approved test data, including site rejection, dropout, retry, bad update, and rollback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E31BD2-C02C-48F0-A0FE-5BBBB95B0C51}"/>
              </a:ext>
            </a:extLst>
          </p:cNvPr>
          <p:cNvSpPr>
            <a:spLocks noGrp="1"/>
          </p:cNvSpPr>
          <p:nvPr/>
        </p:nvSpPr>
        <p:spPr>
          <a:xfrm>
            <a:off x="7507224" y="372618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121A96-7DBE-4B73-92D8-36238161F7A4}"/>
              </a:ext>
            </a:extLst>
          </p:cNvPr>
          <p:cNvSpPr>
            <a:spLocks noGrp="1"/>
          </p:cNvSpPr>
          <p:nvPr/>
        </p:nvSpPr>
        <p:spPr>
          <a:xfrm>
            <a:off x="7580376" y="379933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Deterministic recovery, signatures, round state, and no individual-update exposure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FC2832-250A-4D49-8EBF-4722A2F7531D}"/>
              </a:ext>
            </a:extLst>
          </p:cNvPr>
          <p:cNvSpPr>
            <a:spLocks noGrp="1"/>
          </p:cNvSpPr>
          <p:nvPr/>
        </p:nvSpPr>
        <p:spPr>
          <a:xfrm>
            <a:off x="594360" y="4404360"/>
            <a:ext cx="2852928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E1A0B1-652A-4252-85BC-BD3E5B3D5858}"/>
              </a:ext>
            </a:extLst>
          </p:cNvPr>
          <p:cNvSpPr>
            <a:spLocks noGrp="1"/>
          </p:cNvSpPr>
          <p:nvPr/>
        </p:nvSpPr>
        <p:spPr>
          <a:xfrm>
            <a:off x="667512" y="447751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4. Retrospective train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4D9192-44C0-4A4A-AFE8-E45CE995A1D6}"/>
              </a:ext>
            </a:extLst>
          </p:cNvPr>
          <p:cNvSpPr>
            <a:spLocks noGrp="1"/>
          </p:cNvSpPr>
          <p:nvPr/>
        </p:nvSpPr>
        <p:spPr>
          <a:xfrm>
            <a:off x="3447288" y="440436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C880F6-2B6F-4633-8D56-D150FD6C1945}"/>
              </a:ext>
            </a:extLst>
          </p:cNvPr>
          <p:cNvSpPr>
            <a:spLocks noGrp="1"/>
          </p:cNvSpPr>
          <p:nvPr/>
        </p:nvSpPr>
        <p:spPr>
          <a:xfrm>
            <a:off x="3520440" y="447751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Train on historical local data; evaluate every candidate locally and compare with local-only and current baselines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0F8CA7-3636-4591-A377-3CB024DBE12B}"/>
              </a:ext>
            </a:extLst>
          </p:cNvPr>
          <p:cNvSpPr>
            <a:spLocks noGrp="1"/>
          </p:cNvSpPr>
          <p:nvPr/>
        </p:nvSpPr>
        <p:spPr>
          <a:xfrm>
            <a:off x="7507224" y="440436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8A6AC6-8C69-48F4-9C9E-8763D385948D}"/>
              </a:ext>
            </a:extLst>
          </p:cNvPr>
          <p:cNvSpPr>
            <a:spLocks noGrp="1"/>
          </p:cNvSpPr>
          <p:nvPr/>
        </p:nvSpPr>
        <p:spPr>
          <a:xfrm>
            <a:off x="7580376" y="447751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Cross-site and subgroup evidence; privacy report; candidate rejected when any gate fails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7DBE89-C515-4B02-83EF-50CDFCD86217}"/>
              </a:ext>
            </a:extLst>
          </p:cNvPr>
          <p:cNvSpPr>
            <a:spLocks noGrp="1"/>
          </p:cNvSpPr>
          <p:nvPr/>
        </p:nvSpPr>
        <p:spPr>
          <a:xfrm>
            <a:off x="594360" y="5082540"/>
            <a:ext cx="2852928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D674F3-FB7C-44A9-A53F-62A858865527}"/>
              </a:ext>
            </a:extLst>
          </p:cNvPr>
          <p:cNvSpPr>
            <a:spLocks noGrp="1"/>
          </p:cNvSpPr>
          <p:nvPr/>
        </p:nvSpPr>
        <p:spPr>
          <a:xfrm>
            <a:off x="667512" y="515569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5. Silent live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DED86A-8DF5-4D99-B9D6-C41B6D36E250}"/>
              </a:ext>
            </a:extLst>
          </p:cNvPr>
          <p:cNvSpPr>
            <a:spLocks noGrp="1"/>
          </p:cNvSpPr>
          <p:nvPr/>
        </p:nvSpPr>
        <p:spPr>
          <a:xfrm>
            <a:off x="3447288" y="508254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4DD496-AB69-4A09-920B-2DFCCCC582F8}"/>
              </a:ext>
            </a:extLst>
          </p:cNvPr>
          <p:cNvSpPr>
            <a:spLocks noGrp="1"/>
          </p:cNvSpPr>
          <p:nvPr/>
        </p:nvSpPr>
        <p:spPr>
          <a:xfrm>
            <a:off x="3520440" y="515569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Run the approved model on current data without displaying warnings to clinicians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B578E8A-A664-4A81-A466-F2903CA08D64}"/>
              </a:ext>
            </a:extLst>
          </p:cNvPr>
          <p:cNvSpPr>
            <a:spLocks noGrp="1"/>
          </p:cNvSpPr>
          <p:nvPr/>
        </p:nvSpPr>
        <p:spPr>
          <a:xfrm>
            <a:off x="7507224" y="508254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767822-8C6A-4AA1-9B75-C58DF72BBE26}"/>
              </a:ext>
            </a:extLst>
          </p:cNvPr>
          <p:cNvSpPr>
            <a:spLocks noGrp="1"/>
          </p:cNvSpPr>
          <p:nvPr/>
        </p:nvSpPr>
        <p:spPr>
          <a:xfrm>
            <a:off x="7580376" y="515569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Reliability, drift, alert volume, security, recovery, and separate clinical approval for any next stage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D0300A-8102-422A-B87C-10ACE4D3BDF4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Evidence—not calendar dates—advances the federation / 27</a:t>
            </a:r>
          </a:p>
        </p:txBody>
      </p:sp>
    </p:spTree>
    <p:extLst>
      <p:ext uri="{BB962C8B-B14F-4D97-AF65-F5344CB8AC3E}">
        <p14:creationId xmlns:p14="http://schemas.microsoft.com/office/powerpoint/2010/main" val="1705652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7D0897-00AD-4965-8CE2-0C3E3BDAA895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SUCCESS MEASURES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EF4B8-D416-44CC-8F0F-CD690DE62B0E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Success means quality, privacy, and recovery.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C6F23-B794-41CB-9828-0309755B56BA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No single accuracy number proves that the federated system is safe or useful.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85A7CA-8862-4A59-84A7-D6796384C0A0}"/>
              </a:ext>
            </a:extLst>
          </p:cNvPr>
          <p:cNvSpPr>
            <a:spLocks noGrp="1"/>
          </p:cNvSpPr>
          <p:nvPr/>
        </p:nvSpPr>
        <p:spPr>
          <a:xfrm>
            <a:off x="777240" y="1737360"/>
            <a:ext cx="4892040" cy="114300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6ABA7-B17F-4F9D-95AC-A9AD1840DA5F}"/>
              </a:ext>
            </a:extLst>
          </p:cNvPr>
          <p:cNvSpPr>
            <a:spLocks noGrp="1"/>
          </p:cNvSpPr>
          <p:nvPr/>
        </p:nvSpPr>
        <p:spPr>
          <a:xfrm>
            <a:off x="94183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Cross-site model evidence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C6DE5-10AC-4D7B-A902-BE1A4B95FA97}"/>
              </a:ext>
            </a:extLst>
          </p:cNvPr>
          <p:cNvSpPr>
            <a:spLocks noGrp="1"/>
          </p:cNvSpPr>
          <p:nvPr/>
        </p:nvSpPr>
        <p:spPr>
          <a:xfrm>
            <a:off x="94183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Calibration and discrimination at every hospital; approved group results; comparison with local-only and current baselines.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689BD0-DEBE-4890-84C2-52C9C0F87691}"/>
              </a:ext>
            </a:extLst>
          </p:cNvPr>
          <p:cNvSpPr>
            <a:spLocks noGrp="1"/>
          </p:cNvSpPr>
          <p:nvPr/>
        </p:nvSpPr>
        <p:spPr>
          <a:xfrm>
            <a:off x="6217920" y="1737360"/>
            <a:ext cx="4892040" cy="114300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C22423-3633-4CFF-9783-DEDD0DB789E8}"/>
              </a:ext>
            </a:extLst>
          </p:cNvPr>
          <p:cNvSpPr>
            <a:spLocks noGrp="1"/>
          </p:cNvSpPr>
          <p:nvPr/>
        </p:nvSpPr>
        <p:spPr>
          <a:xfrm>
            <a:off x="6382512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Minimal data movement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7BA40-A629-4F2C-9946-C9AFDE739862}"/>
              </a:ext>
            </a:extLst>
          </p:cNvPr>
          <p:cNvSpPr>
            <a:spLocks noGrp="1"/>
          </p:cNvSpPr>
          <p:nvPr/>
        </p:nvSpPr>
        <p:spPr>
          <a:xfrm>
            <a:off x="638251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Zero raw patient rows in the GMA path; measured message size; blocked fields; cohort and privacy-threshold compliance.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CF9E1F-B30B-4AF0-BFE2-3E3E214ECC1C}"/>
              </a:ext>
            </a:extLst>
          </p:cNvPr>
          <p:cNvSpPr>
            <a:spLocks noGrp="1"/>
          </p:cNvSpPr>
          <p:nvPr/>
        </p:nvSpPr>
        <p:spPr>
          <a:xfrm>
            <a:off x="777240" y="3383280"/>
            <a:ext cx="4892040" cy="114300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C606A-7A36-4A56-AE5F-ED90CCBB9865}"/>
              </a:ext>
            </a:extLst>
          </p:cNvPr>
          <p:cNvSpPr>
            <a:spLocks noGrp="1"/>
          </p:cNvSpPr>
          <p:nvPr/>
        </p:nvSpPr>
        <p:spPr>
          <a:xfrm>
            <a:off x="941832" y="3529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Reliable rounds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DE3C6-7B14-47CE-984B-4FEA66D42DD9}"/>
              </a:ext>
            </a:extLst>
          </p:cNvPr>
          <p:cNvSpPr>
            <a:spLocks noGrp="1"/>
          </p:cNvSpPr>
          <p:nvPr/>
        </p:nvSpPr>
        <p:spPr>
          <a:xfrm>
            <a:off x="941832" y="391363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Completion, timeout, dropout, retry, cancellation, signature verification, and time to stop a bad round.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2068F01-5A1E-4CA8-BAC8-5916EBED6DE1}"/>
              </a:ext>
            </a:extLst>
          </p:cNvPr>
          <p:cNvSpPr>
            <a:spLocks noGrp="1"/>
          </p:cNvSpPr>
          <p:nvPr/>
        </p:nvSpPr>
        <p:spPr>
          <a:xfrm>
            <a:off x="6217920" y="3383280"/>
            <a:ext cx="4892040" cy="114300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F3519E-A7D4-4C26-97BE-CCD863D217C3}"/>
              </a:ext>
            </a:extLst>
          </p:cNvPr>
          <p:cNvSpPr>
            <a:spLocks noGrp="1"/>
          </p:cNvSpPr>
          <p:nvPr/>
        </p:nvSpPr>
        <p:spPr>
          <a:xfrm>
            <a:off x="6382512" y="3529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Proof of recovery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48AC81-5D4F-4221-91E2-2B61032AA866}"/>
              </a:ext>
            </a:extLst>
          </p:cNvPr>
          <p:cNvSpPr>
            <a:spLocks noGrp="1"/>
          </p:cNvSpPr>
          <p:nvPr/>
        </p:nvSpPr>
        <p:spPr>
          <a:xfrm>
            <a:off x="6382512" y="391363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Complete seed-to-release lineage; immutable approved versions; successful scheduled rollback and evidence-recovery drills.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89CDBE-DBE1-4102-896D-D470C23C8EA5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Set measured baselines before targets; do not borrow NVIDIA study results as project goals / 28</a:t>
            </a:r>
          </a:p>
        </p:txBody>
      </p:sp>
    </p:spTree>
    <p:extLst>
      <p:ext uri="{BB962C8B-B14F-4D97-AF65-F5344CB8AC3E}">
        <p14:creationId xmlns:p14="http://schemas.microsoft.com/office/powerpoint/2010/main" val="1152305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BB9CCDB-CDB6-46D2-AAB1-924DC0F3ED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15"/>
          </a:solidFill>
          <a:ln w="9525">
            <a:solidFill>
              <a:srgbClr val="11181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BB2566-7613-48BE-B8F4-6418A62A468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F9FC07-4330-4143-B79D-8612B56C5543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Start with federated analytics; earn the right to train.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CA9760-6385-4CDB-B187-EBB7C065B31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C6D2C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CB"/>
                </a:solidFill>
                <a:latin typeface="Aptos"/>
                <a:ea typeface="Aptos"/>
                <a:cs typeface="Aptos"/>
              </a:rPr>
              <a:t>Use Dagents as the governed orchestration and release layer around a specialist federated-learning engine.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B072AB-1C19-4895-B0A7-4060EE04F0E8}"/>
              </a:ext>
            </a:extLst>
          </p:cNvPr>
          <p:cNvSpPr>
            <a:spLocks noGrp="1"/>
          </p:cNvSpPr>
          <p:nvPr/>
        </p:nvSpPr>
        <p:spPr>
          <a:xfrm>
            <a:off x="1238250" y="269557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0D9345-3D90-4ADB-8B0E-AC4618397D62}"/>
              </a:ext>
            </a:extLst>
          </p:cNvPr>
          <p:cNvSpPr>
            <a:spLocks noGrp="1"/>
          </p:cNvSpPr>
          <p:nvPr/>
        </p:nvSpPr>
        <p:spPr>
          <a:xfrm>
            <a:off x="1504950" y="262890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Define one sepsis research use, feature contract, participant policy, site owner, and safe fallback.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E22953-DC38-4E78-9226-CFA14AEE5151}"/>
              </a:ext>
            </a:extLst>
          </p:cNvPr>
          <p:cNvSpPr>
            <a:spLocks noGrp="1"/>
          </p:cNvSpPr>
          <p:nvPr/>
        </p:nvSpPr>
        <p:spPr>
          <a:xfrm>
            <a:off x="1238250" y="3190875"/>
            <a:ext cx="114300" cy="11430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01BC90-F2F2-4805-BA8E-271EFB531396}"/>
              </a:ext>
            </a:extLst>
          </p:cNvPr>
          <p:cNvSpPr>
            <a:spLocks noGrp="1"/>
          </p:cNvSpPr>
          <p:nvPr/>
        </p:nvSpPr>
        <p:spPr>
          <a:xfrm>
            <a:off x="1504950" y="312420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Run data-readiness and seed-model evaluation locally; share only protected aggregate measures.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C595F4-C3FC-4AC3-9C61-8E944966915E}"/>
              </a:ext>
            </a:extLst>
          </p:cNvPr>
          <p:cNvSpPr>
            <a:spLocks noGrp="1"/>
          </p:cNvSpPr>
          <p:nvPr/>
        </p:nvSpPr>
        <p:spPr>
          <a:xfrm>
            <a:off x="1238250" y="3686175"/>
            <a:ext cx="114300" cy="114300"/>
          </a:xfrm>
          <a:prstGeom prst="rect">
            <a:avLst/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788CBF-F21E-4EBF-9914-76AC84C9ADCD}"/>
              </a:ext>
            </a:extLst>
          </p:cNvPr>
          <p:cNvSpPr>
            <a:spLocks noGrp="1"/>
          </p:cNvSpPr>
          <p:nvPr/>
        </p:nvSpPr>
        <p:spPr>
          <a:xfrm>
            <a:off x="1504950" y="361950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Integrate NVIDIA FLARE or an equivalent engine behind Dagents round and result contracts.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1B8C96-263A-43AE-AA7B-D08F672A8504}"/>
              </a:ext>
            </a:extLst>
          </p:cNvPr>
          <p:cNvSpPr>
            <a:spLocks noGrp="1"/>
          </p:cNvSpPr>
          <p:nvPr/>
        </p:nvSpPr>
        <p:spPr>
          <a:xfrm>
            <a:off x="1238250" y="4181475"/>
            <a:ext cx="114300" cy="114300"/>
          </a:xfrm>
          <a:prstGeom prst="rect">
            <a:avLst/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9351B7-7389-422E-BC6A-7BB16FE694F4}"/>
              </a:ext>
            </a:extLst>
          </p:cNvPr>
          <p:cNvSpPr>
            <a:spLocks noGrp="1"/>
          </p:cNvSpPr>
          <p:nvPr/>
        </p:nvSpPr>
        <p:spPr>
          <a:xfrm>
            <a:off x="1504950" y="411480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Require local code approval, secure aggregation where needed, signed releases, and complete lineage.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051E74-2CCC-4F86-A1EB-E60028ACCA68}"/>
              </a:ext>
            </a:extLst>
          </p:cNvPr>
          <p:cNvSpPr>
            <a:spLocks noGrp="1"/>
          </p:cNvSpPr>
          <p:nvPr/>
        </p:nvSpPr>
        <p:spPr>
          <a:xfrm>
            <a:off x="1238250" y="4676775"/>
            <a:ext cx="114300" cy="114300"/>
          </a:xfrm>
          <a:prstGeom prst="rect">
            <a:avLst/>
          </a:prstGeom>
          <a:solidFill>
            <a:srgbClr val="65549A"/>
          </a:solidFill>
          <a:ln w="9525">
            <a:solidFill>
              <a:srgbClr val="6554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346266-EA9B-4C5E-A665-4242A6261EA6}"/>
              </a:ext>
            </a:extLst>
          </p:cNvPr>
          <p:cNvSpPr>
            <a:spLocks noGrp="1"/>
          </p:cNvSpPr>
          <p:nvPr/>
        </p:nvSpPr>
        <p:spPr>
          <a:xfrm>
            <a:off x="1504950" y="461010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Practice cancellation and rollback before retrospective training—and again before any clinician-facing study.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813CCE-EE3F-4E16-87AA-303D37C09902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94A3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9A"/>
                </a:solidFill>
                <a:latin typeface="Aptos"/>
                <a:ea typeface="Aptos"/>
                <a:cs typeface="Aptos"/>
              </a:rPr>
              <a:t>Dagents Federated Healthcare / 29</a:t>
            </a:r>
          </a:p>
        </p:txBody>
      </p:sp>
    </p:spTree>
    <p:extLst>
      <p:ext uri="{BB962C8B-B14F-4D97-AF65-F5344CB8AC3E}">
        <p14:creationId xmlns:p14="http://schemas.microsoft.com/office/powerpoint/2010/main" val="2484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DBD12-B4E5-4D50-862A-EE95276939B5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GLOSSARY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A5135A-B7C2-4A3F-A4B9-1A19657118BC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Federated-system terms in plain language.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F016E-D41B-49E9-9DA2-D7111539AAC2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terms describe different jobs; none is automatic proof of privacy, security, safety, or compliance.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E8E996-E424-4293-8C1C-AF9D6E1AB446}"/>
              </a:ext>
            </a:extLst>
          </p:cNvPr>
          <p:cNvSpPr>
            <a:spLocks noGrp="1"/>
          </p:cNvSpPr>
          <p:nvPr/>
        </p:nvSpPr>
        <p:spPr>
          <a:xfrm>
            <a:off x="502920" y="1627632"/>
            <a:ext cx="2888589" cy="7543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342B3-FAB8-43E7-96EC-D556D6737311}"/>
              </a:ext>
            </a:extLst>
          </p:cNvPr>
          <p:cNvSpPr>
            <a:spLocks noGrp="1"/>
          </p:cNvSpPr>
          <p:nvPr/>
        </p:nvSpPr>
        <p:spPr>
          <a:xfrm>
            <a:off x="576072" y="170078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Term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2CF242-7638-4E68-8FA8-D78A0F42581E}"/>
              </a:ext>
            </a:extLst>
          </p:cNvPr>
          <p:cNvSpPr>
            <a:spLocks noGrp="1"/>
          </p:cNvSpPr>
          <p:nvPr/>
        </p:nvSpPr>
        <p:spPr>
          <a:xfrm>
            <a:off x="3391509" y="1627632"/>
            <a:ext cx="4110685" cy="7543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79A8A-1ADC-407D-865C-BB8D994150C0}"/>
              </a:ext>
            </a:extLst>
          </p:cNvPr>
          <p:cNvSpPr>
            <a:spLocks noGrp="1"/>
          </p:cNvSpPr>
          <p:nvPr/>
        </p:nvSpPr>
        <p:spPr>
          <a:xfrm>
            <a:off x="3464661" y="170078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Plain meaning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467CD7-205E-45FC-9D3C-702CF1606E65}"/>
              </a:ext>
            </a:extLst>
          </p:cNvPr>
          <p:cNvSpPr>
            <a:spLocks noGrp="1"/>
          </p:cNvSpPr>
          <p:nvPr/>
        </p:nvSpPr>
        <p:spPr>
          <a:xfrm>
            <a:off x="7502194" y="1627632"/>
            <a:ext cx="4110685" cy="7543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D5641A-7A5E-448B-8A7F-B80482867BF1}"/>
              </a:ext>
            </a:extLst>
          </p:cNvPr>
          <p:cNvSpPr>
            <a:spLocks noGrp="1"/>
          </p:cNvSpPr>
          <p:nvPr/>
        </p:nvSpPr>
        <p:spPr>
          <a:xfrm>
            <a:off x="7575346" y="170078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Why it matters here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FEFA45-D8D3-4A9C-96A4-DF0C960481D7}"/>
              </a:ext>
            </a:extLst>
          </p:cNvPr>
          <p:cNvSpPr>
            <a:spLocks noGrp="1"/>
          </p:cNvSpPr>
          <p:nvPr/>
        </p:nvSpPr>
        <p:spPr>
          <a:xfrm>
            <a:off x="502920" y="238201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780A78-0661-4E04-B7B9-70E32540089F}"/>
              </a:ext>
            </a:extLst>
          </p:cNvPr>
          <p:cNvSpPr>
            <a:spLocks noGrp="1"/>
          </p:cNvSpPr>
          <p:nvPr/>
        </p:nvSpPr>
        <p:spPr>
          <a:xfrm>
            <a:off x="576072" y="245516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Federated learning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1933A7-9FF4-435B-B5FF-A7C3853C93C5}"/>
              </a:ext>
            </a:extLst>
          </p:cNvPr>
          <p:cNvSpPr>
            <a:spLocks noGrp="1"/>
          </p:cNvSpPr>
          <p:nvPr/>
        </p:nvSpPr>
        <p:spPr>
          <a:xfrm>
            <a:off x="3391509" y="238201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842238-9A3F-4E78-B85C-E0D55061F392}"/>
              </a:ext>
            </a:extLst>
          </p:cNvPr>
          <p:cNvSpPr>
            <a:spLocks noGrp="1"/>
          </p:cNvSpPr>
          <p:nvPr/>
        </p:nvSpPr>
        <p:spPr>
          <a:xfrm>
            <a:off x="3464661" y="245516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Hospitals train locally and send protected model updates instead of records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451E3A-FC4E-40B7-BC28-6148F8CF2167}"/>
              </a:ext>
            </a:extLst>
          </p:cNvPr>
          <p:cNvSpPr>
            <a:spLocks noGrp="1"/>
          </p:cNvSpPr>
          <p:nvPr/>
        </p:nvSpPr>
        <p:spPr>
          <a:xfrm>
            <a:off x="7502194" y="238201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74E3E5-309C-446F-98C9-71A8971D04D0}"/>
              </a:ext>
            </a:extLst>
          </p:cNvPr>
          <p:cNvSpPr>
            <a:spLocks noGrp="1"/>
          </p:cNvSpPr>
          <p:nvPr/>
        </p:nvSpPr>
        <p:spPr>
          <a:xfrm>
            <a:off x="7575346" y="245516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Improves one shared model; requires a specialist engine and privacy controls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5E18DC-73DC-4E75-9B6E-E9FD5FA926E0}"/>
              </a:ext>
            </a:extLst>
          </p:cNvPr>
          <p:cNvSpPr>
            <a:spLocks noGrp="1"/>
          </p:cNvSpPr>
          <p:nvPr/>
        </p:nvSpPr>
        <p:spPr>
          <a:xfrm>
            <a:off x="502920" y="313639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18314E-8CA6-45E6-9DB4-5A0A01FE4EF5}"/>
              </a:ext>
            </a:extLst>
          </p:cNvPr>
          <p:cNvSpPr>
            <a:spLocks noGrp="1"/>
          </p:cNvSpPr>
          <p:nvPr/>
        </p:nvSpPr>
        <p:spPr>
          <a:xfrm>
            <a:off x="576072" y="320954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Federated analytics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D4F55D-7290-4A1A-B1AA-1202B3E96581}"/>
              </a:ext>
            </a:extLst>
          </p:cNvPr>
          <p:cNvSpPr>
            <a:spLocks noGrp="1"/>
          </p:cNvSpPr>
          <p:nvPr/>
        </p:nvSpPr>
        <p:spPr>
          <a:xfrm>
            <a:off x="3391509" y="313639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9DA9AE-C9EA-4E8B-99E2-9C3D9CA6335A}"/>
              </a:ext>
            </a:extLst>
          </p:cNvPr>
          <p:cNvSpPr>
            <a:spLocks noGrp="1"/>
          </p:cNvSpPr>
          <p:nvPr/>
        </p:nvSpPr>
        <p:spPr>
          <a:xfrm>
            <a:off x="3464661" y="320954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Hospitals calculate approved measures locally and reveal combined results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59F6ED-810F-4C83-86D5-41384E8BEAFA}"/>
              </a:ext>
            </a:extLst>
          </p:cNvPr>
          <p:cNvSpPr>
            <a:spLocks noGrp="1"/>
          </p:cNvSpPr>
          <p:nvPr/>
        </p:nvSpPr>
        <p:spPr>
          <a:xfrm>
            <a:off x="7502194" y="313639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A3B850-E077-4340-B122-134E8C1E3C94}"/>
              </a:ext>
            </a:extLst>
          </p:cNvPr>
          <p:cNvSpPr>
            <a:spLocks noGrp="1"/>
          </p:cNvSpPr>
          <p:nvPr/>
        </p:nvSpPr>
        <p:spPr>
          <a:xfrm>
            <a:off x="7575346" y="320954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The safest first cross-hospital workload for readiness and evaluation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906D7F-DE00-4FB9-B671-BE04D37B5AED}"/>
              </a:ext>
            </a:extLst>
          </p:cNvPr>
          <p:cNvSpPr>
            <a:spLocks noGrp="1"/>
          </p:cNvSpPr>
          <p:nvPr/>
        </p:nvSpPr>
        <p:spPr>
          <a:xfrm>
            <a:off x="502920" y="389077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2AE019-BFA0-4AA7-AF8E-95A18B590175}"/>
              </a:ext>
            </a:extLst>
          </p:cNvPr>
          <p:cNvSpPr>
            <a:spLocks noGrp="1"/>
          </p:cNvSpPr>
          <p:nvPr/>
        </p:nvSpPr>
        <p:spPr>
          <a:xfrm>
            <a:off x="576072" y="396392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Federated database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EAF58D-8638-4C52-B131-4FB895092805}"/>
              </a:ext>
            </a:extLst>
          </p:cNvPr>
          <p:cNvSpPr>
            <a:spLocks noGrp="1"/>
          </p:cNvSpPr>
          <p:nvPr/>
        </p:nvSpPr>
        <p:spPr>
          <a:xfrm>
            <a:off x="3391509" y="389077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F9B0E1-A2E7-48D6-802D-BFA82A23E450}"/>
              </a:ext>
            </a:extLst>
          </p:cNvPr>
          <p:cNvSpPr>
            <a:spLocks noGrp="1"/>
          </p:cNvSpPr>
          <p:nvPr/>
        </p:nvSpPr>
        <p:spPr>
          <a:xfrm>
            <a:off x="3464661" y="396392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One query layer can reach several remote data sources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47C103-7BCD-4BBF-8FED-74868A3C3695}"/>
              </a:ext>
            </a:extLst>
          </p:cNvPr>
          <p:cNvSpPr>
            <a:spLocks noGrp="1"/>
          </p:cNvSpPr>
          <p:nvPr/>
        </p:nvSpPr>
        <p:spPr>
          <a:xfrm>
            <a:off x="7502194" y="389077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EA3D92-36D0-4F25-8F70-B08D576FB91C}"/>
              </a:ext>
            </a:extLst>
          </p:cNvPr>
          <p:cNvSpPr>
            <a:spLocks noGrp="1"/>
          </p:cNvSpPr>
          <p:nvPr/>
        </p:nvSpPr>
        <p:spPr>
          <a:xfrm>
            <a:off x="7575346" y="396392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Useful for local feature views; can still expose or move detailed results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C8D755-973E-4DFA-A9BB-4D1561BC8F2D}"/>
              </a:ext>
            </a:extLst>
          </p:cNvPr>
          <p:cNvSpPr>
            <a:spLocks noGrp="1"/>
          </p:cNvSpPr>
          <p:nvPr/>
        </p:nvSpPr>
        <p:spPr>
          <a:xfrm>
            <a:off x="502920" y="464515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38EB1B-F066-4BCF-8C4F-5B2A81D6B611}"/>
              </a:ext>
            </a:extLst>
          </p:cNvPr>
          <p:cNvSpPr>
            <a:spLocks noGrp="1"/>
          </p:cNvSpPr>
          <p:nvPr/>
        </p:nvSpPr>
        <p:spPr>
          <a:xfrm>
            <a:off x="576072" y="471830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Secure aggregation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14006E-D9C0-4D92-BA26-C2AE0D7838DF}"/>
              </a:ext>
            </a:extLst>
          </p:cNvPr>
          <p:cNvSpPr>
            <a:spLocks noGrp="1"/>
          </p:cNvSpPr>
          <p:nvPr/>
        </p:nvSpPr>
        <p:spPr>
          <a:xfrm>
            <a:off x="3391509" y="464515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C6A327-84A3-4C0C-92BA-5BF7E6A77F30}"/>
              </a:ext>
            </a:extLst>
          </p:cNvPr>
          <p:cNvSpPr>
            <a:spLocks noGrp="1"/>
          </p:cNvSpPr>
          <p:nvPr/>
        </p:nvSpPr>
        <p:spPr>
          <a:xfrm>
            <a:off x="3464661" y="471830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The coordinator learns a combined update without reading each site’s update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8831F0-7FE8-4CE5-9F5C-AC01B1C74153}"/>
              </a:ext>
            </a:extLst>
          </p:cNvPr>
          <p:cNvSpPr>
            <a:spLocks noGrp="1"/>
          </p:cNvSpPr>
          <p:nvPr/>
        </p:nvSpPr>
        <p:spPr>
          <a:xfrm>
            <a:off x="7502194" y="464515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BC41C7-12CA-49DD-B21A-2842B470EEA6}"/>
              </a:ext>
            </a:extLst>
          </p:cNvPr>
          <p:cNvSpPr>
            <a:spLocks noGrp="1"/>
          </p:cNvSpPr>
          <p:nvPr/>
        </p:nvSpPr>
        <p:spPr>
          <a:xfrm>
            <a:off x="7575346" y="471830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Reduces exposure; does not solve poisoning, memorization, or governance alone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08C939-B03B-40D8-A0AC-F9FECE411770}"/>
              </a:ext>
            </a:extLst>
          </p:cNvPr>
          <p:cNvSpPr>
            <a:spLocks noGrp="1"/>
          </p:cNvSpPr>
          <p:nvPr/>
        </p:nvSpPr>
        <p:spPr>
          <a:xfrm>
            <a:off x="502920" y="539953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428393-C352-48CE-8EE3-95676E46C147}"/>
              </a:ext>
            </a:extLst>
          </p:cNvPr>
          <p:cNvSpPr>
            <a:spLocks noGrp="1"/>
          </p:cNvSpPr>
          <p:nvPr/>
        </p:nvSpPr>
        <p:spPr>
          <a:xfrm>
            <a:off x="576072" y="547268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Restore point / rollback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9B7E1E8-B494-4075-9967-EAC444533778}"/>
              </a:ext>
            </a:extLst>
          </p:cNvPr>
          <p:cNvSpPr>
            <a:spLocks noGrp="1"/>
          </p:cNvSpPr>
          <p:nvPr/>
        </p:nvSpPr>
        <p:spPr>
          <a:xfrm>
            <a:off x="3391509" y="539953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CB4B39-747E-485F-8D7F-1DA41FF4926A}"/>
              </a:ext>
            </a:extLst>
          </p:cNvPr>
          <p:cNvSpPr>
            <a:spLocks noGrp="1"/>
          </p:cNvSpPr>
          <p:nvPr/>
        </p:nvSpPr>
        <p:spPr>
          <a:xfrm>
            <a:off x="3464661" y="547268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 locked known-good release / return to that release after a problem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46F475-A664-45DE-8E1A-8D68FE14EB33}"/>
              </a:ext>
            </a:extLst>
          </p:cNvPr>
          <p:cNvSpPr>
            <a:spLocks noGrp="1"/>
          </p:cNvSpPr>
          <p:nvPr/>
        </p:nvSpPr>
        <p:spPr>
          <a:xfrm>
            <a:off x="7502194" y="539953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4A41FF-3F45-423C-AE62-D1955E617499}"/>
              </a:ext>
            </a:extLst>
          </p:cNvPr>
          <p:cNvSpPr>
            <a:spLocks noGrp="1"/>
          </p:cNvSpPr>
          <p:nvPr/>
        </p:nvSpPr>
        <p:spPr>
          <a:xfrm>
            <a:off x="7575346" y="547268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Backup-inspired control that makes model changes reversible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5FBFE2-8640-4A2C-801D-9487E96EEB43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Federated healthcare glossary / 30</a:t>
            </a:r>
          </a:p>
        </p:txBody>
      </p:sp>
    </p:spTree>
    <p:extLst>
      <p:ext uri="{BB962C8B-B14F-4D97-AF65-F5344CB8AC3E}">
        <p14:creationId xmlns:p14="http://schemas.microsoft.com/office/powerpoint/2010/main" val="1134147268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3774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3635B"/>
                </a:solidFill>
                <a:latin typeface="Aptos"/>
              </a:rPr>
              <a:t>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900" b="1">
                <a:solidFill>
                  <a:srgbClr val="15201B"/>
                </a:solidFill>
                <a:latin typeface="Aptos"/>
              </a:rPr>
              <a:t>What happens to one patient's record.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978408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3635B"/>
                </a:solidFill>
                <a:latin typeface="Aptos"/>
              </a:rPr>
              <a:t>The record stays in the hospital. Only a number leaves.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423160" cy="2560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0392" y="202082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ARRIVES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04872"/>
            <a:ext cx="2103120" cy="19019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A patient is admitted. Vital signs, laboratory results, and notes land in the hospital's own systems, exactly as they do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79" y="2898648"/>
            <a:ext cx="32004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53635B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74519"/>
            <a:ext cx="2423160" cy="2560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39312" y="202082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STAYS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404872"/>
            <a:ext cx="2103120" cy="19019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The LMA builds the approved features inside the hospital. Nothing is copied out, and the hospital can refuse the job.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599" y="2898648"/>
            <a:ext cx="32004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53635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2423160" cy="25603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28231" y="202082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BECOMES MATH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404872"/>
            <a:ext cx="2103120" cy="19019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The local model trains or scores. This patient turns into part of a total, not a row anyone can read.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898648"/>
            <a:ext cx="32004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53635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874519"/>
            <a:ext cx="2423160" cy="256032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17151" y="202082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LEAVES SMALL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1" y="2404872"/>
            <a:ext cx="2103120" cy="19019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Only the protected update and the agreed counts leave. Nobody outside can rebuild the patient from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98755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15201B"/>
                </a:solidFill>
                <a:latin typeface="Aptos"/>
              </a:rPr>
              <a:t>The record never moves. The learning does.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55080"/>
            <a:ext cx="5669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00" b="0">
                <a:solidFill>
                  <a:srgbClr val="53635B"/>
                </a:solidFill>
                <a:latin typeface="Aptos"/>
              </a:rPr>
              <a:t>One patient through one round / 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3774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3635B"/>
                </a:solidFill>
                <a:latin typeface="Aptos"/>
              </a:rPr>
              <a:t>DATA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900" b="1">
                <a:solidFill>
                  <a:srgbClr val="15201B"/>
                </a:solidFill>
                <a:latin typeface="Aptos"/>
              </a:rPr>
              <a:t>Exactly what crosses the hospital boundary.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978408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3635B"/>
                </a:solidFill>
                <a:latin typeface="Aptos"/>
              </a:rPr>
              <a:t>If you can name every field that leaves, you can govern it. This is the whole 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4892040" cy="27889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1832" y="1883664"/>
            <a:ext cx="45720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LEAVES THE HOSPITAL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67712"/>
            <a:ext cx="4572000" cy="21305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•  The protected model update
•  Counts and scores that were agreed in advance
•  Round number, model version, and status
•  A pointer to evidence that stays at the hospital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4892040" cy="27889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82512" y="1883664"/>
            <a:ext cx="45720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NEVER LEAVES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267712"/>
            <a:ext cx="4572000" cy="21305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•  Patient rows
•  Names, identifiers, and dates of birth
•  Results for any single patient
•  Notes and images
•  Anything not written into the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98755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15201B"/>
                </a:solidFill>
                <a:latin typeface="Aptos"/>
              </a:rPr>
              <a:t>“We only send weights” is a claim. A named list plus a check that blocks everything else is a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5669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00" b="0">
                <a:solidFill>
                  <a:srgbClr val="53635B"/>
                </a:solidFill>
                <a:latin typeface="Aptos"/>
              </a:rPr>
              <a:t>Egress contract / 06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3774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3635B"/>
                </a:solidFill>
                <a:latin typeface="Aptos"/>
              </a:rPr>
              <a:t>GRAILS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900" b="1">
                <a:solidFill>
                  <a:srgbClr val="15201B"/>
                </a:solidFill>
                <a:latin typeface="Aptos"/>
              </a:rPr>
              <a:t>A published way to decide who may see what.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978408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3635B"/>
                </a:solidFill>
                <a:latin typeface="Aptos"/>
              </a:rPr>
              <a:t>GRAILS keeps the ethics rules out of the normal application code, so they can be changed without rewriting the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4892040" cy="114300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1832" y="1883664"/>
            <a:ext cx="45720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Two parts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67712"/>
            <a:ext cx="4572000" cy="4846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The Rails work out what protection is needed. The Guard applies it. Deciding and enforcing stay separate.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4892040" cy="114300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82512" y="1883664"/>
            <a:ext cx="45720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Three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267712"/>
            <a:ext cx="4572000" cy="4846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How sensitive is the data? How far do we trust who is asking? How much are they asking for?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383280"/>
            <a:ext cx="4892040" cy="114300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41832" y="3529584"/>
            <a:ext cx="45720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Added, not rebuilt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913632"/>
            <a:ext cx="4572000" cy="4846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It is designed to plug into software that already exists. You do not redesign the app to add ethics to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83280"/>
            <a:ext cx="4892040" cy="114300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82512" y="3529584"/>
            <a:ext cx="45720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Wider than 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913632"/>
            <a:ext cx="4572000" cy="4846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Privacy is the paper's worked example. The same shape extends to fairness, transparency, and security.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98755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15201B"/>
                </a:solidFill>
                <a:latin typeface="Aptos"/>
              </a:rPr>
              <a:t>Access rules based on roles alone cannot express “this person, this field, this purpose, today”. GRAILS can.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55080"/>
            <a:ext cx="5669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00" b="0">
                <a:solidFill>
                  <a:srgbClr val="53635B"/>
                </a:solidFill>
                <a:latin typeface="Aptos"/>
              </a:rPr>
              <a:t>Kulkarni &amp; Ramanathan, AIES 2025, IIIT Bangalore / 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3774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3635B"/>
                </a:solidFill>
                <a:latin typeface="Aptos"/>
              </a:rPr>
              <a:t>GRAILS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900" b="1">
                <a:solidFill>
                  <a:srgbClr val="15201B"/>
                </a:solidFill>
                <a:latin typeface="Aptos"/>
              </a:rPr>
              <a:t>Three dials decide the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978408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3635B"/>
                </a:solidFill>
                <a:latin typeface="Aptos"/>
              </a:rPr>
              <a:t>The same request can get a different answer, depending on where the three dials sit.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246120" cy="265176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1832" y="2020824"/>
            <a:ext cx="2926079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HOW SENSITIVE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404872"/>
            <a:ext cx="2926079" cy="19933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Low, medium, or high. Set from the data itself and the rules that cover it, such as HIPAA. A ward name and a diagnosis are not the same.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79" y="2944368"/>
            <a:ext cx="32004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53635B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246120" cy="265176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53712" y="2020824"/>
            <a:ext cx="2926079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HOW TRUSTED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04872"/>
            <a:ext cx="2926079" cy="19933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The paper calls this a Know Your User score, like a bank checking a customer. Built from verified identity, employer, stated purpose, and past record.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944368"/>
            <a:ext cx="32004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53635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74519"/>
            <a:ext cx="3246120" cy="265176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65592" y="2020824"/>
            <a:ext cx="2926079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HOW MUCH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404872"/>
            <a:ext cx="2926079" cy="19933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One value, one patient, one field across everyone, or the whole table. Asking for more should not be as easy as asking for less.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98755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15201B"/>
                </a:solidFill>
                <a:latin typeface="Aptos"/>
              </a:rPr>
              <a:t>High sensitivity and low trust means heavy protection. Low sensitivity and high trust means show it as it 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55080"/>
            <a:ext cx="5669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00" b="0">
                <a:solidFill>
                  <a:srgbClr val="53635B"/>
                </a:solidFill>
                <a:latin typeface="Aptos"/>
              </a:rPr>
              <a:t>Sensitivity, trust, and how much is asked for / 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3774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3635B"/>
                </a:solidFill>
                <a:latin typeface="Aptos"/>
              </a:rPr>
              <a:t>GRAILS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900" b="1">
                <a:solidFill>
                  <a:srgbClr val="15201B"/>
                </a:solidFill>
                <a:latin typeface="Aptos"/>
              </a:rPr>
              <a:t>The dials point to a specific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978408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3635B"/>
                </a:solidFill>
                <a:latin typeface="Aptos"/>
              </a:rPr>
              <a:t>A shortened view of the paper's strategy table, written in plain terms.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743200" cy="731520"/>
          </a:xfrm>
          <a:prstGeom prst="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764792"/>
            <a:ext cx="2596896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100" b="1">
                <a:solidFill>
                  <a:srgbClr val="15201B"/>
                </a:solidFill>
                <a:latin typeface="Aptos"/>
              </a:rPr>
              <a:t>How sensitive the field 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691640"/>
            <a:ext cx="2926080" cy="731520"/>
          </a:xfrm>
          <a:prstGeom prst="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64992" y="1764792"/>
            <a:ext cx="2779776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100" b="1">
                <a:solidFill>
                  <a:srgbClr val="15201B"/>
                </a:solidFill>
                <a:latin typeface="Aptos"/>
              </a:rPr>
              <a:t>Asked by low trust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91640"/>
            <a:ext cx="2926080" cy="731520"/>
          </a:xfrm>
          <a:prstGeom prst="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91072" y="1764792"/>
            <a:ext cx="2779776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100" b="1">
                <a:solidFill>
                  <a:srgbClr val="15201B"/>
                </a:solidFill>
                <a:latin typeface="Aptos"/>
              </a:rPr>
              <a:t>Asked by medium trust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691640"/>
            <a:ext cx="2926080" cy="731520"/>
          </a:xfrm>
          <a:prstGeom prst="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217152" y="1764792"/>
            <a:ext cx="2779776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100" b="1">
                <a:solidFill>
                  <a:srgbClr val="15201B"/>
                </a:solidFill>
                <a:latin typeface="Aptos"/>
              </a:rPr>
              <a:t>Asked by high trust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792" y="2496312"/>
            <a:ext cx="2596896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423160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364992" y="2496312"/>
            <a:ext cx="2779776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Hide the value, or replace it with noise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423160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91072" y="2496312"/>
            <a:ext cx="2779776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Round it off, or report it as a group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423160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7152" y="2496312"/>
            <a:ext cx="2779776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Show it with a little noise added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546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792" y="3227832"/>
            <a:ext cx="2596896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154680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364992" y="3227832"/>
            <a:ext cx="2779776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Report it as a group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154680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91072" y="3227832"/>
            <a:ext cx="2779776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Show a range, hide the 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3154680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217152" y="3227832"/>
            <a:ext cx="2779776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Show it as it 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8620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792" y="3959352"/>
            <a:ext cx="2596896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886200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364992" y="3959352"/>
            <a:ext cx="2779776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Add a little noise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886200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91072" y="3959352"/>
            <a:ext cx="2779776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Show it as it 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3886200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217152" y="3959352"/>
            <a:ext cx="2779776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Show it as it 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892040"/>
            <a:ext cx="98755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15201B"/>
                </a:solidFill>
                <a:latin typeface="Aptos"/>
              </a:rPr>
              <a:t>The point is not the exact technique. The point is that the answer is looked up from a table, not decided inside application code.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55080"/>
            <a:ext cx="5669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00" b="0">
                <a:solidFill>
                  <a:srgbClr val="53635B"/>
                </a:solidFill>
                <a:latin typeface="Aptos"/>
              </a:rPr>
              <a:t>Filtering strategies, simplified from the paper / 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3774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3635B"/>
                </a:solidFill>
                <a:latin typeface="Aptos"/>
              </a:rPr>
              <a:t>GRAILS + DAGENTS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900" b="1">
                <a:solidFill>
                  <a:srgbClr val="15201B"/>
                </a:solidFill>
                <a:latin typeface="Aptos"/>
              </a:rPr>
              <a:t>GRAILS splits the same way Dagents already splits.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978408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3635B"/>
                </a:solidFill>
                <a:latin typeface="Aptos"/>
              </a:rPr>
              <a:t>The Rails are planning. The Guard is runtime. That line is the one Dagents is built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4892040" cy="146304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1832" y="1837944"/>
            <a:ext cx="45720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Rails =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21992"/>
            <a:ext cx="4572000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Work out the protection plan. Pure, typed, repeatable, and no input or output. This belongs in the OCaml layer, beside the dataset and model planners.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4892040" cy="146304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82512" y="1837944"/>
            <a:ext cx="45720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Guard =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221992"/>
            <a:ext cx="4572000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Apply the plan to real data and record what was decided. This belongs in the LMA and GMA, where the side effects already 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10128"/>
            <a:ext cx="2560320" cy="658368"/>
          </a:xfrm>
          <a:prstGeom prst="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792" y="3383280"/>
            <a:ext cx="2414015" cy="51206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100" b="1">
                <a:solidFill>
                  <a:srgbClr val="15201B"/>
                </a:solidFill>
                <a:latin typeface="Aptos"/>
              </a:rPr>
              <a:t>GRAILS part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3310128"/>
            <a:ext cx="3108960" cy="658368"/>
          </a:xfrm>
          <a:prstGeom prst="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182112" y="3383280"/>
            <a:ext cx="2962656" cy="51206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100" b="1">
                <a:solidFill>
                  <a:srgbClr val="15201B"/>
                </a:solidFill>
                <a:latin typeface="Aptos"/>
              </a:rPr>
              <a:t>Where it goes in Dagents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310128"/>
            <a:ext cx="5303520" cy="658368"/>
          </a:xfrm>
          <a:prstGeom prst="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91072" y="3383280"/>
            <a:ext cx="5157216" cy="51206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100" b="1">
                <a:solidFill>
                  <a:srgbClr val="15201B"/>
                </a:solidFill>
                <a:latin typeface="Aptos"/>
              </a:rPr>
              <a:t>Why there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68496"/>
            <a:ext cx="2560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" y="4041648"/>
            <a:ext cx="2414015" cy="51206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Restriction Planner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968496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182112" y="4041648"/>
            <a:ext cx="2962656" cy="51206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OCaml planner module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968496"/>
            <a:ext cx="5303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91072" y="4041648"/>
            <a:ext cx="5157216" cy="51206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The paper compares it to a database query planner. Dagents already has that layer.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26864"/>
            <a:ext cx="2560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792" y="4700016"/>
            <a:ext cx="2414015" cy="51206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Ethical Guard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4626864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182112" y="4700016"/>
            <a:ext cx="2962656" cy="51206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LMA and GMA request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626864"/>
            <a:ext cx="5303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91072" y="4700016"/>
            <a:ext cx="5157216" cy="51206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Enforcement needs real data, real users, and an audit log.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285232"/>
            <a:ext cx="2560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792" y="5358384"/>
            <a:ext cx="2414015" cy="51206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Rules and regulations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5285232"/>
            <a:ext cx="3108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182112" y="5358384"/>
            <a:ext cx="2962656" cy="51206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Configuration, not code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285232"/>
            <a:ext cx="5303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91072" y="5358384"/>
            <a:ext cx="5157216" cy="51206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 b="0">
                <a:solidFill>
                  <a:srgbClr val="53635B"/>
                </a:solidFill>
                <a:latin typeface="Aptos"/>
              </a:rPr>
              <a:t>Policy changes far more often than the framework does.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355080"/>
            <a:ext cx="5669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00" b="0">
                <a:solidFill>
                  <a:srgbClr val="53635B"/>
                </a:solidFill>
                <a:latin typeface="Aptos"/>
              </a:rPr>
              <a:t>Plan first, then enforce / 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3774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3635B"/>
                </a:solidFill>
                <a:latin typeface="Aptos"/>
              </a:rPr>
              <a:t>GRAILS + DAGENTS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900" b="1">
                <a:solidFill>
                  <a:srgbClr val="15201B"/>
                </a:solidFill>
                <a:latin typeface="Aptos"/>
              </a:rPr>
              <a:t>Four places the guard has to stand.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978408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3635B"/>
                </a:solidFill>
                <a:latin typeface="Aptos"/>
              </a:rPr>
              <a:t>A check at the edge only is a warning label. A check at every boundary is a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423160" cy="2560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0392" y="202082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BEFORE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04872"/>
            <a:ext cx="2103120" cy="19019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The LMA checks the job before it touches a single hospital field. An unapproved job stops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79" y="2898648"/>
            <a:ext cx="32004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53635B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74519"/>
            <a:ext cx="2423160" cy="2560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39312" y="202082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BEFORE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404872"/>
            <a:ext cx="2103120" cy="19019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Check the group of patients is large enough and that every field used is on the approved 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599" y="2898648"/>
            <a:ext cx="32004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53635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2423160" cy="25603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28231" y="202082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BEFORE SENDING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404872"/>
            <a:ext cx="2103120" cy="19019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The update and the counts are checked before anything leaves the hospital network.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898648"/>
            <a:ext cx="32004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53635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874519"/>
            <a:ext cx="2423160" cy="256032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17151" y="202082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BEFORE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1" y="2404872"/>
            <a:ext cx="2103120" cy="19019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The GMA checks the candidate model and its evidence before it signs anything as released.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98755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15201B"/>
                </a:solidFill>
                <a:latin typeface="Aptos"/>
              </a:rPr>
              <a:t>Every check writes down what it decided, why, and which round it belonged 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55080"/>
            <a:ext cx="5669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00" b="0">
                <a:solidFill>
                  <a:srgbClr val="53635B"/>
                </a:solidFill>
                <a:latin typeface="Aptos"/>
              </a:rPr>
              <a:t>Where the guard sits / 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3774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3635B"/>
                </a:solidFill>
                <a:latin typeface="Aptos"/>
              </a:rPr>
              <a:t>GRAILS + FEDERATION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900" b="1">
                <a:solidFill>
                  <a:srgbClr val="15201B"/>
                </a:solidFill>
                <a:latin typeface="Aptos"/>
              </a:rPr>
              <a:t>GRAILS protects rows. Federation sends updates.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978408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3635B"/>
                </a:solidFill>
                <a:latin typeface="Aptos"/>
              </a:rPr>
              <a:t>This is the one place the framework has to be extended for this use case, and it is the contribution this project can make.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4892040" cy="132588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1832" y="1837944"/>
            <a:ext cx="45720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What it covers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21992"/>
            <a:ext cx="4572000" cy="66751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One value, one row, one column, or a whole table. All of them are data you can point at and read.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4892040" cy="132588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82512" y="1837944"/>
            <a:ext cx="45720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What federation adds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221992"/>
            <a:ext cx="4572000" cy="66751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A model update is not a row, but it still carries patient signal. It needs to become a fifth thing the rules cover.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46120"/>
            <a:ext cx="3429000" cy="141732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41832" y="3392424"/>
            <a:ext cx="31089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Sensitivity becomes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776472"/>
            <a:ext cx="3108960" cy="7589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How much patient signal an update can carry out of the hospital.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246120"/>
            <a:ext cx="3429000" cy="1417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99431" y="3392424"/>
            <a:ext cx="31089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Trust becomes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1" y="3776472"/>
            <a:ext cx="3108960" cy="7589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The receiving site and the coordinator, not only a named person.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246120"/>
            <a:ext cx="3017520" cy="1417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57031" y="3392424"/>
            <a:ext cx="2697479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Action becomes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3776472"/>
            <a:ext cx="2697479" cy="7589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Limit the contribution, require enough sites, add noise, or refuse to send.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98755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15201B"/>
                </a:solidFill>
                <a:latin typeface="Aptos"/>
              </a:rPr>
              <a:t>This is a real extension, not a restatement of the paper.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55080"/>
            <a:ext cx="5669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00" b="0">
                <a:solidFill>
                  <a:srgbClr val="53635B"/>
                </a:solidFill>
                <a:latin typeface="Aptos"/>
              </a:rPr>
              <a:t>Extending the rules to model updates / 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3774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53635B"/>
                </a:solidFill>
                <a:latin typeface="Aptos"/>
              </a:rPr>
              <a:t>GRAILS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900" b="1">
                <a:solidFill>
                  <a:srgbClr val="15201B"/>
                </a:solidFill>
                <a:latin typeface="Aptos"/>
              </a:rPr>
              <a:t>One request, from start to finish.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978408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3635B"/>
                </a:solidFill>
                <a:latin typeface="Aptos"/>
              </a:rPr>
              <a:t>A researcher at one hospital asks for stroke cases so they can check a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423160" cy="2560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50392" y="202082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WHO IS ASKING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04872"/>
            <a:ext cx="2103120" cy="19019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A verified staff account, a named study, an approved purpose, and a clean record. Trust comes out as medium.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79" y="2898648"/>
            <a:ext cx="32004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53635B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74519"/>
            <a:ext cx="2423160" cy="2560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39312" y="202082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WHAT THEY WANT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404872"/>
            <a:ext cx="2103120" cy="19019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Arrival time, age, and outcome for stroke patients. That is one field across many patients, not one patient.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599" y="2898648"/>
            <a:ext cx="32004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53635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2423160" cy="25603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28231" y="202082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WHAT THE RULES SAY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404872"/>
            <a:ext cx="2103120" cy="19019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Outcome is a high sensitivity field. Medium trust, asked for across a whole column, so group it and hide part of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898648"/>
            <a:ext cx="320040" cy="5212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53635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874519"/>
            <a:ext cx="2423160" cy="256032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17151" y="202082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5201B"/>
                </a:solidFill>
                <a:latin typeface="Aptos"/>
              </a:rPr>
              <a:t>WHAT THEY 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1" y="2404872"/>
            <a:ext cx="2103120" cy="19019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53635B"/>
                </a:solidFill>
                <a:latin typeface="Aptos"/>
              </a:rPr>
              <a:t>Age bands instead of ages, grouped outcomes, and a written reason. Enough to check the model, not enough to identify anyone.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98755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1">
                <a:solidFill>
                  <a:srgbClr val="15201B"/>
                </a:solidFill>
                <a:latin typeface="Aptos"/>
              </a:rPr>
              <a:t>Nobody wrote code for this specific request. The plan came from the three dials.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55080"/>
            <a:ext cx="56692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00" b="0">
                <a:solidFill>
                  <a:srgbClr val="53635B"/>
                </a:solidFill>
                <a:latin typeface="Aptos"/>
              </a:rPr>
              <a:t>A worked request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4501</Words>
  <Application>Microsoft Macintosh PowerPoint</Application>
  <DocSecurity>0</DocSecurity>
  <PresentationFormat>Widescreen</PresentationFormat>
  <Paragraphs>450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IMT2022525 Devarakonda Pradyun</cp:lastModifiedBy>
  <cp:revision>2</cp:revision>
  <dcterms:created xsi:type="dcterms:W3CDTF">2026-08-21T06:05:42Z</dcterms:created>
  <dcterms:modified xsi:type="dcterms:W3CDTF">2026-08-28T07:36:46Z</dcterms:modified>
</cp:coreProperties>
</file>