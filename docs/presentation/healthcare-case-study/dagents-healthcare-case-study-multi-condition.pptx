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1dc8c5b62646f8" /><Relationship Type="http://schemas.openxmlformats.org/officeDocument/2006/relationships/extended-properties" Target="/docProps/app.xml" Id="Rcd1d8c59bd10426c" /><Relationship Type="http://schemas.openxmlformats.org/officeDocument/2006/relationships/officeDocument" Target="/ppt/presentation.xml" Id="R449e61ea3a824714" /></Relationships>
</file>

<file path=ppt/presentation.xml><?xml version="1.0" encoding="utf-8"?>
<p:presentation xmlns:p="http://schemas.openxmlformats.org/presentationml/2006/main">
  <p:sldMasterIdLst>
    <p:sldMasterId xmlns:r="http://schemas.openxmlformats.org/officeDocument/2006/relationships" id="2147483648" r:id="Ra63e7ed4d8ce473d"/>
  </p:sldMasterIdLst>
  <p:notesMasterIdLst>
    <p:notesMasterId xmlns:r="http://schemas.openxmlformats.org/officeDocument/2006/relationships" r:id="R61302c078ac6411e"/>
  </p:notesMasterIdLst>
  <p:sldIdLst>
    <p:sldId xmlns:r="http://schemas.openxmlformats.org/officeDocument/2006/relationships" id="256" r:id="Rbc0e4d83774c43ba"/>
    <p:sldId xmlns:r="http://schemas.openxmlformats.org/officeDocument/2006/relationships" id="257" r:id="R3437f910dde54bfb"/>
    <p:sldId xmlns:r="http://schemas.openxmlformats.org/officeDocument/2006/relationships" id="258" r:id="R8b4e7ff4c3394967"/>
    <p:sldId xmlns:r="http://schemas.openxmlformats.org/officeDocument/2006/relationships" id="259" r:id="R82b21399c2054d1d"/>
    <p:sldId xmlns:r="http://schemas.openxmlformats.org/officeDocument/2006/relationships" id="260" r:id="R70283de231ca44ff"/>
    <p:sldId xmlns:r="http://schemas.openxmlformats.org/officeDocument/2006/relationships" id="261" r:id="R7421324127bc4b51"/>
    <p:sldId xmlns:r="http://schemas.openxmlformats.org/officeDocument/2006/relationships" id="262" r:id="R9327e9a42f6549f8"/>
    <p:sldId xmlns:r="http://schemas.openxmlformats.org/officeDocument/2006/relationships" id="263" r:id="Rd556d2b1226a4ca1"/>
    <p:sldId xmlns:r="http://schemas.openxmlformats.org/officeDocument/2006/relationships" id="264" r:id="Reb13c28eed0644c5"/>
    <p:sldId xmlns:r="http://schemas.openxmlformats.org/officeDocument/2006/relationships" id="265" r:id="R8f3b42bce4314b05"/>
    <p:sldId xmlns:r="http://schemas.openxmlformats.org/officeDocument/2006/relationships" id="266" r:id="R59c7aaf6109d443f"/>
    <p:sldId xmlns:r="http://schemas.openxmlformats.org/officeDocument/2006/relationships" id="267" r:id="R97189943ab0145d3"/>
    <p:sldId xmlns:r="http://schemas.openxmlformats.org/officeDocument/2006/relationships" id="268" r:id="Rd6b1184e9a244cbf"/>
    <p:sldId xmlns:r="http://schemas.openxmlformats.org/officeDocument/2006/relationships" id="269" r:id="R848932211d7e486f"/>
    <p:sldId xmlns:r="http://schemas.openxmlformats.org/officeDocument/2006/relationships" id="270" r:id="R718765e4a0874a6f"/>
    <p:sldId xmlns:r="http://schemas.openxmlformats.org/officeDocument/2006/relationships" id="271" r:id="R05c06556d6884029"/>
    <p:sldId xmlns:r="http://schemas.openxmlformats.org/officeDocument/2006/relationships" id="272" r:id="Rca69b0b2183e4361"/>
    <p:sldId xmlns:r="http://schemas.openxmlformats.org/officeDocument/2006/relationships" id="273" r:id="R2f719fcffef04911"/>
    <p:sldId xmlns:r="http://schemas.openxmlformats.org/officeDocument/2006/relationships" id="274" r:id="R86d56a67de474503"/>
    <p:sldId xmlns:r="http://schemas.openxmlformats.org/officeDocument/2006/relationships" id="275" r:id="R84a41ed836524c98"/>
    <p:sldId xmlns:r="http://schemas.openxmlformats.org/officeDocument/2006/relationships" id="276" r:id="Rf042390bf35f4d52"/>
    <p:sldId xmlns:r="http://schemas.openxmlformats.org/officeDocument/2006/relationships" id="277" r:id="R73fabc624ece44f7"/>
    <p:sldId xmlns:r="http://schemas.openxmlformats.org/officeDocument/2006/relationships" id="278" r:id="R266252a4d71b4ea4"/>
    <p:sldId xmlns:r="http://schemas.openxmlformats.org/officeDocument/2006/relationships" id="279" r:id="R10d9b2a2061e4a7d"/>
    <p:sldId xmlns:r="http://schemas.openxmlformats.org/officeDocument/2006/relationships" id="280" r:id="R4c7907f4f7cd4d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3247cd97869423b" /><Relationship Type="http://schemas.openxmlformats.org/officeDocument/2006/relationships/slideMaster" Target="/ppt/slideMasters/slideMaster1.xml" Id="Ra63e7ed4d8ce473d" /><Relationship Type="http://schemas.openxmlformats.org/officeDocument/2006/relationships/notesMaster" Target="/ppt/notesMasters/notesMaster1.xml" Id="R61302c078ac6411e" /><Relationship Type="http://schemas.openxmlformats.org/officeDocument/2006/relationships/presProps" Target="/ppt/presProps.xml" Id="R13706f18220942b8" /><Relationship Type="http://schemas.openxmlformats.org/officeDocument/2006/relationships/viewProps" Target="/ppt/viewProps.xml" Id="Rc70ab1d364004e15" /><Relationship Type="http://schemas.openxmlformats.org/officeDocument/2006/relationships/tableStyles" Target="/ppt/tableStyles.xml" Id="R40f8f5b9fe9b4f0e" /><Relationship Type="http://schemas.openxmlformats.org/officeDocument/2006/relationships/slide" Target="/ppt/slides/slide1.xml" Id="Rbc0e4d83774c43ba" /><Relationship Type="http://schemas.openxmlformats.org/officeDocument/2006/relationships/slide" Target="/ppt/slides/slide2.xml" Id="R3437f910dde54bfb" /><Relationship Type="http://schemas.openxmlformats.org/officeDocument/2006/relationships/slide" Target="/ppt/slides/slide3.xml" Id="R8b4e7ff4c3394967" /><Relationship Type="http://schemas.openxmlformats.org/officeDocument/2006/relationships/slide" Target="/ppt/slides/slide4.xml" Id="R82b21399c2054d1d" /><Relationship Type="http://schemas.openxmlformats.org/officeDocument/2006/relationships/slide" Target="/ppt/slides/slide5.xml" Id="R70283de231ca44ff" /><Relationship Type="http://schemas.openxmlformats.org/officeDocument/2006/relationships/slide" Target="/ppt/slides/slide6.xml" Id="R7421324127bc4b51" /><Relationship Type="http://schemas.openxmlformats.org/officeDocument/2006/relationships/slide" Target="/ppt/slides/slide7.xml" Id="R9327e9a42f6549f8" /><Relationship Type="http://schemas.openxmlformats.org/officeDocument/2006/relationships/slide" Target="/ppt/slides/slide8.xml" Id="Rd556d2b1226a4ca1" /><Relationship Type="http://schemas.openxmlformats.org/officeDocument/2006/relationships/slide" Target="/ppt/slides/slide9.xml" Id="Reb13c28eed0644c5" /><Relationship Type="http://schemas.openxmlformats.org/officeDocument/2006/relationships/slide" Target="/ppt/slides/slide10.xml" Id="R8f3b42bce4314b05" /><Relationship Type="http://schemas.openxmlformats.org/officeDocument/2006/relationships/slide" Target="/ppt/slides/slide11.xml" Id="R59c7aaf6109d443f" /><Relationship Type="http://schemas.openxmlformats.org/officeDocument/2006/relationships/slide" Target="/ppt/slides/slide12.xml" Id="R97189943ab0145d3" /><Relationship Type="http://schemas.openxmlformats.org/officeDocument/2006/relationships/slide" Target="/ppt/slides/slide13.xml" Id="Rd6b1184e9a244cbf" /><Relationship Type="http://schemas.openxmlformats.org/officeDocument/2006/relationships/slide" Target="/ppt/slides/slide14.xml" Id="R848932211d7e486f" /><Relationship Type="http://schemas.openxmlformats.org/officeDocument/2006/relationships/slide" Target="/ppt/slides/slide15.xml" Id="R718765e4a0874a6f" /><Relationship Type="http://schemas.openxmlformats.org/officeDocument/2006/relationships/slide" Target="/ppt/slides/slide16.xml" Id="R05c06556d6884029" /><Relationship Type="http://schemas.openxmlformats.org/officeDocument/2006/relationships/slide" Target="/ppt/slides/slide17.xml" Id="Rca69b0b2183e4361" /><Relationship Type="http://schemas.openxmlformats.org/officeDocument/2006/relationships/slide" Target="/ppt/slides/slide18.xml" Id="R2f719fcffef04911" /><Relationship Type="http://schemas.openxmlformats.org/officeDocument/2006/relationships/slide" Target="/ppt/slides/slide19.xml" Id="R86d56a67de474503" /><Relationship Type="http://schemas.openxmlformats.org/officeDocument/2006/relationships/slide" Target="/ppt/slides/slide20.xml" Id="R84a41ed836524c98" /><Relationship Type="http://schemas.openxmlformats.org/officeDocument/2006/relationships/slide" Target="/ppt/slides/slide21.xml" Id="Rf042390bf35f4d52" /><Relationship Type="http://schemas.openxmlformats.org/officeDocument/2006/relationships/slide" Target="/ppt/slides/slide22.xml" Id="R73fabc624ece44f7" /><Relationship Type="http://schemas.openxmlformats.org/officeDocument/2006/relationships/slide" Target="/ppt/slides/slide23.xml" Id="R266252a4d71b4ea4" /><Relationship Type="http://schemas.openxmlformats.org/officeDocument/2006/relationships/slide" Target="/ppt/slides/slide24.xml" Id="R10d9b2a2061e4a7d" /><Relationship Type="http://schemas.openxmlformats.org/officeDocument/2006/relationships/slide" Target="/ppt/slides/slide25.xml" Id="R4c7907f4f7cd4d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fbeaf3368649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a50ff95a65445e" /><Relationship Type="http://schemas.openxmlformats.org/officeDocument/2006/relationships/notesMaster" Target="/ppt/notesMasters/notesMaster1.xml" Id="R7b7af9af61f54d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2c920bddd64bde" /><Relationship Type="http://schemas.openxmlformats.org/officeDocument/2006/relationships/notesMaster" Target="/ppt/notesMasters/notesMaster1.xml" Id="R8400da3963bb4e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0567ebfaa745b7" /><Relationship Type="http://schemas.openxmlformats.org/officeDocument/2006/relationships/notesMaster" Target="/ppt/notesMasters/notesMaster1.xml" Id="Rc21d852314fd48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dbc8e7cb7a4dbe" /><Relationship Type="http://schemas.openxmlformats.org/officeDocument/2006/relationships/notesMaster" Target="/ppt/notesMasters/notesMaster1.xml" Id="Rade22ab2eede47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96924f42b245d9" /><Relationship Type="http://schemas.openxmlformats.org/officeDocument/2006/relationships/notesMaster" Target="/ppt/notesMasters/notesMaster1.xml" Id="Rb48db0b263cf49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3fc27823a04c1e" /><Relationship Type="http://schemas.openxmlformats.org/officeDocument/2006/relationships/notesMaster" Target="/ppt/notesMasters/notesMaster1.xml" Id="Raab23ce170dd40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61886054f948d8" /><Relationship Type="http://schemas.openxmlformats.org/officeDocument/2006/relationships/notesMaster" Target="/ppt/notesMasters/notesMaster1.xml" Id="R636baa55b7fd40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1eabda1e314424" /><Relationship Type="http://schemas.openxmlformats.org/officeDocument/2006/relationships/notesMaster" Target="/ppt/notesMasters/notesMaster1.xml" Id="R59ad5c91f39546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db2c007f944b71" /><Relationship Type="http://schemas.openxmlformats.org/officeDocument/2006/relationships/notesMaster" Target="/ppt/notesMasters/notesMaster1.xml" Id="R874d6094cc0548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89a795d0804a67" /><Relationship Type="http://schemas.openxmlformats.org/officeDocument/2006/relationships/notesMaster" Target="/ppt/notesMasters/notesMaster1.xml" Id="Rc88a4a8dcc7c4c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8bd3f545d54b1e" /><Relationship Type="http://schemas.openxmlformats.org/officeDocument/2006/relationships/notesMaster" Target="/ppt/notesMasters/notesMaster1.xml" Id="R6bc3e9768ad84a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7f65ec902243d3" /><Relationship Type="http://schemas.openxmlformats.org/officeDocument/2006/relationships/notesMaster" Target="/ppt/notesMasters/notesMaster1.xml" Id="Re2fc09d0bd444c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0ea923b301485b" /><Relationship Type="http://schemas.openxmlformats.org/officeDocument/2006/relationships/notesMaster" Target="/ppt/notesMasters/notesMaster1.xml" Id="R02aa5b1b81e244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dcfc1c4a4e4962" /><Relationship Type="http://schemas.openxmlformats.org/officeDocument/2006/relationships/notesMaster" Target="/ppt/notesMasters/notesMaster1.xml" Id="Rcdb05a21125f48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ebc49927a245a4" /><Relationship Type="http://schemas.openxmlformats.org/officeDocument/2006/relationships/notesMaster" Target="/ppt/notesMasters/notesMaster1.xml" Id="Rb028b08dec1249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ab6e95f6e04bd9" /><Relationship Type="http://schemas.openxmlformats.org/officeDocument/2006/relationships/notesMaster" Target="/ppt/notesMasters/notesMaster1.xml" Id="R2d069481d4c748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18114b36a649de" /><Relationship Type="http://schemas.openxmlformats.org/officeDocument/2006/relationships/notesMaster" Target="/ppt/notesMasters/notesMaster1.xml" Id="R5538d0faf86148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181a4bdeaf456a" /><Relationship Type="http://schemas.openxmlformats.org/officeDocument/2006/relationships/notesMaster" Target="/ppt/notesMasters/notesMaster1.xml" Id="R22886a51940840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6e680af4b145a9" /><Relationship Type="http://schemas.openxmlformats.org/officeDocument/2006/relationships/notesMaster" Target="/ppt/notesMasters/notesMaster1.xml" Id="Rcb7c61bb547a45e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72bc8e0481f4038" /><Relationship Type="http://schemas.openxmlformats.org/officeDocument/2006/relationships/notesMaster" Target="/ppt/notesMasters/notesMaster1.xml" Id="R9bec598613e342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781d7e10f04667" /><Relationship Type="http://schemas.openxmlformats.org/officeDocument/2006/relationships/notesMaster" Target="/ppt/notesMasters/notesMaster1.xml" Id="R9d1698dd7fe649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8f35de459cb4007" /><Relationship Type="http://schemas.openxmlformats.org/officeDocument/2006/relationships/notesMaster" Target="/ppt/notesMasters/notesMaster1.xml" Id="R8c0a2500c6074f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f99d82aee1491c" /><Relationship Type="http://schemas.openxmlformats.org/officeDocument/2006/relationships/notesMaster" Target="/ppt/notesMasters/notesMaster1.xml" Id="Rbc4392fe7cba47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c4cc464de714933" /><Relationship Type="http://schemas.openxmlformats.org/officeDocument/2006/relationships/notesMaster" Target="/ppt/notesMasters/notesMaster1.xml" Id="Ra2a4c75353a140d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03a7837e8bf4645" /><Relationship Type="http://schemas.openxmlformats.org/officeDocument/2006/relationships/notesMaster" Target="/ppt/notesMasters/notesMaster1.xml" Id="Rc5ba7ecb8ffa4b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thesis: the useful unit is not one model, but a governed system spanning multiple hospital data boundaries.</a:t>
            </a:r>
          </a:p>
          <a:p xmlns:a="http://schemas.openxmlformats.org/drawingml/2006/main">
            <a:endParaRPr/>
          </a:p>
          <a:p xmlns:a="http://schemas.openxmlformats.org/drawingml/2006/main">
            <a:r>
              <a:t>[Sources]</a:t>
            </a:r>
          </a:p>
          <a:p xmlns:a="http://schemas.openxmlformats.org/drawingml/2006/main">
            <a:r>
              <a:t>- /Users/pradyundevarakonda/Developer/Dagents/docs/presentation/dagents-project-presentation.pptx</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finance list is included to show that the local/global pattern is reusable beyond healthcare.</a:t>
            </a:r>
          </a:p>
          <a:p xmlns:a="http://schemas.openxmlformats.org/drawingml/2006/main">
            <a:r>
              <a:t>The rest of the deck focuses on sepsis because it stresses privacy, safety, heterogeneous sources, and cross-site governance at once.</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these as global burden estimates, not expected outcomes for the proposed pilot.</a:t>
            </a:r>
          </a:p>
          <a:p xmlns:a="http://schemas.openxmlformats.org/drawingml/2006/main">
            <a:r>
              <a:t>The case study does not claim that an early-warning system will reduce mortality; that requires prospective clinical evidence.</a:t>
            </a:r>
          </a:p>
          <a:p xmlns:a="http://schemas.openxmlformats.org/drawingml/2006/main">
            <a:endParaRPr/>
          </a:p>
          <a:p xmlns:a="http://schemas.openxmlformats.org/drawingml/2006/main">
            <a:r>
              <a:t>[Sources]</a:t>
            </a:r>
          </a:p>
          <a:p xmlns:a="http://schemas.openxmlformats.org/drawingml/2006/main">
            <a:r>
              <a:t>- https://www.who.int/news-room/fact-sheets/detail/sepsis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Sepsis is a starting case, not the permanent product boundary. It combines urgency, scattered routine signals, hospital-to-hospital differences, and a safe staged path from past-data testing to a limited pilot.</a:t>
            </a:r>
          </a:p>
          <a:p xmlns:a="http://schemas.openxmlformats.org/drawingml/2006/main">
            <a:r>
              <a:t>The Dagents coordination pattern can be reused for other conditions. What does not transfer automatically is the disease-specific data definition, trained model, warning threshold, care workflow, and clinical safety evidence.</a:t>
            </a:r>
            <a:endParaRPr/>
          </a:p>
          <a:p xmlns:a="http://schemas.openxmlformats.org/drawingml/2006/main">
            <a:r>
              <a:t/>
            </a:r>
          </a:p>
          <a:p xmlns:a="http://schemas.openxmlformats.org/drawingml/2006/main">
            <a:r>
              <a:t>[Sources]</a:t>
            </a:r>
          </a:p>
          <a:p xmlns:a="http://schemas.openxmlformats.org/drawingml/2006/main">
            <a:r>
              <a:t>- https://www.who.int/news-room/fact-sheets/detail/sepsis</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adjacent high-impact hospital cases, not a claim that one disease model can be reused for another.</a:t>
            </a:r>
          </a:p>
          <a:p xmlns:a="http://schemas.openxmlformats.org/drawingml/2006/main">
            <a:r>
              <a:t>Stroke and heart attack are time-sensitive emergencies. Sudden kidney injury develops over a short period and benefits from trend monitoring. Serious breathing decline can require emergency treatment and uses oxygen, breathing, and related clinical information.</a:t>
            </a:r>
            <a:endParaRPr/>
          </a:p>
          <a:p xmlns:a="http://schemas.openxmlformats.org/drawingml/2006/main">
            <a:r>
              <a:t/>
            </a:r>
          </a:p>
          <a:p xmlns:a="http://schemas.openxmlformats.org/drawingml/2006/main">
            <a:r>
              <a:t>[Sources]</a:t>
            </a:r>
          </a:p>
          <a:p xmlns:a="http://schemas.openxmlformats.org/drawingml/2006/main">
            <a:r>
              <a:t>- https://www.cdc.gov/stroke/signs-symptoms/</a:t>
            </a:r>
          </a:p>
          <a:p xmlns:a="http://schemas.openxmlformats.org/drawingml/2006/main">
            <a:r>
              <a:t>- https://www.nhlbi.nih.gov/health/heart-attack</a:t>
            </a:r>
          </a:p>
          <a:p xmlns:a="http://schemas.openxmlformats.org/drawingml/2006/main">
            <a:r>
              <a:t>- https://www.niddk.nih.gov/research-funding/research-programs/acute-kidney-injury</a:t>
            </a:r>
          </a:p>
          <a:p xmlns:a="http://schemas.openxmlformats.org/drawingml/2006/main">
            <a:r>
              <a:t>- https://www.nhlbi.nih.gov/health/respiratory-failure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prediction task from the coordination system around it. A good model does not solve schema drift, hospital-specific policy, deployment ownership, rollback, or audit evidence.</a:t>
            </a:r>
          </a:p>
          <a:p xmlns:a="http://schemas.openxmlformats.org/drawingml/2006/main">
            <a:r>
              <a:t>Dagents addresses this as a control-plane problem: LMA owns the hospital boundary; GMA owns approved cross-site coordination; typed contracts make plans and outcomes inspectable.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functional requirement is source-local accumulation. Each hospital keeps detailed records, run history, and most evidence beside its own systems.</a:t>
            </a:r>
          </a:p>
          <a:p xmlns:a="http://schemas.openxmlformats.org/drawingml/2006/main">
            <a:r>
              <a:t>The coordination contract is deliberately small: approved counts, quality measures, performance summaries, run outcomes, versions, exceptions, and artifact pointers.</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proposed operating pattern, not a claim about every hospital.</a:t>
            </a:r>
          </a:p>
          <a:p xmlns:a="http://schemas.openxmlformats.org/drawingml/2006/main">
            <a:r>
              <a:t>The engineering problem is duplicated local stacks plus weak cross-site evidence and governance.</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https://hl7.org/fhir/R4/observation.html</a:t>
            </a:r>
          </a:p>
          <a:p xmlns:a="http://schemas.openxmlformats.org/drawingml/2006/main">
            <a:r>
              <a:t>- /Users/pradyundevarakonda/Developer/Dagents/docs/presentation/healthcare-case-study/diagrams/01-current-fragmentation.mmd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central warehouse is not always bad; it is the wrong default for this time-sensitive, privacy-sensitive coordination case.</a:t>
            </a:r>
          </a:p>
          <a:p xmlns:a="http://schemas.openxmlformats.org/drawingml/2006/main">
            <a:r>
              <a:t>It creates an ingestion path before analysis, repeated movement of detailed data, more sensitive copies, and ongoing schema work. Dagents instead computes and accumulates beside the source.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control and coordination topology, not a central patient-data pipeline.</a:t>
            </a:r>
          </a:p>
          <a:p xmlns:a="http://schemas.openxmlformats.org/drawingml/2006/main">
            <a:r>
              <a:t>Patient-level data remains at each hospital. Cross-hospital messages are limited to the approved information needed to compare performance and manage versions.</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At-source accumulation means the hospital keeps both its detailed inputs and its run history. The local agent produces the patient warning and the evidence needed to reconstruct the run.</a:t>
            </a:r>
          </a:p>
          <a:p xmlns:a="http://schemas.openxmlformats.org/drawingml/2006/main">
            <a:r>
              <a:t>Only the minimum approved coordination payload crosses the boundary.</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GMA needs enough information to compare sites and plan controlled updates, but it does not need patient-level rows for this case study.</a:t>
            </a:r>
          </a:p>
          <a:p xmlns:a="http://schemas.openxmlformats.org/drawingml/2006/main">
            <a:r>
              <a:t>The exact summary contract is defined and approved per deployment.</a:t>
            </a:r>
            <a:endParaRPr/>
          </a:p>
          <a:p xmlns:a="http://schemas.openxmlformats.org/drawingml/2006/main">
            <a:r>
              <a:t/>
            </a: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instead of the dense sequence diagram. It preserves the important logic: data arrives, local safety checks happen, a clinician decides, and only an approved summary is shared.</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Dagents separates the data plane from the control plane. Detailed data and computation stay local; the global layer sends plans and receives compact status and result summaries.</a:t>
            </a:r>
          </a:p>
          <a:p xmlns:a="http://schemas.openxmlformats.org/drawingml/2006/main">
            <a:r>
              <a:t/>
            </a:r>
            <a:endParaRP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Dagents is HIPAA compliant or SOC 2 compliant. The accurate claim is that its architecture creates reusable control and evidence points.</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is deliberately split between framework mechanisms and residual responsibilities.</a:t>
            </a:r>
          </a:p>
          <a:p xmlns:a="http://schemas.openxmlformats.org/drawingml/2006/main">
            <a:r>
              <a:t>HIPAA minimum necessary has context-specific exceptions, including certain treatment disclosures; the deploying organization must make the legal determination.</a:t>
            </a:r>
          </a:p>
          <a:p xmlns:a="http://schemas.openxmlformats.org/drawingml/2006/main">
            <a:endParaRPr/>
          </a:p>
          <a:p xmlns:a="http://schemas.openxmlformats.org/drawingml/2006/main">
            <a:r>
              <a:t>[Sources]</a:t>
            </a:r>
          </a:p>
          <a:p xmlns:a="http://schemas.openxmlformats.org/drawingml/2006/main">
            <a:r>
              <a:t>- https://www.hhs.gov/hipaa/for-professionals/privacy/guidance/minimum-necessary-requirement/index.html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 https://hl7.org/fhir/R4/observation.html</a:t>
            </a:r>
          </a:p>
          <a:p xmlns:a="http://schemas.openxmlformats.org/drawingml/2006/main">
            <a:r>
              <a:t>- https://healthit.gov/standards-and-technology/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replaces the detailed safety flowchart with four plain checks: approved use, good data, approved model, and human decision. The system must stop safely when any check fails.</a:t>
            </a:r>
          </a:p>
          <a:p xmlns:a="http://schemas.openxmlformats.org/drawingml/2006/main">
            <a:r>
              <a:t/>
            </a:r>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balanced effort argument: Dagents does not remove the hard clinical or compliance work; it prevents platform plumbing from being rebuilt for every site and use case.</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/Users/pradyundevarakonda/Developer/Dagents/services/core-service/README.md</a:t>
            </a:r>
          </a:p>
          <a:p xmlns:a="http://schemas.openxmlformats.org/drawingml/2006/main">
            <a:r>
              <a:t>- /Users/pradyundevarakonda/Developer/Dagents/services/pipeline-service/README.md</a:t>
            </a:r>
          </a:p>
          <a:p xmlns:a="http://schemas.openxmlformats.org/drawingml/2006/main">
            <a:r>
              <a:t>- /Users/pradyundevarakonda/Developer/Dagents/services/model-service/README.md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capability-fit comparison, not a benchmark. The strongest argument is composability: Dagents can call a federated-learning runtime, cloud MLOps service, or workflow engine rather than pretending to replace every component.</a:t>
            </a:r>
          </a:p>
          <a:p xmlns:a="http://schemas.openxmlformats.org/drawingml/2006/main">
            <a:r>
              <a:t>The trade-off is candid: Dagents has broader domain orchestration but less production maturity and requires healthcare-specific adapters, controls, and validation.</a:t>
            </a:r>
          </a:p>
          <a:p xmlns:a="http://schemas.openxmlformats.org/drawingml/2006/main">
            <a:r>
              <a:t/>
            </a:r>
            <a:endParaRPr/>
          </a:p>
          <a:p xmlns:a="http://schemas.openxmlformats.org/drawingml/2006/main">
            <a:r>
              <a:t>[Sources]</a:t>
            </a:r>
          </a:p>
          <a:p xmlns:a="http://schemas.openxmlformats.org/drawingml/2006/main">
            <a:r>
              <a:t>- https://flower.ai/docs/framework/index.html</a:t>
            </a:r>
          </a:p>
          <a:p xmlns:a="http://schemas.openxmlformats.org/drawingml/2006/main">
            <a:r>
              <a:t>- https://nvidia.github.io/NVFlare/</a:t>
            </a:r>
          </a:p>
          <a:p xmlns:a="http://schemas.openxmlformats.org/drawingml/2006/main">
            <a:r>
              <a:t>- https://docs.aws.amazon.com/sagemaker/latest/dg/whatis.html</a:t>
            </a:r>
          </a:p>
          <a:p xmlns:a="http://schemas.openxmlformats.org/drawingml/2006/main">
            <a:r>
              <a:t>- https://learn.microsoft.com/en-us/azure/machine-learning/overview-what-is-azure-machine-learning</a:t>
            </a:r>
          </a:p>
          <a:p xmlns:a="http://schemas.openxmlformats.org/drawingml/2006/main">
            <a:r>
              <a:t>- https://www.kubeflow.org/docs/components/pipelines/concepts/pipeline/</a:t>
            </a:r>
          </a:p>
          <a:p xmlns:a="http://schemas.openxmlformats.org/drawingml/2006/main">
            <a:r>
              <a:t>- https://airflow.apache.org/docs/apache-airflow/stable/core-concepts/overview.html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promise a clinical go-live. The requested case is strongest as a research and shadow-mode pilot with explicit evidence gates.</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fixed alert budget connects technical performance to clinician capacity and prevents a high-sensitivity result from hiding unusable alert volume.</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a portfolio strategy: one reusable source-first coordination platform, with separately governed clinical applications.</a:t>
            </a:r>
          </a:p>
          <a:p xmlns:a="http://schemas.openxmlformats.org/drawingml/2006/main">
            <a:r>
              <a:t>Sepsis is the first proving case. The next condition should be selected only after the first pilot establishes reliable local execution, minimal-data coordination, safety gates, and rollback.</a:t>
            </a:r>
            <a:endParaRPr/>
          </a:p>
          <a:p xmlns:a="http://schemas.openxmlformats.org/drawingml/2006/main">
            <a:r>
              <a:t/>
            </a: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https://www.cdc.gov/stroke/signs-symptoms/</a:t>
            </a:r>
          </a:p>
          <a:p xmlns:a="http://schemas.openxmlformats.org/drawingml/2006/main">
            <a:r>
              <a:t>- https://www.nhlbi.nih.gov/health/heart-attack</a:t>
            </a:r>
          </a:p>
          <a:p xmlns:a="http://schemas.openxmlformats.org/drawingml/2006/main">
            <a:r>
              <a:t>- https://www.niddk.nih.gov/research-funding/research-programs/acute-kidney-injury</a:t>
            </a:r>
          </a:p>
          <a:p xmlns:a="http://schemas.openxmlformats.org/drawingml/2006/main">
            <a:r>
              <a:t>- https://www.nhlbi.nih.gov/health/respiratory-failure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glossary when presenting to an audience without healthcare experience. Retrospective study and shadow mode are written in plain language as past-data testing and silent live testing.</a:t>
            </a:r>
          </a:p>
          <a:p xmlns:a="http://schemas.openxmlformats.org/drawingml/2006/main">
            <a:r>
              <a:t/>
            </a:r>
            <a:endParaRPr/>
          </a:p>
          <a:p xmlns:a="http://schemas.openxmlformats.org/drawingml/2006/main">
            <a:r>
              <a:t>[Sources]</a:t>
            </a:r>
          </a:p>
          <a:p xmlns:a="http://schemas.openxmlformats.org/drawingml/2006/main">
            <a:r>
              <a:t>- https://www.who.int/news-room/fact-sheets/detail/sepsis</a:t>
            </a:r>
          </a:p>
          <a:p xmlns:a="http://schemas.openxmlformats.org/drawingml/2006/main">
            <a:r>
              <a:t>- https://www.hhs.gov/hipaa/for-professionals/privacy/laws-regulations/index.html</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only for plain-language orientation. It is not a symptom checklist and does not authorize diagnosis or treatment.</a:t>
            </a:r>
          </a:p>
          <a:p xmlns:a="http://schemas.openxmlformats.org/drawingml/2006/main">
            <a:r>
              <a:t/>
            </a:r>
            <a:endParaRPr/>
          </a:p>
          <a:p xmlns:a="http://schemas.openxmlformats.org/drawingml/2006/main">
            <a:r>
              <a:t>[Sources]</a:t>
            </a:r>
          </a:p>
          <a:p xmlns:a="http://schemas.openxmlformats.org/drawingml/2006/main">
            <a:r>
              <a:t>- https://www.who.int/news-room/fact-sheets/detail/sepsis</a:t>
            </a:r>
          </a:p>
          <a:p xmlns:a="http://schemas.openxmlformats.org/drawingml/2006/main">
            <a:r>
              <a:t>- https://www.cdc.gov/stroke/signs-symptoms/</a:t>
            </a:r>
          </a:p>
          <a:p xmlns:a="http://schemas.openxmlformats.org/drawingml/2006/main">
            <a:r>
              <a:t>- https://www.nhlbi.nih.gov/health/heart-attack</a:t>
            </a:r>
          </a:p>
          <a:p xmlns:a="http://schemas.openxmlformats.org/drawingml/2006/main">
            <a:r>
              <a:t>- https://www.niddk.nih.gov/research-funding/research-programs/acute-kidney-injury</a:t>
            </a:r>
          </a:p>
          <a:p xmlns:a="http://schemas.openxmlformats.org/drawingml/2006/main">
            <a:r>
              <a:t>- https://www.nhlbi.nih.gov/health/respiratory-failure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warehouse or lake definition is included because this deck deliberately avoids making it the center of the architecture.</a:t>
            </a:r>
          </a:p>
          <a:p xmlns:a="http://schemas.openxmlformats.org/drawingml/2006/main">
            <a:r>
              <a:t>Source-first does not mean no coordination: it means detailed data stays local while a small approved contract supports fleet-level comparison and control.</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85b78aad524b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4ba47695174779" /><Relationship Type="http://schemas.openxmlformats.org/officeDocument/2006/relationships/slideLayout" Target="/ppt/slideLayouts/slideLayout1.xml" Id="Rf0ae3c4c98704b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e3c4c98704b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22dbc10b464cd9" /><Relationship Type="http://schemas.openxmlformats.org/officeDocument/2006/relationships/hyperlink" Target="https://github.com/pradyunuydarp/Dagents.git" TargetMode="External" Id="R4dbb9fce40d44cd3" /><Relationship Type="http://schemas.openxmlformats.org/officeDocument/2006/relationships/notesSlide" Target="/ppt/notesSlides/notesSlide1.xml" Id="R74004da50b4a47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560ef5cfbf4f4c" /><Relationship Type="http://schemas.openxmlformats.org/officeDocument/2006/relationships/notesSlide" Target="/ppt/notesSlides/notesSlide2.xml" Id="R24d4ffb1f9af48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c2ea32530f4e2a" /><Relationship Type="http://schemas.openxmlformats.org/officeDocument/2006/relationships/notesSlide" Target="/ppt/notesSlides/notesSlide3.xml" Id="R8ef8d7d8f15147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c6d970f19443ab" /><Relationship Type="http://schemas.openxmlformats.org/officeDocument/2006/relationships/notesSlide" Target="/ppt/notesSlides/notesSlide4.xml" Id="R527f75257ab94d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3aff56f66a44ac" /><Relationship Type="http://schemas.openxmlformats.org/officeDocument/2006/relationships/notesSlide" Target="/ppt/notesSlides/notesSlide5.xml" Id="Rcae936af02bc47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32fdf10c2144b8" /><Relationship Type="http://schemas.openxmlformats.org/officeDocument/2006/relationships/notesSlide" Target="/ppt/notesSlides/notesSlide6.xml" Id="R291f4b6f116647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6eb198fa2b499a" /><Relationship Type="http://schemas.openxmlformats.org/officeDocument/2006/relationships/notesSlide" Target="/ppt/notesSlides/notesSlide7.xml" Id="R5ccfc2463aba4d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512c1197bc475a" /><Relationship Type="http://schemas.openxmlformats.org/officeDocument/2006/relationships/image" Target="/ppt/media/image.png" Id="Re83af4ba7a0d467b" /><Relationship Type="http://schemas.openxmlformats.org/officeDocument/2006/relationships/notesSlide" Target="/ppt/notesSlides/notesSlide8.xml" Id="Red2abf463aee40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339c2633774808" /><Relationship Type="http://schemas.openxmlformats.org/officeDocument/2006/relationships/notesSlide" Target="/ppt/notesSlides/notesSlide9.xml" Id="Re812865a65b548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cb11dba7bf4255" /><Relationship Type="http://schemas.openxmlformats.org/officeDocument/2006/relationships/image" Target="/ppt/media/image2.png" Id="Ra324a48a400e47d9" /><Relationship Type="http://schemas.openxmlformats.org/officeDocument/2006/relationships/notesSlide" Target="/ppt/notesSlides/notesSlide10.xml" Id="Rab9101946c414f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3d72d3ad614ca2" /><Relationship Type="http://schemas.openxmlformats.org/officeDocument/2006/relationships/notesSlide" Target="/ppt/notesSlides/notesSlide11.xml" Id="R81738ed596754a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1daabd060004d45" /><Relationship Type="http://schemas.openxmlformats.org/officeDocument/2006/relationships/notesSlide" Target="/ppt/notesSlides/notesSlide12.xml" Id="R39c1367d74a044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682eeb6ade84c30" /><Relationship Type="http://schemas.openxmlformats.org/officeDocument/2006/relationships/notesSlide" Target="/ppt/notesSlides/notesSlide13.xml" Id="Ra52f04abc60245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eb7b085c43d4006" /><Relationship Type="http://schemas.openxmlformats.org/officeDocument/2006/relationships/notesSlide" Target="/ppt/notesSlides/notesSlide14.xml" Id="R750dc85ff08c4b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5ea81cabae49c0" /><Relationship Type="http://schemas.openxmlformats.org/officeDocument/2006/relationships/notesSlide" Target="/ppt/notesSlides/notesSlide15.xml" Id="R23f8d6a966de45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f555d516a24015" /><Relationship Type="http://schemas.openxmlformats.org/officeDocument/2006/relationships/notesSlide" Target="/ppt/notesSlides/notesSlide16.xml" Id="Rc461c67f4a9b41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4f9c1b3bc824a62" /><Relationship Type="http://schemas.openxmlformats.org/officeDocument/2006/relationships/notesSlide" Target="/ppt/notesSlides/notesSlide17.xml" Id="Rdd7758756f6c41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926af820e5d445a" /><Relationship Type="http://schemas.openxmlformats.org/officeDocument/2006/relationships/notesSlide" Target="/ppt/notesSlides/notesSlide18.xml" Id="R6b5874fca4234a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a72f2dcaef44f6d" /><Relationship Type="http://schemas.openxmlformats.org/officeDocument/2006/relationships/notesSlide" Target="/ppt/notesSlides/notesSlide19.xml" Id="R1504128a7ac04a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d6e8fa682314a36" /><Relationship Type="http://schemas.openxmlformats.org/officeDocument/2006/relationships/notesSlide" Target="/ppt/notesSlides/notesSlide20.xml" Id="Rfbaa4977484942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101bd194b474f5f" /><Relationship Type="http://schemas.openxmlformats.org/officeDocument/2006/relationships/notesSlide" Target="/ppt/notesSlides/notesSlide21.xml" Id="R3a759819737a48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55d3e16f9cd45a9" /><Relationship Type="http://schemas.openxmlformats.org/officeDocument/2006/relationships/notesSlide" Target="/ppt/notesSlides/notesSlide22.xml" Id="Rd7248108766c4d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c457bb0835a48c9" /><Relationship Type="http://schemas.openxmlformats.org/officeDocument/2006/relationships/notesSlide" Target="/ppt/notesSlides/notesSlide23.xml" Id="Rb449093679914a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26a8f3ae4104bf3" /><Relationship Type="http://schemas.openxmlformats.org/officeDocument/2006/relationships/notesSlide" Target="/ppt/notesSlides/notesSlide24.xml" Id="R2b83b20032f1462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6745f914af4484e" /><Relationship Type="http://schemas.openxmlformats.org/officeDocument/2006/relationships/notesSlide" Target="/ppt/notesSlides/notesSlide25.xml" Id="R90915e96dfd44f1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Rectangle 11">
            <a:hlinkClick xmlns:r="http://schemas.openxmlformats.org/officeDocument/2006/relationships" xmlns:a="http://schemas.openxmlformats.org/drawingml/2006/main" r:id="R4dbb9fce40d44cd3"/>
            <a:extLst xmlns:a="http://schemas.openxmlformats.org/drawingml/2006/main">
              <a:ext uri="{FF2B5EF4-FFF2-40B4-BE49-F238E27FC236}">
                <a16:creationId xmlns:a16="http://schemas.microsoft.com/office/drawing/2014/main" id="{DBAD7086-21FE-4FD0-95D7-1188A3E82C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0684ED2-C417-447E-BC93-3DDECEBC401B}"/>
              </a:ext>
            </a:extLst>
          </p:cNvPr>
          <p:cNvSpPr>
            <a:spLocks xmlns:a="http://schemas.openxmlformats.org/drawingml/2006/main" noGrp="1"/>
          </p:cNvSpPr>
          <p:nvPr/>
        </p:nvSpPr>
        <p:spPr>
          <a:xfrm xmlns:a="http://schemas.openxmlformats.org/drawingml/2006/main">
            <a:off x="666750" y="533400"/>
            <a:ext cx="1619250" cy="24765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HEALTHCARE CASE STUDY</a:t>
            </a:r>
          </a:p>
        </p:txBody>
      </p:sp>
      <p:sp>
        <p:nvSpPr>
          <p:cNvPr id="3" name="Rectangle 2">
            <a:extLst xmlns:a="http://schemas.openxmlformats.org/drawingml/2006/main">
              <a:ext uri="{FF2B5EF4-FFF2-40B4-BE49-F238E27FC236}">
                <a16:creationId xmlns:a16="http://schemas.microsoft.com/office/drawing/2014/main" id="{002AADAB-1301-46D6-B41A-E64CF809AE50}"/>
              </a:ext>
            </a:extLst>
          </p:cNvPr>
          <p:cNvSpPr>
            <a:spLocks xmlns:a="http://schemas.openxmlformats.org/drawingml/2006/main" noGrp="1"/>
          </p:cNvSpPr>
          <p:nvPr/>
        </p:nvSpPr>
        <p:spPr>
          <a:xfrm xmlns:a="http://schemas.openxmlformats.org/drawingml/2006/main">
            <a:off x="666750" y="1200150"/>
            <a:ext cx="838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Dagents for Source-First Hospital Warnings</a:t>
            </a:r>
          </a:p>
        </p:txBody>
      </p:sp>
      <p:sp>
        <p:nvSpPr>
          <p:cNvPr id="4" name="Rectangle 3">
            <a:extLst xmlns:a="http://schemas.openxmlformats.org/drawingml/2006/main">
              <a:ext uri="{FF2B5EF4-FFF2-40B4-BE49-F238E27FC236}">
                <a16:creationId xmlns:a16="http://schemas.microsoft.com/office/drawing/2014/main" id="{4E35700B-61E4-42B5-88FF-89C9CE76EE4C}"/>
              </a:ext>
            </a:extLst>
          </p:cNvPr>
          <p:cNvSpPr>
            <a:spLocks xmlns:a="http://schemas.openxmlformats.org/drawingml/2006/main" noGrp="1"/>
          </p:cNvSpPr>
          <p:nvPr/>
        </p:nvSpPr>
        <p:spPr>
          <a:xfrm xmlns:a="http://schemas.openxmlformats.org/drawingml/2006/main">
            <a:off x="704850" y="272415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C6D2CB"/>
                </a:solidFill>
                <a:latin typeface="Aptos"/>
                <a:ea typeface="Aptos"/>
                <a:cs typeface="Aptos"/>
              </a:defRPr>
            </a:pPr>
            <a:r>
              <a:rPr sz="1500" b="0">
                <a:solidFill>
                  <a:srgbClr val="C6D2CB"/>
                </a:solidFill>
                <a:latin typeface="Aptos"/>
                <a:ea typeface="Aptos"/>
                <a:cs typeface="Aptos"/>
              </a:rPr>
              <a:t>Start with sepsis, then reuse the source-first coordination layer for other high-impact conditions—without pretending one model fits every disease.</a:t>
            </a:r>
          </a:p>
        </p:txBody>
      </p:sp>
      <p:sp>
        <p:nvSpPr>
          <p:cNvPr id="5" name="Rounded Rectangle 4">
            <a:extLst xmlns:a="http://schemas.openxmlformats.org/drawingml/2006/main">
              <a:ext uri="{FF2B5EF4-FFF2-40B4-BE49-F238E27FC236}">
                <a16:creationId xmlns:a16="http://schemas.microsoft.com/office/drawing/2014/main" id="{528D4DF1-5B75-4D5B-B480-0169FB7D537F}"/>
              </a:ext>
            </a:extLst>
          </p:cNvPr>
          <p:cNvSpPr>
            <a:spLocks xmlns:a="http://schemas.openxmlformats.org/drawingml/2006/main" noGrp="1"/>
          </p:cNvSpPr>
          <p:nvPr/>
        </p:nvSpPr>
        <p:spPr>
          <a:xfrm xmlns:a="http://schemas.openxmlformats.org/drawingml/2006/main">
            <a:off x="914400" y="4210050"/>
            <a:ext cx="1920240" cy="647700"/>
          </a:xfrm>
          <a:prstGeom xmlns:a="http://schemas.openxmlformats.org/drawingml/2006/main" prst="roundRect">
            <a:avLst>
              <a:gd name="adj" fmla="val 5882"/>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Patient records</a:t>
            </a:r>
          </a:p>
        </p:txBody>
      </p:sp>
      <p:sp>
        <p:nvSpPr>
          <p:cNvPr id="6" name="Rounded Rectangle 5">
            <a:extLst xmlns:a="http://schemas.openxmlformats.org/drawingml/2006/main">
              <a:ext uri="{FF2B5EF4-FFF2-40B4-BE49-F238E27FC236}">
                <a16:creationId xmlns:a16="http://schemas.microsoft.com/office/drawing/2014/main" id="{D60A53B9-A4E7-484F-8034-98A213935481}"/>
              </a:ext>
            </a:extLst>
          </p:cNvPr>
          <p:cNvSpPr>
            <a:spLocks xmlns:a="http://schemas.openxmlformats.org/drawingml/2006/main" noGrp="1"/>
          </p:cNvSpPr>
          <p:nvPr/>
        </p:nvSpPr>
        <p:spPr>
          <a:xfrm xmlns:a="http://schemas.openxmlformats.org/drawingml/2006/main">
            <a:off x="2987040" y="4210050"/>
            <a:ext cx="1920240" cy="647700"/>
          </a:xfrm>
          <a:prstGeom xmlns:a="http://schemas.openxmlformats.org/drawingml/2006/main" prst="roundRect">
            <a:avLst>
              <a:gd name="adj" fmla="val 5882"/>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Local agent</a:t>
            </a:r>
          </a:p>
        </p:txBody>
      </p:sp>
      <p:sp>
        <p:nvSpPr>
          <p:cNvPr id="7" name="Rounded Rectangle 6">
            <a:extLst xmlns:a="http://schemas.openxmlformats.org/drawingml/2006/main">
              <a:ext uri="{FF2B5EF4-FFF2-40B4-BE49-F238E27FC236}">
                <a16:creationId xmlns:a16="http://schemas.microsoft.com/office/drawing/2014/main" id="{5566A10A-F573-49D6-877E-CE49EE18CAEE}"/>
              </a:ext>
            </a:extLst>
          </p:cNvPr>
          <p:cNvSpPr>
            <a:spLocks xmlns:a="http://schemas.openxmlformats.org/drawingml/2006/main" noGrp="1"/>
          </p:cNvSpPr>
          <p:nvPr/>
        </p:nvSpPr>
        <p:spPr>
          <a:xfrm xmlns:a="http://schemas.openxmlformats.org/drawingml/2006/main">
            <a:off x="5059680" y="4210050"/>
            <a:ext cx="1920240" cy="647700"/>
          </a:xfrm>
          <a:prstGeom xmlns:a="http://schemas.openxmlformats.org/drawingml/2006/main" prst="roundRect">
            <a:avLst>
              <a:gd name="adj" fmla="val 5882"/>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Global agent</a:t>
            </a:r>
          </a:p>
        </p:txBody>
      </p:sp>
      <p:sp>
        <p:nvSpPr>
          <p:cNvPr id="8" name="Rounded Rectangle 7">
            <a:extLst xmlns:a="http://schemas.openxmlformats.org/drawingml/2006/main">
              <a:ext uri="{FF2B5EF4-FFF2-40B4-BE49-F238E27FC236}">
                <a16:creationId xmlns:a16="http://schemas.microsoft.com/office/drawing/2014/main" id="{5C63E76E-89CD-4533-B12B-BA23CA95D353}"/>
              </a:ext>
            </a:extLst>
          </p:cNvPr>
          <p:cNvSpPr>
            <a:spLocks xmlns:a="http://schemas.openxmlformats.org/drawingml/2006/main" noGrp="1"/>
          </p:cNvSpPr>
          <p:nvPr/>
        </p:nvSpPr>
        <p:spPr>
          <a:xfrm xmlns:a="http://schemas.openxmlformats.org/drawingml/2006/main">
            <a:off x="7132320" y="4210050"/>
            <a:ext cx="1920240" cy="647700"/>
          </a:xfrm>
          <a:prstGeom xmlns:a="http://schemas.openxmlformats.org/drawingml/2006/main" prst="roundRect">
            <a:avLst>
              <a:gd name="adj" fmla="val 5882"/>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Clinician review</a:t>
            </a:r>
          </a:p>
        </p:txBody>
      </p:sp>
      <p:sp>
        <p:nvSpPr>
          <p:cNvPr id="9" name="Rounded Rectangle 8">
            <a:extLst xmlns:a="http://schemas.openxmlformats.org/drawingml/2006/main">
              <a:ext uri="{FF2B5EF4-FFF2-40B4-BE49-F238E27FC236}">
                <a16:creationId xmlns:a16="http://schemas.microsoft.com/office/drawing/2014/main" id="{B0B2C03F-8B20-492A-AE4E-3EBDA2782D40}"/>
              </a:ext>
            </a:extLst>
          </p:cNvPr>
          <p:cNvSpPr>
            <a:spLocks xmlns:a="http://schemas.openxmlformats.org/drawingml/2006/main" noGrp="1"/>
          </p:cNvSpPr>
          <p:nvPr/>
        </p:nvSpPr>
        <p:spPr>
          <a:xfrm xmlns:a="http://schemas.openxmlformats.org/drawingml/2006/main">
            <a:off x="9204960" y="4210050"/>
            <a:ext cx="1920240" cy="647700"/>
          </a:xfrm>
          <a:prstGeom xmlns:a="http://schemas.openxmlformats.org/drawingml/2006/main" prst="roundRect">
            <a:avLst>
              <a:gd name="adj" fmla="val 5882"/>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Controlled updates</a:t>
            </a:r>
          </a:p>
        </p:txBody>
      </p:sp>
      <p:sp>
        <p:nvSpPr>
          <p:cNvPr id="11" name="Rectangle 10">
            <a:extLst xmlns:a="http://schemas.openxmlformats.org/drawingml/2006/main">
              <a:ext uri="{FF2B5EF4-FFF2-40B4-BE49-F238E27FC236}">
                <a16:creationId xmlns:a16="http://schemas.microsoft.com/office/drawing/2014/main" id="{6BE66650-CFE7-4B7A-A510-5BEC7C131A06}"/>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01</a:t>
            </a:r>
          </a:p>
        </p:txBody>
      </p:sp>
      <p:sp>
        <p:nvSpPr>
          <p:cNvPr id="13" name="TextBox 12">
            <a:extLst xmlns:a="http://schemas.openxmlformats.org/drawingml/2006/main">
              <a:ext uri="{FF2B5EF4-FFF2-40B4-BE49-F238E27FC236}">
                <a16:creationId xmlns:a16="http://schemas.microsoft.com/office/drawing/2014/main" id="{4063BD50-1495-DE9C-D046-E7C5F535B0B9}"/>
              </a:ext>
            </a:extLst>
          </p:cNvPr>
          <p:cNvSpPr>
            <a:spLocks xmlns:a="http://schemas.openxmlformats.org/drawingml/2006/main" noGrp="1"/>
          </p:cNvSpPr>
          <p:nvPr/>
        </p:nvSpPr>
        <p:spPr>
          <a:xfrm xmlns:a="http://schemas.openxmlformats.org/drawingml/2006/main">
            <a:off x="9525230" y="6044625"/>
            <a:ext cx="358140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bg2">
                    <a:lumMod val="75000"/>
                  </a:schemeClr>
                </a:solidFill>
              </a:rPr>
              <a:t>Pradyun Devarakonda</a:t>
            </a:r>
          </a:p>
          <a:p xmlns:a="http://schemas.openxmlformats.org/drawingml/2006/main">
            <a:r>
              <a:rPr sz="1600">
                <a:solidFill>
                  <a:schemeClr val="bg2">
                    <a:lumMod val="75000"/>
                  </a:schemeClr>
                </a:solidFill>
              </a:rPr>
              <a:t>Professor presentation</a:t>
            </a:r>
          </a:p>
        </p:txBody>
      </p:sp>
    </p:spTree>
    <p:extLst>
      <p:ext uri="{BB962C8B-B14F-4D97-AF65-F5344CB8AC3E}">
        <p14:creationId xmlns:p14="http://schemas.microsoft.com/office/powerpoint/2010/main" val="186166369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45AB7B7-DB75-496C-AF33-7FDD3DC5DDB8}"/>
              </a:ext>
            </a:extLst>
          </p:cNvPr>
          <p:cNvSpPr>
            <a:spLocks xmlns:a="http://schemas.openxmlformats.org/drawingml/2006/main" noGrp="1"/>
          </p:cNvSpPr>
          <p:nvPr/>
        </p:nvSpPr>
        <p:spPr>
          <a:xfrm xmlns:a="http://schemas.openxmlformats.org/drawingml/2006/main">
            <a:off x="0" y="1016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0A0CB6B-1963-477D-B18C-AB79936C089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WHERE THIS PATTERN HELPS</a:t>
            </a:r>
          </a:p>
        </p:txBody>
      </p:sp>
      <p:sp>
        <p:nvSpPr>
          <p:cNvPr id="3" name="Rectangle 2">
            <a:extLst xmlns:a="http://schemas.openxmlformats.org/drawingml/2006/main">
              <a:ext uri="{FF2B5EF4-FFF2-40B4-BE49-F238E27FC236}">
                <a16:creationId xmlns:a16="http://schemas.microsoft.com/office/drawing/2014/main" id="{75EC1414-F0F6-4931-BEC7-D0662752965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Regulated work needs local control and shared coordination.</a:t>
            </a:r>
          </a:p>
        </p:txBody>
      </p:sp>
      <p:sp>
        <p:nvSpPr>
          <p:cNvPr id="4" name="Rectangle 3">
            <a:extLst xmlns:a="http://schemas.openxmlformats.org/drawingml/2006/main">
              <a:ext uri="{FF2B5EF4-FFF2-40B4-BE49-F238E27FC236}">
                <a16:creationId xmlns:a16="http://schemas.microsoft.com/office/drawing/2014/main" id="{A277BF40-0B73-4C09-A35E-0D4ED4DD423D}"/>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Healthcare and finance both have scattered data, strict access rules, changing models, and heavy evidence requirements. Healthcare starts with sepsis and expands condition by condition.</a:t>
            </a:r>
          </a:p>
        </p:txBody>
      </p:sp>
      <p:sp>
        <p:nvSpPr>
          <p:cNvPr id="5" name="Rectangle 4">
            <a:extLst xmlns:a="http://schemas.openxmlformats.org/drawingml/2006/main">
              <a:ext uri="{FF2B5EF4-FFF2-40B4-BE49-F238E27FC236}">
                <a16:creationId xmlns:a16="http://schemas.microsoft.com/office/drawing/2014/main" id="{166465F7-D72B-4FC0-8B6C-84B3DA6B0C7C}"/>
              </a:ext>
            </a:extLst>
          </p:cNvPr>
          <p:cNvSpPr>
            <a:spLocks xmlns:a="http://schemas.openxmlformats.org/drawingml/2006/main" noGrp="1"/>
          </p:cNvSpPr>
          <p:nvPr/>
        </p:nvSpPr>
        <p:spPr>
          <a:xfrm xmlns:a="http://schemas.openxmlformats.org/drawingml/2006/main">
            <a:off x="895350" y="26193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8559396F-9F48-4223-9DC1-50C44F9FC983}"/>
              </a:ext>
            </a:extLst>
          </p:cNvPr>
          <p:cNvSpPr>
            <a:spLocks xmlns:a="http://schemas.openxmlformats.org/drawingml/2006/main" noGrp="1"/>
          </p:cNvSpPr>
          <p:nvPr/>
        </p:nvSpPr>
        <p:spPr>
          <a:xfrm xmlns:a="http://schemas.openxmlformats.org/drawingml/2006/main">
            <a:off x="1162050" y="25527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Healthcare: sepsis, stroke, heart attack, sudden kidney injury, serious breathing decline, repeat visits, and long-term care.</a:t>
            </a:r>
          </a:p>
        </p:txBody>
      </p:sp>
      <p:sp>
        <p:nvSpPr>
          <p:cNvPr id="7" name="Rectangle 6">
            <a:extLst xmlns:a="http://schemas.openxmlformats.org/drawingml/2006/main">
              <a:ext uri="{FF2B5EF4-FFF2-40B4-BE49-F238E27FC236}">
                <a16:creationId xmlns:a16="http://schemas.microsoft.com/office/drawing/2014/main" id="{A53DD299-2942-409C-BFC4-E2056759A9B7}"/>
              </a:ext>
            </a:extLst>
          </p:cNvPr>
          <p:cNvSpPr>
            <a:spLocks xmlns:a="http://schemas.openxmlformats.org/drawingml/2006/main" noGrp="1"/>
          </p:cNvSpPr>
          <p:nvPr/>
        </p:nvSpPr>
        <p:spPr>
          <a:xfrm xmlns:a="http://schemas.openxmlformats.org/drawingml/2006/main">
            <a:off x="895350" y="31527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2A2482D2-0A91-47D9-A818-77C822FA6B14}"/>
              </a:ext>
            </a:extLst>
          </p:cNvPr>
          <p:cNvSpPr>
            <a:spLocks xmlns:a="http://schemas.openxmlformats.org/drawingml/2006/main" noGrp="1"/>
          </p:cNvSpPr>
          <p:nvPr/>
        </p:nvSpPr>
        <p:spPr>
          <a:xfrm xmlns:a="http://schemas.openxmlformats.org/drawingml/2006/main">
            <a:off x="1162050" y="30861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Finance: fraud, money laundering, changing loan risk, cash-flow risk, and unusual transactions.</a:t>
            </a:r>
          </a:p>
        </p:txBody>
      </p:sp>
      <p:sp>
        <p:nvSpPr>
          <p:cNvPr id="9" name="Rectangle 8">
            <a:extLst xmlns:a="http://schemas.openxmlformats.org/drawingml/2006/main">
              <a:ext uri="{FF2B5EF4-FFF2-40B4-BE49-F238E27FC236}">
                <a16:creationId xmlns:a16="http://schemas.microsoft.com/office/drawing/2014/main" id="{3B5AE66C-3EE0-4B2E-9E99-FDA787C86E27}"/>
              </a:ext>
            </a:extLst>
          </p:cNvPr>
          <p:cNvSpPr>
            <a:spLocks xmlns:a="http://schemas.openxmlformats.org/drawingml/2006/main" noGrp="1"/>
          </p:cNvSpPr>
          <p:nvPr/>
        </p:nvSpPr>
        <p:spPr>
          <a:xfrm xmlns:a="http://schemas.openxmlformats.org/drawingml/2006/main">
            <a:off x="8953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2583A9C4-A310-4B43-8A33-95A416DEEACF}"/>
              </a:ext>
            </a:extLst>
          </p:cNvPr>
          <p:cNvSpPr>
            <a:spLocks xmlns:a="http://schemas.openxmlformats.org/drawingml/2006/main" noGrp="1"/>
          </p:cNvSpPr>
          <p:nvPr/>
        </p:nvSpPr>
        <p:spPr>
          <a:xfrm xmlns:a="http://schemas.openxmlformats.org/drawingml/2006/main">
            <a:off x="1162050" y="36195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Why sepsis first: it tests urgent, local, multi-hospital coordination; it is not the platform's permanent disease scope.</a:t>
            </a:r>
          </a:p>
        </p:txBody>
      </p:sp>
      <p:sp>
        <p:nvSpPr>
          <p:cNvPr id="11" name="Rectangle 10">
            <a:extLst xmlns:a="http://schemas.openxmlformats.org/drawingml/2006/main">
              <a:ext uri="{FF2B5EF4-FFF2-40B4-BE49-F238E27FC236}">
                <a16:creationId xmlns:a16="http://schemas.microsoft.com/office/drawing/2014/main" id="{EF55E17F-99CE-40DB-9406-767DA14F48F5}"/>
              </a:ext>
            </a:extLst>
          </p:cNvPr>
          <p:cNvSpPr>
            <a:spLocks xmlns:a="http://schemas.openxmlformats.org/drawingml/2006/main" noGrp="1"/>
          </p:cNvSpPr>
          <p:nvPr/>
        </p:nvSpPr>
        <p:spPr>
          <a:xfrm xmlns:a="http://schemas.openxmlformats.org/drawingml/2006/main">
            <a:off x="895350" y="42195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E126EEE6-1447-4276-909E-B92E08A9697B}"/>
              </a:ext>
            </a:extLst>
          </p:cNvPr>
          <p:cNvSpPr>
            <a:spLocks xmlns:a="http://schemas.openxmlformats.org/drawingml/2006/main" noGrp="1"/>
          </p:cNvSpPr>
          <p:nvPr/>
        </p:nvSpPr>
        <p:spPr>
          <a:xfrm xmlns:a="http://schemas.openxmlformats.org/drawingml/2006/main">
            <a:off x="1162050" y="41529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Scope: test past records, then silent live runs—never diagnose or treat automatically.</a:t>
            </a:r>
          </a:p>
        </p:txBody>
      </p:sp>
      <p:sp>
        <p:nvSpPr>
          <p:cNvPr id="13" name="Rounded Rectangle 12">
            <a:extLst xmlns:a="http://schemas.openxmlformats.org/drawingml/2006/main">
              <a:ext uri="{FF2B5EF4-FFF2-40B4-BE49-F238E27FC236}">
                <a16:creationId xmlns:a16="http://schemas.microsoft.com/office/drawing/2014/main" id="{BF5ED820-7FB5-428B-8432-AE58353A927D}"/>
              </a:ext>
            </a:extLst>
          </p:cNvPr>
          <p:cNvSpPr>
            <a:spLocks xmlns:a="http://schemas.openxmlformats.org/drawingml/2006/main" noGrp="1"/>
          </p:cNvSpPr>
          <p:nvPr/>
        </p:nvSpPr>
        <p:spPr>
          <a:xfrm xmlns:a="http://schemas.openxmlformats.org/drawingml/2006/main">
            <a:off x="8667750" y="2476500"/>
            <a:ext cx="2095500" cy="704850"/>
          </a:xfrm>
          <a:prstGeom xmlns:a="http://schemas.openxmlformats.org/drawingml/2006/main" prst="roundRect">
            <a:avLst>
              <a:gd name="adj" fmla="val 5405"/>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FIRST CASE</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SEPSIS</a:t>
            </a:r>
          </a:p>
        </p:txBody>
      </p:sp>
      <p:sp>
        <p:nvSpPr>
          <p:cNvPr id="14" name="Rectangle 13">
            <a:extLst xmlns:a="http://schemas.openxmlformats.org/drawingml/2006/main">
              <a:ext uri="{FF2B5EF4-FFF2-40B4-BE49-F238E27FC236}">
                <a16:creationId xmlns:a16="http://schemas.microsoft.com/office/drawing/2014/main" id="{F04C1672-6BDD-43C0-9DA7-5B38D6D9634F}"/>
              </a:ext>
            </a:extLst>
          </p:cNvPr>
          <p:cNvSpPr>
            <a:spLocks xmlns:a="http://schemas.openxmlformats.org/drawingml/2006/main" noGrp="1"/>
          </p:cNvSpPr>
          <p:nvPr/>
        </p:nvSpPr>
        <p:spPr>
          <a:xfrm xmlns:a="http://schemas.openxmlformats.org/drawingml/2006/main">
            <a:off x="9048750" y="3543300"/>
            <a:ext cx="1333500" cy="342900"/>
          </a:xfrm>
          <a:prstGeom xmlns:a="http://schemas.openxmlformats.org/drawingml/2006/main" prst="rect">
            <a:avLst/>
          </a:prstGeom>
          <a:solidFill xmlns:a="http://schemas.openxmlformats.org/drawingml/2006/main">
            <a:srgbClr val="C8C0B2"/>
          </a:solidFill>
          <a:ln xmlns:a="http://schemas.openxmlformats.org/drawingml/2006/main" w="9525">
            <a:solidFill>
              <a:srgbClr val="C8C0B2"/>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975" b="0">
                <a:solidFill>
                  <a:srgbClr val="15201B"/>
                </a:solidFill>
                <a:latin typeface="Aptos"/>
                <a:ea typeface="Aptos"/>
                <a:cs typeface="Aptos"/>
              </a:defRPr>
            </a:pPr>
            <a:r>
              <a:rPr sz="975" b="0">
                <a:solidFill>
                  <a:srgbClr val="15201B"/>
                </a:solidFill>
                <a:latin typeface="Aptos"/>
                <a:ea typeface="Aptos"/>
                <a:cs typeface="Aptos"/>
              </a:rPr>
              <a:t>approved summary</a:t>
            </a:r>
          </a:p>
        </p:txBody>
      </p:sp>
      <p:sp>
        <p:nvSpPr>
          <p:cNvPr id="15" name="Rounded Rectangle 14">
            <a:extLst xmlns:a="http://schemas.openxmlformats.org/drawingml/2006/main">
              <a:ext uri="{FF2B5EF4-FFF2-40B4-BE49-F238E27FC236}">
                <a16:creationId xmlns:a16="http://schemas.microsoft.com/office/drawing/2014/main" id="{D13ADD2C-E510-4357-90C6-78A126127BF2}"/>
              </a:ext>
            </a:extLst>
          </p:cNvPr>
          <p:cNvSpPr>
            <a:spLocks xmlns:a="http://schemas.openxmlformats.org/drawingml/2006/main" noGrp="1"/>
          </p:cNvSpPr>
          <p:nvPr/>
        </p:nvSpPr>
        <p:spPr>
          <a:xfrm xmlns:a="http://schemas.openxmlformats.org/drawingml/2006/main">
            <a:off x="8667750" y="4229100"/>
            <a:ext cx="2095500" cy="704850"/>
          </a:xfrm>
          <a:prstGeom xmlns:a="http://schemas.openxmlformats.org/drawingml/2006/main" prst="roundRect">
            <a:avLst>
              <a:gd name="adj" fmla="val 5405"/>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GLOBAL</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COMPARISON</a:t>
            </a:r>
          </a:p>
        </p:txBody>
      </p:sp>
      <p:sp>
        <p:nvSpPr>
          <p:cNvPr id="16" name="Rectangle 15">
            <a:extLst xmlns:a="http://schemas.openxmlformats.org/drawingml/2006/main">
              <a:ext uri="{FF2B5EF4-FFF2-40B4-BE49-F238E27FC236}">
                <a16:creationId xmlns:a16="http://schemas.microsoft.com/office/drawing/2014/main" id="{C39024E7-A8F2-449F-B740-B0F40BDA2C9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02</a:t>
            </a:r>
          </a:p>
        </p:txBody>
      </p:sp>
    </p:spTree>
    <p:extLst>
      <p:ext uri="{BB962C8B-B14F-4D97-AF65-F5344CB8AC3E}">
        <p14:creationId xmlns:p14="http://schemas.microsoft.com/office/powerpoint/2010/main" val="323325713"/>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SEPSIS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Sepsis is a strong first test because delays matter.</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Sepsis is the body's extreme response to infection. It can damage organs quickly, so hospitals need timely and dependable warning support.</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48.9 million cases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WHO summary of a published global estimate.</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11 million deaths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About one in five deaths in that global estimate.</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15 per 1,000</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Estimated hospitalized patients who develop sepsis during care.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Why it is difficult</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Warning signs are spread across patient records, lab results, devices, and hospital routines.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Evidence: WHO Sepsis fact sheet, 3 May 2024</a:t>
            </a:r>
          </a:p>
        </p:txBody>
      </p:sp>
    </p:spTree>
    <p:extLst>
      <p:ext uri="{BB962C8B-B14F-4D97-AF65-F5344CB8AC3E}">
        <p14:creationId xmlns:p14="http://schemas.microsoft.com/office/powerpoint/2010/main" val="1152305953"/>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START WITH SEPSIS?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Start with sepsis; add other conditions one by one.</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Dagents can reuse the coordination platform, but every condition still needs its own tested model, inputs, workflow, and safety evidence.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Time matters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delayed warning can matter, so the system must be fast, reliable, and easy to stop safely.</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Many routine signals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warning may use vital signs, lab results, medicines, and visit information already found in hospitals.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Hospitals differ</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Patient populations, data formats, workflows, and warning limits vary—exactly what local and global agents must handle.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staged testing</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Teams can test past data, then run silently, then try a limited pilot before affecting care.</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Sepsis is the proving case—not the permanent disease boundary / 04</a:t>
            </a:r>
          </a:p>
        </p:txBody>
      </p:sp>
    </p:spTree>
    <p:extLst>
      <p:ext uri="{BB962C8B-B14F-4D97-AF65-F5344CB8AC3E}">
        <p14:creationId xmlns:p14="http://schemas.microsoft.com/office/powerpoint/2010/main" val="1152305953"/>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OTHER CONDITIONS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Sepsis is the first case—not the only one.</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same source-first pattern can support other urgent hospital conditions, with a separately tested model and workflow for each.</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Stroke</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Combine symptoms, vital signs, time information, and the imaging workflow to support fast review.</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Heart attack</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Use symptoms, heart tracing, blood tests, and vital signs to support quick local review.</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Sudden kidney injury</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Watch changes in kidney-related tests, urine output, medicines, and blood pressure over time.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Breathing decline</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Watch oxygen, breathing rate, blood tests, devices, and response to treatment for worsening.</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Same platform; separate data, model, workflow, and safety proof for every condition / 05</a:t>
            </a:r>
          </a:p>
        </p:txBody>
      </p:sp>
    </p:spTree>
    <p:extLst>
      <p:ext uri="{BB962C8B-B14F-4D97-AF65-F5344CB8AC3E}">
        <p14:creationId xmlns:p14="http://schemas.microsoft.com/office/powerpoint/2010/main" val="1152305953"/>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THE CORE PROBLEM</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hard part is coordination—not just prediction.</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 useful warning system must handle different data, different hospital rules, safe updates, and clear evidence of what happened.</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Scattered data</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Values arrive in different formats, units, and times. Dagents checks and standardizes them locally.</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Different hospitals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Patients, workflows, and acceptable warning volume vary. Dagents keeps local settings while comparing approved results.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Repeated platform work</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Without a shared framework, every site rebuilds scheduling, model runs, deployment, monitoring, and rollback.</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Late audit evidence</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Approvals, changes, overrides, and run history are often gathered after the fact. Dagents records them as work happens.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Result: duplicated engineering, slower rollout, uneven behavior, and weak cross-hospital learning / 06</a:t>
            </a:r>
          </a:p>
        </p:txBody>
      </p:sp>
    </p:spTree>
    <p:extLst>
      <p:ext uri="{BB962C8B-B14F-4D97-AF65-F5344CB8AC3E}">
        <p14:creationId xmlns:p14="http://schemas.microsoft.com/office/powerpoint/2010/main" val="11523059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F479A346-CD14-411A-AFB6-6934DCA382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6129DDB-6D69-4CA7-A898-3289B0DC0648}"/>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WHAT THE SYSTEM MUST DO</a:t>
            </a:r>
          </a:p>
        </p:txBody>
      </p:sp>
      <p:sp>
        <p:nvSpPr>
          <p:cNvPr id="3" name="Rectangle 2">
            <a:extLst xmlns:a="http://schemas.openxmlformats.org/drawingml/2006/main">
              <a:ext uri="{FF2B5EF4-FFF2-40B4-BE49-F238E27FC236}">
                <a16:creationId xmlns:a16="http://schemas.microsoft.com/office/drawing/2014/main" id="{E37BB917-2BF2-4DEC-9B37-1BA2E428C27D}"/>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The case needs a source-first system—not a central data copy.</a:t>
            </a:r>
          </a:p>
        </p:txBody>
      </p:sp>
      <p:sp>
        <p:nvSpPr>
          <p:cNvPr id="4" name="Rectangle 3">
            <a:extLst xmlns:a="http://schemas.openxmlformats.org/drawingml/2006/main">
              <a:ext uri="{FF2B5EF4-FFF2-40B4-BE49-F238E27FC236}">
                <a16:creationId xmlns:a16="http://schemas.microsoft.com/office/drawing/2014/main" id="{24704B30-3E55-43AC-B117-A3BC57094B3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Five capabilities turn a model into controlled warning support while detailed records stay with each hospital.</a:t>
            </a:r>
          </a:p>
        </p:txBody>
      </p:sp>
      <p:sp>
        <p:nvSpPr>
          <p:cNvPr id="5" name="Rounded Rectangle 4">
            <a:extLst xmlns:a="http://schemas.openxmlformats.org/drawingml/2006/main">
              <a:ext uri="{FF2B5EF4-FFF2-40B4-BE49-F238E27FC236}">
                <a16:creationId xmlns:a16="http://schemas.microsoft.com/office/drawing/2014/main" id="{A13081A4-6899-453F-BDDB-D3AF6CA62CF7}"/>
              </a:ext>
            </a:extLst>
          </p:cNvPr>
          <p:cNvSpPr>
            <a:spLocks xmlns:a="http://schemas.openxmlformats.org/drawingml/2006/main" noGrp="1"/>
          </p:cNvSpPr>
          <p:nvPr/>
        </p:nvSpPr>
        <p:spPr>
          <a:xfrm xmlns:a="http://schemas.openxmlformats.org/drawingml/2006/main">
            <a:off x="666750" y="2381249"/>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6" name="Rounded Rectangle 5">
            <a:extLst xmlns:a="http://schemas.openxmlformats.org/drawingml/2006/main">
              <a:ext uri="{FF2B5EF4-FFF2-40B4-BE49-F238E27FC236}">
                <a16:creationId xmlns:a16="http://schemas.microsoft.com/office/drawing/2014/main" id="{E3E67488-16FF-4721-B16B-EED624647858}"/>
              </a:ext>
            </a:extLst>
          </p:cNvPr>
          <p:cNvSpPr>
            <a:spLocks xmlns:a="http://schemas.openxmlformats.org/drawingml/2006/main" noGrp="1"/>
          </p:cNvSpPr>
          <p:nvPr/>
        </p:nvSpPr>
        <p:spPr>
          <a:xfrm xmlns:a="http://schemas.openxmlformats.org/drawingml/2006/main">
            <a:off x="666750" y="2381250"/>
            <a:ext cx="20764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Connect beside the source</a:t>
            </a:r>
          </a:p>
        </p:txBody>
      </p:sp>
      <p:sp>
        <p:nvSpPr>
          <p:cNvPr id="7" name="Rectangle 6">
            <a:extLst xmlns:a="http://schemas.openxmlformats.org/drawingml/2006/main">
              <a:ext uri="{FF2B5EF4-FFF2-40B4-BE49-F238E27FC236}">
                <a16:creationId xmlns:a16="http://schemas.microsoft.com/office/drawing/2014/main" id="{3FFA21E9-90FD-423B-94CD-5AE2604AE6C4}"/>
              </a:ext>
            </a:extLst>
          </p:cNvPr>
          <p:cNvSpPr>
            <a:spLocks xmlns:a="http://schemas.openxmlformats.org/drawingml/2006/main" noGrp="1"/>
          </p:cNvSpPr>
          <p:nvPr/>
        </p:nvSpPr>
        <p:spPr>
          <a:xfrm xmlns:a="http://schemas.openxmlformats.org/drawingml/2006/main">
            <a:off x="8191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Read approved hospital data where it already lives, standardize units, check missing or old values, and record where each value came from.</a:t>
            </a:r>
          </a:p>
        </p:txBody>
      </p:sp>
      <p:sp>
        <p:nvSpPr>
          <p:cNvPr id="8" name="Rounded Rectangle 7">
            <a:extLst xmlns:a="http://schemas.openxmlformats.org/drawingml/2006/main">
              <a:ext uri="{FF2B5EF4-FFF2-40B4-BE49-F238E27FC236}">
                <a16:creationId xmlns:a16="http://schemas.microsoft.com/office/drawing/2014/main" id="{BAEBE119-5A68-4F66-9ECE-171920DB925C}"/>
              </a:ext>
            </a:extLst>
          </p:cNvPr>
          <p:cNvSpPr>
            <a:spLocks xmlns:a="http://schemas.openxmlformats.org/drawingml/2006/main" noGrp="1"/>
          </p:cNvSpPr>
          <p:nvPr/>
        </p:nvSpPr>
        <p:spPr>
          <a:xfrm xmlns:a="http://schemas.openxmlformats.org/drawingml/2006/main">
            <a:off x="2971800" y="2381250"/>
            <a:ext cx="20764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9" name="Rounded Rectangle 8">
            <a:extLst xmlns:a="http://schemas.openxmlformats.org/drawingml/2006/main">
              <a:ext uri="{FF2B5EF4-FFF2-40B4-BE49-F238E27FC236}">
                <a16:creationId xmlns:a16="http://schemas.microsoft.com/office/drawing/2014/main" id="{D92C0DF7-A365-4208-97B7-95B9C2846808}"/>
              </a:ext>
            </a:extLst>
          </p:cNvPr>
          <p:cNvSpPr>
            <a:spLocks xmlns:a="http://schemas.openxmlformats.org/drawingml/2006/main" noGrp="1"/>
          </p:cNvSpPr>
          <p:nvPr/>
        </p:nvSpPr>
        <p:spPr>
          <a:xfrm xmlns:a="http://schemas.openxmlformats.org/drawingml/2006/main">
            <a:off x="2971800" y="2381250"/>
            <a:ext cx="20764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Accumulate + run locally</a:t>
            </a:r>
          </a:p>
        </p:txBody>
      </p:sp>
      <p:sp>
        <p:nvSpPr>
          <p:cNvPr id="10" name="Rectangle 9">
            <a:extLst xmlns:a="http://schemas.openxmlformats.org/drawingml/2006/main">
              <a:ext uri="{FF2B5EF4-FFF2-40B4-BE49-F238E27FC236}">
                <a16:creationId xmlns:a16="http://schemas.microsoft.com/office/drawing/2014/main" id="{D366C7E8-D30E-4F8F-A2A3-A470D4067A7E}"/>
              </a:ext>
            </a:extLst>
          </p:cNvPr>
          <p:cNvSpPr>
            <a:spLocks xmlns:a="http://schemas.openxmlformats.org/drawingml/2006/main" noGrp="1"/>
          </p:cNvSpPr>
          <p:nvPr/>
        </p:nvSpPr>
        <p:spPr>
          <a:xfrm xmlns:a="http://schemas.openxmlformats.org/drawingml/2006/main">
            <a:off x="312420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The local agent keeps source-side history, calculates risk inside the hospital, blocks unsafe runs, and records checks, versions, warnings, and outcomes.</a:t>
            </a:r>
          </a:p>
        </p:txBody>
      </p:sp>
      <p:sp>
        <p:nvSpPr>
          <p:cNvPr id="11" name="Rounded Rectangle 10">
            <a:extLst xmlns:a="http://schemas.openxmlformats.org/drawingml/2006/main">
              <a:ext uri="{FF2B5EF4-FFF2-40B4-BE49-F238E27FC236}">
                <a16:creationId xmlns:a16="http://schemas.microsoft.com/office/drawing/2014/main" id="{E52E24A4-0141-4B37-8928-691636878792}"/>
              </a:ext>
            </a:extLst>
          </p:cNvPr>
          <p:cNvSpPr>
            <a:spLocks xmlns:a="http://schemas.openxmlformats.org/drawingml/2006/main" noGrp="1"/>
          </p:cNvSpPr>
          <p:nvPr/>
        </p:nvSpPr>
        <p:spPr>
          <a:xfrm xmlns:a="http://schemas.openxmlformats.org/drawingml/2006/main">
            <a:off x="5276850" y="2381248"/>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2" name="Rounded Rectangle 11">
            <a:extLst xmlns:a="http://schemas.openxmlformats.org/drawingml/2006/main">
              <a:ext uri="{FF2B5EF4-FFF2-40B4-BE49-F238E27FC236}">
                <a16:creationId xmlns:a16="http://schemas.microsoft.com/office/drawing/2014/main" id="{D7327AB3-C9C1-4F2A-A6D0-10D7A4A645FF}"/>
              </a:ext>
            </a:extLst>
          </p:cNvPr>
          <p:cNvSpPr>
            <a:spLocks xmlns:a="http://schemas.openxmlformats.org/drawingml/2006/main" noGrp="1"/>
          </p:cNvSpPr>
          <p:nvPr/>
        </p:nvSpPr>
        <p:spPr>
          <a:xfrm xmlns:a="http://schemas.openxmlformats.org/drawingml/2006/main">
            <a:off x="5276850" y="2381250"/>
            <a:ext cx="2076450" cy="361950"/>
          </a:xfrm>
          <a:prstGeom xmlns:a="http://schemas.openxmlformats.org/drawingml/2006/main" prst="roundRect">
            <a:avLst>
              <a:gd name="adj" fmla="val 10526"/>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Help the clinician</a:t>
            </a:r>
          </a:p>
        </p:txBody>
      </p:sp>
      <p:sp>
        <p:nvSpPr>
          <p:cNvPr id="13" name="Rectangle 12">
            <a:extLst xmlns:a="http://schemas.openxmlformats.org/drawingml/2006/main">
              <a:ext uri="{FF2B5EF4-FFF2-40B4-BE49-F238E27FC236}">
                <a16:creationId xmlns:a16="http://schemas.microsoft.com/office/drawing/2014/main" id="{02D56E01-AE91-43A1-8163-B51B0EF3698D}"/>
              </a:ext>
            </a:extLst>
          </p:cNvPr>
          <p:cNvSpPr>
            <a:spLocks xmlns:a="http://schemas.openxmlformats.org/drawingml/2006/main" noGrp="1"/>
          </p:cNvSpPr>
          <p:nvPr/>
        </p:nvSpPr>
        <p:spPr>
          <a:xfrm xmlns:a="http://schemas.openxmlformats.org/drawingml/2006/main">
            <a:off x="54292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Show why the warning appeared, how certain it is, and known limits. Record the clinician's response.</a:t>
            </a:r>
          </a:p>
        </p:txBody>
      </p:sp>
      <p:sp>
        <p:nvSpPr>
          <p:cNvPr id="14" name="Rounded Rectangle 13">
            <a:extLst xmlns:a="http://schemas.openxmlformats.org/drawingml/2006/main">
              <a:ext uri="{FF2B5EF4-FFF2-40B4-BE49-F238E27FC236}">
                <a16:creationId xmlns:a16="http://schemas.microsoft.com/office/drawing/2014/main" id="{DF730831-E735-4AF3-8B89-EC1D8BA5E7F2}"/>
              </a:ext>
            </a:extLst>
          </p:cNvPr>
          <p:cNvSpPr>
            <a:spLocks xmlns:a="http://schemas.openxmlformats.org/drawingml/2006/main" noGrp="1"/>
          </p:cNvSpPr>
          <p:nvPr/>
        </p:nvSpPr>
        <p:spPr>
          <a:xfrm xmlns:a="http://schemas.openxmlformats.org/drawingml/2006/main">
            <a:off x="7581900" y="2381250"/>
            <a:ext cx="17716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5" name="Rounded Rectangle 14">
            <a:extLst xmlns:a="http://schemas.openxmlformats.org/drawingml/2006/main">
              <a:ext uri="{FF2B5EF4-FFF2-40B4-BE49-F238E27FC236}">
                <a16:creationId xmlns:a16="http://schemas.microsoft.com/office/drawing/2014/main" id="{B84B2B6C-E9FC-4DAE-AEEF-1C30741DD9A8}"/>
              </a:ext>
            </a:extLst>
          </p:cNvPr>
          <p:cNvSpPr>
            <a:spLocks xmlns:a="http://schemas.openxmlformats.org/drawingml/2006/main" noGrp="1"/>
          </p:cNvSpPr>
          <p:nvPr/>
        </p:nvSpPr>
        <p:spPr>
          <a:xfrm xmlns:a="http://schemas.openxmlformats.org/drawingml/2006/main">
            <a:off x="7581900" y="2381250"/>
            <a:ext cx="17716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Coordinate with small summaries</a:t>
            </a:r>
          </a:p>
        </p:txBody>
      </p:sp>
      <p:sp>
        <p:nvSpPr>
          <p:cNvPr id="16" name="Rectangle 15">
            <a:extLst xmlns:a="http://schemas.openxmlformats.org/drawingml/2006/main">
              <a:ext uri="{FF2B5EF4-FFF2-40B4-BE49-F238E27FC236}">
                <a16:creationId xmlns:a16="http://schemas.microsoft.com/office/drawing/2014/main" id="{F3AE6955-92C1-481D-8741-E1B4ACD11D07}"/>
              </a:ext>
            </a:extLst>
          </p:cNvPr>
          <p:cNvSpPr>
            <a:spLocks xmlns:a="http://schemas.openxmlformats.org/drawingml/2006/main" noGrp="1"/>
          </p:cNvSpPr>
          <p:nvPr/>
        </p:nvSpPr>
        <p:spPr>
          <a:xfrm xmlns:a="http://schemas.openxmlformats.org/drawingml/2006/main">
            <a:off x="773430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Approved counts, summaries, versions, and pointers leave—not raw patient rows.</a:t>
            </a:r>
          </a:p>
        </p:txBody>
      </p:sp>
      <p:sp>
        <p:nvSpPr>
          <p:cNvPr id="17" name="Rounded Rectangle 16">
            <a:extLst xmlns:a="http://schemas.openxmlformats.org/drawingml/2006/main">
              <a:ext uri="{FF2B5EF4-FFF2-40B4-BE49-F238E27FC236}">
                <a16:creationId xmlns:a16="http://schemas.microsoft.com/office/drawing/2014/main" id="{A7DFFB37-32AB-426D-936F-2F09D6103545}"/>
              </a:ext>
            </a:extLst>
          </p:cNvPr>
          <p:cNvSpPr>
            <a:spLocks xmlns:a="http://schemas.openxmlformats.org/drawingml/2006/main" noGrp="1"/>
          </p:cNvSpPr>
          <p:nvPr/>
        </p:nvSpPr>
        <p:spPr>
          <a:xfrm xmlns:a="http://schemas.openxmlformats.org/drawingml/2006/main">
            <a:off x="9582150" y="2381249"/>
            <a:ext cx="1771650" cy="1685923"/>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8" name="Rounded Rectangle 17">
            <a:extLst xmlns:a="http://schemas.openxmlformats.org/drawingml/2006/main">
              <a:ext uri="{FF2B5EF4-FFF2-40B4-BE49-F238E27FC236}">
                <a16:creationId xmlns:a16="http://schemas.microsoft.com/office/drawing/2014/main" id="{07216B4A-3BF2-4504-852C-8A99711EC0E0}"/>
              </a:ext>
            </a:extLst>
          </p:cNvPr>
          <p:cNvSpPr>
            <a:spLocks xmlns:a="http://schemas.openxmlformats.org/drawingml/2006/main" noGrp="1"/>
          </p:cNvSpPr>
          <p:nvPr/>
        </p:nvSpPr>
        <p:spPr>
          <a:xfrm xmlns:a="http://schemas.openxmlformats.org/drawingml/2006/main">
            <a:off x="9582150" y="2381250"/>
            <a:ext cx="17716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Update safely</a:t>
            </a:r>
          </a:p>
        </p:txBody>
      </p:sp>
      <p:sp>
        <p:nvSpPr>
          <p:cNvPr id="19" name="Rectangle 18">
            <a:extLst xmlns:a="http://schemas.openxmlformats.org/drawingml/2006/main">
              <a:ext uri="{FF2B5EF4-FFF2-40B4-BE49-F238E27FC236}">
                <a16:creationId xmlns:a16="http://schemas.microsoft.com/office/drawing/2014/main" id="{155BB77E-A396-45E8-81E6-0554EE3EAA7C}"/>
              </a:ext>
            </a:extLst>
          </p:cNvPr>
          <p:cNvSpPr>
            <a:spLocks xmlns:a="http://schemas.openxmlformats.org/drawingml/2006/main" noGrp="1"/>
          </p:cNvSpPr>
          <p:nvPr/>
        </p:nvSpPr>
        <p:spPr>
          <a:xfrm xmlns:a="http://schemas.openxmlformats.org/drawingml/2006/main">
            <a:off x="973455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Track versions, test small rollouts, monitor results, and return to an older version if needed.</a:t>
            </a:r>
          </a:p>
        </p:txBody>
      </p:sp>
      <p:sp>
        <p:nvSpPr>
          <p:cNvPr id="20" name="Rectangle 19">
            <a:extLst xmlns:a="http://schemas.openxmlformats.org/drawingml/2006/main">
              <a:ext uri="{FF2B5EF4-FFF2-40B4-BE49-F238E27FC236}">
                <a16:creationId xmlns:a16="http://schemas.microsoft.com/office/drawing/2014/main" id="{7E02936F-D2E1-4B65-BA8E-7DDEA9BF7168}"/>
              </a:ext>
            </a:extLst>
          </p:cNvPr>
          <p:cNvSpPr>
            <a:spLocks xmlns:a="http://schemas.openxmlformats.org/drawingml/2006/main" noGrp="1"/>
          </p:cNvSpPr>
          <p:nvPr/>
        </p:nvSpPr>
        <p:spPr>
          <a:xfrm xmlns:a="http://schemas.openxmlformats.org/drawingml/2006/main">
            <a:off x="1257300" y="4524375"/>
            <a:ext cx="9620250" cy="742950"/>
          </a:xfrm>
          <a:prstGeom xmlns:a="http://schemas.openxmlformats.org/drawingml/2006/main" prst="rect">
            <a:avLst/>
          </a:prstGeom>
          <a:solidFill xmlns:a="http://schemas.openxmlformats.org/drawingml/2006/main">
            <a:srgbClr val="ECE6D9"/>
          </a:solidFill>
          <a:ln xmlns:a="http://schemas.openxmlformats.org/drawingml/2006/main" w="9525">
            <a:solidFill>
              <a:srgbClr val="D5CDBF"/>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0">
                <a:solidFill>
                  <a:srgbClr val="15201B"/>
                </a:solidFill>
                <a:latin typeface="Aptos"/>
                <a:ea typeface="Aptos"/>
                <a:cs typeface="Aptos"/>
              </a:defRPr>
            </a:pPr>
            <a:r>
              <a:rPr sz="1650" b="0">
                <a:solidFill>
                  <a:srgbClr val="15201B"/>
                </a:solidFill>
                <a:latin typeface="Aptos"/>
                <a:ea typeface="Aptos"/>
                <a:cs typeface="Aptos"/>
              </a:rPr>
              <a:t>Controls across every step: minimum data movement, security, privacy, change history, local retention, and clear human ownership.</a:t>
            </a:r>
          </a:p>
        </p:txBody>
      </p:sp>
      <p:sp>
        <p:nvSpPr>
          <p:cNvPr id="21" name="Rectangle 20">
            <a:extLst xmlns:a="http://schemas.openxmlformats.org/drawingml/2006/main">
              <a:ext uri="{FF2B5EF4-FFF2-40B4-BE49-F238E27FC236}">
                <a16:creationId xmlns:a16="http://schemas.microsoft.com/office/drawing/2014/main" id="{ED41F84D-20B4-45ED-993A-A1BBBB1ECECB}"/>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07</a:t>
            </a:r>
          </a:p>
        </p:txBody>
      </p:sp>
    </p:spTree>
    <p:extLst>
      <p:ext uri="{BB962C8B-B14F-4D97-AF65-F5344CB8AC3E}">
        <p14:creationId xmlns:p14="http://schemas.microsoft.com/office/powerpoint/2010/main" val="157911841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D55E98F-5E53-45A3-B710-C479446F57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66EC36A-0FD9-442A-B7A1-A8DE348F130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CURRENT STATE</a:t>
            </a:r>
          </a:p>
        </p:txBody>
      </p:sp>
      <p:sp>
        <p:nvSpPr>
          <p:cNvPr id="3" name="Rectangle 2">
            <a:extLst xmlns:a="http://schemas.openxmlformats.org/drawingml/2006/main">
              <a:ext uri="{FF2B5EF4-FFF2-40B4-BE49-F238E27FC236}">
                <a16:creationId xmlns:a16="http://schemas.microsoft.com/office/drawing/2014/main" id="{5BBD3491-C736-49FA-8A7C-16BB18027A76}"/>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Separate hospital systems make learning difficult.</a:t>
            </a:r>
          </a:p>
        </p:txBody>
      </p:sp>
      <p:sp>
        <p:nvSpPr>
          <p:cNvPr id="4" name="Rectangle 3">
            <a:extLst xmlns:a="http://schemas.openxmlformats.org/drawingml/2006/main">
              <a:ext uri="{FF2B5EF4-FFF2-40B4-BE49-F238E27FC236}">
                <a16:creationId xmlns:a16="http://schemas.microsoft.com/office/drawing/2014/main" id="{05D92106-81F4-40BC-9FDA-053D81E4CB48}"/>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A common response is to copy everything into one warehouse or lake—but that adds delay, repeated data movement, and another sensitive copy.</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e83af4ba7a0d467b"/>
          <a:stretch xmlns:a="http://schemas.openxmlformats.org/drawingml/2006/main"/>
        </p:blipFill>
        <p:spPr>
          <a:xfrm xmlns:a="http://schemas.openxmlformats.org/drawingml/2006/main">
            <a:off x="742950" y="2897757"/>
            <a:ext cx="10668000" cy="2319787"/>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DBC064B4-2A25-420C-912E-01DBA415A96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08</a:t>
            </a:r>
          </a:p>
        </p:txBody>
      </p:sp>
    </p:spTree>
    <p:extLst>
      <p:ext uri="{BB962C8B-B14F-4D97-AF65-F5344CB8AC3E}">
        <p14:creationId xmlns:p14="http://schemas.microsoft.com/office/powerpoint/2010/main" val="1796313388"/>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48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NOT A CENTRAL DATA LAKE?</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Centralizing raw records adds delay, volume, and risk.</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For time-sensitive hospital warnings, moving everything first is unnecessary.</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Slower response</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Extract, transfer, clean, and load must finish before central analysis. New data and model feedback arrive later.</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Large recurring transfers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Detailed records move repeatedly, use network capacity, and require expensive ingestion pipelines.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More copies, larger exposure</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central copy adds access, breach, retention, and deletion risk across hospitals.</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Constant integration work</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Every source or schema change forces updates to central ingestion and normalization.</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Dagents: accumulate and compute at source; exchange only small approved coordination data / 09</a:t>
            </a:r>
          </a:p>
        </p:txBody>
      </p:sp>
    </p:spTree>
    <p:extLst>
      <p:ext uri="{BB962C8B-B14F-4D97-AF65-F5344CB8AC3E}">
        <p14:creationId xmlns:p14="http://schemas.microsoft.com/office/powerpoint/2010/main" val="115230595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0E53F3A-15C4-4E87-B1FC-FD206D4F9D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AB784829-7899-4AD9-909A-707E198CB695}"/>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SOURCE-FIRST DESIGN</a:t>
            </a:r>
          </a:p>
        </p:txBody>
      </p:sp>
      <p:sp>
        <p:nvSpPr>
          <p:cNvPr id="3" name="Rectangle 2">
            <a:extLst xmlns:a="http://schemas.openxmlformats.org/drawingml/2006/main">
              <a:ext uri="{FF2B5EF4-FFF2-40B4-BE49-F238E27FC236}">
                <a16:creationId xmlns:a16="http://schemas.microsoft.com/office/drawing/2014/main" id="{EEA7AFF5-32B7-4744-9598-EC73A05D289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Dagents keeps data and computation at the source.</a:t>
            </a:r>
          </a:p>
        </p:txBody>
      </p:sp>
      <p:sp>
        <p:nvSpPr>
          <p:cNvPr id="4" name="Rectangle 3">
            <a:extLst xmlns:a="http://schemas.openxmlformats.org/drawingml/2006/main">
              <a:ext uri="{FF2B5EF4-FFF2-40B4-BE49-F238E27FC236}">
                <a16:creationId xmlns:a16="http://schemas.microsoft.com/office/drawing/2014/main" id="{270B3257-4C1E-4555-8FD9-857EDB8DB616}"/>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Hospitals keep detailed records and run history; the global agent receives only small approved coordination data.</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a324a48a400e47d9"/>
          <a:stretch xmlns:a="http://schemas.openxmlformats.org/drawingml/2006/main"/>
        </p:blipFill>
        <p:spPr>
          <a:xfrm xmlns:a="http://schemas.openxmlformats.org/drawingml/2006/main">
            <a:off x="571500" y="1936730"/>
            <a:ext cx="11049000" cy="3413164"/>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AF9A9093-40E4-42D4-AA15-CBE19544F380}"/>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10</a:t>
            </a:r>
          </a:p>
        </p:txBody>
      </p:sp>
    </p:spTree>
    <p:extLst>
      <p:ext uri="{BB962C8B-B14F-4D97-AF65-F5344CB8AC3E}">
        <p14:creationId xmlns:p14="http://schemas.microsoft.com/office/powerpoint/2010/main" val="738132797"/>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LOCAL AGENT (LMA)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local agent builds the useful history at the source.</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connects to local systems, runs beside them, and keeps checks, versions, warnings, responses, and outcomes under hospital rules.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READ LOCALLY</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Read approved patient-record data and device readings inside the hospital—without first copying them to a central store.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 + RECORD</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format, units, age, allowed use, and missing values; keep source-side run history.</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CALCULATE LOCALLY</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Run the approved model beside the source; return a risk score, main reasons, and model version.</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SHOW</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Show the warning to a clinician and record the response and outcome.</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Only approved counts, performance summaries, exceptions, versions, and pointers may leave; raw patient rows do not.</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Source-local execution / 11</a:t>
            </a:r>
          </a:p>
        </p:txBody>
      </p:sp>
    </p:spTree>
    <p:extLst>
      <p:ext uri="{BB962C8B-B14F-4D97-AF65-F5344CB8AC3E}">
        <p14:creationId xmlns:p14="http://schemas.microsoft.com/office/powerpoint/2010/main" val="1530383934"/>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GLOBAL AGENT (GMA)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Global coordination uses small summaries.</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No central patient-data lake is required.</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Track each hospital, local agent, version, capability, and sharing rule.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COLLECT MINIMUM</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Receive counts, quality and performance measures, run summaries, exceptions, versions, and pointers—not raw patient rows.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COMPARE SUMMARIES</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Compare warning quality, changes over time, workload, and reliability using the approved small payload.</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PLAN + 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Choose settings for each hospital, test with a small rollout, monitor, pause, or return to an older version.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The global agent coordinates learning and updates; it is not a patient-record warehouse and does not make care decisions.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Minimal-data coordination / 12</a:t>
            </a:r>
          </a:p>
        </p:txBody>
      </p:sp>
    </p:spTree>
    <p:extLst>
      <p:ext uri="{BB962C8B-B14F-4D97-AF65-F5344CB8AC3E}">
        <p14:creationId xmlns:p14="http://schemas.microsoft.com/office/powerpoint/2010/main" val="1530383934"/>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ONE RUN</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One patient warning becomes a safe learning signal.</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Every run follows the same simple path, while the final care decision remains human.</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DATA ARRIVES</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New vital signs, lab results, medicines, and visit information reach the local agent.</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local agent checks permission and data quality, then runs the approved model.</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REVIEW</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clinician sees the warning and its main reasons, then decides whether to act.</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SHARE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small approved summary is shared so hospitals can learn from each other without moving the patient record.</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If a check fails, no warning is shown; the reason stays in local history and only a small operational exception is shared.</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Source-first run sequence / 13</a:t>
            </a:r>
          </a:p>
        </p:txBody>
      </p:sp>
    </p:spTree>
    <p:extLst>
      <p:ext uri="{BB962C8B-B14F-4D97-AF65-F5344CB8AC3E}">
        <p14:creationId xmlns:p14="http://schemas.microsoft.com/office/powerpoint/2010/main" val="1530383934"/>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COORDINATION LAYER</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coordinates while patient data stays local.</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registers agents, checks local summaries, runs models at the source, and sends versioned update plans.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Record each hospital and local agent, what it can do, and which version it should run.</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Compare small local summaries without copying patient records.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RUN</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a clear model request to the local agent; patient-level execution stays inside the hospital.</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versioned plans, watch health, and return to a safe version—using small control messages.</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Still needed for production: durable storage, reliable messaging, signed updates, and tamper-resistant logs.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Source-first coordination / 14</a:t>
            </a:r>
          </a:p>
        </p:txBody>
      </p:sp>
    </p:spTree>
    <p:extLst>
      <p:ext uri="{BB962C8B-B14F-4D97-AF65-F5344CB8AC3E}">
        <p14:creationId xmlns:p14="http://schemas.microsoft.com/office/powerpoint/2010/main" val="1530383934"/>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CD648CF-CF55-43A3-BA43-EB8791CF677F}"/>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COMPLIANCE</a:t>
            </a:r>
          </a:p>
        </p:txBody>
      </p:sp>
      <p:sp>
        <p:nvSpPr>
          <p:cNvPr id="3" name="TextBox 2">
            <a:extLst xmlns:a="http://schemas.openxmlformats.org/drawingml/2006/main">
              <a:ext uri="{FF2B5EF4-FFF2-40B4-BE49-F238E27FC236}">
                <a16:creationId xmlns:a16="http://schemas.microsoft.com/office/drawing/2014/main" id="{4DCB496F-1310-475C-A519-C8BA8F24DD53}"/>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Compliance needs more than architecture.</a:t>
            </a:r>
          </a:p>
        </p:txBody>
      </p:sp>
      <p:sp>
        <p:nvSpPr>
          <p:cNvPr id="4" name="TextBox 3">
            <a:extLst xmlns:a="http://schemas.openxmlformats.org/drawingml/2006/main">
              <a:ext uri="{FF2B5EF4-FFF2-40B4-BE49-F238E27FC236}">
                <a16:creationId xmlns:a16="http://schemas.microsoft.com/office/drawing/2014/main" id="{D95AC7B1-6DBE-4302-9E28-BB63F1715338}"/>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framework can enforce repeatable technical checks. Hospitals still own policies, staff training, security operations, privacy decisions, and clinical safety.</a:t>
            </a:r>
          </a:p>
        </p:txBody>
      </p:sp>
      <p:sp>
        <p:nvSpPr>
          <p:cNvPr id="5" name="Rounded Rectangle 4">
            <a:extLst xmlns:a="http://schemas.openxmlformats.org/drawingml/2006/main">
              <a:ext uri="{FF2B5EF4-FFF2-40B4-BE49-F238E27FC236}">
                <a16:creationId xmlns:a16="http://schemas.microsoft.com/office/drawing/2014/main" id="{7F423318-1869-493B-A37C-9D8807C2FB93}"/>
              </a:ext>
            </a:extLst>
          </p:cNvPr>
          <p:cNvSpPr>
            <a:spLocks xmlns:a="http://schemas.openxmlformats.org/drawingml/2006/main" noGrp="1"/>
          </p:cNvSpPr>
          <p:nvPr/>
        </p:nvSpPr>
        <p:spPr>
          <a:xfrm xmlns:a="http://schemas.openxmlformats.org/drawingml/2006/main">
            <a:off x="731520" y="1691640"/>
            <a:ext cx="3291840" cy="20574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A090CC2-FE5E-4144-BAB1-0D654DEF05B0}"/>
              </a:ext>
            </a:extLst>
          </p:cNvPr>
          <p:cNvSpPr>
            <a:spLocks xmlns:a="http://schemas.openxmlformats.org/drawingml/2006/main" noGrp="1"/>
          </p:cNvSpPr>
          <p:nvPr/>
        </p:nvSpPr>
        <p:spPr>
          <a:xfrm xmlns:a="http://schemas.openxmlformats.org/drawingml/2006/main">
            <a:off x="89611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HIPAA</a:t>
            </a:r>
          </a:p>
        </p:txBody>
      </p:sp>
      <p:sp>
        <p:nvSpPr>
          <p:cNvPr id="7" name="TextBox 6">
            <a:extLst xmlns:a="http://schemas.openxmlformats.org/drawingml/2006/main">
              <a:ext uri="{FF2B5EF4-FFF2-40B4-BE49-F238E27FC236}">
                <a16:creationId xmlns:a16="http://schemas.microsoft.com/office/drawing/2014/main" id="{172B981C-D1C5-43B3-ACBD-9791320C0E2A}"/>
              </a:ext>
            </a:extLst>
          </p:cNvPr>
          <p:cNvSpPr>
            <a:spLocks xmlns:a="http://schemas.openxmlformats.org/drawingml/2006/main" noGrp="1"/>
          </p:cNvSpPr>
          <p:nvPr/>
        </p:nvSpPr>
        <p:spPr>
          <a:xfrm xmlns:a="http://schemas.openxmlformats.org/drawingml/2006/main">
            <a:off x="89611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U.S. rules for protecting patient health information. Dagents can keep identifying data and most evidence at the source, minimize transfers, and record runs. Hospitals still need access controls, encryption, retention rules, risk reviews, and incident response.</a:t>
            </a:r>
          </a:p>
        </p:txBody>
      </p:sp>
      <p:sp>
        <p:nvSpPr>
          <p:cNvPr id="8" name="Rounded Rectangle 7">
            <a:extLst xmlns:a="http://schemas.openxmlformats.org/drawingml/2006/main">
              <a:ext uri="{FF2B5EF4-FFF2-40B4-BE49-F238E27FC236}">
                <a16:creationId xmlns:a16="http://schemas.microsoft.com/office/drawing/2014/main" id="{78914DE6-27C2-4D94-B667-557896AC0B67}"/>
              </a:ext>
            </a:extLst>
          </p:cNvPr>
          <p:cNvSpPr>
            <a:spLocks xmlns:a="http://schemas.openxmlformats.org/drawingml/2006/main" noGrp="1"/>
          </p:cNvSpPr>
          <p:nvPr/>
        </p:nvSpPr>
        <p:spPr>
          <a:xfrm xmlns:a="http://schemas.openxmlformats.org/drawingml/2006/main">
            <a:off x="4434840" y="1691640"/>
            <a:ext cx="3291840" cy="20574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FCB7709-14E5-4061-8DC5-0E6C77010337}"/>
              </a:ext>
            </a:extLst>
          </p:cNvPr>
          <p:cNvSpPr>
            <a:spLocks xmlns:a="http://schemas.openxmlformats.org/drawingml/2006/main" noGrp="1"/>
          </p:cNvSpPr>
          <p:nvPr/>
        </p:nvSpPr>
        <p:spPr>
          <a:xfrm xmlns:a="http://schemas.openxmlformats.org/drawingml/2006/main">
            <a:off x="4599431"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SOC 2</a:t>
            </a:r>
          </a:p>
        </p:txBody>
      </p:sp>
      <p:sp>
        <p:nvSpPr>
          <p:cNvPr id="10" name="TextBox 9">
            <a:extLst xmlns:a="http://schemas.openxmlformats.org/drawingml/2006/main">
              <a:ext uri="{FF2B5EF4-FFF2-40B4-BE49-F238E27FC236}">
                <a16:creationId xmlns:a16="http://schemas.microsoft.com/office/drawing/2014/main" id="{78CE9E10-F8E5-4106-95F5-F683B86639AB}"/>
              </a:ext>
            </a:extLst>
          </p:cNvPr>
          <p:cNvSpPr>
            <a:spLocks xmlns:a="http://schemas.openxmlformats.org/drawingml/2006/main" noGrp="1"/>
          </p:cNvSpPr>
          <p:nvPr/>
        </p:nvSpPr>
        <p:spPr>
          <a:xfrm xmlns:a="http://schemas.openxmlformats.org/drawingml/2006/main">
            <a:off x="4599431"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An independent review of service security and reliability controls. Dagents can provide health checks and change records. The organization still needs control owners, access reviews, vendor checks, incident evidence, and an auditor.</a:t>
            </a:r>
          </a:p>
        </p:txBody>
      </p:sp>
      <p:sp>
        <p:nvSpPr>
          <p:cNvPr id="11" name="Rounded Rectangle 10">
            <a:extLst xmlns:a="http://schemas.openxmlformats.org/drawingml/2006/main">
              <a:ext uri="{FF2B5EF4-FFF2-40B4-BE49-F238E27FC236}">
                <a16:creationId xmlns:a16="http://schemas.microsoft.com/office/drawing/2014/main" id="{46B04290-7355-4C3D-A11F-9C147701D543}"/>
              </a:ext>
            </a:extLst>
          </p:cNvPr>
          <p:cNvSpPr>
            <a:spLocks xmlns:a="http://schemas.openxmlformats.org/drawingml/2006/main" noGrp="1"/>
          </p:cNvSpPr>
          <p:nvPr/>
        </p:nvSpPr>
        <p:spPr>
          <a:xfrm xmlns:a="http://schemas.openxmlformats.org/drawingml/2006/main">
            <a:off x="8138160" y="1691640"/>
            <a:ext cx="3291840" cy="20574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E90F19C-CA8E-4655-950F-AAC22240870F}"/>
              </a:ext>
            </a:extLst>
          </p:cNvPr>
          <p:cNvSpPr>
            <a:spLocks xmlns:a="http://schemas.openxmlformats.org/drawingml/2006/main" noGrp="1"/>
          </p:cNvSpPr>
          <p:nvPr/>
        </p:nvSpPr>
        <p:spPr>
          <a:xfrm xmlns:a="http://schemas.openxmlformats.org/drawingml/2006/main">
            <a:off x="830275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CLINICAL AI SAFETY</a:t>
            </a:r>
          </a:p>
        </p:txBody>
      </p:sp>
      <p:sp>
        <p:nvSpPr>
          <p:cNvPr id="13" name="TextBox 12">
            <a:extLst xmlns:a="http://schemas.openxmlformats.org/drawingml/2006/main">
              <a:ext uri="{FF2B5EF4-FFF2-40B4-BE49-F238E27FC236}">
                <a16:creationId xmlns:a16="http://schemas.microsoft.com/office/drawing/2014/main" id="{9E4295D3-D8DF-4565-A41A-39801B37A06F}"/>
              </a:ext>
            </a:extLst>
          </p:cNvPr>
          <p:cNvSpPr>
            <a:spLocks xmlns:a="http://schemas.openxmlformats.org/drawingml/2006/main" noGrp="1"/>
          </p:cNvSpPr>
          <p:nvPr/>
        </p:nvSpPr>
        <p:spPr>
          <a:xfrm xmlns:a="http://schemas.openxmlformats.org/drawingml/2006/main">
            <a:off x="830275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Rules and evidence for software that informs care. Dagents can track model versions, reasons, approvals, and rollback. Teams still need a clear intended use, clinical testing, usability work, and safety review.</a:t>
            </a:r>
          </a:p>
        </p:txBody>
      </p:sp>
      <p:sp>
        <p:nvSpPr>
          <p:cNvPr id="14" name="TextBox 13">
            <a:extLst xmlns:a="http://schemas.openxmlformats.org/drawingml/2006/main">
              <a:ext uri="{FF2B5EF4-FFF2-40B4-BE49-F238E27FC236}">
                <a16:creationId xmlns:a16="http://schemas.microsoft.com/office/drawing/2014/main" id="{78F717F3-1A00-49A6-B673-1840A77E5987}"/>
              </a:ext>
            </a:extLst>
          </p:cNvPr>
          <p:cNvSpPr>
            <a:spLocks xmlns:a="http://schemas.openxmlformats.org/drawingml/2006/main" noGrp="1"/>
          </p:cNvSpPr>
          <p:nvPr/>
        </p:nvSpPr>
        <p:spPr>
          <a:xfrm xmlns:a="http://schemas.openxmlformats.org/drawingml/2006/main">
            <a:off x="868680" y="4251960"/>
            <a:ext cx="1024128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a:solidFill>
                  <a:srgbClr val="15201B"/>
                </a:solidFill>
                <a:latin typeface="Aptos"/>
                <a:ea typeface="Aptos"/>
                <a:cs typeface="Aptos"/>
              </a:defRPr>
            </a:pPr>
            <a:r>
              <a:t>Source-first design reduces data movement and copies; real compliance still depends on controls being implemented, used, tested, and reviewed / 15</a:t>
            </a:r>
          </a:p>
        </p:txBody>
      </p:sp>
    </p:spTree>
    <p:extLst>
      <p:ext uri="{BB962C8B-B14F-4D97-AF65-F5344CB8AC3E}">
        <p14:creationId xmlns:p14="http://schemas.microsoft.com/office/powerpoint/2010/main" val="1156893860"/>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WHO OWNS WHAT?</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helps; hospitals stay accountable.</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requirement needs both a technical mechanism and a named person or team responsible for it.</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Dagents helps with</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Hospital team still owns</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Patient-data security</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Keep work and run evidence local; limit data sources; record versions and runs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User access, login protection, encryption, backups, audits, and incident response</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 privacy</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Share only approved small summaries and pointers; no raw-patient lake</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Purpose, permission, minimum data, retention, deletion, and legal decisions</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Service assurance</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Repeatable deployment, health checks, and change history</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Control owners, access and vendor reviews, operating proof, and external audit</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safety</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Human decision point, model and input history, approvals, and rollback</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testing, usability, intended use, regulation, and safety ownership</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Health-data standards</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clear connector boundary for hospital data</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Correct coding, terminology, source tracking, and patient matching</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Planning aid—not a legal, audit, or medical conclusion / 16</a:t>
            </a:r>
          </a:p>
        </p:txBody>
      </p:sp>
    </p:spTree>
    <p:extLst>
      <p:ext uri="{BB962C8B-B14F-4D97-AF65-F5344CB8AC3E}">
        <p14:creationId xmlns:p14="http://schemas.microsoft.com/office/powerpoint/2010/main" val="201909069"/>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SAFETY CHECKS</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Four checks must pass before a warning is shown.</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Any failed check stops the run, records the reason, and sends the issue for review.</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 APPROVED USE</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this data allowed for this patient group and this purpose?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2. GOOD DATA</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data recent, complete enough, correctly formatted, and in the right units?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3. MODEL</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correct tested model and hospital setting being used?</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4. CLINICIAN</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Can the clinician see the reasons and limits and make the final care decision?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Start with past data, then run silently. Stop safely and record why whenever a check fails.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Safety before action / 17</a:t>
            </a:r>
          </a:p>
        </p:txBody>
      </p:sp>
    </p:spTree>
    <p:extLst>
      <p:ext uri="{BB962C8B-B14F-4D97-AF65-F5344CB8AC3E}">
        <p14:creationId xmlns:p14="http://schemas.microsoft.com/office/powerpoint/2010/main" val="1530383934"/>
      </p:ext>
    </p:extLst>
  </p:cSld>
</p:sld>
</file>

<file path=ppt/slides/slide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EFFORT</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reduces repeated platform work.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benefit grows when more hospitals, models, or regulated use cases share the same coordination layer.</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Reusable in Dagents</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Still specific to this case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connections</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checks, small summaries, and source-side run history; no central raw-data store</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Connect beside each hospital source; align terms, units, patient groups, and local history</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coordination</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pipelines, small-message contracts, run records, agent registration, and deployment plans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Production-grade queues, retries, schedules, storage, and recovery</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Model management</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model-run, result, testing, and version patterns</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Build and clinically test a separate model, warning limit, and monitoring plan for each condition</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Deployment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container and deployment instructions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Protect secrets, sign updates, isolate sites, test small rollouts, and plan recovery</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Evidence + controls</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plans, run IDs, policy checks, and change history</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Access rules, tamper-resistant logs, staff training, audits, and clinical oversight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For one fixed model at one site, Dagents may be more infrastructure than needed / 18</a:t>
            </a:r>
          </a:p>
        </p:txBody>
      </p:sp>
    </p:spTree>
    <p:extLst>
      <p:ext uri="{BB962C8B-B14F-4D97-AF65-F5344CB8AC3E}">
        <p14:creationId xmlns:p14="http://schemas.microsoft.com/office/powerpoint/2010/main" val="1134147268"/>
      </p:ext>
    </p:extLst>
  </p:cSld>
</p:sld>
</file>

<file path=ppt/slides/slide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DECISION GUIDE</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Where Dagents fits—and where other tools lead.</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Use Dagents when one coordinating layer must span hospitals, models, and deployment targets.</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Option</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teams choose it</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Limit / Dagents fit</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Dagents</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Source-local and global agents, small-message workflows, model runs, versioned plans, and deployment instructions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Avoids a required raw-data lake, but is less mature and still needs production hardening and healthcare connectors</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Federated-learning tools</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Train or test models across sites without moving all raw data</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Stronger for this specialist job; can run inside a Dagents-managed workflow</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Cloud ML platforms</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Managed training, model catalog, online endpoints, and monitoring</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Faster cloud setup; hospital integration and dependence on one cloud still remain</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platforms</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Schedule steps, retry failures, reuse results, and run work on Kubernetes</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Mature workflows, but they do not define hospital ownership or clinical safety rules</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point product</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ready-made, validated product for one exact care workflow</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Fastest for that exact use; less flexible across diseases, models, and hospitals</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Dagents can coordinate specialist tools while keeping detailed records at the source / 19</a:t>
            </a:r>
          </a:p>
        </p:txBody>
      </p:sp>
    </p:spTree>
    <p:extLst>
      <p:ext uri="{BB962C8B-B14F-4D97-AF65-F5344CB8AC3E}">
        <p14:creationId xmlns:p14="http://schemas.microsoft.com/office/powerpoint/2010/main" val="201909069"/>
      </p:ext>
    </p:extLst>
  </p:cSld>
</p:sld>
</file>

<file path=ppt/slides/slide2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3616C7F-5DE1-4780-8723-F2B4F47C5526}"/>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PILOT ROADMAP</a:t>
            </a:r>
          </a:p>
        </p:txBody>
      </p:sp>
      <p:sp>
        <p:nvSpPr>
          <p:cNvPr id="3" name="TextBox 2">
            <a:extLst xmlns:a="http://schemas.openxmlformats.org/drawingml/2006/main">
              <a:ext uri="{FF2B5EF4-FFF2-40B4-BE49-F238E27FC236}">
                <a16:creationId xmlns:a16="http://schemas.microsoft.com/office/drawing/2014/main" id="{3FA26162-FC55-4072-9ED2-CB330866CB78}"/>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Evidence—not dates—moves the pilot forward.</a:t>
            </a:r>
          </a:p>
        </p:txBody>
      </p:sp>
      <p:sp>
        <p:nvSpPr>
          <p:cNvPr id="4" name="TextBox 3">
            <a:extLst xmlns:a="http://schemas.openxmlformats.org/drawingml/2006/main">
              <a:ext uri="{FF2B5EF4-FFF2-40B4-BE49-F238E27FC236}">
                <a16:creationId xmlns:a16="http://schemas.microsoft.com/office/drawing/2014/main" id="{21087E13-600F-4E88-BC5E-106AEBF65EB7}"/>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phase must pass its review before the next phase begins; dates alone are not enough.</a:t>
            </a:r>
          </a:p>
        </p:txBody>
      </p:sp>
      <p:sp>
        <p:nvSpPr>
          <p:cNvPr id="5" name="Rectangle 4">
            <a:extLst xmlns:a="http://schemas.openxmlformats.org/drawingml/2006/main">
              <a:ext uri="{FF2B5EF4-FFF2-40B4-BE49-F238E27FC236}">
                <a16:creationId xmlns:a16="http://schemas.microsoft.com/office/drawing/2014/main" id="{1F383E6C-1657-4B5B-8879-7FC0AEC261AE}"/>
              </a:ext>
            </a:extLst>
          </p:cNvPr>
          <p:cNvSpPr>
            <a:spLocks xmlns:a="http://schemas.openxmlformats.org/drawingml/2006/main" noGrp="1"/>
          </p:cNvSpPr>
          <p:nvPr/>
        </p:nvSpPr>
        <p:spPr>
          <a:xfrm xmlns:a="http://schemas.openxmlformats.org/drawingml/2006/main">
            <a:off x="594360" y="1691640"/>
            <a:ext cx="2852928"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4815377-4277-4F34-B2E8-94C36D9C4436}"/>
              </a:ext>
            </a:extLst>
          </p:cNvPr>
          <p:cNvSpPr>
            <a:spLocks xmlns:a="http://schemas.openxmlformats.org/drawingml/2006/main" noGrp="1"/>
          </p:cNvSpPr>
          <p:nvPr/>
        </p:nvSpPr>
        <p:spPr>
          <a:xfrm xmlns:a="http://schemas.openxmlformats.org/drawingml/2006/main">
            <a:off x="667512" y="17647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Phase</a:t>
            </a:r>
          </a:p>
        </p:txBody>
      </p:sp>
      <p:sp>
        <p:nvSpPr>
          <p:cNvPr id="7" name="Rectangle 6">
            <a:extLst xmlns:a="http://schemas.openxmlformats.org/drawingml/2006/main">
              <a:ext uri="{FF2B5EF4-FFF2-40B4-BE49-F238E27FC236}">
                <a16:creationId xmlns:a16="http://schemas.microsoft.com/office/drawing/2014/main" id="{883170B6-5F27-4C0A-8103-AABE975610F3}"/>
              </a:ext>
            </a:extLst>
          </p:cNvPr>
          <p:cNvSpPr>
            <a:spLocks xmlns:a="http://schemas.openxmlformats.org/drawingml/2006/main" noGrp="1"/>
          </p:cNvSpPr>
          <p:nvPr/>
        </p:nvSpPr>
        <p:spPr>
          <a:xfrm xmlns:a="http://schemas.openxmlformats.org/drawingml/2006/main">
            <a:off x="3447288"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F474AA2-CC5C-4831-A728-17A703311F53}"/>
              </a:ext>
            </a:extLst>
          </p:cNvPr>
          <p:cNvSpPr>
            <a:spLocks xmlns:a="http://schemas.openxmlformats.org/drawingml/2006/main" noGrp="1"/>
          </p:cNvSpPr>
          <p:nvPr/>
        </p:nvSpPr>
        <p:spPr>
          <a:xfrm xmlns:a="http://schemas.openxmlformats.org/drawingml/2006/main">
            <a:off x="3520440"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What happens</a:t>
            </a:r>
          </a:p>
        </p:txBody>
      </p:sp>
      <p:sp>
        <p:nvSpPr>
          <p:cNvPr id="9" name="Rectangle 8">
            <a:extLst xmlns:a="http://schemas.openxmlformats.org/drawingml/2006/main">
              <a:ext uri="{FF2B5EF4-FFF2-40B4-BE49-F238E27FC236}">
                <a16:creationId xmlns:a16="http://schemas.microsoft.com/office/drawing/2014/main" id="{546EF320-5BD6-4E93-BE04-B66DC0DBE514}"/>
              </a:ext>
            </a:extLst>
          </p:cNvPr>
          <p:cNvSpPr>
            <a:spLocks xmlns:a="http://schemas.openxmlformats.org/drawingml/2006/main" noGrp="1"/>
          </p:cNvSpPr>
          <p:nvPr/>
        </p:nvSpPr>
        <p:spPr>
          <a:xfrm xmlns:a="http://schemas.openxmlformats.org/drawingml/2006/main">
            <a:off x="7507224"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55EAA19-880D-4305-B631-18BEDD802D77}"/>
              </a:ext>
            </a:extLst>
          </p:cNvPr>
          <p:cNvSpPr>
            <a:spLocks xmlns:a="http://schemas.openxmlformats.org/drawingml/2006/main" noGrp="1"/>
          </p:cNvSpPr>
          <p:nvPr/>
        </p:nvSpPr>
        <p:spPr>
          <a:xfrm xmlns:a="http://schemas.openxmlformats.org/drawingml/2006/main">
            <a:off x="7580376"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Proof needed</a:t>
            </a:r>
          </a:p>
        </p:txBody>
      </p:sp>
      <p:sp>
        <p:nvSpPr>
          <p:cNvPr id="11" name="Rectangle 10">
            <a:extLst xmlns:a="http://schemas.openxmlformats.org/drawingml/2006/main">
              <a:ext uri="{FF2B5EF4-FFF2-40B4-BE49-F238E27FC236}">
                <a16:creationId xmlns:a16="http://schemas.microsoft.com/office/drawing/2014/main" id="{59D077EF-7B73-4A48-BF93-BE2FF98AD55C}"/>
              </a:ext>
            </a:extLst>
          </p:cNvPr>
          <p:cNvSpPr>
            <a:spLocks xmlns:a="http://schemas.openxmlformats.org/drawingml/2006/main" noGrp="1"/>
          </p:cNvSpPr>
          <p:nvPr/>
        </p:nvSpPr>
        <p:spPr>
          <a:xfrm xmlns:a="http://schemas.openxmlformats.org/drawingml/2006/main">
            <a:off x="594360" y="236982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130F56B-65E8-4B4D-AE87-7B800F1570AE}"/>
              </a:ext>
            </a:extLst>
          </p:cNvPr>
          <p:cNvSpPr>
            <a:spLocks xmlns:a="http://schemas.openxmlformats.org/drawingml/2006/main" noGrp="1"/>
          </p:cNvSpPr>
          <p:nvPr/>
        </p:nvSpPr>
        <p:spPr>
          <a:xfrm xmlns:a="http://schemas.openxmlformats.org/drawingml/2006/main">
            <a:off x="667512" y="244297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1. Define</a:t>
            </a:r>
          </a:p>
        </p:txBody>
      </p:sp>
      <p:sp>
        <p:nvSpPr>
          <p:cNvPr id="13" name="Rectangle 12">
            <a:extLst xmlns:a="http://schemas.openxmlformats.org/drawingml/2006/main">
              <a:ext uri="{FF2B5EF4-FFF2-40B4-BE49-F238E27FC236}">
                <a16:creationId xmlns:a16="http://schemas.microsoft.com/office/drawing/2014/main" id="{04A7A60E-3308-46B9-8ED0-A94A1248497E}"/>
              </a:ext>
            </a:extLst>
          </p:cNvPr>
          <p:cNvSpPr>
            <a:spLocks xmlns:a="http://schemas.openxmlformats.org/drawingml/2006/main" noGrp="1"/>
          </p:cNvSpPr>
          <p:nvPr/>
        </p:nvSpPr>
        <p:spPr>
          <a:xfrm xmlns:a="http://schemas.openxmlformats.org/drawingml/2006/main">
            <a:off x="3447288"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7E2E768-B155-4108-A917-81CEC8DEFE13}"/>
              </a:ext>
            </a:extLst>
          </p:cNvPr>
          <p:cNvSpPr>
            <a:spLocks xmlns:a="http://schemas.openxmlformats.org/drawingml/2006/main" noGrp="1"/>
          </p:cNvSpPr>
          <p:nvPr/>
        </p:nvSpPr>
        <p:spPr>
          <a:xfrm xmlns:a="http://schemas.openxmlformats.org/drawingml/2006/main">
            <a:off x="3520440"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Agree who the warning is for, what it predicts, which data it uses, exclusions, and owners</a:t>
            </a:r>
          </a:p>
        </p:txBody>
      </p:sp>
      <p:sp>
        <p:nvSpPr>
          <p:cNvPr id="15" name="Rectangle 14">
            <a:extLst xmlns:a="http://schemas.openxmlformats.org/drawingml/2006/main">
              <a:ext uri="{FF2B5EF4-FFF2-40B4-BE49-F238E27FC236}">
                <a16:creationId xmlns:a16="http://schemas.microsoft.com/office/drawing/2014/main" id="{B35302B5-AEFF-4AC3-A299-F08E8F36F866}"/>
              </a:ext>
            </a:extLst>
          </p:cNvPr>
          <p:cNvSpPr>
            <a:spLocks xmlns:a="http://schemas.openxmlformats.org/drawingml/2006/main" noGrp="1"/>
          </p:cNvSpPr>
          <p:nvPr/>
        </p:nvSpPr>
        <p:spPr>
          <a:xfrm xmlns:a="http://schemas.openxmlformats.org/drawingml/2006/main">
            <a:off x="7507224"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C07A7815-5F24-4450-95EC-DD6BE8725C25}"/>
              </a:ext>
            </a:extLst>
          </p:cNvPr>
          <p:cNvSpPr>
            <a:spLocks xmlns:a="http://schemas.openxmlformats.org/drawingml/2006/main" noGrp="1"/>
          </p:cNvSpPr>
          <p:nvPr/>
        </p:nvSpPr>
        <p:spPr>
          <a:xfrm xmlns:a="http://schemas.openxmlformats.org/drawingml/2006/main">
            <a:off x="7580376"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Approved case definition and shared data description</a:t>
            </a:r>
          </a:p>
        </p:txBody>
      </p:sp>
      <p:sp>
        <p:nvSpPr>
          <p:cNvPr id="17" name="Rectangle 16">
            <a:extLst xmlns:a="http://schemas.openxmlformats.org/drawingml/2006/main">
              <a:ext uri="{FF2B5EF4-FFF2-40B4-BE49-F238E27FC236}">
                <a16:creationId xmlns:a16="http://schemas.microsoft.com/office/drawing/2014/main" id="{4AE41A3F-8B3A-42AB-AA96-2BA4DC29AD3B}"/>
              </a:ext>
            </a:extLst>
          </p:cNvPr>
          <p:cNvSpPr>
            <a:spLocks xmlns:a="http://schemas.openxmlformats.org/drawingml/2006/main" noGrp="1"/>
          </p:cNvSpPr>
          <p:nvPr/>
        </p:nvSpPr>
        <p:spPr>
          <a:xfrm xmlns:a="http://schemas.openxmlformats.org/drawingml/2006/main">
            <a:off x="594360" y="304800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E74F5F03-3944-44F7-B5E4-9E1086F02AB1}"/>
              </a:ext>
            </a:extLst>
          </p:cNvPr>
          <p:cNvSpPr>
            <a:spLocks xmlns:a="http://schemas.openxmlformats.org/drawingml/2006/main" noGrp="1"/>
          </p:cNvSpPr>
          <p:nvPr/>
        </p:nvSpPr>
        <p:spPr>
          <a:xfrm xmlns:a="http://schemas.openxmlformats.org/drawingml/2006/main">
            <a:off x="667512" y="312115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2. Test past data</a:t>
            </a:r>
          </a:p>
        </p:txBody>
      </p:sp>
      <p:sp>
        <p:nvSpPr>
          <p:cNvPr id="19" name="Rectangle 18">
            <a:extLst xmlns:a="http://schemas.openxmlformats.org/drawingml/2006/main">
              <a:ext uri="{FF2B5EF4-FFF2-40B4-BE49-F238E27FC236}">
                <a16:creationId xmlns:a16="http://schemas.microsoft.com/office/drawing/2014/main" id="{DAAA2085-00F1-42F1-853E-7AC03F183B23}"/>
              </a:ext>
            </a:extLst>
          </p:cNvPr>
          <p:cNvSpPr>
            <a:spLocks xmlns:a="http://schemas.openxmlformats.org/drawingml/2006/main" noGrp="1"/>
          </p:cNvSpPr>
          <p:nvPr/>
        </p:nvSpPr>
        <p:spPr>
          <a:xfrm xmlns:a="http://schemas.openxmlformats.org/drawingml/2006/main">
            <a:off x="3447288"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7566ED5F-A66B-4934-ABC4-E83734BE467F}"/>
              </a:ext>
            </a:extLst>
          </p:cNvPr>
          <p:cNvSpPr>
            <a:spLocks xmlns:a="http://schemas.openxmlformats.org/drawingml/2006/main" noGrp="1"/>
          </p:cNvSpPr>
          <p:nvPr/>
        </p:nvSpPr>
        <p:spPr>
          <a:xfrm xmlns:a="http://schemas.openxmlformats.org/drawingml/2006/main">
            <a:off x="3520440"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the local agent on historical records stored at each hospital; send only approved summaries</a:t>
            </a:r>
          </a:p>
        </p:txBody>
      </p:sp>
      <p:sp>
        <p:nvSpPr>
          <p:cNvPr id="21" name="Rectangle 20">
            <a:extLst xmlns:a="http://schemas.openxmlformats.org/drawingml/2006/main">
              <a:ext uri="{FF2B5EF4-FFF2-40B4-BE49-F238E27FC236}">
                <a16:creationId xmlns:a16="http://schemas.microsoft.com/office/drawing/2014/main" id="{BEC5B3F9-6E5F-47E9-85B6-FB13ED306D04}"/>
              </a:ext>
            </a:extLst>
          </p:cNvPr>
          <p:cNvSpPr>
            <a:spLocks xmlns:a="http://schemas.openxmlformats.org/drawingml/2006/main" noGrp="1"/>
          </p:cNvSpPr>
          <p:nvPr/>
        </p:nvSpPr>
        <p:spPr>
          <a:xfrm xmlns:a="http://schemas.openxmlformats.org/drawingml/2006/main">
            <a:off x="7507224"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9212C95-D024-49DF-A483-9058E582E581}"/>
              </a:ext>
            </a:extLst>
          </p:cNvPr>
          <p:cNvSpPr>
            <a:spLocks xmlns:a="http://schemas.openxmlformats.org/drawingml/2006/main" noGrp="1"/>
          </p:cNvSpPr>
          <p:nvPr/>
        </p:nvSpPr>
        <p:spPr>
          <a:xfrm xmlns:a="http://schemas.openxmlformats.org/drawingml/2006/main">
            <a:off x="7580376"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quality, warning accuracy across groups, and normal warning volume</a:t>
            </a:r>
          </a:p>
        </p:txBody>
      </p:sp>
      <p:sp>
        <p:nvSpPr>
          <p:cNvPr id="23" name="Rectangle 22">
            <a:extLst xmlns:a="http://schemas.openxmlformats.org/drawingml/2006/main">
              <a:ext uri="{FF2B5EF4-FFF2-40B4-BE49-F238E27FC236}">
                <a16:creationId xmlns:a16="http://schemas.microsoft.com/office/drawing/2014/main" id="{6F6FE044-3348-4E4C-85FC-0F05D67F7015}"/>
              </a:ext>
            </a:extLst>
          </p:cNvPr>
          <p:cNvSpPr>
            <a:spLocks xmlns:a="http://schemas.openxmlformats.org/drawingml/2006/main" noGrp="1"/>
          </p:cNvSpPr>
          <p:nvPr/>
        </p:nvSpPr>
        <p:spPr>
          <a:xfrm xmlns:a="http://schemas.openxmlformats.org/drawingml/2006/main">
            <a:off x="594360" y="372618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EC3BAFB-5BF5-4B01-8498-D3546837CBE9}"/>
              </a:ext>
            </a:extLst>
          </p:cNvPr>
          <p:cNvSpPr>
            <a:spLocks xmlns:a="http://schemas.openxmlformats.org/drawingml/2006/main" noGrp="1"/>
          </p:cNvSpPr>
          <p:nvPr/>
        </p:nvSpPr>
        <p:spPr>
          <a:xfrm xmlns:a="http://schemas.openxmlformats.org/drawingml/2006/main">
            <a:off x="667512" y="379933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3. Run silently</a:t>
            </a:r>
          </a:p>
        </p:txBody>
      </p:sp>
      <p:sp>
        <p:nvSpPr>
          <p:cNvPr id="25" name="Rectangle 24">
            <a:extLst xmlns:a="http://schemas.openxmlformats.org/drawingml/2006/main">
              <a:ext uri="{FF2B5EF4-FFF2-40B4-BE49-F238E27FC236}">
                <a16:creationId xmlns:a16="http://schemas.microsoft.com/office/drawing/2014/main" id="{82D6D3CF-7424-4D18-9890-24D763128CDA}"/>
              </a:ext>
            </a:extLst>
          </p:cNvPr>
          <p:cNvSpPr>
            <a:spLocks xmlns:a="http://schemas.openxmlformats.org/drawingml/2006/main" noGrp="1"/>
          </p:cNvSpPr>
          <p:nvPr/>
        </p:nvSpPr>
        <p:spPr>
          <a:xfrm xmlns:a="http://schemas.openxmlformats.org/drawingml/2006/main">
            <a:off x="3447288"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047CA9F4-FF5F-4C24-A036-12A0C3216696}"/>
              </a:ext>
            </a:extLst>
          </p:cNvPr>
          <p:cNvSpPr>
            <a:spLocks xmlns:a="http://schemas.openxmlformats.org/drawingml/2006/main" noGrp="1"/>
          </p:cNvSpPr>
          <p:nvPr/>
        </p:nvSpPr>
        <p:spPr>
          <a:xfrm xmlns:a="http://schemas.openxmlformats.org/drawingml/2006/main">
            <a:off x="3520440"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 live data but do not show warnings to clinicians</a:t>
            </a:r>
          </a:p>
        </p:txBody>
      </p:sp>
      <p:sp>
        <p:nvSpPr>
          <p:cNvPr id="27" name="Rectangle 26">
            <a:extLst xmlns:a="http://schemas.openxmlformats.org/drawingml/2006/main">
              <a:ext uri="{FF2B5EF4-FFF2-40B4-BE49-F238E27FC236}">
                <a16:creationId xmlns:a16="http://schemas.microsoft.com/office/drawing/2014/main" id="{09E31BD2-C02C-48F0-A0FE-5BBBB95B0C51}"/>
              </a:ext>
            </a:extLst>
          </p:cNvPr>
          <p:cNvSpPr>
            <a:spLocks xmlns:a="http://schemas.openxmlformats.org/drawingml/2006/main" noGrp="1"/>
          </p:cNvSpPr>
          <p:nvPr/>
        </p:nvSpPr>
        <p:spPr>
          <a:xfrm xmlns:a="http://schemas.openxmlformats.org/drawingml/2006/main">
            <a:off x="7507224"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28121A96-7DBE-4B73-92D8-36238161F7A4}"/>
              </a:ext>
            </a:extLst>
          </p:cNvPr>
          <p:cNvSpPr>
            <a:spLocks xmlns:a="http://schemas.openxmlformats.org/drawingml/2006/main" noGrp="1"/>
          </p:cNvSpPr>
          <p:nvPr/>
        </p:nvSpPr>
        <p:spPr>
          <a:xfrm xmlns:a="http://schemas.openxmlformats.org/drawingml/2006/main">
            <a:off x="7580376"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Speed, reliability, warning volume, complete records, and recovery results</a:t>
            </a:r>
          </a:p>
        </p:txBody>
      </p:sp>
      <p:sp>
        <p:nvSpPr>
          <p:cNvPr id="29" name="Rectangle 28">
            <a:extLst xmlns:a="http://schemas.openxmlformats.org/drawingml/2006/main">
              <a:ext uri="{FF2B5EF4-FFF2-40B4-BE49-F238E27FC236}">
                <a16:creationId xmlns:a16="http://schemas.microsoft.com/office/drawing/2014/main" id="{B0FC2832-250A-4D49-8EBF-4722A2F7531D}"/>
              </a:ext>
            </a:extLst>
          </p:cNvPr>
          <p:cNvSpPr>
            <a:spLocks xmlns:a="http://schemas.openxmlformats.org/drawingml/2006/main" noGrp="1"/>
          </p:cNvSpPr>
          <p:nvPr/>
        </p:nvSpPr>
        <p:spPr>
          <a:xfrm xmlns:a="http://schemas.openxmlformats.org/drawingml/2006/main">
            <a:off x="594360" y="440436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63E1A0B1-652A-4252-85BC-BD3E5B3D5858}"/>
              </a:ext>
            </a:extLst>
          </p:cNvPr>
          <p:cNvSpPr>
            <a:spLocks xmlns:a="http://schemas.openxmlformats.org/drawingml/2006/main" noGrp="1"/>
          </p:cNvSpPr>
          <p:nvPr/>
        </p:nvSpPr>
        <p:spPr>
          <a:xfrm xmlns:a="http://schemas.openxmlformats.org/drawingml/2006/main">
            <a:off x="667512" y="447751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4. Limited pilot</a:t>
            </a:r>
          </a:p>
        </p:txBody>
      </p:sp>
      <p:sp>
        <p:nvSpPr>
          <p:cNvPr id="31" name="Rectangle 30">
            <a:extLst xmlns:a="http://schemas.openxmlformats.org/drawingml/2006/main">
              <a:ext uri="{FF2B5EF4-FFF2-40B4-BE49-F238E27FC236}">
                <a16:creationId xmlns:a16="http://schemas.microsoft.com/office/drawing/2014/main" id="{874D9192-44C0-4A4A-AFE8-E45CE995A1D6}"/>
              </a:ext>
            </a:extLst>
          </p:cNvPr>
          <p:cNvSpPr>
            <a:spLocks xmlns:a="http://schemas.openxmlformats.org/drawingml/2006/main" noGrp="1"/>
          </p:cNvSpPr>
          <p:nvPr/>
        </p:nvSpPr>
        <p:spPr>
          <a:xfrm xmlns:a="http://schemas.openxmlformats.org/drawingml/2006/main">
            <a:off x="3447288"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30C880F6-2B6F-4633-8D56-D150FD6C1945}"/>
              </a:ext>
            </a:extLst>
          </p:cNvPr>
          <p:cNvSpPr>
            <a:spLocks xmlns:a="http://schemas.openxmlformats.org/drawingml/2006/main" noGrp="1"/>
          </p:cNvSpPr>
          <p:nvPr/>
        </p:nvSpPr>
        <p:spPr>
          <a:xfrm xmlns:a="http://schemas.openxmlformats.org/drawingml/2006/main">
            <a:off x="3520440"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Show warnings to clinicians under an approved plan</a:t>
            </a:r>
          </a:p>
        </p:txBody>
      </p:sp>
      <p:sp>
        <p:nvSpPr>
          <p:cNvPr id="33" name="Rectangle 32">
            <a:extLst xmlns:a="http://schemas.openxmlformats.org/drawingml/2006/main">
              <a:ext uri="{FF2B5EF4-FFF2-40B4-BE49-F238E27FC236}">
                <a16:creationId xmlns:a16="http://schemas.microsoft.com/office/drawing/2014/main" id="{940F8CA7-3636-4591-A377-3CB024DBE12B}"/>
              </a:ext>
            </a:extLst>
          </p:cNvPr>
          <p:cNvSpPr>
            <a:spLocks xmlns:a="http://schemas.openxmlformats.org/drawingml/2006/main" noGrp="1"/>
          </p:cNvSpPr>
          <p:nvPr/>
        </p:nvSpPr>
        <p:spPr>
          <a:xfrm xmlns:a="http://schemas.openxmlformats.org/drawingml/2006/main">
            <a:off x="7507224"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378A6AC6-8C69-48F4-9C9E-8763D385948D}"/>
              </a:ext>
            </a:extLst>
          </p:cNvPr>
          <p:cNvSpPr>
            <a:spLocks xmlns:a="http://schemas.openxmlformats.org/drawingml/2006/main" noGrp="1"/>
          </p:cNvSpPr>
          <p:nvPr/>
        </p:nvSpPr>
        <p:spPr>
          <a:xfrm xmlns:a="http://schemas.openxmlformats.org/drawingml/2006/main">
            <a:off x="7580376"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usefulness, workload, overrides, usability, and safety review</a:t>
            </a:r>
          </a:p>
        </p:txBody>
      </p:sp>
      <p:sp>
        <p:nvSpPr>
          <p:cNvPr id="35" name="Rectangle 34">
            <a:extLst xmlns:a="http://schemas.openxmlformats.org/drawingml/2006/main">
              <a:ext uri="{FF2B5EF4-FFF2-40B4-BE49-F238E27FC236}">
                <a16:creationId xmlns:a16="http://schemas.microsoft.com/office/drawing/2014/main" id="{AC7DBE89-C515-4B02-83EF-50CDFCD86217}"/>
              </a:ext>
            </a:extLst>
          </p:cNvPr>
          <p:cNvSpPr>
            <a:spLocks xmlns:a="http://schemas.openxmlformats.org/drawingml/2006/main" noGrp="1"/>
          </p:cNvSpPr>
          <p:nvPr/>
        </p:nvSpPr>
        <p:spPr>
          <a:xfrm xmlns:a="http://schemas.openxmlformats.org/drawingml/2006/main">
            <a:off x="594360" y="508254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1FD674F3-FB7C-44A9-A53F-62A858865527}"/>
              </a:ext>
            </a:extLst>
          </p:cNvPr>
          <p:cNvSpPr>
            <a:spLocks xmlns:a="http://schemas.openxmlformats.org/drawingml/2006/main" noGrp="1"/>
          </p:cNvSpPr>
          <p:nvPr/>
        </p:nvSpPr>
        <p:spPr>
          <a:xfrm xmlns:a="http://schemas.openxmlformats.org/drawingml/2006/main">
            <a:off x="667512" y="51556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5. Expand</a:t>
            </a:r>
          </a:p>
        </p:txBody>
      </p:sp>
      <p:sp>
        <p:nvSpPr>
          <p:cNvPr id="37" name="Rectangle 36">
            <a:extLst xmlns:a="http://schemas.openxmlformats.org/drawingml/2006/main">
              <a:ext uri="{FF2B5EF4-FFF2-40B4-BE49-F238E27FC236}">
                <a16:creationId xmlns:a16="http://schemas.microsoft.com/office/drawing/2014/main" id="{55DED86A-8DF5-4D99-B9D6-C41B6D36E250}"/>
              </a:ext>
            </a:extLst>
          </p:cNvPr>
          <p:cNvSpPr>
            <a:spLocks xmlns:a="http://schemas.openxmlformats.org/drawingml/2006/main" noGrp="1"/>
          </p:cNvSpPr>
          <p:nvPr/>
        </p:nvSpPr>
        <p:spPr>
          <a:xfrm xmlns:a="http://schemas.openxmlformats.org/drawingml/2006/main">
            <a:off x="3447288"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44DD496-AB69-4A09-920B-2DFCCCC582F8}"/>
              </a:ext>
            </a:extLst>
          </p:cNvPr>
          <p:cNvSpPr>
            <a:spLocks xmlns:a="http://schemas.openxmlformats.org/drawingml/2006/main" noGrp="1"/>
          </p:cNvSpPr>
          <p:nvPr/>
        </p:nvSpPr>
        <p:spPr>
          <a:xfrm xmlns:a="http://schemas.openxmlformats.org/drawingml/2006/main">
            <a:off x="3520440"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Compare small hospital summaries, prove rollback, then prepare one additional condition</a:t>
            </a:r>
          </a:p>
        </p:txBody>
      </p:sp>
      <p:sp>
        <p:nvSpPr>
          <p:cNvPr id="39" name="Rectangle 38">
            <a:extLst xmlns:a="http://schemas.openxmlformats.org/drawingml/2006/main">
              <a:ext uri="{FF2B5EF4-FFF2-40B4-BE49-F238E27FC236}">
                <a16:creationId xmlns:a16="http://schemas.microsoft.com/office/drawing/2014/main" id="{BB578E8A-A664-4A81-A466-F2903CA08D64}"/>
              </a:ext>
            </a:extLst>
          </p:cNvPr>
          <p:cNvSpPr>
            <a:spLocks xmlns:a="http://schemas.openxmlformats.org/drawingml/2006/main" noGrp="1"/>
          </p:cNvSpPr>
          <p:nvPr/>
        </p:nvSpPr>
        <p:spPr>
          <a:xfrm xmlns:a="http://schemas.openxmlformats.org/drawingml/2006/main">
            <a:off x="7507224"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42767822-8C6A-4AA1-9B75-C58DF72BBE26}"/>
              </a:ext>
            </a:extLst>
          </p:cNvPr>
          <p:cNvSpPr>
            <a:spLocks xmlns:a="http://schemas.openxmlformats.org/drawingml/2006/main" noGrp="1"/>
          </p:cNvSpPr>
          <p:nvPr/>
        </p:nvSpPr>
        <p:spPr>
          <a:xfrm xmlns:a="http://schemas.openxmlformats.org/drawingml/2006/main">
            <a:off x="7580376"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Multi-hospital evidence plus a separately approved definition and safety plan for the next condition</a:t>
            </a:r>
          </a:p>
        </p:txBody>
      </p:sp>
      <p:sp>
        <p:nvSpPr>
          <p:cNvPr id="41" name="TextBox 40">
            <a:extLst xmlns:a="http://schemas.openxmlformats.org/drawingml/2006/main">
              <a:ext uri="{FF2B5EF4-FFF2-40B4-BE49-F238E27FC236}">
                <a16:creationId xmlns:a16="http://schemas.microsoft.com/office/drawing/2014/main" id="{B1D0300A-8102-422A-B87C-10ACE4D3BDF4}"/>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Expand one condition at a time; no central raw-patient lake or automatic care action / 20</a:t>
            </a:r>
          </a:p>
        </p:txBody>
      </p:sp>
    </p:spTree>
    <p:extLst>
      <p:ext uri="{BB962C8B-B14F-4D97-AF65-F5344CB8AC3E}">
        <p14:creationId xmlns:p14="http://schemas.microsoft.com/office/powerpoint/2010/main" val="1705652030"/>
      </p:ext>
    </p:extLst>
  </p:cSld>
</p:sld>
</file>

<file path=ppt/slides/slide2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EVALUATION</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A useful pilot must work beyond the model.</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Model accuracy alone is not enough. Each condition must also be safe, dependable, understandable, and controllable.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Useful warnings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How many true cases are caught, how many warnings are correct, and how much advance notice is given.</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across groups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whether any patient group receives worse performance or too many warnings.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Reliable in practice</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Fresh local data, successful source-side runs, response time, recovery, and time to return to a safe version.</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Proof of control</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Complete local history plus approved cross-hospital summaries, model versions, access exceptions, and site differences.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Set separate measured baselines for each condition; this deck does not invent clinical outcomes / 21</a:t>
            </a:r>
          </a:p>
        </p:txBody>
      </p:sp>
    </p:spTree>
    <p:extLst>
      <p:ext uri="{BB962C8B-B14F-4D97-AF65-F5344CB8AC3E}">
        <p14:creationId xmlns:p14="http://schemas.microsoft.com/office/powerpoint/2010/main" val="115230595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5BB9CCDB-CDB6-46D2-AAB1-924DC0F3ED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3BB2566-7613-48BE-B8F4-6418A62A4686}"/>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RECOMMENDATION</a:t>
            </a:r>
          </a:p>
        </p:txBody>
      </p:sp>
      <p:sp>
        <p:nvSpPr>
          <p:cNvPr id="3" name="Rectangle 2">
            <a:extLst xmlns:a="http://schemas.openxmlformats.org/drawingml/2006/main">
              <a:ext uri="{FF2B5EF4-FFF2-40B4-BE49-F238E27FC236}">
                <a16:creationId xmlns:a16="http://schemas.microsoft.com/office/drawing/2014/main" id="{F0F9FC07-4330-4143-B79D-8612B56C5543}"/>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FFFFFF"/>
                </a:solidFill>
                <a:latin typeface="Georgia"/>
                <a:ea typeface="Georgia"/>
                <a:cs typeface="Georgia"/>
              </a:defRPr>
            </a:pPr>
            <a:r>
              <a:rPr sz="2550" b="0">
                <a:solidFill>
                  <a:srgbClr val="FFFFFF"/>
                </a:solidFill>
                <a:latin typeface="Georgia"/>
                <a:ea typeface="Georgia"/>
                <a:cs typeface="Georgia"/>
              </a:rPr>
              <a:t>Start with sepsis; expand one condition at a time.</a:t>
            </a:r>
          </a:p>
        </p:txBody>
      </p:sp>
      <p:sp>
        <p:nvSpPr>
          <p:cNvPr id="4" name="Rectangle 3">
            <a:extLst xmlns:a="http://schemas.openxmlformats.org/drawingml/2006/main">
              <a:ext uri="{FF2B5EF4-FFF2-40B4-BE49-F238E27FC236}">
                <a16:creationId xmlns:a16="http://schemas.microsoft.com/office/drawing/2014/main" id="{7ECA9760-6385-4CDB-B187-EBB7C065B31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C6D2CB"/>
                </a:solidFill>
                <a:latin typeface="Aptos"/>
                <a:ea typeface="Aptos"/>
                <a:cs typeface="Aptos"/>
              </a:defRPr>
            </a:pPr>
            <a:r>
              <a:rPr sz="1200" b="0">
                <a:solidFill>
                  <a:srgbClr val="C6D2CB"/>
                </a:solidFill>
                <a:latin typeface="Aptos"/>
                <a:ea typeface="Aptos"/>
                <a:cs typeface="Aptos"/>
              </a:rPr>
              <a:t>Use one source-first coordination platform, but never treat a sepsis model as a general medical model.</a:t>
            </a:r>
          </a:p>
        </p:txBody>
      </p:sp>
      <p:sp>
        <p:nvSpPr>
          <p:cNvPr id="5" name="Rectangle 4">
            <a:extLst xmlns:a="http://schemas.openxmlformats.org/drawingml/2006/main">
              <a:ext uri="{FF2B5EF4-FFF2-40B4-BE49-F238E27FC236}">
                <a16:creationId xmlns:a16="http://schemas.microsoft.com/office/drawing/2014/main" id="{3EB072AB-1C19-4895-B0A7-4060EE04F0E8}"/>
              </a:ext>
            </a:extLst>
          </p:cNvPr>
          <p:cNvSpPr>
            <a:spLocks xmlns:a="http://schemas.openxmlformats.org/drawingml/2006/main" noGrp="1"/>
          </p:cNvSpPr>
          <p:nvPr/>
        </p:nvSpPr>
        <p:spPr>
          <a:xfrm xmlns:a="http://schemas.openxmlformats.org/drawingml/2006/main">
            <a:off x="1238250" y="26955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50D9345-3D90-4ADB-8B0E-AC4618397D62}"/>
              </a:ext>
            </a:extLst>
          </p:cNvPr>
          <p:cNvSpPr>
            <a:spLocks xmlns:a="http://schemas.openxmlformats.org/drawingml/2006/main" noGrp="1"/>
          </p:cNvSpPr>
          <p:nvPr/>
        </p:nvSpPr>
        <p:spPr>
          <a:xfrm xmlns:a="http://schemas.openxmlformats.org/drawingml/2006/main">
            <a:off x="1504950" y="26289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Run the first silent pilot for sepsis because it tests urgent, multi-hospital coordination.</a:t>
            </a:r>
          </a:p>
        </p:txBody>
      </p:sp>
      <p:sp>
        <p:nvSpPr>
          <p:cNvPr id="7" name="Rectangle 6">
            <a:extLst xmlns:a="http://schemas.openxmlformats.org/drawingml/2006/main">
              <a:ext uri="{FF2B5EF4-FFF2-40B4-BE49-F238E27FC236}">
                <a16:creationId xmlns:a16="http://schemas.microsoft.com/office/drawing/2014/main" id="{34E22953-DC38-4E78-9226-CFA14AEE5151}"/>
              </a:ext>
            </a:extLst>
          </p:cNvPr>
          <p:cNvSpPr>
            <a:spLocks xmlns:a="http://schemas.openxmlformats.org/drawingml/2006/main" noGrp="1"/>
          </p:cNvSpPr>
          <p:nvPr/>
        </p:nvSpPr>
        <p:spPr>
          <a:xfrm xmlns:a="http://schemas.openxmlformats.org/drawingml/2006/main">
            <a:off x="1238250" y="31908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E201BC90-F2F2-4805-BA8E-271EFB531396}"/>
              </a:ext>
            </a:extLst>
          </p:cNvPr>
          <p:cNvSpPr>
            <a:spLocks xmlns:a="http://schemas.openxmlformats.org/drawingml/2006/main" noGrp="1"/>
          </p:cNvSpPr>
          <p:nvPr/>
        </p:nvSpPr>
        <p:spPr>
          <a:xfrm xmlns:a="http://schemas.openxmlformats.org/drawingml/2006/main">
            <a:off x="1504950" y="31242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Reuse the local/global controls for stroke, heart attack, kidney injury, and breathing decline.</a:t>
            </a:r>
          </a:p>
        </p:txBody>
      </p:sp>
      <p:sp>
        <p:nvSpPr>
          <p:cNvPr id="9" name="Rectangle 8">
            <a:extLst xmlns:a="http://schemas.openxmlformats.org/drawingml/2006/main">
              <a:ext uri="{FF2B5EF4-FFF2-40B4-BE49-F238E27FC236}">
                <a16:creationId xmlns:a16="http://schemas.microsoft.com/office/drawing/2014/main" id="{83C595F4-C3FC-4AC3-9C61-8E944966915E}"/>
              </a:ext>
            </a:extLst>
          </p:cNvPr>
          <p:cNvSpPr>
            <a:spLocks xmlns:a="http://schemas.openxmlformats.org/drawingml/2006/main" noGrp="1"/>
          </p:cNvSpPr>
          <p:nvPr/>
        </p:nvSpPr>
        <p:spPr>
          <a:xfrm xmlns:a="http://schemas.openxmlformats.org/drawingml/2006/main">
            <a:off x="12382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F788CBF-F21E-4EBF-9914-76AC84C9ADCD}"/>
              </a:ext>
            </a:extLst>
          </p:cNvPr>
          <p:cNvSpPr>
            <a:spLocks xmlns:a="http://schemas.openxmlformats.org/drawingml/2006/main" noGrp="1"/>
          </p:cNvSpPr>
          <p:nvPr/>
        </p:nvSpPr>
        <p:spPr>
          <a:xfrm xmlns:a="http://schemas.openxmlformats.org/drawingml/2006/main">
            <a:off x="1504950" y="36195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Give every condition its own clinical owner, approved inputs, tested model, workflow, and warning limits.</a:t>
            </a:r>
          </a:p>
        </p:txBody>
      </p:sp>
      <p:sp>
        <p:nvSpPr>
          <p:cNvPr id="11" name="Rectangle 10">
            <a:extLst xmlns:a="http://schemas.openxmlformats.org/drawingml/2006/main">
              <a:ext uri="{FF2B5EF4-FFF2-40B4-BE49-F238E27FC236}">
                <a16:creationId xmlns:a16="http://schemas.microsoft.com/office/drawing/2014/main" id="{191B8C96-263A-43AE-AA7B-D08F672A8504}"/>
              </a:ext>
            </a:extLst>
          </p:cNvPr>
          <p:cNvSpPr>
            <a:spLocks xmlns:a="http://schemas.openxmlformats.org/drawingml/2006/main" noGrp="1"/>
          </p:cNvSpPr>
          <p:nvPr/>
        </p:nvSpPr>
        <p:spPr>
          <a:xfrm xmlns:a="http://schemas.openxmlformats.org/drawingml/2006/main">
            <a:off x="1238250" y="41814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29351B7-7389-422E-BC6A-7BB16FE694F4}"/>
              </a:ext>
            </a:extLst>
          </p:cNvPr>
          <p:cNvSpPr>
            <a:spLocks xmlns:a="http://schemas.openxmlformats.org/drawingml/2006/main" noGrp="1"/>
          </p:cNvSpPr>
          <p:nvPr/>
        </p:nvSpPr>
        <p:spPr>
          <a:xfrm xmlns:a="http://schemas.openxmlformats.org/drawingml/2006/main">
            <a:off x="1504950" y="41148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Keep detailed patient data and run evidence beside each hospital source for every condition.</a:t>
            </a:r>
          </a:p>
        </p:txBody>
      </p:sp>
      <p:sp>
        <p:nvSpPr>
          <p:cNvPr id="13" name="Rectangle 12">
            <a:extLst xmlns:a="http://schemas.openxmlformats.org/drawingml/2006/main">
              <a:ext uri="{FF2B5EF4-FFF2-40B4-BE49-F238E27FC236}">
                <a16:creationId xmlns:a16="http://schemas.microsoft.com/office/drawing/2014/main" id="{B7051E74-2CCC-4F86-A1EB-E60028ACCA68}"/>
              </a:ext>
            </a:extLst>
          </p:cNvPr>
          <p:cNvSpPr>
            <a:spLocks xmlns:a="http://schemas.openxmlformats.org/drawingml/2006/main" noGrp="1"/>
          </p:cNvSpPr>
          <p:nvPr/>
        </p:nvSpPr>
        <p:spPr>
          <a:xfrm xmlns:a="http://schemas.openxmlformats.org/drawingml/2006/main">
            <a:off x="1238250" y="4676775"/>
            <a:ext cx="114300" cy="114300"/>
          </a:xfrm>
          <a:prstGeom xmlns:a="http://schemas.openxmlformats.org/drawingml/2006/main" prst="rect">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8346266-EA9B-4C5E-A665-4242A6261EA6}"/>
              </a:ext>
            </a:extLst>
          </p:cNvPr>
          <p:cNvSpPr>
            <a:spLocks xmlns:a="http://schemas.openxmlformats.org/drawingml/2006/main" noGrp="1"/>
          </p:cNvSpPr>
          <p:nvPr/>
        </p:nvSpPr>
        <p:spPr>
          <a:xfrm xmlns:a="http://schemas.openxmlformats.org/drawingml/2006/main">
            <a:off x="1504950" y="46101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Advance only after separate safety, usefulness, privacy, security, and rollback evidence is complete.</a:t>
            </a:r>
          </a:p>
        </p:txBody>
      </p:sp>
      <p:sp>
        <p:nvSpPr>
          <p:cNvPr id="15" name="Rectangle 14">
            <a:extLst xmlns:a="http://schemas.openxmlformats.org/drawingml/2006/main">
              <a:ext uri="{FF2B5EF4-FFF2-40B4-BE49-F238E27FC236}">
                <a16:creationId xmlns:a16="http://schemas.microsoft.com/office/drawing/2014/main" id="{6D813CCE-EE3F-4E16-87AA-303D37C09902}"/>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22</a:t>
            </a:r>
          </a:p>
        </p:txBody>
      </p:sp>
    </p:spTree>
    <p:extLst>
      <p:ext uri="{BB962C8B-B14F-4D97-AF65-F5344CB8AC3E}">
        <p14:creationId xmlns:p14="http://schemas.microsoft.com/office/powerpoint/2010/main" val="2484234"/>
      </p:ext>
    </p:extLst>
  </p:cSld>
</p:sld>
</file>

<file path=ppt/slides/slide2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Hospital and model terms used in this deck.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Plain working definitions for this presentation—not medical or legal advice.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Risk score</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number showing how strongly a tested model sees one defined risk</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Supports clinician review; it is not a diagnosis and cannot cover every disease</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EHR</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hospital's digital patient record</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Source of vital signs, lab results, medicines, and visit information</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PHI</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 information that can identify a person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Stays at the source; not copied into a central warehouse or lake for this case</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decision support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Software advice shown to a clinician</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clinician—not the software—makes the care decision</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Past-data test / silent live test</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Test old records / run on live data without showing warnings</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Safer steps before a limited clinician-facing pilot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Healthcare glossary / 23</a:t>
            </a:r>
          </a:p>
        </p:txBody>
      </p:sp>
    </p:spTree>
    <p:extLst>
      <p:ext uri="{BB962C8B-B14F-4D97-AF65-F5344CB8AC3E}">
        <p14:creationId xmlns:p14="http://schemas.microsoft.com/office/powerpoint/2010/main" val="1134147268"/>
      </p:ext>
    </p:extLst>
  </p:cSld>
</p:sld>
</file>

<file path=ppt/slides/slide2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Conditions mentioned in this deck.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Plain working definitions for this presentation—not medical advice or a diagnosis guide.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Sepsis</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body's extreme response to infection; it can damage organs quickly</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First detailed case because delays matter and many hospital signals must be coordinated</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Stroke</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An emergency where blood flow in the brain is blocked or a blood vessel breaks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fast recognition and a separate stroke-specific workflow and safety proof</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Heart attack</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Blood flow bringing oxygen to part of the heart suddenly becomes blocked</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fast review and a separate heart-specific model and workflow</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Sudden kidney injury</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Kidney function falls quickly over hours or days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local trend monitoring and separate kidney-specific rules and testing</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Serious breathing decline</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lungs cannot provide enough oxygen or remove enough carbon dioxide</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oxygen and breathing monitoring with its own workflow and safety review</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Condition glossary / 24</a:t>
            </a:r>
          </a:p>
        </p:txBody>
      </p:sp>
    </p:spTree>
    <p:extLst>
      <p:ext uri="{BB962C8B-B14F-4D97-AF65-F5344CB8AC3E}">
        <p14:creationId xmlns:p14="http://schemas.microsoft.com/office/powerpoint/2010/main" val="1134147268"/>
      </p:ext>
    </p:extLst>
  </p:cSld>
</p:sld>
</file>

<file path=ppt/slides/slide2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Project and compliance terms.</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These labels describe project roles and control frameworks—not automatic proof of safety or compliance.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LMA / GMA</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agent in one hospital / global agent coordinating hospitals</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Separates patient-level work from minimal, approved cross-hospital coordination</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warehouse / lake</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central store that copies data from many systems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Useful for some analytics, but not required for this time-sensitive source-first design</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HIPAA</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 rules for protecting patient health information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Guides privacy and security controls; architecture alone is not compliance</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SOC 2</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Independent review of service security and reliability controls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Requires working controls and evidence, not only design documents</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Small rollout / rollback</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Try an update at a few sites / return to the earlier safe version</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Limits harm when a new model or setting behaves badly</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Project and compliance glossary / 25</a:t>
            </a:r>
          </a:p>
        </p:txBody>
      </p:sp>
    </p:spTree>
    <p:extLst>
      <p:ext uri="{BB962C8B-B14F-4D97-AF65-F5344CB8AC3E}">
        <p14:creationId xmlns:p14="http://schemas.microsoft.com/office/powerpoint/2010/main" val="1134147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2026-08-14T09:06:07.5090000Z</dcterms:created>
  <dcterms:modified xsi:type="dcterms:W3CDTF">2026-08-14T09:06:07.5090000Z</dcterms:modified>
</coreProperties>
</file>