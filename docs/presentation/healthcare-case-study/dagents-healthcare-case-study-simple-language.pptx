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7713f5a88ae4fba" /><Relationship Type="http://schemas.openxmlformats.org/officeDocument/2006/relationships/extended-properties" Target="/docProps/app.xml" Id="Rad7982147d0d4912" /><Relationship Type="http://schemas.openxmlformats.org/officeDocument/2006/relationships/officeDocument" Target="/ppt/presentation.xml" Id="Rf819f1a0330d4235" /></Relationships>
</file>

<file path=ppt/presentation.xml><?xml version="1.0" encoding="utf-8"?>
<p:presentation xmlns:p="http://schemas.openxmlformats.org/presentationml/2006/main">
  <p:sldMasterIdLst>
    <p:sldMasterId xmlns:r="http://schemas.openxmlformats.org/officeDocument/2006/relationships" id="2147483648" r:id="R8011189cb1a549e4"/>
  </p:sldMasterIdLst>
  <p:notesMasterIdLst>
    <p:notesMasterId xmlns:r="http://schemas.openxmlformats.org/officeDocument/2006/relationships" r:id="R4a916ee3e2a64f36"/>
  </p:notesMasterIdLst>
  <p:sldIdLst>
    <p:sldId xmlns:r="http://schemas.openxmlformats.org/officeDocument/2006/relationships" id="256" r:id="Rb25c57b4530e4fa7"/>
    <p:sldId xmlns:r="http://schemas.openxmlformats.org/officeDocument/2006/relationships" id="257" r:id="R2e9f2e54bf2f470f"/>
    <p:sldId xmlns:r="http://schemas.openxmlformats.org/officeDocument/2006/relationships" id="258" r:id="Ra5f86439cdb5444e"/>
    <p:sldId xmlns:r="http://schemas.openxmlformats.org/officeDocument/2006/relationships" id="259" r:id="Rbcd0f2fa8f6f4059"/>
    <p:sldId xmlns:r="http://schemas.openxmlformats.org/officeDocument/2006/relationships" id="260" r:id="R4291ce935ebb45ec"/>
    <p:sldId xmlns:r="http://schemas.openxmlformats.org/officeDocument/2006/relationships" id="261" r:id="R3816fd9ceca84e79"/>
    <p:sldId xmlns:r="http://schemas.openxmlformats.org/officeDocument/2006/relationships" id="262" r:id="R1f8fd3fcfaa34558"/>
    <p:sldId xmlns:r="http://schemas.openxmlformats.org/officeDocument/2006/relationships" id="263" r:id="R30e1dd28bee343cf"/>
    <p:sldId xmlns:r="http://schemas.openxmlformats.org/officeDocument/2006/relationships" id="264" r:id="R34bab5c8144a4e69"/>
    <p:sldId xmlns:r="http://schemas.openxmlformats.org/officeDocument/2006/relationships" id="265" r:id="R46ac24218fb747cf"/>
    <p:sldId xmlns:r="http://schemas.openxmlformats.org/officeDocument/2006/relationships" id="266" r:id="R100dce3e74b047c4"/>
    <p:sldId xmlns:r="http://schemas.openxmlformats.org/officeDocument/2006/relationships" id="267" r:id="R5d231bb72d5d4101"/>
    <p:sldId xmlns:r="http://schemas.openxmlformats.org/officeDocument/2006/relationships" id="268" r:id="R280de0363267413c"/>
    <p:sldId xmlns:r="http://schemas.openxmlformats.org/officeDocument/2006/relationships" id="269" r:id="R7d49e60136674610"/>
    <p:sldId xmlns:r="http://schemas.openxmlformats.org/officeDocument/2006/relationships" id="270" r:id="Re8ada2a092c84446"/>
    <p:sldId xmlns:r="http://schemas.openxmlformats.org/officeDocument/2006/relationships" id="271" r:id="Rd36c64864a34495e"/>
    <p:sldId xmlns:r="http://schemas.openxmlformats.org/officeDocument/2006/relationships" id="272" r:id="R266be60a99c541b7"/>
    <p:sldId xmlns:r="http://schemas.openxmlformats.org/officeDocument/2006/relationships" id="273" r:id="R8af6df4ffee34f8a"/>
    <p:sldId xmlns:r="http://schemas.openxmlformats.org/officeDocument/2006/relationships" id="274" r:id="R69325e98f4a44e24"/>
    <p:sldId xmlns:r="http://schemas.openxmlformats.org/officeDocument/2006/relationships" id="275" r:id="R99778710d9084325"/>
    <p:sldId xmlns:r="http://schemas.openxmlformats.org/officeDocument/2006/relationships" id="276" r:id="R0a2fa9d2441f4df3"/>
    <p:sldId xmlns:r="http://schemas.openxmlformats.org/officeDocument/2006/relationships" id="277" r:id="R6711474731ee448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80e2efe2ece4874" /><Relationship Type="http://schemas.openxmlformats.org/officeDocument/2006/relationships/slideMaster" Target="/ppt/slideMasters/slideMaster1.xml" Id="R8011189cb1a549e4" /><Relationship Type="http://schemas.openxmlformats.org/officeDocument/2006/relationships/notesMaster" Target="/ppt/notesMasters/notesMaster1.xml" Id="R4a916ee3e2a64f36" /><Relationship Type="http://schemas.openxmlformats.org/officeDocument/2006/relationships/presProps" Target="/ppt/presProps.xml" Id="R1f643299c66e41aa" /><Relationship Type="http://schemas.openxmlformats.org/officeDocument/2006/relationships/viewProps" Target="/ppt/viewProps.xml" Id="R0f99842292f54b9e" /><Relationship Type="http://schemas.openxmlformats.org/officeDocument/2006/relationships/tableStyles" Target="/ppt/tableStyles.xml" Id="R2f02545d6b1741a6" /><Relationship Type="http://schemas.openxmlformats.org/officeDocument/2006/relationships/slide" Target="/ppt/slides/slide1.xml" Id="Rb25c57b4530e4fa7" /><Relationship Type="http://schemas.openxmlformats.org/officeDocument/2006/relationships/slide" Target="/ppt/slides/slide2.xml" Id="R2e9f2e54bf2f470f" /><Relationship Type="http://schemas.openxmlformats.org/officeDocument/2006/relationships/slide" Target="/ppt/slides/slide3.xml" Id="Ra5f86439cdb5444e" /><Relationship Type="http://schemas.openxmlformats.org/officeDocument/2006/relationships/slide" Target="/ppt/slides/slide4.xml" Id="Rbcd0f2fa8f6f4059" /><Relationship Type="http://schemas.openxmlformats.org/officeDocument/2006/relationships/slide" Target="/ppt/slides/slide5.xml" Id="R4291ce935ebb45ec" /><Relationship Type="http://schemas.openxmlformats.org/officeDocument/2006/relationships/slide" Target="/ppt/slides/slide6.xml" Id="R3816fd9ceca84e79" /><Relationship Type="http://schemas.openxmlformats.org/officeDocument/2006/relationships/slide" Target="/ppt/slides/slide7.xml" Id="R1f8fd3fcfaa34558" /><Relationship Type="http://schemas.openxmlformats.org/officeDocument/2006/relationships/slide" Target="/ppt/slides/slide8.xml" Id="R30e1dd28bee343cf" /><Relationship Type="http://schemas.openxmlformats.org/officeDocument/2006/relationships/slide" Target="/ppt/slides/slide9.xml" Id="R34bab5c8144a4e69" /><Relationship Type="http://schemas.openxmlformats.org/officeDocument/2006/relationships/slide" Target="/ppt/slides/slide10.xml" Id="R46ac24218fb747cf" /><Relationship Type="http://schemas.openxmlformats.org/officeDocument/2006/relationships/slide" Target="/ppt/slides/slide11.xml" Id="R100dce3e74b047c4" /><Relationship Type="http://schemas.openxmlformats.org/officeDocument/2006/relationships/slide" Target="/ppt/slides/slide12.xml" Id="R5d231bb72d5d4101" /><Relationship Type="http://schemas.openxmlformats.org/officeDocument/2006/relationships/slide" Target="/ppt/slides/slide13.xml" Id="R280de0363267413c" /><Relationship Type="http://schemas.openxmlformats.org/officeDocument/2006/relationships/slide" Target="/ppt/slides/slide14.xml" Id="R7d49e60136674610" /><Relationship Type="http://schemas.openxmlformats.org/officeDocument/2006/relationships/slide" Target="/ppt/slides/slide15.xml" Id="Re8ada2a092c84446" /><Relationship Type="http://schemas.openxmlformats.org/officeDocument/2006/relationships/slide" Target="/ppt/slides/slide16.xml" Id="Rd36c64864a34495e" /><Relationship Type="http://schemas.openxmlformats.org/officeDocument/2006/relationships/slide" Target="/ppt/slides/slide17.xml" Id="R266be60a99c541b7" /><Relationship Type="http://schemas.openxmlformats.org/officeDocument/2006/relationships/slide" Target="/ppt/slides/slide18.xml" Id="R8af6df4ffee34f8a" /><Relationship Type="http://schemas.openxmlformats.org/officeDocument/2006/relationships/slide" Target="/ppt/slides/slide19.xml" Id="R69325e98f4a44e24" /><Relationship Type="http://schemas.openxmlformats.org/officeDocument/2006/relationships/slide" Target="/ppt/slides/slide20.xml" Id="R99778710d9084325" /><Relationship Type="http://schemas.openxmlformats.org/officeDocument/2006/relationships/slide" Target="/ppt/slides/slide21.xml" Id="R0a2fa9d2441f4df3" /><Relationship Type="http://schemas.openxmlformats.org/officeDocument/2006/relationships/slide" Target="/ppt/slides/slide22.xml" Id="R6711474731ee44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fef5e1860344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8016f1c2e5479e" /><Relationship Type="http://schemas.openxmlformats.org/officeDocument/2006/relationships/notesMaster" Target="/ppt/notesMasters/notesMaster1.xml" Id="R431d7bceb86a43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91b8c8551344a1" /><Relationship Type="http://schemas.openxmlformats.org/officeDocument/2006/relationships/notesMaster" Target="/ppt/notesMasters/notesMaster1.xml" Id="R560453d6bb044c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6f125e3a144b6f" /><Relationship Type="http://schemas.openxmlformats.org/officeDocument/2006/relationships/notesMaster" Target="/ppt/notesMasters/notesMaster1.xml" Id="R90184414f2cd40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b466228bbb4fca" /><Relationship Type="http://schemas.openxmlformats.org/officeDocument/2006/relationships/notesMaster" Target="/ppt/notesMasters/notesMaster1.xml" Id="R9219b695ec8c44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85f219513a4365" /><Relationship Type="http://schemas.openxmlformats.org/officeDocument/2006/relationships/notesMaster" Target="/ppt/notesMasters/notesMaster1.xml" Id="R169254199c0345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d588e051f74674" /><Relationship Type="http://schemas.openxmlformats.org/officeDocument/2006/relationships/notesMaster" Target="/ppt/notesMasters/notesMaster1.xml" Id="R49eaaed3dc634d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1e9a2e059a4e7b" /><Relationship Type="http://schemas.openxmlformats.org/officeDocument/2006/relationships/notesMaster" Target="/ppt/notesMasters/notesMaster1.xml" Id="R7f49fef2953f46ac"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efe86f03dc4795" /><Relationship Type="http://schemas.openxmlformats.org/officeDocument/2006/relationships/notesMaster" Target="/ppt/notesMasters/notesMaster1.xml" Id="R969dfb90343a42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dc443c90bf744aea" /><Relationship Type="http://schemas.openxmlformats.org/officeDocument/2006/relationships/notesMaster" Target="/ppt/notesMasters/notesMaster1.xml" Id="R8ee21e5a9c1546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bc52e1a38a54175" /><Relationship Type="http://schemas.openxmlformats.org/officeDocument/2006/relationships/notesMaster" Target="/ppt/notesMasters/notesMaster1.xml" Id="Rcac0a2deafb2475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848a34a8634801" /><Relationship Type="http://schemas.openxmlformats.org/officeDocument/2006/relationships/notesMaster" Target="/ppt/notesMasters/notesMaster1.xml" Id="R71f84cd70b2b482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fa9bb3f1a8e435d" /><Relationship Type="http://schemas.openxmlformats.org/officeDocument/2006/relationships/notesMaster" Target="/ppt/notesMasters/notesMaster1.xml" Id="R7a63f194699d4a8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7819f24a9bb47c5" /><Relationship Type="http://schemas.openxmlformats.org/officeDocument/2006/relationships/notesMaster" Target="/ppt/notesMasters/notesMaster1.xml" Id="R7cac7da287cf43f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edf038feaac4f28" /><Relationship Type="http://schemas.openxmlformats.org/officeDocument/2006/relationships/notesMaster" Target="/ppt/notesMasters/notesMaster1.xml" Id="R9b1cf5dad5d2499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7c807b70d504787" /><Relationship Type="http://schemas.openxmlformats.org/officeDocument/2006/relationships/notesMaster" Target="/ppt/notesMasters/notesMaster1.xml" Id="R8eaa185456d24b5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2bc64af4bd64d55" /><Relationship Type="http://schemas.openxmlformats.org/officeDocument/2006/relationships/notesMaster" Target="/ppt/notesMasters/notesMaster1.xml" Id="R6697f5c12efa4cf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f344961b537455a" /><Relationship Type="http://schemas.openxmlformats.org/officeDocument/2006/relationships/notesMaster" Target="/ppt/notesMasters/notesMaster1.xml" Id="Rc478003a8443473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9aad2ee44fb4df8" /><Relationship Type="http://schemas.openxmlformats.org/officeDocument/2006/relationships/notesMaster" Target="/ppt/notesMasters/notesMaster1.xml" Id="R0a8ac0c0fc634f3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a26f287e9ea48d7" /><Relationship Type="http://schemas.openxmlformats.org/officeDocument/2006/relationships/notesMaster" Target="/ppt/notesMasters/notesMaster1.xml" Id="Rb14026d9a78c474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7c7362a895a488f" /><Relationship Type="http://schemas.openxmlformats.org/officeDocument/2006/relationships/notesMaster" Target="/ppt/notesMasters/notesMaster1.xml" Id="Ra22589905fc2485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6eca32268ca4966" /><Relationship Type="http://schemas.openxmlformats.org/officeDocument/2006/relationships/notesMaster" Target="/ppt/notesMasters/notesMaster1.xml" Id="Rf2ef6aa258fd472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51abbf42de149f0" /><Relationship Type="http://schemas.openxmlformats.org/officeDocument/2006/relationships/notesMaster" Target="/ppt/notesMasters/notesMaster1.xml" Id="Rf0d46f6ed83645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central thesis: the useful unit is not one model, but a governed system spanning multiple hospital data boundaries.</a:t>
            </a:r>
          </a:p>
          <a:p xmlns:a="http://schemas.openxmlformats.org/drawingml/2006/main">
            <a:endParaRPr/>
          </a:p>
          <a:p xmlns:a="http://schemas.openxmlformats.org/drawingml/2006/main">
            <a:r>
              <a:t>[Sources]</a:t>
            </a:r>
          </a:p>
          <a:p xmlns:a="http://schemas.openxmlformats.org/drawingml/2006/main">
            <a:r>
              <a:t>- /Users/pradyundevarakonda/Developer/Dagents/docs/presentation/dagents-project-presentation.pptx</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finance list is included to show that the local/global pattern is reusable beyond healthcare.</a:t>
            </a:r>
          </a:p>
          <a:p xmlns:a="http://schemas.openxmlformats.org/drawingml/2006/main">
            <a:r>
              <a:t>The rest of the deck focuses on sepsis because it stresses privacy, safety, heterogeneous sources, and cross-site governance at once.</a:t>
            </a:r>
          </a:p>
          <a:p xmlns:a="http://schemas.openxmlformats.org/drawingml/2006/main">
            <a:endParaRPr/>
          </a:p>
          <a:p xmlns:a="http://schemas.openxmlformats.org/drawingml/2006/main">
            <a:r>
              <a:t>[Sources]</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 these as global burden estimates, not expected outcomes for the proposed pilot.</a:t>
            </a:r>
          </a:p>
          <a:p xmlns:a="http://schemas.openxmlformats.org/drawingml/2006/main">
            <a:r>
              <a:t>The case study does not claim that an early-warning system will reduce mortality; that requires prospective clinical evidence.</a:t>
            </a:r>
          </a:p>
          <a:p xmlns:a="http://schemas.openxmlformats.org/drawingml/2006/main">
            <a:endParaRPr/>
          </a:p>
          <a:p xmlns:a="http://schemas.openxmlformats.org/drawingml/2006/main">
            <a:r>
              <a:t>[Sources]</a:t>
            </a:r>
          </a:p>
          <a:p xmlns:a="http://schemas.openxmlformats.org/drawingml/2006/main">
            <a:r>
              <a:t>- https://www.who.int/news-room/fact-sheets/detail/sepsis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Sepsis is a starting case, not the permanent product boundary. It combines urgency, scattered routine signals, hospital-to-hospital differences, and a safe staged path from past-data testing to a limited pilot.</a:t>
            </a:r>
          </a:p>
          <a:p xmlns:a="http://schemas.openxmlformats.org/drawingml/2006/main">
            <a:r>
              <a:t>The Dagents coordination pattern can be reused for other conditions. What does not transfer automatically is the disease-specific data definition, trained model, warning threshold, care workflow, and clinical safety evidence.</a:t>
            </a:r>
            <a:endParaRPr/>
          </a:p>
          <a:p xmlns:a="http://schemas.openxmlformats.org/drawingml/2006/main">
            <a:r>
              <a:t/>
            </a:r>
          </a:p>
          <a:p xmlns:a="http://schemas.openxmlformats.org/drawingml/2006/main">
            <a:r>
              <a:t>[Sources]</a:t>
            </a:r>
          </a:p>
          <a:p xmlns:a="http://schemas.openxmlformats.org/drawingml/2006/main">
            <a:r>
              <a:t>- https://www.who.int/news-room/fact-sheets/detail/sepsis</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the prediction task from the coordination system around it. A good model does not solve schema drift, hospital-specific policy, deployment ownership, rollback, or audit evidence.</a:t>
            </a:r>
          </a:p>
          <a:p xmlns:a="http://schemas.openxmlformats.org/drawingml/2006/main">
            <a:r>
              <a:t>Dagents addresses this as a control-plane problem: LMA owns the hospital boundary; GMA owns approved cross-site coordination; typed contracts make plans and outcomes inspectable.</a:t>
            </a:r>
            <a:endParaRPr/>
          </a:p>
          <a:p xmlns:a="http://schemas.openxmlformats.org/drawingml/2006/main">
            <a:r>
              <a:t/>
            </a:r>
          </a:p>
          <a:p xmlns:a="http://schemas.openxmlformats.org/drawingml/2006/main">
            <a:r>
              <a:t>[Sources]</a:t>
            </a:r>
          </a:p>
          <a:p xmlns:a="http://schemas.openxmlformats.org/drawingml/2006/main">
            <a:r>
              <a:t>- /Users/pradyundevarakonda/Developer/Dagents/AGENTS.md</a:t>
            </a:r>
          </a:p>
          <a:p xmlns:a="http://schemas.openxmlformats.org/drawingml/2006/main">
            <a:r>
              <a:t>- /Users/pradyundevarakonda/Developer/Dagents/docs/agents/lma-gma-architecture.md</a:t>
            </a:r>
          </a:p>
          <a:p xmlns:a="http://schemas.openxmlformats.org/drawingml/2006/main">
            <a:r>
              <a:t>- /Users/pradyundevarakonda/Developer/Dagents/contracts/grpc/dagents/agents/v1/lma_gma.proto</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Call out that the current model-service provides generic ML infrastructure and anomaly-model examples; a clinically valid sepsis model is new work.</a:t>
            </a:r>
          </a:p>
          <a:p xmlns:a="http://schemas.openxmlformats.org/drawingml/2006/main">
            <a:endParaRPr/>
          </a:p>
          <a:p xmlns:a="http://schemas.openxmlformats.org/drawingml/2006/main">
            <a:r>
              <a:t>[Sources]</a:t>
            </a:r>
          </a:p>
          <a:p xmlns:a="http://schemas.openxmlformats.org/drawingml/2006/main">
            <a:r>
              <a:t>- /Users/pradyundevarakonda/Developer/Dagents/docs/agents/lma-gma-architecture.md</a:t>
            </a:r>
          </a:p>
          <a:p xmlns:a="http://schemas.openxmlformats.org/drawingml/2006/main">
            <a:r>
              <a:t>- /Users/pradyundevarakonda/Developer/Dagents/services/pipeline-service/README.md</a:t>
            </a:r>
          </a:p>
          <a:p xmlns:a="http://schemas.openxmlformats.org/drawingml/2006/main">
            <a:r>
              <a:t>- /Users/pradyundevarakonda/Developer/Dagents/services/model-service/README.md</a:t>
            </a:r>
          </a:p>
          <a:p xmlns:a="http://schemas.openxmlformats.org/drawingml/2006/main">
            <a:r>
              <a:t>- /Users/pradyundevarakonda/Developer/Dagents/services/core-service/README.md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is a proposed operating pattern, not a claim about every hospital.</a:t>
            </a:r>
          </a:p>
          <a:p xmlns:a="http://schemas.openxmlformats.org/drawingml/2006/main">
            <a:r>
              <a:t>The engineering problem is duplicated local stacks plus weak cross-site evidence and governance.</a:t>
            </a:r>
          </a:p>
          <a:p xmlns:a="http://schemas.openxmlformats.org/drawingml/2006/main">
            <a:endParaRPr/>
          </a:p>
          <a:p xmlns:a="http://schemas.openxmlformats.org/drawingml/2006/main">
            <a:r>
              <a:t>[Sources]</a:t>
            </a:r>
          </a:p>
          <a:p xmlns:a="http://schemas.openxmlformats.org/drawingml/2006/main">
            <a:r>
              <a:t>- https://www.hhs.gov/hipaa/for-professionals/security/index.html</a:t>
            </a:r>
          </a:p>
          <a:p xmlns:a="http://schemas.openxmlformats.org/drawingml/2006/main">
            <a:r>
              <a:t>- https://hl7.org/fhir/R4/observation.html</a:t>
            </a:r>
          </a:p>
          <a:p xmlns:a="http://schemas.openxmlformats.org/drawingml/2006/main">
            <a:r>
              <a:t>- /Users/pradyundevarakonda/Developer/Dagents/docs/presentation/healthcare-case-study/diagrams/01-current-fragmentation.mmd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does not require a central raw-PHI lake.</a:t>
            </a:r>
          </a:p>
          <a:p xmlns:a="http://schemas.openxmlformats.org/drawingml/2006/main">
            <a:r>
              <a:t>The precise aggregation technique remains a design choice; the case study requires an approved minimum-data interface rather than promising a specific federated-learning algorithm.</a:t>
            </a:r>
          </a:p>
          <a:p xmlns:a="http://schemas.openxmlformats.org/drawingml/2006/main">
            <a:endParaRPr/>
          </a:p>
          <a:p xmlns:a="http://schemas.openxmlformats.org/drawingml/2006/main">
            <a:r>
              <a:t>[Sources]</a:t>
            </a:r>
          </a:p>
          <a:p xmlns:a="http://schemas.openxmlformats.org/drawingml/2006/main">
            <a:r>
              <a:t>- /Users/pradyundevarakonda/Developer/Dagents/docs/agents/lma-gma-architecture.md</a:t>
            </a:r>
          </a:p>
          <a:p xmlns:a="http://schemas.openxmlformats.org/drawingml/2006/main">
            <a:r>
              <a:t>- /Users/pradyundevarakonda/Developer/Dagents/contracts/grpc/dagents/agents/v1/lma_gma.proto</a:t>
            </a:r>
          </a:p>
          <a:p xmlns:a="http://schemas.openxmlformats.org/drawingml/2006/main">
            <a:r>
              <a:t>- /Users/pradyundevarakonda/Developer/Dagents/docs/presentation/healthcare-case-study/diagrams/02-dagents-target-architecture.mmd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clinician control and explainability. The LMA is an execution boundary, not an autonomous doctor.</a:t>
            </a:r>
          </a:p>
          <a:p xmlns:a="http://schemas.openxmlformats.org/drawingml/2006/main">
            <a:endParaRPr/>
          </a:p>
          <a:p xmlns:a="http://schemas.openxmlformats.org/drawingml/2006/main">
            <a:r>
              <a:t>[Sources]</a:t>
            </a:r>
          </a:p>
          <a:p xmlns:a="http://schemas.openxmlformats.org/drawingml/2006/main">
            <a:r>
              <a:t>- /Users/pradyundevarakonda/Developer/Dagents/docs/agents/lma-gma-architecture.md</a:t>
            </a:r>
          </a:p>
          <a:p xmlns:a="http://schemas.openxmlformats.org/drawingml/2006/main">
            <a:r>
              <a:t>- https://www.fda.gov/regulatory-information/search-fda-guidance-documents/clinical-decision-support-software</a:t>
            </a:r>
          </a:p>
          <a:p xmlns:a="http://schemas.openxmlformats.org/drawingml/2006/main">
            <a:r>
              <a:t>- /Users/pradyundevarakonda/Developer/Dagents/docs/presentation/healthcare-case-study/diagrams/03-lma-functional-flow.mmd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GMA has registration, assimilated profiling, aggregate model execution, and deployment-planning concepts; durable production infrastructure remains future work.</a:t>
            </a:r>
          </a:p>
          <a:p xmlns:a="http://schemas.openxmlformats.org/drawingml/2006/main">
            <a:endParaRPr/>
          </a:p>
          <a:p xmlns:a="http://schemas.openxmlformats.org/drawingml/2006/main">
            <a:r>
              <a:t>[Sources]</a:t>
            </a:r>
          </a:p>
          <a:p xmlns:a="http://schemas.openxmlformats.org/drawingml/2006/main">
            <a:r>
              <a:t>- /Users/pradyundevarakonda/Developer/Dagents/docs/agents/lma-gma-architecture.md</a:t>
            </a:r>
          </a:p>
          <a:p xmlns:a="http://schemas.openxmlformats.org/drawingml/2006/main">
            <a:r>
              <a:t>- /Users/pradyundevarakonda/Developer/Dagents/contracts/grpc/dagents/agents/v1/lma_gma.proto</a:t>
            </a:r>
          </a:p>
          <a:p xmlns:a="http://schemas.openxmlformats.org/drawingml/2006/main">
            <a:r>
              <a:t>- /Users/pradyundevarakonda/Developer/Dagents/docs/presentation/healthcare-case-study/diagrams/04-gma-functional-flow.mmd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instead of the dense sequence diagram. It preserves the important logic: data arrives, local safety checks happen, a clinician decides, and only an approved summary is shared.</a:t>
            </a:r>
          </a:p>
          <a:p xmlns:a="http://schemas.openxmlformats.org/drawingml/2006/main">
            <a:r>
              <a:t/>
            </a:r>
            <a:endParaRPr/>
          </a:p>
          <a:p xmlns:a="http://schemas.openxmlformats.org/drawingml/2006/main">
            <a:r>
              <a:t>[Sources]</a:t>
            </a:r>
          </a:p>
          <a:p xmlns:a="http://schemas.openxmlformats.org/drawingml/2006/main">
            <a:r>
              <a:t>- /Users/pradyundevarakonda/Developer/Dagents/docs/agents/lma-gma-architecture.md</a:t>
            </a:r>
          </a:p>
          <a:p xmlns:a="http://schemas.openxmlformats.org/drawingml/2006/main">
            <a:r>
              <a:t>- /Users/pradyundevarakonda/Developer/Dagents/contracts/grpc/dagents/agents/v1/lma_gma.proto</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the bridge between the proposed case and the actual repository: the control-plane verbs already exist even though their production hardening is incomplete.</a:t>
            </a:r>
          </a:p>
          <a:p xmlns:a="http://schemas.openxmlformats.org/drawingml/2006/main">
            <a:endParaRPr/>
          </a:p>
          <a:p xmlns:a="http://schemas.openxmlformats.org/drawingml/2006/main">
            <a:r>
              <a:t>[Sources]</a:t>
            </a:r>
          </a:p>
          <a:p xmlns:a="http://schemas.openxmlformats.org/drawingml/2006/main">
            <a:r>
              <a:t>- /Users/pradyundevarakonda/Developer/Dagents/contracts/grpc/dagents/agents/v1/lma_gma.proto</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saying Dagents is HIPAA compliant or SOC 2 compliant. The accurate claim is that its architecture creates reusable control and evidence points.</a:t>
            </a:r>
          </a:p>
          <a:p xmlns:a="http://schemas.openxmlformats.org/drawingml/2006/main">
            <a:endParaRPr/>
          </a:p>
          <a:p xmlns:a="http://schemas.openxmlformats.org/drawingml/2006/main">
            <a:r>
              <a:t>[Sources]</a:t>
            </a:r>
          </a:p>
          <a:p xmlns:a="http://schemas.openxmlformats.org/drawingml/2006/main">
            <a:r>
              <a:t>- https://www.hhs.gov/hipaa/for-professionals/security/index.html</a:t>
            </a:r>
          </a:p>
          <a:p xmlns:a="http://schemas.openxmlformats.org/drawingml/2006/main">
            <a:r>
              <a:t>- https://www.hhs.gov/hipaa/for-professionals/security/laws-regulations/index.html</a:t>
            </a:r>
          </a:p>
          <a:p xmlns:a="http://schemas.openxmlformats.org/drawingml/2006/main">
            <a:r>
              <a:t>- https://www.aicpa-cima.com/resources/download/2017-trust-services-criteria-with-revised-points-of-focus-2022</a:t>
            </a:r>
          </a:p>
          <a:p xmlns:a="http://schemas.openxmlformats.org/drawingml/2006/main">
            <a:r>
              <a:t>- https://www.fda.gov/regulatory-information/search-fda-guidance-documents/clinical-decision-support-software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matrix is deliberately split between framework mechanisms and residual responsibilities.</a:t>
            </a:r>
          </a:p>
          <a:p xmlns:a="http://schemas.openxmlformats.org/drawingml/2006/main">
            <a:r>
              <a:t>HIPAA minimum necessary has context-specific exceptions, including certain treatment disclosures; the deploying organization must make the legal determination.</a:t>
            </a:r>
          </a:p>
          <a:p xmlns:a="http://schemas.openxmlformats.org/drawingml/2006/main">
            <a:endParaRPr/>
          </a:p>
          <a:p xmlns:a="http://schemas.openxmlformats.org/drawingml/2006/main">
            <a:r>
              <a:t>[Sources]</a:t>
            </a:r>
          </a:p>
          <a:p xmlns:a="http://schemas.openxmlformats.org/drawingml/2006/main">
            <a:r>
              <a:t>- https://www.hhs.gov/hipaa/for-professionals/privacy/guidance/minimum-necessary-requirement/index.html</a:t>
            </a:r>
          </a:p>
          <a:p xmlns:a="http://schemas.openxmlformats.org/drawingml/2006/main">
            <a:r>
              <a:t>- https://www.hhs.gov/hipaa/for-professionals/security/laws-regulations/index.html</a:t>
            </a:r>
          </a:p>
          <a:p xmlns:a="http://schemas.openxmlformats.org/drawingml/2006/main">
            <a:r>
              <a:t>- https://www.aicpa-cima.com/resources/download/2017-trust-services-criteria-with-revised-points-of-focus-2022</a:t>
            </a:r>
          </a:p>
          <a:p xmlns:a="http://schemas.openxmlformats.org/drawingml/2006/main">
            <a:r>
              <a:t>- https://www.fda.gov/regulatory-information/search-fda-guidance-documents/clinical-decision-support-software</a:t>
            </a:r>
          </a:p>
          <a:p xmlns:a="http://schemas.openxmlformats.org/drawingml/2006/main">
            <a:r>
              <a:t>- https://hl7.org/fhir/R4/observation.html</a:t>
            </a:r>
          </a:p>
          <a:p xmlns:a="http://schemas.openxmlformats.org/drawingml/2006/main">
            <a:r>
              <a:t>- https://healthit.gov/standards-and-technology/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replaces the detailed safety flowchart with four plain checks: approved use, good data, approved model, and human decision. The system must stop safely when any check fails.</a:t>
            </a:r>
          </a:p>
          <a:p xmlns:a="http://schemas.openxmlformats.org/drawingml/2006/main">
            <a:r>
              <a:t/>
            </a:r>
            <a:endParaRPr/>
          </a:p>
          <a:p xmlns:a="http://schemas.openxmlformats.org/drawingml/2006/main">
            <a:r>
              <a:t>[Sources]</a:t>
            </a:r>
          </a:p>
          <a:p xmlns:a="http://schemas.openxmlformats.org/drawingml/2006/main">
            <a:r>
              <a:t>- https://www.fda.gov/regulatory-information/search-fda-guidance-documents/clinical-decision-support-software</a:t>
            </a:r>
          </a:p>
          <a:p xmlns:a="http://schemas.openxmlformats.org/drawingml/2006/main">
            <a:r>
              <a:t>- https://airc.nist.gov/airmf-resources/airmf/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balanced effort argument: Dagents does not remove the hard clinical or compliance work; it prevents platform plumbing from being rebuilt for every site and use case.</a:t>
            </a:r>
          </a:p>
          <a:p xmlns:a="http://schemas.openxmlformats.org/drawingml/2006/main">
            <a:endParaRPr/>
          </a:p>
          <a:p xmlns:a="http://schemas.openxmlformats.org/drawingml/2006/main">
            <a:r>
              <a:t>[Sources]</a:t>
            </a:r>
          </a:p>
          <a:p xmlns:a="http://schemas.openxmlformats.org/drawingml/2006/main">
            <a:r>
              <a:t>- /Users/pradyundevarakonda/Developer/Dagents/docs/agents/lma-gma-architecture.md</a:t>
            </a:r>
          </a:p>
          <a:p xmlns:a="http://schemas.openxmlformats.org/drawingml/2006/main">
            <a:r>
              <a:t>- /Users/pradyundevarakonda/Developer/Dagents/services/core-service/README.md</a:t>
            </a:r>
          </a:p>
          <a:p xmlns:a="http://schemas.openxmlformats.org/drawingml/2006/main">
            <a:r>
              <a:t>- /Users/pradyundevarakonda/Developer/Dagents/services/pipeline-service/README.md</a:t>
            </a:r>
          </a:p>
          <a:p xmlns:a="http://schemas.openxmlformats.org/drawingml/2006/main">
            <a:r>
              <a:t>- /Users/pradyundevarakonda/Developer/Dagents/services/model-service/README.md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capability-fit comparison, not a benchmark. The strongest argument is composability: Dagents can call a federated-learning runtime, cloud MLOps service, or workflow engine rather than pretending to replace every component.</a:t>
            </a:r>
          </a:p>
          <a:p xmlns:a="http://schemas.openxmlformats.org/drawingml/2006/main">
            <a:r>
              <a:t>The trade-off is candid: Dagents has broader domain orchestration but less production maturity and requires healthcare-specific adapters, controls, and validation.</a:t>
            </a:r>
          </a:p>
          <a:p xmlns:a="http://schemas.openxmlformats.org/drawingml/2006/main">
            <a:r>
              <a:t/>
            </a:r>
            <a:endParaRPr/>
          </a:p>
          <a:p xmlns:a="http://schemas.openxmlformats.org/drawingml/2006/main">
            <a:r>
              <a:t>[Sources]</a:t>
            </a:r>
          </a:p>
          <a:p xmlns:a="http://schemas.openxmlformats.org/drawingml/2006/main">
            <a:r>
              <a:t>- https://flower.ai/docs/framework/index.html</a:t>
            </a:r>
          </a:p>
          <a:p xmlns:a="http://schemas.openxmlformats.org/drawingml/2006/main">
            <a:r>
              <a:t>- https://nvidia.github.io/NVFlare/</a:t>
            </a:r>
          </a:p>
          <a:p xmlns:a="http://schemas.openxmlformats.org/drawingml/2006/main">
            <a:r>
              <a:t>- https://docs.aws.amazon.com/sagemaker/latest/dg/whatis.html</a:t>
            </a:r>
          </a:p>
          <a:p xmlns:a="http://schemas.openxmlformats.org/drawingml/2006/main">
            <a:r>
              <a:t>- https://learn.microsoft.com/en-us/azure/machine-learning/overview-what-is-azure-machine-learning</a:t>
            </a:r>
          </a:p>
          <a:p xmlns:a="http://schemas.openxmlformats.org/drawingml/2006/main">
            <a:r>
              <a:t>- https://www.kubeflow.org/docs/components/pipelines/concepts/pipeline/</a:t>
            </a:r>
          </a:p>
          <a:p xmlns:a="http://schemas.openxmlformats.org/drawingml/2006/main">
            <a:r>
              <a:t>- https://airflow.apache.org/docs/apache-airflow/stable/core-concepts/overview.html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promise a clinical go-live. The requested case is strongest as a research and shadow-mode pilot with explicit evidence gates.</a:t>
            </a:r>
          </a:p>
          <a:p xmlns:a="http://schemas.openxmlformats.org/drawingml/2006/main">
            <a:endParaRPr/>
          </a:p>
          <a:p xmlns:a="http://schemas.openxmlformats.org/drawingml/2006/main">
            <a:r>
              <a:t>[Sources]</a:t>
            </a:r>
          </a:p>
          <a:p xmlns:a="http://schemas.openxmlformats.org/drawingml/2006/main">
            <a:r>
              <a:t>- https://www.fda.gov/regulatory-information/search-fda-guidance-documents/clinical-decision-support-software</a:t>
            </a:r>
          </a:p>
          <a:p xmlns:a="http://schemas.openxmlformats.org/drawingml/2006/main">
            <a:r>
              <a:t>- https://airc.nist.gov/airmf-resources/airmf/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fixed alert budget connects technical performance to clinician capacity and prevents a high-sensitivity result from hiding unusable alert volume.</a:t>
            </a:r>
          </a:p>
          <a:p xmlns:a="http://schemas.openxmlformats.org/drawingml/2006/main">
            <a:endParaRPr/>
          </a:p>
          <a:p xmlns:a="http://schemas.openxmlformats.org/drawingml/2006/main">
            <a:r>
              <a:t>[Sources]</a:t>
            </a:r>
          </a:p>
          <a:p xmlns:a="http://schemas.openxmlformats.org/drawingml/2006/main">
            <a:r>
              <a:t>- https://www.fda.gov/regulatory-information/search-fda-guidance-documents/clinical-decision-support-software</a:t>
            </a:r>
          </a:p>
          <a:p xmlns:a="http://schemas.openxmlformats.org/drawingml/2006/main">
            <a:r>
              <a:t>- https://airc.nist.gov/airmf-resources/airmf/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distinction between reusable platform scope and disease-specific clinical scope. Dagents can coordinate many healthcare models, but a model proven for sepsis cannot simply be reused for another condition.</a:t>
            </a:r>
          </a:p>
          <a:p xmlns:a="http://schemas.openxmlformats.org/drawingml/2006/main">
            <a:r>
              <a:t/>
            </a:r>
            <a:endParaRPr/>
          </a:p>
          <a:p xmlns:a="http://schemas.openxmlformats.org/drawingml/2006/main">
            <a:r>
              <a:t>[Sources]</a:t>
            </a:r>
          </a:p>
          <a:p xmlns:a="http://schemas.openxmlformats.org/drawingml/2006/main">
            <a:r>
              <a:t>- /Users/pradyundevarakonda/Developer/Dagents/docs/agents/lma-gma-architecture.md</a:t>
            </a:r>
          </a:p>
          <a:p xmlns:a="http://schemas.openxmlformats.org/drawingml/2006/main">
            <a:r>
              <a:t>- https://www.hhs.gov/hipaa/for-professionals/security/index.html</a:t>
            </a:r>
          </a:p>
          <a:p xmlns:a="http://schemas.openxmlformats.org/drawingml/2006/main">
            <a:r>
              <a:t>- https://www.aicpa-cima.com/resources/download/2017-trust-services-criteria-with-revised-points-of-focus-2022</a:t>
            </a:r>
          </a:p>
          <a:p xmlns:a="http://schemas.openxmlformats.org/drawingml/2006/main">
            <a:r>
              <a:t>- https://www.fda.gov/regulatory-information/search-fda-guidance-documents/clinical-decision-support-software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glossary when presenting to an audience without healthcare experience. Retrospective study and shadow mode are written in plain language as past-data testing and silent live testing.</a:t>
            </a:r>
          </a:p>
          <a:p xmlns:a="http://schemas.openxmlformats.org/drawingml/2006/main">
            <a:r>
              <a:t/>
            </a:r>
            <a:endParaRPr/>
          </a:p>
          <a:p xmlns:a="http://schemas.openxmlformats.org/drawingml/2006/main">
            <a:r>
              <a:t>[Sources]</a:t>
            </a:r>
          </a:p>
          <a:p xmlns:a="http://schemas.openxmlformats.org/drawingml/2006/main">
            <a:r>
              <a:t>- https://www.who.int/news-room/fact-sheets/detail/sepsis</a:t>
            </a:r>
          </a:p>
          <a:p xmlns:a="http://schemas.openxmlformats.org/drawingml/2006/main">
            <a:r>
              <a:t>- https://www.hhs.gov/hipaa/for-professionals/privacy/laws-regulations/index.html</a:t>
            </a:r>
          </a:p>
          <a:p xmlns:a="http://schemas.openxmlformats.org/drawingml/2006/main">
            <a:r>
              <a:t>- https://www.fda.gov/regulatory-information/search-fda-guidance-documents/clinical-decision-support-software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LMA and GMA are Dagents terms. FHIR and HL7 are health-data exchange standards. HIPAA and SOC 2 have different scopes: one is a U.S. health-information regulatory framework; the other is an independent attestation against trust-services criteria.</a:t>
            </a:r>
          </a:p>
          <a:p xmlns:a="http://schemas.openxmlformats.org/drawingml/2006/main">
            <a:r>
              <a:t/>
            </a:r>
            <a:endParaRPr/>
          </a:p>
          <a:p xmlns:a="http://schemas.openxmlformats.org/drawingml/2006/main">
            <a:r>
              <a:t>[Sources]</a:t>
            </a:r>
          </a:p>
          <a:p xmlns:a="http://schemas.openxmlformats.org/drawingml/2006/main">
            <a:r>
              <a:t>- /Users/pradyundevarakonda/Developer/Dagents/docs/agents/lma-gma-architecture.md</a:t>
            </a:r>
          </a:p>
          <a:p xmlns:a="http://schemas.openxmlformats.org/drawingml/2006/main">
            <a:r>
              <a:t>- https://www.hl7.org/fhir/overview.html</a:t>
            </a:r>
          </a:p>
          <a:p xmlns:a="http://schemas.openxmlformats.org/drawingml/2006/main">
            <a:r>
              <a:t>- https://www.hhs.gov/hipaa/for-professionals/security/index.html</a:t>
            </a:r>
          </a:p>
          <a:p xmlns:a="http://schemas.openxmlformats.org/drawingml/2006/main">
            <a:r>
              <a:t>- https://www.aicpa-cima.com/resources/download/2017-trust-services-criteria-with-revised-points-of-focus-2022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10272c2eb849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73759676af4ff6" /><Relationship Type="http://schemas.openxmlformats.org/officeDocument/2006/relationships/slideLayout" Target="/ppt/slideLayouts/slideLayout1.xml" Id="R6166cebb18444bf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66cebb18444bf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bc7efac3ff349eb" /><Relationship Type="http://schemas.openxmlformats.org/officeDocument/2006/relationships/hyperlink" Target="https://github.com/pradyunuydarp/Dagents.git" TargetMode="External" Id="R2f094afabac24f62" /><Relationship Type="http://schemas.openxmlformats.org/officeDocument/2006/relationships/notesSlide" Target="/ppt/notesSlides/notesSlide1.xml" Id="Rb7f35416f98d4c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4cb3f48a8ef4abd" /><Relationship Type="http://schemas.openxmlformats.org/officeDocument/2006/relationships/notesSlide" Target="/ppt/notesSlides/notesSlide2.xml" Id="Rb509fa587ca343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b5756cbf0c5465e" /><Relationship Type="http://schemas.openxmlformats.org/officeDocument/2006/relationships/notesSlide" Target="/ppt/notesSlides/notesSlide3.xml" Id="Rc765d19bba294f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d218622028a4fd5" /><Relationship Type="http://schemas.openxmlformats.org/officeDocument/2006/relationships/notesSlide" Target="/ppt/notesSlides/notesSlide4.xml" Id="R5909f543e54647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81fc908b4d498f" /><Relationship Type="http://schemas.openxmlformats.org/officeDocument/2006/relationships/notesSlide" Target="/ppt/notesSlides/notesSlide5.xml" Id="R52c171fb1cc0434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a45c884977c4a51" /><Relationship Type="http://schemas.openxmlformats.org/officeDocument/2006/relationships/notesSlide" Target="/ppt/notesSlides/notesSlide6.xml" Id="R1c4cd4dc8cb847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c1b7c070824f2c" /><Relationship Type="http://schemas.openxmlformats.org/officeDocument/2006/relationships/image" Target="/ppt/media/image.png" Id="Rc7a30f9c487e4b17" /><Relationship Type="http://schemas.openxmlformats.org/officeDocument/2006/relationships/notesSlide" Target="/ppt/notesSlides/notesSlide7.xml" Id="Rb85419228a494b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b277fca6fab4c3f" /><Relationship Type="http://schemas.openxmlformats.org/officeDocument/2006/relationships/image" Target="/ppt/media/image2.png" Id="R5d8a8bee0f424510" /><Relationship Type="http://schemas.openxmlformats.org/officeDocument/2006/relationships/notesSlide" Target="/ppt/notesSlides/notesSlide8.xml" Id="R707d983312c344b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17a24342e7a45ae" /><Relationship Type="http://schemas.openxmlformats.org/officeDocument/2006/relationships/notesSlide" Target="/ppt/notesSlides/notesSlide9.xml" Id="Rf53c3ef468ed46b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5756b506b994ac5" /><Relationship Type="http://schemas.openxmlformats.org/officeDocument/2006/relationships/notesSlide" Target="/ppt/notesSlides/notesSlide10.xml" Id="Ra04022fc8c1940c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49471a9894d4231" /><Relationship Type="http://schemas.openxmlformats.org/officeDocument/2006/relationships/notesSlide" Target="/ppt/notesSlides/notesSlide11.xml" Id="R8ce54fb6d907473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f03ee393c774cdc" /><Relationship Type="http://schemas.openxmlformats.org/officeDocument/2006/relationships/notesSlide" Target="/ppt/notesSlides/notesSlide12.xml" Id="R6222f2d0672d4aa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2f789203e144191" /><Relationship Type="http://schemas.openxmlformats.org/officeDocument/2006/relationships/notesSlide" Target="/ppt/notesSlides/notesSlide13.xml" Id="Rdb629634b3a14ac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a64df5a1bb748ab" /><Relationship Type="http://schemas.openxmlformats.org/officeDocument/2006/relationships/notesSlide" Target="/ppt/notesSlides/notesSlide14.xml" Id="Ra0378a14b9ce45b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36f79b360e74904" /><Relationship Type="http://schemas.openxmlformats.org/officeDocument/2006/relationships/notesSlide" Target="/ppt/notesSlides/notesSlide15.xml" Id="R2607ba0923104d5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2a5d929e0804001" /><Relationship Type="http://schemas.openxmlformats.org/officeDocument/2006/relationships/notesSlide" Target="/ppt/notesSlides/notesSlide16.xml" Id="R8d0bd44ff8c74a8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273aaf46ba74ce2" /><Relationship Type="http://schemas.openxmlformats.org/officeDocument/2006/relationships/notesSlide" Target="/ppt/notesSlides/notesSlide17.xml" Id="R139450138b8f44d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94b1de0a31e46ce" /><Relationship Type="http://schemas.openxmlformats.org/officeDocument/2006/relationships/notesSlide" Target="/ppt/notesSlides/notesSlide18.xml" Id="R58098a47e2d244a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ee369ad5d1e44ef" /><Relationship Type="http://schemas.openxmlformats.org/officeDocument/2006/relationships/notesSlide" Target="/ppt/notesSlides/notesSlide19.xml" Id="R6ebffed8db10447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2827f5b15ed46c7" /><Relationship Type="http://schemas.openxmlformats.org/officeDocument/2006/relationships/notesSlide" Target="/ppt/notesSlides/notesSlide20.xml" Id="R3f03c277dfc4485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817e1c091314808" /><Relationship Type="http://schemas.openxmlformats.org/officeDocument/2006/relationships/notesSlide" Target="/ppt/notesSlides/notesSlide21.xml" Id="R6374b0e9095b4da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f01b46e9d864adf" /><Relationship Type="http://schemas.openxmlformats.org/officeDocument/2006/relationships/notesSlide" Target="/ppt/notesSlides/notesSlide22.xml" Id="R982ae142dc2f497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2" name="Rectangle 11">
            <a:hlinkClick xmlns:r="http://schemas.openxmlformats.org/officeDocument/2006/relationships" xmlns:a="http://schemas.openxmlformats.org/drawingml/2006/main" r:id="R2f094afabac24f62"/>
            <a:extLst xmlns:a="http://schemas.openxmlformats.org/drawingml/2006/main">
              <a:ext uri="{FF2B5EF4-FFF2-40B4-BE49-F238E27FC236}">
                <a16:creationId xmlns:a16="http://schemas.microsoft.com/office/drawing/2014/main" id="{DBAD7086-21FE-4FD0-95D7-1188A3E82C5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11815"/>
          </a:solidFill>
          <a:ln xmlns:a="http://schemas.openxmlformats.org/drawingml/2006/main" w="9525">
            <a:solidFill>
              <a:srgbClr val="111815"/>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0684ED2-C417-447E-BC93-3DDECEBC401B}"/>
              </a:ext>
            </a:extLst>
          </p:cNvPr>
          <p:cNvSpPr>
            <a:spLocks xmlns:a="http://schemas.openxmlformats.org/drawingml/2006/main" noGrp="1"/>
          </p:cNvSpPr>
          <p:nvPr/>
        </p:nvSpPr>
        <p:spPr>
          <a:xfrm xmlns:a="http://schemas.openxmlformats.org/drawingml/2006/main">
            <a:off x="666750" y="533400"/>
            <a:ext cx="1619250" cy="247650"/>
          </a:xfrm>
          <a:prstGeom xmlns:a="http://schemas.openxmlformats.org/drawingml/2006/main" prst="rect">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FFFFFF"/>
                </a:solidFill>
                <a:latin typeface="Aptos"/>
                <a:ea typeface="Aptos"/>
                <a:cs typeface="Aptos"/>
              </a:defRPr>
            </a:pPr>
            <a:r>
              <a:rPr sz="900" b="1">
                <a:solidFill>
                  <a:srgbClr val="FFFFFF"/>
                </a:solidFill>
                <a:latin typeface="Aptos"/>
                <a:ea typeface="Aptos"/>
                <a:cs typeface="Aptos"/>
              </a:rPr>
              <a:t>HEALTHCARE CASE STUDY</a:t>
            </a:r>
          </a:p>
        </p:txBody>
      </p:sp>
      <p:sp>
        <p:nvSpPr>
          <p:cNvPr id="3" name="Rectangle 2">
            <a:extLst xmlns:a="http://schemas.openxmlformats.org/drawingml/2006/main">
              <a:ext uri="{FF2B5EF4-FFF2-40B4-BE49-F238E27FC236}">
                <a16:creationId xmlns:a16="http://schemas.microsoft.com/office/drawing/2014/main" id="{002AADAB-1301-46D6-B41A-E64CF809AE50}"/>
              </a:ext>
            </a:extLst>
          </p:cNvPr>
          <p:cNvSpPr>
            <a:spLocks xmlns:a="http://schemas.openxmlformats.org/drawingml/2006/main" noGrp="1"/>
          </p:cNvSpPr>
          <p:nvPr/>
        </p:nvSpPr>
        <p:spPr>
          <a:xfrm xmlns:a="http://schemas.openxmlformats.org/drawingml/2006/main">
            <a:off x="666750" y="1200150"/>
            <a:ext cx="8382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3150" b="0">
                <a:solidFill>
                  <a:srgbClr val="FFFFFF"/>
                </a:solidFill>
                <a:latin typeface="Georgia"/>
                <a:ea typeface="Georgia"/>
                <a:cs typeface="Georgia"/>
              </a:defRPr>
            </a:pPr>
            <a:r>
              <a:rPr sz="3150" b="0">
                <a:solidFill>
                  <a:srgbClr val="FFFFFF"/>
                </a:solidFill>
                <a:latin typeface="Georgia"/>
                <a:ea typeface="Georgia"/>
                <a:cs typeface="Georgia"/>
              </a:rPr>
              <a:t>Dagents for Sepsis Warnings</a:t>
            </a:r>
          </a:p>
        </p:txBody>
      </p:sp>
      <p:sp>
        <p:nvSpPr>
          <p:cNvPr id="4" name="Rectangle 3">
            <a:extLst xmlns:a="http://schemas.openxmlformats.org/drawingml/2006/main">
              <a:ext uri="{FF2B5EF4-FFF2-40B4-BE49-F238E27FC236}">
                <a16:creationId xmlns:a16="http://schemas.microsoft.com/office/drawing/2014/main" id="{4E35700B-61E4-42B5-88FF-89C9CE76EE4C}"/>
              </a:ext>
            </a:extLst>
          </p:cNvPr>
          <p:cNvSpPr>
            <a:spLocks xmlns:a="http://schemas.openxmlformats.org/drawingml/2006/main" noGrp="1"/>
          </p:cNvSpPr>
          <p:nvPr/>
        </p:nvSpPr>
        <p:spPr>
          <a:xfrm xmlns:a="http://schemas.openxmlformats.org/drawingml/2006/main">
            <a:off x="704850" y="2724150"/>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C6D2CB"/>
                </a:solidFill>
                <a:latin typeface="Aptos"/>
                <a:ea typeface="Aptos"/>
                <a:cs typeface="Aptos"/>
              </a:defRPr>
            </a:pPr>
            <a:r>
              <a:rPr sz="1500" b="0">
                <a:solidFill>
                  <a:srgbClr val="C6D2CB"/>
                </a:solidFill>
                <a:latin typeface="Aptos"/>
                <a:ea typeface="Aptos"/>
                <a:cs typeface="Aptos"/>
              </a:rPr>
              <a:t>A case across several hospitals: analyze patient data inside each hospital, share only approved results, and track every model update.</a:t>
            </a:r>
          </a:p>
        </p:txBody>
      </p:sp>
      <p:sp>
        <p:nvSpPr>
          <p:cNvPr id="5" name="Rounded Rectangle 4">
            <a:extLst xmlns:a="http://schemas.openxmlformats.org/drawingml/2006/main">
              <a:ext uri="{FF2B5EF4-FFF2-40B4-BE49-F238E27FC236}">
                <a16:creationId xmlns:a16="http://schemas.microsoft.com/office/drawing/2014/main" id="{528D4DF1-5B75-4D5B-B480-0169FB7D537F}"/>
              </a:ext>
            </a:extLst>
          </p:cNvPr>
          <p:cNvSpPr>
            <a:spLocks xmlns:a="http://schemas.openxmlformats.org/drawingml/2006/main" noGrp="1"/>
          </p:cNvSpPr>
          <p:nvPr/>
        </p:nvSpPr>
        <p:spPr>
          <a:xfrm xmlns:a="http://schemas.openxmlformats.org/drawingml/2006/main">
            <a:off x="914400" y="4210050"/>
            <a:ext cx="1920240" cy="647700"/>
          </a:xfrm>
          <a:prstGeom xmlns:a="http://schemas.openxmlformats.org/drawingml/2006/main" prst="roundRect">
            <a:avLst>
              <a:gd name="adj" fmla="val 5882"/>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Patient records</a:t>
            </a:r>
          </a:p>
        </p:txBody>
      </p:sp>
      <p:sp>
        <p:nvSpPr>
          <p:cNvPr id="6" name="Rounded Rectangle 5">
            <a:extLst xmlns:a="http://schemas.openxmlformats.org/drawingml/2006/main">
              <a:ext uri="{FF2B5EF4-FFF2-40B4-BE49-F238E27FC236}">
                <a16:creationId xmlns:a16="http://schemas.microsoft.com/office/drawing/2014/main" id="{D60A53B9-A4E7-484F-8034-98A213935481}"/>
              </a:ext>
            </a:extLst>
          </p:cNvPr>
          <p:cNvSpPr>
            <a:spLocks xmlns:a="http://schemas.openxmlformats.org/drawingml/2006/main" noGrp="1"/>
          </p:cNvSpPr>
          <p:nvPr/>
        </p:nvSpPr>
        <p:spPr>
          <a:xfrm xmlns:a="http://schemas.openxmlformats.org/drawingml/2006/main">
            <a:off x="2987040" y="4210050"/>
            <a:ext cx="1920240" cy="647700"/>
          </a:xfrm>
          <a:prstGeom xmlns:a="http://schemas.openxmlformats.org/drawingml/2006/main" prst="roundRect">
            <a:avLst>
              <a:gd name="adj" fmla="val 5882"/>
            </a:avLst>
          </a:prstGeom>
          <a:solidFill xmlns:a="http://schemas.openxmlformats.org/drawingml/2006/main">
            <a:srgbClr val="2D5B7C"/>
          </a:solidFill>
          <a:ln xmlns:a="http://schemas.openxmlformats.org/drawingml/2006/main" w="9525">
            <a:solidFill>
              <a:srgbClr val="2D5B7C"/>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Local agent</a:t>
            </a:r>
          </a:p>
        </p:txBody>
      </p:sp>
      <p:sp>
        <p:nvSpPr>
          <p:cNvPr id="7" name="Rounded Rectangle 6">
            <a:extLst xmlns:a="http://schemas.openxmlformats.org/drawingml/2006/main">
              <a:ext uri="{FF2B5EF4-FFF2-40B4-BE49-F238E27FC236}">
                <a16:creationId xmlns:a16="http://schemas.microsoft.com/office/drawing/2014/main" id="{5566A10A-F573-49D6-877E-CE49EE18CAEE}"/>
              </a:ext>
            </a:extLst>
          </p:cNvPr>
          <p:cNvSpPr>
            <a:spLocks xmlns:a="http://schemas.openxmlformats.org/drawingml/2006/main" noGrp="1"/>
          </p:cNvSpPr>
          <p:nvPr/>
        </p:nvSpPr>
        <p:spPr>
          <a:xfrm xmlns:a="http://schemas.openxmlformats.org/drawingml/2006/main">
            <a:off x="5059680" y="4210050"/>
            <a:ext cx="1920240" cy="647700"/>
          </a:xfrm>
          <a:prstGeom xmlns:a="http://schemas.openxmlformats.org/drawingml/2006/main" prst="roundRect">
            <a:avLst>
              <a:gd name="adj" fmla="val 5882"/>
            </a:avLst>
          </a:prstGeom>
          <a:solidFill xmlns:a="http://schemas.openxmlformats.org/drawingml/2006/main">
            <a:srgbClr val="B4842B"/>
          </a:solidFill>
          <a:ln xmlns:a="http://schemas.openxmlformats.org/drawingml/2006/main" w="9525">
            <a:solidFill>
              <a:srgbClr val="B4842B"/>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Global agent</a:t>
            </a:r>
          </a:p>
        </p:txBody>
      </p:sp>
      <p:sp>
        <p:nvSpPr>
          <p:cNvPr id="8" name="Rounded Rectangle 7">
            <a:extLst xmlns:a="http://schemas.openxmlformats.org/drawingml/2006/main">
              <a:ext uri="{FF2B5EF4-FFF2-40B4-BE49-F238E27FC236}">
                <a16:creationId xmlns:a16="http://schemas.microsoft.com/office/drawing/2014/main" id="{5C63E76E-89CD-4533-B12B-BA23CA95D353}"/>
              </a:ext>
            </a:extLst>
          </p:cNvPr>
          <p:cNvSpPr>
            <a:spLocks xmlns:a="http://schemas.openxmlformats.org/drawingml/2006/main" noGrp="1"/>
          </p:cNvSpPr>
          <p:nvPr/>
        </p:nvSpPr>
        <p:spPr>
          <a:xfrm xmlns:a="http://schemas.openxmlformats.org/drawingml/2006/main">
            <a:off x="7132320" y="4210050"/>
            <a:ext cx="1920240" cy="647700"/>
          </a:xfrm>
          <a:prstGeom xmlns:a="http://schemas.openxmlformats.org/drawingml/2006/main" prst="roundRect">
            <a:avLst>
              <a:gd name="adj" fmla="val 5882"/>
            </a:avLst>
          </a:prstGeom>
          <a:solidFill xmlns:a="http://schemas.openxmlformats.org/drawingml/2006/main">
            <a:srgbClr val="A34D3E"/>
          </a:solidFill>
          <a:ln xmlns:a="http://schemas.openxmlformats.org/drawingml/2006/main" w="9525">
            <a:solidFill>
              <a:srgbClr val="A34D3E"/>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Clinician review</a:t>
            </a:r>
          </a:p>
        </p:txBody>
      </p:sp>
      <p:sp>
        <p:nvSpPr>
          <p:cNvPr id="9" name="Rounded Rectangle 8">
            <a:extLst xmlns:a="http://schemas.openxmlformats.org/drawingml/2006/main">
              <a:ext uri="{FF2B5EF4-FFF2-40B4-BE49-F238E27FC236}">
                <a16:creationId xmlns:a16="http://schemas.microsoft.com/office/drawing/2014/main" id="{B0B2C03F-8B20-492A-AE4E-3EBDA2782D40}"/>
              </a:ext>
            </a:extLst>
          </p:cNvPr>
          <p:cNvSpPr>
            <a:spLocks xmlns:a="http://schemas.openxmlformats.org/drawingml/2006/main" noGrp="1"/>
          </p:cNvSpPr>
          <p:nvPr/>
        </p:nvSpPr>
        <p:spPr>
          <a:xfrm xmlns:a="http://schemas.openxmlformats.org/drawingml/2006/main">
            <a:off x="9204960" y="4210050"/>
            <a:ext cx="1920240" cy="647700"/>
          </a:xfrm>
          <a:prstGeom xmlns:a="http://schemas.openxmlformats.org/drawingml/2006/main" prst="roundRect">
            <a:avLst>
              <a:gd name="adj" fmla="val 5882"/>
            </a:avLst>
          </a:prstGeom>
          <a:solidFill xmlns:a="http://schemas.openxmlformats.org/drawingml/2006/main">
            <a:srgbClr val="65549A"/>
          </a:solidFill>
          <a:ln xmlns:a="http://schemas.openxmlformats.org/drawingml/2006/main" w="9525">
            <a:solidFill>
              <a:srgbClr val="65549A"/>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Controlled updates</a:t>
            </a:r>
          </a:p>
        </p:txBody>
      </p:sp>
      <p:sp>
        <p:nvSpPr>
          <p:cNvPr id="11" name="Rectangle 10">
            <a:extLst xmlns:a="http://schemas.openxmlformats.org/drawingml/2006/main">
              <a:ext uri="{FF2B5EF4-FFF2-40B4-BE49-F238E27FC236}">
                <a16:creationId xmlns:a16="http://schemas.microsoft.com/office/drawing/2014/main" id="{6BE66650-CFE7-4B7A-A510-5BEC7C131A06}"/>
              </a:ext>
            </a:extLst>
          </p:cNvPr>
          <p:cNvSpPr>
            <a:spLocks xmlns:a="http://schemas.openxmlformats.org/drawingml/2006/main" noGrp="1"/>
          </p:cNvSpPr>
          <p:nvPr/>
        </p:nvSpPr>
        <p:spPr>
          <a:xfrm xmlns:a="http://schemas.openxmlformats.org/drawingml/2006/main">
            <a:off x="666750" y="645795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94A39A"/>
                </a:solidFill>
                <a:latin typeface="Aptos"/>
                <a:ea typeface="Aptos"/>
                <a:cs typeface="Aptos"/>
              </a:defRPr>
            </a:pPr>
            <a:r>
              <a:rPr sz="825" b="0">
                <a:solidFill>
                  <a:srgbClr val="94A39A"/>
                </a:solidFill>
                <a:latin typeface="Aptos"/>
                <a:ea typeface="Aptos"/>
                <a:cs typeface="Aptos"/>
              </a:rPr>
              <a:t>Dagents Healthcare / 01</a:t>
            </a:r>
          </a:p>
        </p:txBody>
      </p:sp>
      <p:sp>
        <p:nvSpPr>
          <p:cNvPr id="13" name="TextBox 12">
            <a:extLst xmlns:a="http://schemas.openxmlformats.org/drawingml/2006/main">
              <a:ext uri="{FF2B5EF4-FFF2-40B4-BE49-F238E27FC236}">
                <a16:creationId xmlns:a16="http://schemas.microsoft.com/office/drawing/2014/main" id="{4063BD50-1495-DE9C-D046-E7C5F535B0B9}"/>
              </a:ext>
            </a:extLst>
          </p:cNvPr>
          <p:cNvSpPr>
            <a:spLocks xmlns:a="http://schemas.openxmlformats.org/drawingml/2006/main" noGrp="1"/>
          </p:cNvSpPr>
          <p:nvPr/>
        </p:nvSpPr>
        <p:spPr>
          <a:xfrm xmlns:a="http://schemas.openxmlformats.org/drawingml/2006/main">
            <a:off x="9525230" y="6044625"/>
            <a:ext cx="3581400"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bg2">
                    <a:lumMod val="75000"/>
                  </a:schemeClr>
                </a:solidFill>
              </a:rPr>
              <a:t>Pradyun Devarakonda</a:t>
            </a:r>
          </a:p>
          <a:p xmlns:a="http://schemas.openxmlformats.org/drawingml/2006/main">
            <a:r>
              <a:rPr sz="1600">
                <a:solidFill>
                  <a:schemeClr val="bg2">
                    <a:lumMod val="75000"/>
                  </a:schemeClr>
                </a:solidFill>
              </a:rPr>
              <a:t>Professor presentation</a:t>
            </a:r>
          </a:p>
        </p:txBody>
      </p:sp>
    </p:spTree>
    <p:extLst>
      <p:ext uri="{BB962C8B-B14F-4D97-AF65-F5344CB8AC3E}">
        <p14:creationId xmlns:p14="http://schemas.microsoft.com/office/powerpoint/2010/main" val="186166369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745AB7B7-DB75-496C-AF33-7FDD3DC5DDB8}"/>
              </a:ext>
            </a:extLst>
          </p:cNvPr>
          <p:cNvSpPr>
            <a:spLocks xmlns:a="http://schemas.openxmlformats.org/drawingml/2006/main" noGrp="1"/>
          </p:cNvSpPr>
          <p:nvPr/>
        </p:nvSpPr>
        <p:spPr>
          <a:xfrm xmlns:a="http://schemas.openxmlformats.org/drawingml/2006/main">
            <a:off x="0" y="10160"/>
            <a:ext cx="12192000" cy="6858000"/>
          </a:xfrm>
          <a:prstGeom xmlns:a="http://schemas.openxmlformats.org/drawingml/2006/main" prst="rect">
            <a:avLst/>
          </a:prstGeom>
          <a:solidFill xmlns:a="http://schemas.openxmlformats.org/drawingml/2006/main">
            <a:srgbClr val="F7F3EA"/>
          </a:solidFill>
          <a:ln xmlns:a="http://schemas.openxmlformats.org/drawingml/2006/main" w="9525">
            <a:solidFill>
              <a:srgbClr val="F7F3EA"/>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B0A0CB6B-1963-477D-B18C-AB79936C0891}"/>
              </a:ext>
            </a:extLst>
          </p:cNvPr>
          <p:cNvSpPr>
            <a:spLocks xmlns:a="http://schemas.openxmlformats.org/drawingml/2006/main" noGrp="1"/>
          </p:cNvSpPr>
          <p:nvPr/>
        </p:nvSpPr>
        <p:spPr>
          <a:xfrm xmlns:a="http://schemas.openxmlformats.org/drawingml/2006/main">
            <a:off x="666750" y="400050"/>
            <a:ext cx="1619250" cy="238125"/>
          </a:xfrm>
          <a:prstGeom xmlns:a="http://schemas.openxmlformats.org/drawingml/2006/main" prst="rect">
            <a:avLst/>
          </a:prstGeom>
          <a:solidFill xmlns:a="http://schemas.openxmlformats.org/drawingml/2006/main">
            <a:srgbClr val="15201B"/>
          </a:solidFill>
          <a:ln xmlns:a="http://schemas.openxmlformats.org/drawingml/2006/main" w="9525">
            <a:solidFill>
              <a:srgbClr val="15201B"/>
            </a:solidFill>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FFFFFF"/>
                </a:solidFill>
                <a:latin typeface="Aptos"/>
                <a:ea typeface="Aptos"/>
                <a:cs typeface="Aptos"/>
              </a:defRPr>
            </a:pPr>
            <a:r>
              <a:rPr sz="900" b="1">
                <a:solidFill>
                  <a:srgbClr val="FFFFFF"/>
                </a:solidFill>
                <a:latin typeface="Aptos"/>
                <a:ea typeface="Aptos"/>
                <a:cs typeface="Aptos"/>
              </a:rPr>
              <a:t>WHERE THIS PATTERN HELPS</a:t>
            </a:r>
          </a:p>
        </p:txBody>
      </p:sp>
      <p:sp>
        <p:nvSpPr>
          <p:cNvPr id="3" name="Rectangle 2">
            <a:extLst xmlns:a="http://schemas.openxmlformats.org/drawingml/2006/main">
              <a:ext uri="{FF2B5EF4-FFF2-40B4-BE49-F238E27FC236}">
                <a16:creationId xmlns:a16="http://schemas.microsoft.com/office/drawing/2014/main" id="{75EC1414-F0F6-4931-BEC7-D06627529650}"/>
              </a:ext>
            </a:extLst>
          </p:cNvPr>
          <p:cNvSpPr>
            <a:spLocks xmlns:a="http://schemas.openxmlformats.org/drawingml/2006/main" noGrp="1"/>
          </p:cNvSpPr>
          <p:nvPr/>
        </p:nvSpPr>
        <p:spPr>
          <a:xfrm xmlns:a="http://schemas.openxmlformats.org/drawingml/2006/main">
            <a:off x="666750" y="781050"/>
            <a:ext cx="819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2550" b="0">
                <a:solidFill>
                  <a:srgbClr val="15201B"/>
                </a:solidFill>
                <a:latin typeface="Georgia"/>
                <a:ea typeface="Georgia"/>
                <a:cs typeface="Georgia"/>
              </a:defRPr>
            </a:pPr>
            <a:r>
              <a:rPr sz="2550" b="0">
                <a:solidFill>
                  <a:srgbClr val="15201B"/>
                </a:solidFill>
                <a:latin typeface="Georgia"/>
                <a:ea typeface="Georgia"/>
                <a:cs typeface="Georgia"/>
              </a:rPr>
              <a:t>Regulated work needs local control and shared coordination.</a:t>
            </a:r>
          </a:p>
        </p:txBody>
      </p:sp>
      <p:sp>
        <p:nvSpPr>
          <p:cNvPr id="4" name="Rectangle 3">
            <a:extLst xmlns:a="http://schemas.openxmlformats.org/drawingml/2006/main">
              <a:ext uri="{FF2B5EF4-FFF2-40B4-BE49-F238E27FC236}">
                <a16:creationId xmlns:a16="http://schemas.microsoft.com/office/drawing/2014/main" id="{A277BF40-0B73-4C09-A35E-0D4ED4DD423D}"/>
              </a:ext>
            </a:extLst>
          </p:cNvPr>
          <p:cNvSpPr>
            <a:spLocks xmlns:a="http://schemas.openxmlformats.org/drawingml/2006/main" noGrp="1"/>
          </p:cNvSpPr>
          <p:nvPr/>
        </p:nvSpPr>
        <p:spPr>
          <a:xfrm xmlns:a="http://schemas.openxmlformats.org/drawingml/2006/main">
            <a:off x="685800" y="16764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E6B64"/>
                </a:solidFill>
                <a:latin typeface="Aptos"/>
                <a:ea typeface="Aptos"/>
                <a:cs typeface="Aptos"/>
              </a:defRPr>
            </a:pPr>
            <a:r>
              <a:rPr sz="1200" b="0">
                <a:solidFill>
                  <a:srgbClr val="5E6B64"/>
                </a:solidFill>
                <a:latin typeface="Aptos"/>
                <a:ea typeface="Aptos"/>
                <a:cs typeface="Aptos"/>
              </a:rPr>
              <a:t>Healthcare and finance both have scattered data, strict access rules, changing models, and heavy evidence requirements. This deck uses sepsis as the first detailed example.</a:t>
            </a:r>
          </a:p>
        </p:txBody>
      </p:sp>
      <p:sp>
        <p:nvSpPr>
          <p:cNvPr id="5" name="Rectangle 4">
            <a:extLst xmlns:a="http://schemas.openxmlformats.org/drawingml/2006/main">
              <a:ext uri="{FF2B5EF4-FFF2-40B4-BE49-F238E27FC236}">
                <a16:creationId xmlns:a16="http://schemas.microsoft.com/office/drawing/2014/main" id="{166465F7-D72B-4FC0-8B6C-84B3DA6B0C7C}"/>
              </a:ext>
            </a:extLst>
          </p:cNvPr>
          <p:cNvSpPr>
            <a:spLocks xmlns:a="http://schemas.openxmlformats.org/drawingml/2006/main" noGrp="1"/>
          </p:cNvSpPr>
          <p:nvPr/>
        </p:nvSpPr>
        <p:spPr>
          <a:xfrm xmlns:a="http://schemas.openxmlformats.org/drawingml/2006/main">
            <a:off x="895350" y="2619375"/>
            <a:ext cx="114300" cy="114300"/>
          </a:xfrm>
          <a:prstGeom xmlns:a="http://schemas.openxmlformats.org/drawingml/2006/main" prst="rect">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8559396F-9F48-4223-9DC1-50C44F9FC983}"/>
              </a:ext>
            </a:extLst>
          </p:cNvPr>
          <p:cNvSpPr>
            <a:spLocks xmlns:a="http://schemas.openxmlformats.org/drawingml/2006/main" noGrp="1"/>
          </p:cNvSpPr>
          <p:nvPr/>
        </p:nvSpPr>
        <p:spPr>
          <a:xfrm xmlns:a="http://schemas.openxmlformats.org/drawingml/2006/main">
            <a:off x="1162050" y="2552700"/>
            <a:ext cx="6972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5201B"/>
                </a:solidFill>
                <a:latin typeface="Aptos"/>
                <a:ea typeface="Aptos"/>
                <a:cs typeface="Aptos"/>
              </a:defRPr>
            </a:pPr>
            <a:r>
              <a:rPr sz="1500" b="0">
                <a:solidFill>
                  <a:srgbClr val="15201B"/>
                </a:solidFill>
                <a:latin typeface="Aptos"/>
                <a:ea typeface="Aptos"/>
                <a:cs typeface="Aptos"/>
              </a:rPr>
              <a:t>Healthcare: sepsis warnings, patient decline, repeat visits, long-term care, claims checks, and medical-image model changes.</a:t>
            </a:r>
          </a:p>
        </p:txBody>
      </p:sp>
      <p:sp>
        <p:nvSpPr>
          <p:cNvPr id="7" name="Rectangle 6">
            <a:extLst xmlns:a="http://schemas.openxmlformats.org/drawingml/2006/main">
              <a:ext uri="{FF2B5EF4-FFF2-40B4-BE49-F238E27FC236}">
                <a16:creationId xmlns:a16="http://schemas.microsoft.com/office/drawing/2014/main" id="{A53DD299-2942-409C-BFC4-E2056759A9B7}"/>
              </a:ext>
            </a:extLst>
          </p:cNvPr>
          <p:cNvSpPr>
            <a:spLocks xmlns:a="http://schemas.openxmlformats.org/drawingml/2006/main" noGrp="1"/>
          </p:cNvSpPr>
          <p:nvPr/>
        </p:nvSpPr>
        <p:spPr>
          <a:xfrm xmlns:a="http://schemas.openxmlformats.org/drawingml/2006/main">
            <a:off x="895350" y="3152775"/>
            <a:ext cx="114300" cy="114300"/>
          </a:xfrm>
          <a:prstGeom xmlns:a="http://schemas.openxmlformats.org/drawingml/2006/main" prst="rect">
            <a:avLst/>
          </a:prstGeom>
          <a:solidFill xmlns:a="http://schemas.openxmlformats.org/drawingml/2006/main">
            <a:srgbClr val="2D5B7C"/>
          </a:solidFill>
          <a:ln xmlns:a="http://schemas.openxmlformats.org/drawingml/2006/main" w="9525">
            <a:solidFill>
              <a:srgbClr val="2D5B7C"/>
            </a:solidFill>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2A2482D2-0A91-47D9-A818-77C822FA6B14}"/>
              </a:ext>
            </a:extLst>
          </p:cNvPr>
          <p:cNvSpPr>
            <a:spLocks xmlns:a="http://schemas.openxmlformats.org/drawingml/2006/main" noGrp="1"/>
          </p:cNvSpPr>
          <p:nvPr/>
        </p:nvSpPr>
        <p:spPr>
          <a:xfrm xmlns:a="http://schemas.openxmlformats.org/drawingml/2006/main">
            <a:off x="1162050" y="3086100"/>
            <a:ext cx="6972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5201B"/>
                </a:solidFill>
                <a:latin typeface="Aptos"/>
                <a:ea typeface="Aptos"/>
                <a:cs typeface="Aptos"/>
              </a:defRPr>
            </a:pPr>
            <a:r>
              <a:rPr sz="1500" b="0">
                <a:solidFill>
                  <a:srgbClr val="15201B"/>
                </a:solidFill>
                <a:latin typeface="Aptos"/>
                <a:ea typeface="Aptos"/>
                <a:cs typeface="Aptos"/>
              </a:rPr>
              <a:t>Finance: fraud, money laundering, changing loan risk, cash-flow risk, and unusual transactions.</a:t>
            </a:r>
          </a:p>
        </p:txBody>
      </p:sp>
      <p:sp>
        <p:nvSpPr>
          <p:cNvPr id="9" name="Rectangle 8">
            <a:extLst xmlns:a="http://schemas.openxmlformats.org/drawingml/2006/main">
              <a:ext uri="{FF2B5EF4-FFF2-40B4-BE49-F238E27FC236}">
                <a16:creationId xmlns:a16="http://schemas.microsoft.com/office/drawing/2014/main" id="{3B5AE66C-3EE0-4B2E-9E99-FDA787C86E27}"/>
              </a:ext>
            </a:extLst>
          </p:cNvPr>
          <p:cNvSpPr>
            <a:spLocks xmlns:a="http://schemas.openxmlformats.org/drawingml/2006/main" noGrp="1"/>
          </p:cNvSpPr>
          <p:nvPr/>
        </p:nvSpPr>
        <p:spPr>
          <a:xfrm xmlns:a="http://schemas.openxmlformats.org/drawingml/2006/main">
            <a:off x="895350" y="3686175"/>
            <a:ext cx="114300" cy="114300"/>
          </a:xfrm>
          <a:prstGeom xmlns:a="http://schemas.openxmlformats.org/drawingml/2006/main" prst="rect">
            <a:avLst/>
          </a:prstGeom>
          <a:solidFill xmlns:a="http://schemas.openxmlformats.org/drawingml/2006/main">
            <a:srgbClr val="B4842B"/>
          </a:solidFill>
          <a:ln xmlns:a="http://schemas.openxmlformats.org/drawingml/2006/main" w="9525">
            <a:solidFill>
              <a:srgbClr val="B4842B"/>
            </a:solidFill>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2583A9C4-A310-4B43-8A33-95A416DEEACF}"/>
              </a:ext>
            </a:extLst>
          </p:cNvPr>
          <p:cNvSpPr>
            <a:spLocks xmlns:a="http://schemas.openxmlformats.org/drawingml/2006/main" noGrp="1"/>
          </p:cNvSpPr>
          <p:nvPr/>
        </p:nvSpPr>
        <p:spPr>
          <a:xfrm xmlns:a="http://schemas.openxmlformats.org/drawingml/2006/main">
            <a:off x="1162050" y="3619500"/>
            <a:ext cx="6972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5201B"/>
                </a:solidFill>
                <a:latin typeface="Aptos"/>
                <a:ea typeface="Aptos"/>
                <a:cs typeface="Aptos"/>
              </a:defRPr>
            </a:pPr>
            <a:r>
              <a:rPr sz="1500" b="0">
                <a:solidFill>
                  <a:srgbClr val="15201B"/>
                </a:solidFill>
                <a:latin typeface="Aptos"/>
                <a:ea typeface="Aptos"/>
                <a:cs typeface="Aptos"/>
              </a:rPr>
              <a:t>Why sepsis: urgent decisions stay local while approved learning improves across hospitals.</a:t>
            </a:r>
          </a:p>
        </p:txBody>
      </p:sp>
      <p:sp>
        <p:nvSpPr>
          <p:cNvPr id="11" name="Rectangle 10">
            <a:extLst xmlns:a="http://schemas.openxmlformats.org/drawingml/2006/main">
              <a:ext uri="{FF2B5EF4-FFF2-40B4-BE49-F238E27FC236}">
                <a16:creationId xmlns:a16="http://schemas.microsoft.com/office/drawing/2014/main" id="{EF55E17F-99CE-40DB-9406-767DA14F48F5}"/>
              </a:ext>
            </a:extLst>
          </p:cNvPr>
          <p:cNvSpPr>
            <a:spLocks xmlns:a="http://schemas.openxmlformats.org/drawingml/2006/main" noGrp="1"/>
          </p:cNvSpPr>
          <p:nvPr/>
        </p:nvSpPr>
        <p:spPr>
          <a:xfrm xmlns:a="http://schemas.openxmlformats.org/drawingml/2006/main">
            <a:off x="895350" y="4219575"/>
            <a:ext cx="114300" cy="114300"/>
          </a:xfrm>
          <a:prstGeom xmlns:a="http://schemas.openxmlformats.org/drawingml/2006/main" prst="rect">
            <a:avLst/>
          </a:prstGeom>
          <a:solidFill xmlns:a="http://schemas.openxmlformats.org/drawingml/2006/main">
            <a:srgbClr val="A34D3E"/>
          </a:solidFill>
          <a:ln xmlns:a="http://schemas.openxmlformats.org/drawingml/2006/main" w="9525">
            <a:solidFill>
              <a:srgbClr val="A34D3E"/>
            </a:solidFill>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E126EEE6-1447-4276-909E-B92E08A9697B}"/>
              </a:ext>
            </a:extLst>
          </p:cNvPr>
          <p:cNvSpPr>
            <a:spLocks xmlns:a="http://schemas.openxmlformats.org/drawingml/2006/main" noGrp="1"/>
          </p:cNvSpPr>
          <p:nvPr/>
        </p:nvSpPr>
        <p:spPr>
          <a:xfrm xmlns:a="http://schemas.openxmlformats.org/drawingml/2006/main">
            <a:off x="1162050" y="4152900"/>
            <a:ext cx="6972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5201B"/>
                </a:solidFill>
                <a:latin typeface="Aptos"/>
                <a:ea typeface="Aptos"/>
                <a:cs typeface="Aptos"/>
              </a:defRPr>
            </a:pPr>
            <a:r>
              <a:rPr sz="1500" b="0">
                <a:solidFill>
                  <a:srgbClr val="15201B"/>
                </a:solidFill>
                <a:latin typeface="Aptos"/>
                <a:ea typeface="Aptos"/>
                <a:cs typeface="Aptos"/>
              </a:rPr>
              <a:t>Scope: test past records, then silent live runs—never diagnose or treat automatically.</a:t>
            </a:r>
          </a:p>
        </p:txBody>
      </p:sp>
      <p:sp>
        <p:nvSpPr>
          <p:cNvPr id="13" name="Rounded Rectangle 12">
            <a:extLst xmlns:a="http://schemas.openxmlformats.org/drawingml/2006/main">
              <a:ext uri="{FF2B5EF4-FFF2-40B4-BE49-F238E27FC236}">
                <a16:creationId xmlns:a16="http://schemas.microsoft.com/office/drawing/2014/main" id="{BF5ED820-7FB5-428B-8432-AE58353A927D}"/>
              </a:ext>
            </a:extLst>
          </p:cNvPr>
          <p:cNvSpPr>
            <a:spLocks xmlns:a="http://schemas.openxmlformats.org/drawingml/2006/main" noGrp="1"/>
          </p:cNvSpPr>
          <p:nvPr/>
        </p:nvSpPr>
        <p:spPr>
          <a:xfrm xmlns:a="http://schemas.openxmlformats.org/drawingml/2006/main">
            <a:off x="8667750" y="2476500"/>
            <a:ext cx="2095500" cy="704850"/>
          </a:xfrm>
          <a:prstGeom xmlns:a="http://schemas.openxmlformats.org/drawingml/2006/main" prst="roundRect">
            <a:avLst>
              <a:gd name="adj" fmla="val 5405"/>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FIRST CASE</a:t>
            </a:r>
          </a:p>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SEPSIS</a:t>
            </a:r>
          </a:p>
        </p:txBody>
      </p:sp>
      <p:sp>
        <p:nvSpPr>
          <p:cNvPr id="14" name="Rectangle 13">
            <a:extLst xmlns:a="http://schemas.openxmlformats.org/drawingml/2006/main">
              <a:ext uri="{FF2B5EF4-FFF2-40B4-BE49-F238E27FC236}">
                <a16:creationId xmlns:a16="http://schemas.microsoft.com/office/drawing/2014/main" id="{F04C1672-6BDD-43C0-9DA7-5B38D6D9634F}"/>
              </a:ext>
            </a:extLst>
          </p:cNvPr>
          <p:cNvSpPr>
            <a:spLocks xmlns:a="http://schemas.openxmlformats.org/drawingml/2006/main" noGrp="1"/>
          </p:cNvSpPr>
          <p:nvPr/>
        </p:nvSpPr>
        <p:spPr>
          <a:xfrm xmlns:a="http://schemas.openxmlformats.org/drawingml/2006/main">
            <a:off x="9048750" y="3543300"/>
            <a:ext cx="1333500" cy="342900"/>
          </a:xfrm>
          <a:prstGeom xmlns:a="http://schemas.openxmlformats.org/drawingml/2006/main" prst="rect">
            <a:avLst/>
          </a:prstGeom>
          <a:solidFill xmlns:a="http://schemas.openxmlformats.org/drawingml/2006/main">
            <a:srgbClr val="C8C0B2"/>
          </a:solidFill>
          <a:ln xmlns:a="http://schemas.openxmlformats.org/drawingml/2006/main" w="9525">
            <a:solidFill>
              <a:srgbClr val="C8C0B2"/>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975" b="0">
                <a:solidFill>
                  <a:srgbClr val="15201B"/>
                </a:solidFill>
                <a:latin typeface="Aptos"/>
                <a:ea typeface="Aptos"/>
                <a:cs typeface="Aptos"/>
              </a:defRPr>
            </a:pPr>
            <a:r>
              <a:rPr sz="975" b="0">
                <a:solidFill>
                  <a:srgbClr val="15201B"/>
                </a:solidFill>
                <a:latin typeface="Aptos"/>
                <a:ea typeface="Aptos"/>
                <a:cs typeface="Aptos"/>
              </a:rPr>
              <a:t>approved summary</a:t>
            </a:r>
          </a:p>
        </p:txBody>
      </p:sp>
      <p:sp>
        <p:nvSpPr>
          <p:cNvPr id="15" name="Rounded Rectangle 14">
            <a:extLst xmlns:a="http://schemas.openxmlformats.org/drawingml/2006/main">
              <a:ext uri="{FF2B5EF4-FFF2-40B4-BE49-F238E27FC236}">
                <a16:creationId xmlns:a16="http://schemas.microsoft.com/office/drawing/2014/main" id="{D13ADD2C-E510-4357-90C6-78A126127BF2}"/>
              </a:ext>
            </a:extLst>
          </p:cNvPr>
          <p:cNvSpPr>
            <a:spLocks xmlns:a="http://schemas.openxmlformats.org/drawingml/2006/main" noGrp="1"/>
          </p:cNvSpPr>
          <p:nvPr/>
        </p:nvSpPr>
        <p:spPr>
          <a:xfrm xmlns:a="http://schemas.openxmlformats.org/drawingml/2006/main">
            <a:off x="8667750" y="4229100"/>
            <a:ext cx="2095500" cy="704850"/>
          </a:xfrm>
          <a:prstGeom xmlns:a="http://schemas.openxmlformats.org/drawingml/2006/main" prst="roundRect">
            <a:avLst>
              <a:gd name="adj" fmla="val 5405"/>
            </a:avLst>
          </a:prstGeom>
          <a:solidFill xmlns:a="http://schemas.openxmlformats.org/drawingml/2006/main">
            <a:srgbClr val="2D5B7C"/>
          </a:solidFill>
          <a:ln xmlns:a="http://schemas.openxmlformats.org/drawingml/2006/main" w="9525">
            <a:solidFill>
              <a:srgbClr val="2D5B7C"/>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GLOBAL</a:t>
            </a:r>
          </a:p>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COMPARISON</a:t>
            </a:r>
          </a:p>
        </p:txBody>
      </p:sp>
      <p:sp>
        <p:nvSpPr>
          <p:cNvPr id="16" name="Rectangle 15">
            <a:extLst xmlns:a="http://schemas.openxmlformats.org/drawingml/2006/main">
              <a:ext uri="{FF2B5EF4-FFF2-40B4-BE49-F238E27FC236}">
                <a16:creationId xmlns:a16="http://schemas.microsoft.com/office/drawing/2014/main" id="{C39024E7-A8F2-449F-B740-B0F40BDA2C94}"/>
              </a:ext>
            </a:extLst>
          </p:cNvPr>
          <p:cNvSpPr>
            <a:spLocks xmlns:a="http://schemas.openxmlformats.org/drawingml/2006/main" noGrp="1"/>
          </p:cNvSpPr>
          <p:nvPr/>
        </p:nvSpPr>
        <p:spPr>
          <a:xfrm xmlns:a="http://schemas.openxmlformats.org/drawingml/2006/main">
            <a:off x="666750" y="645795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5E6B64"/>
                </a:solidFill>
                <a:latin typeface="Aptos"/>
                <a:ea typeface="Aptos"/>
                <a:cs typeface="Aptos"/>
              </a:defRPr>
            </a:pPr>
            <a:r>
              <a:rPr sz="825" b="0">
                <a:solidFill>
                  <a:srgbClr val="5E6B64"/>
                </a:solidFill>
                <a:latin typeface="Aptos"/>
                <a:ea typeface="Aptos"/>
                <a:cs typeface="Aptos"/>
              </a:rPr>
              <a:t>Dagents Healthcare / 02</a:t>
            </a:r>
          </a:p>
        </p:txBody>
      </p:sp>
    </p:spTree>
    <p:extLst>
      <p:ext uri="{BB962C8B-B14F-4D97-AF65-F5344CB8AC3E}">
        <p14:creationId xmlns:p14="http://schemas.microsoft.com/office/powerpoint/2010/main" val="323325713"/>
      </p:ext>
    </p:extLst>
  </p:cSld>
</p:sld>
</file>

<file path=ppt/slides/slide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B7D0897-00AD-4965-8CE2-0C3E3BDAA89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WHY SEPSIS</a:t>
            </a:r>
          </a:p>
        </p:txBody>
      </p:sp>
      <p:sp>
        <p:nvSpPr>
          <p:cNvPr id="3" name="TextBox 2">
            <a:extLst xmlns:a="http://schemas.openxmlformats.org/drawingml/2006/main">
              <a:ext uri="{FF2B5EF4-FFF2-40B4-BE49-F238E27FC236}">
                <a16:creationId xmlns:a16="http://schemas.microsoft.com/office/drawing/2014/main" id="{F19EF4B8-D416-44CC-8F0F-CD690DE62B0E}"/>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Sepsis is a strong first test because delays matter.</a:t>
            </a:r>
          </a:p>
        </p:txBody>
      </p:sp>
      <p:sp>
        <p:nvSpPr>
          <p:cNvPr id="4" name="TextBox 3">
            <a:extLst xmlns:a="http://schemas.openxmlformats.org/drawingml/2006/main">
              <a:ext uri="{FF2B5EF4-FFF2-40B4-BE49-F238E27FC236}">
                <a16:creationId xmlns:a16="http://schemas.microsoft.com/office/drawing/2014/main" id="{BE5C6F23-B794-41CB-9828-0309755B56BA}"/>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Sepsis is the body's extreme response to infection. It can damage organs quickly, so hospitals need timely and dependable warning support.</a:t>
            </a:r>
          </a:p>
        </p:txBody>
      </p:sp>
      <p:sp>
        <p:nvSpPr>
          <p:cNvPr id="5" name="Rounded Rectangle 4">
            <a:extLst xmlns:a="http://schemas.openxmlformats.org/drawingml/2006/main">
              <a:ext uri="{FF2B5EF4-FFF2-40B4-BE49-F238E27FC236}">
                <a16:creationId xmlns:a16="http://schemas.microsoft.com/office/drawing/2014/main" id="{B185A7CA-8862-4A59-84A7-D6796384C0A0}"/>
              </a:ext>
            </a:extLst>
          </p:cNvPr>
          <p:cNvSpPr>
            <a:spLocks xmlns:a="http://schemas.openxmlformats.org/drawingml/2006/main" noGrp="1"/>
          </p:cNvSpPr>
          <p:nvPr/>
        </p:nvSpPr>
        <p:spPr>
          <a:xfrm xmlns:a="http://schemas.openxmlformats.org/drawingml/2006/main">
            <a:off x="777240" y="1737360"/>
            <a:ext cx="4892040" cy="11430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4A6ABA7-B17F-4F9D-95AC-A9AD1840DA5F}"/>
              </a:ext>
            </a:extLst>
          </p:cNvPr>
          <p:cNvSpPr>
            <a:spLocks xmlns:a="http://schemas.openxmlformats.org/drawingml/2006/main" noGrp="1"/>
          </p:cNvSpPr>
          <p:nvPr/>
        </p:nvSpPr>
        <p:spPr>
          <a:xfrm xmlns:a="http://schemas.openxmlformats.org/drawingml/2006/main">
            <a:off x="94183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48.9 million cases</a:t>
            </a:r>
          </a:p>
        </p:txBody>
      </p:sp>
      <p:sp>
        <p:nvSpPr>
          <p:cNvPr id="7" name="TextBox 6">
            <a:extLst xmlns:a="http://schemas.openxmlformats.org/drawingml/2006/main">
              <a:ext uri="{FF2B5EF4-FFF2-40B4-BE49-F238E27FC236}">
                <a16:creationId xmlns:a16="http://schemas.microsoft.com/office/drawing/2014/main" id="{A16C6DE5-10AC-4D7B-A902-BE1A4B95FA97}"/>
              </a:ext>
            </a:extLst>
          </p:cNvPr>
          <p:cNvSpPr>
            <a:spLocks xmlns:a="http://schemas.openxmlformats.org/drawingml/2006/main" noGrp="1"/>
          </p:cNvSpPr>
          <p:nvPr/>
        </p:nvSpPr>
        <p:spPr>
          <a:xfrm xmlns:a="http://schemas.openxmlformats.org/drawingml/2006/main">
            <a:off x="94183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WHO summary of a published global estimate.</a:t>
            </a:r>
          </a:p>
        </p:txBody>
      </p:sp>
      <p:sp>
        <p:nvSpPr>
          <p:cNvPr id="8" name="Rounded Rectangle 7">
            <a:extLst xmlns:a="http://schemas.openxmlformats.org/drawingml/2006/main">
              <a:ext uri="{FF2B5EF4-FFF2-40B4-BE49-F238E27FC236}">
                <a16:creationId xmlns:a16="http://schemas.microsoft.com/office/drawing/2014/main" id="{DB689BD0-DEBE-4890-84C2-52C9C0F87691}"/>
              </a:ext>
            </a:extLst>
          </p:cNvPr>
          <p:cNvSpPr>
            <a:spLocks xmlns:a="http://schemas.openxmlformats.org/drawingml/2006/main" noGrp="1"/>
          </p:cNvSpPr>
          <p:nvPr/>
        </p:nvSpPr>
        <p:spPr>
          <a:xfrm xmlns:a="http://schemas.openxmlformats.org/drawingml/2006/main">
            <a:off x="6217920" y="1737360"/>
            <a:ext cx="4892040" cy="11430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2C22423-3633-4CFF-9783-DEDD0DB789E8}"/>
              </a:ext>
            </a:extLst>
          </p:cNvPr>
          <p:cNvSpPr>
            <a:spLocks xmlns:a="http://schemas.openxmlformats.org/drawingml/2006/main" noGrp="1"/>
          </p:cNvSpPr>
          <p:nvPr/>
        </p:nvSpPr>
        <p:spPr>
          <a:xfrm xmlns:a="http://schemas.openxmlformats.org/drawingml/2006/main">
            <a:off x="638251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11 million deaths</a:t>
            </a:r>
          </a:p>
        </p:txBody>
      </p:sp>
      <p:sp>
        <p:nvSpPr>
          <p:cNvPr id="10" name="TextBox 9">
            <a:extLst xmlns:a="http://schemas.openxmlformats.org/drawingml/2006/main">
              <a:ext uri="{FF2B5EF4-FFF2-40B4-BE49-F238E27FC236}">
                <a16:creationId xmlns:a16="http://schemas.microsoft.com/office/drawing/2014/main" id="{38C7BA40-A629-4F2C-9946-C9AFDE739862}"/>
              </a:ext>
            </a:extLst>
          </p:cNvPr>
          <p:cNvSpPr>
            <a:spLocks xmlns:a="http://schemas.openxmlformats.org/drawingml/2006/main" noGrp="1"/>
          </p:cNvSpPr>
          <p:nvPr/>
        </p:nvSpPr>
        <p:spPr>
          <a:xfrm xmlns:a="http://schemas.openxmlformats.org/drawingml/2006/main">
            <a:off x="638251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About one in five deaths in that global estimate.</a:t>
            </a:r>
          </a:p>
        </p:txBody>
      </p:sp>
      <p:sp>
        <p:nvSpPr>
          <p:cNvPr id="11" name="Rounded Rectangle 10">
            <a:extLst xmlns:a="http://schemas.openxmlformats.org/drawingml/2006/main">
              <a:ext uri="{FF2B5EF4-FFF2-40B4-BE49-F238E27FC236}">
                <a16:creationId xmlns:a16="http://schemas.microsoft.com/office/drawing/2014/main" id="{E5CF9E1F-B30B-4AF0-BFE2-3E3E214ECC1C}"/>
              </a:ext>
            </a:extLst>
          </p:cNvPr>
          <p:cNvSpPr>
            <a:spLocks xmlns:a="http://schemas.openxmlformats.org/drawingml/2006/main" noGrp="1"/>
          </p:cNvSpPr>
          <p:nvPr/>
        </p:nvSpPr>
        <p:spPr>
          <a:xfrm xmlns:a="http://schemas.openxmlformats.org/drawingml/2006/main">
            <a:off x="777240" y="3383280"/>
            <a:ext cx="4892040" cy="114300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B6C606A-7A36-4A56-AE5F-ED90CCBB9865}"/>
              </a:ext>
            </a:extLst>
          </p:cNvPr>
          <p:cNvSpPr>
            <a:spLocks xmlns:a="http://schemas.openxmlformats.org/drawingml/2006/main" noGrp="1"/>
          </p:cNvSpPr>
          <p:nvPr/>
        </p:nvSpPr>
        <p:spPr>
          <a:xfrm xmlns:a="http://schemas.openxmlformats.org/drawingml/2006/main">
            <a:off x="94183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15 per 1,000</a:t>
            </a:r>
          </a:p>
        </p:txBody>
      </p:sp>
      <p:sp>
        <p:nvSpPr>
          <p:cNvPr id="13" name="TextBox 12">
            <a:extLst xmlns:a="http://schemas.openxmlformats.org/drawingml/2006/main">
              <a:ext uri="{FF2B5EF4-FFF2-40B4-BE49-F238E27FC236}">
                <a16:creationId xmlns:a16="http://schemas.microsoft.com/office/drawing/2014/main" id="{0E2DE3C6-7B14-47CE-984B-4FEA66D42DD9}"/>
              </a:ext>
            </a:extLst>
          </p:cNvPr>
          <p:cNvSpPr>
            <a:spLocks xmlns:a="http://schemas.openxmlformats.org/drawingml/2006/main" noGrp="1"/>
          </p:cNvSpPr>
          <p:nvPr/>
        </p:nvSpPr>
        <p:spPr>
          <a:xfrm xmlns:a="http://schemas.openxmlformats.org/drawingml/2006/main">
            <a:off x="94183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Estimated hospitalized patients who develop sepsis during care.</a:t>
            </a:r>
          </a:p>
        </p:txBody>
      </p:sp>
      <p:sp>
        <p:nvSpPr>
          <p:cNvPr id="14" name="Rounded Rectangle 13">
            <a:extLst xmlns:a="http://schemas.openxmlformats.org/drawingml/2006/main">
              <a:ext uri="{FF2B5EF4-FFF2-40B4-BE49-F238E27FC236}">
                <a16:creationId xmlns:a16="http://schemas.microsoft.com/office/drawing/2014/main" id="{02068F01-5A1E-4CA8-BAC8-5916EBED6DE1}"/>
              </a:ext>
            </a:extLst>
          </p:cNvPr>
          <p:cNvSpPr>
            <a:spLocks xmlns:a="http://schemas.openxmlformats.org/drawingml/2006/main" noGrp="1"/>
          </p:cNvSpPr>
          <p:nvPr/>
        </p:nvSpPr>
        <p:spPr>
          <a:xfrm xmlns:a="http://schemas.openxmlformats.org/drawingml/2006/main">
            <a:off x="6217920" y="3383280"/>
            <a:ext cx="4892040" cy="11430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FF3519E-A7D4-4C26-97BE-CCD863D217C3}"/>
              </a:ext>
            </a:extLst>
          </p:cNvPr>
          <p:cNvSpPr>
            <a:spLocks xmlns:a="http://schemas.openxmlformats.org/drawingml/2006/main" noGrp="1"/>
          </p:cNvSpPr>
          <p:nvPr/>
        </p:nvSpPr>
        <p:spPr>
          <a:xfrm xmlns:a="http://schemas.openxmlformats.org/drawingml/2006/main">
            <a:off x="638251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Why it is difficult</a:t>
            </a:r>
          </a:p>
        </p:txBody>
      </p:sp>
      <p:sp>
        <p:nvSpPr>
          <p:cNvPr id="16" name="TextBox 15">
            <a:extLst xmlns:a="http://schemas.openxmlformats.org/drawingml/2006/main">
              <a:ext uri="{FF2B5EF4-FFF2-40B4-BE49-F238E27FC236}">
                <a16:creationId xmlns:a16="http://schemas.microsoft.com/office/drawing/2014/main" id="{A348AC81-5D4F-4221-91E2-2B61032AA866}"/>
              </a:ext>
            </a:extLst>
          </p:cNvPr>
          <p:cNvSpPr>
            <a:spLocks xmlns:a="http://schemas.openxmlformats.org/drawingml/2006/main" noGrp="1"/>
          </p:cNvSpPr>
          <p:nvPr/>
        </p:nvSpPr>
        <p:spPr>
          <a:xfrm xmlns:a="http://schemas.openxmlformats.org/drawingml/2006/main">
            <a:off x="638251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Warning signs are spread across patient records, lab results, devices, and hospital routines.</a:t>
            </a:r>
          </a:p>
        </p:txBody>
      </p:sp>
      <p:sp>
        <p:nvSpPr>
          <p:cNvPr id="17" name="TextBox 16">
            <a:extLst xmlns:a="http://schemas.openxmlformats.org/drawingml/2006/main">
              <a:ext uri="{FF2B5EF4-FFF2-40B4-BE49-F238E27FC236}">
                <a16:creationId xmlns:a16="http://schemas.microsoft.com/office/drawing/2014/main" id="{0189CDBE-DBE1-4102-896D-D470C23C8EA5}"/>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Evidence: WHO Sepsis fact sheet, 3 May 2024</a:t>
            </a:r>
          </a:p>
        </p:txBody>
      </p:sp>
    </p:spTree>
    <p:extLst>
      <p:ext uri="{BB962C8B-B14F-4D97-AF65-F5344CB8AC3E}">
        <p14:creationId xmlns:p14="http://schemas.microsoft.com/office/powerpoint/2010/main" val="1152305953"/>
      </p:ext>
    </p:extLst>
  </p:cSld>
</p:sld>
</file>

<file path=ppt/slides/slide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B7D0897-00AD-4965-8CE2-0C3E3BDAA89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WHY START WITH SEPSIS?</a:t>
            </a:r>
          </a:p>
        </p:txBody>
      </p:sp>
      <p:sp>
        <p:nvSpPr>
          <p:cNvPr id="3" name="TextBox 2">
            <a:extLst xmlns:a="http://schemas.openxmlformats.org/drawingml/2006/main">
              <a:ext uri="{FF2B5EF4-FFF2-40B4-BE49-F238E27FC236}">
                <a16:creationId xmlns:a16="http://schemas.microsoft.com/office/drawing/2014/main" id="{F19EF4B8-D416-44CC-8F0F-CD690DE62B0E}"/>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Start narrow with sepsis; reuse the platform broadly.</a:t>
            </a:r>
          </a:p>
        </p:txBody>
      </p:sp>
      <p:sp>
        <p:nvSpPr>
          <p:cNvPr id="4" name="TextBox 3">
            <a:extLst xmlns:a="http://schemas.openxmlformats.org/drawingml/2006/main">
              <a:ext uri="{FF2B5EF4-FFF2-40B4-BE49-F238E27FC236}">
                <a16:creationId xmlns:a16="http://schemas.microsoft.com/office/drawing/2014/main" id="{BE5C6F23-B794-41CB-9828-0309755B56BA}"/>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A first case should test the hardest parts of the platform without pretending one model can cover every disease.</a:t>
            </a:r>
          </a:p>
        </p:txBody>
      </p:sp>
      <p:sp>
        <p:nvSpPr>
          <p:cNvPr id="5" name="Rounded Rectangle 4">
            <a:extLst xmlns:a="http://schemas.openxmlformats.org/drawingml/2006/main">
              <a:ext uri="{FF2B5EF4-FFF2-40B4-BE49-F238E27FC236}">
                <a16:creationId xmlns:a16="http://schemas.microsoft.com/office/drawing/2014/main" id="{B185A7CA-8862-4A59-84A7-D6796384C0A0}"/>
              </a:ext>
            </a:extLst>
          </p:cNvPr>
          <p:cNvSpPr>
            <a:spLocks xmlns:a="http://schemas.openxmlformats.org/drawingml/2006/main" noGrp="1"/>
          </p:cNvSpPr>
          <p:nvPr/>
        </p:nvSpPr>
        <p:spPr>
          <a:xfrm xmlns:a="http://schemas.openxmlformats.org/drawingml/2006/main">
            <a:off x="777240" y="1737360"/>
            <a:ext cx="4892040" cy="11430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4A6ABA7-B17F-4F9D-95AC-A9AD1840DA5F}"/>
              </a:ext>
            </a:extLst>
          </p:cNvPr>
          <p:cNvSpPr>
            <a:spLocks xmlns:a="http://schemas.openxmlformats.org/drawingml/2006/main" noGrp="1"/>
          </p:cNvSpPr>
          <p:nvPr/>
        </p:nvSpPr>
        <p:spPr>
          <a:xfrm xmlns:a="http://schemas.openxmlformats.org/drawingml/2006/main">
            <a:off x="94183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Time matters</a:t>
            </a:r>
          </a:p>
        </p:txBody>
      </p:sp>
      <p:sp>
        <p:nvSpPr>
          <p:cNvPr id="7" name="TextBox 6">
            <a:extLst xmlns:a="http://schemas.openxmlformats.org/drawingml/2006/main">
              <a:ext uri="{FF2B5EF4-FFF2-40B4-BE49-F238E27FC236}">
                <a16:creationId xmlns:a16="http://schemas.microsoft.com/office/drawing/2014/main" id="{A16C6DE5-10AC-4D7B-A902-BE1A4B95FA97}"/>
              </a:ext>
            </a:extLst>
          </p:cNvPr>
          <p:cNvSpPr>
            <a:spLocks xmlns:a="http://schemas.openxmlformats.org/drawingml/2006/main" noGrp="1"/>
          </p:cNvSpPr>
          <p:nvPr/>
        </p:nvSpPr>
        <p:spPr>
          <a:xfrm xmlns:a="http://schemas.openxmlformats.org/drawingml/2006/main">
            <a:off x="94183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A delayed warning can matter, so the system must be fast, reliable, and easy to stop safely.</a:t>
            </a:r>
          </a:p>
        </p:txBody>
      </p:sp>
      <p:sp>
        <p:nvSpPr>
          <p:cNvPr id="8" name="Rounded Rectangle 7">
            <a:extLst xmlns:a="http://schemas.openxmlformats.org/drawingml/2006/main">
              <a:ext uri="{FF2B5EF4-FFF2-40B4-BE49-F238E27FC236}">
                <a16:creationId xmlns:a16="http://schemas.microsoft.com/office/drawing/2014/main" id="{DB689BD0-DEBE-4890-84C2-52C9C0F87691}"/>
              </a:ext>
            </a:extLst>
          </p:cNvPr>
          <p:cNvSpPr>
            <a:spLocks xmlns:a="http://schemas.openxmlformats.org/drawingml/2006/main" noGrp="1"/>
          </p:cNvSpPr>
          <p:nvPr/>
        </p:nvSpPr>
        <p:spPr>
          <a:xfrm xmlns:a="http://schemas.openxmlformats.org/drawingml/2006/main">
            <a:off x="6217920" y="1737360"/>
            <a:ext cx="4892040" cy="11430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2C22423-3633-4CFF-9783-DEDD0DB789E8}"/>
              </a:ext>
            </a:extLst>
          </p:cNvPr>
          <p:cNvSpPr>
            <a:spLocks xmlns:a="http://schemas.openxmlformats.org/drawingml/2006/main" noGrp="1"/>
          </p:cNvSpPr>
          <p:nvPr/>
        </p:nvSpPr>
        <p:spPr>
          <a:xfrm xmlns:a="http://schemas.openxmlformats.org/drawingml/2006/main">
            <a:off x="638251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Many routine signals</a:t>
            </a:r>
          </a:p>
        </p:txBody>
      </p:sp>
      <p:sp>
        <p:nvSpPr>
          <p:cNvPr id="10" name="TextBox 9">
            <a:extLst xmlns:a="http://schemas.openxmlformats.org/drawingml/2006/main">
              <a:ext uri="{FF2B5EF4-FFF2-40B4-BE49-F238E27FC236}">
                <a16:creationId xmlns:a16="http://schemas.microsoft.com/office/drawing/2014/main" id="{38C7BA40-A629-4F2C-9946-C9AFDE739862}"/>
              </a:ext>
            </a:extLst>
          </p:cNvPr>
          <p:cNvSpPr>
            <a:spLocks xmlns:a="http://schemas.openxmlformats.org/drawingml/2006/main" noGrp="1"/>
          </p:cNvSpPr>
          <p:nvPr/>
        </p:nvSpPr>
        <p:spPr>
          <a:xfrm xmlns:a="http://schemas.openxmlformats.org/drawingml/2006/main">
            <a:off x="638251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The warning may use vital signs, lab results, medicines, and visit information already found in hospitals.</a:t>
            </a:r>
          </a:p>
        </p:txBody>
      </p:sp>
      <p:sp>
        <p:nvSpPr>
          <p:cNvPr id="11" name="Rounded Rectangle 10">
            <a:extLst xmlns:a="http://schemas.openxmlformats.org/drawingml/2006/main">
              <a:ext uri="{FF2B5EF4-FFF2-40B4-BE49-F238E27FC236}">
                <a16:creationId xmlns:a16="http://schemas.microsoft.com/office/drawing/2014/main" id="{E5CF9E1F-B30B-4AF0-BFE2-3E3E214ECC1C}"/>
              </a:ext>
            </a:extLst>
          </p:cNvPr>
          <p:cNvSpPr>
            <a:spLocks xmlns:a="http://schemas.openxmlformats.org/drawingml/2006/main" noGrp="1"/>
          </p:cNvSpPr>
          <p:nvPr/>
        </p:nvSpPr>
        <p:spPr>
          <a:xfrm xmlns:a="http://schemas.openxmlformats.org/drawingml/2006/main">
            <a:off x="777240" y="3383280"/>
            <a:ext cx="4892040" cy="114300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B6C606A-7A36-4A56-AE5F-ED90CCBB9865}"/>
              </a:ext>
            </a:extLst>
          </p:cNvPr>
          <p:cNvSpPr>
            <a:spLocks xmlns:a="http://schemas.openxmlformats.org/drawingml/2006/main" noGrp="1"/>
          </p:cNvSpPr>
          <p:nvPr/>
        </p:nvSpPr>
        <p:spPr>
          <a:xfrm xmlns:a="http://schemas.openxmlformats.org/drawingml/2006/main">
            <a:off x="94183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Hospitals differ</a:t>
            </a:r>
          </a:p>
        </p:txBody>
      </p:sp>
      <p:sp>
        <p:nvSpPr>
          <p:cNvPr id="13" name="TextBox 12">
            <a:extLst xmlns:a="http://schemas.openxmlformats.org/drawingml/2006/main">
              <a:ext uri="{FF2B5EF4-FFF2-40B4-BE49-F238E27FC236}">
                <a16:creationId xmlns:a16="http://schemas.microsoft.com/office/drawing/2014/main" id="{0E2DE3C6-7B14-47CE-984B-4FEA66D42DD9}"/>
              </a:ext>
            </a:extLst>
          </p:cNvPr>
          <p:cNvSpPr>
            <a:spLocks xmlns:a="http://schemas.openxmlformats.org/drawingml/2006/main" noGrp="1"/>
          </p:cNvSpPr>
          <p:nvPr/>
        </p:nvSpPr>
        <p:spPr>
          <a:xfrm xmlns:a="http://schemas.openxmlformats.org/drawingml/2006/main">
            <a:off x="94183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Patient populations, data formats, workflows, and warning limits vary—exactly what local and global agents must handle.</a:t>
            </a:r>
          </a:p>
        </p:txBody>
      </p:sp>
      <p:sp>
        <p:nvSpPr>
          <p:cNvPr id="14" name="Rounded Rectangle 13">
            <a:extLst xmlns:a="http://schemas.openxmlformats.org/drawingml/2006/main">
              <a:ext uri="{FF2B5EF4-FFF2-40B4-BE49-F238E27FC236}">
                <a16:creationId xmlns:a16="http://schemas.microsoft.com/office/drawing/2014/main" id="{02068F01-5A1E-4CA8-BAC8-5916EBED6DE1}"/>
              </a:ext>
            </a:extLst>
          </p:cNvPr>
          <p:cNvSpPr>
            <a:spLocks xmlns:a="http://schemas.openxmlformats.org/drawingml/2006/main" noGrp="1"/>
          </p:cNvSpPr>
          <p:nvPr/>
        </p:nvSpPr>
        <p:spPr>
          <a:xfrm xmlns:a="http://schemas.openxmlformats.org/drawingml/2006/main">
            <a:off x="6217920" y="3383280"/>
            <a:ext cx="4892040" cy="11430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FF3519E-A7D4-4C26-97BE-CCD863D217C3}"/>
              </a:ext>
            </a:extLst>
          </p:cNvPr>
          <p:cNvSpPr>
            <a:spLocks xmlns:a="http://schemas.openxmlformats.org/drawingml/2006/main" noGrp="1"/>
          </p:cNvSpPr>
          <p:nvPr/>
        </p:nvSpPr>
        <p:spPr>
          <a:xfrm xmlns:a="http://schemas.openxmlformats.org/drawingml/2006/main">
            <a:off x="638251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Safe staged testing</a:t>
            </a:r>
          </a:p>
        </p:txBody>
      </p:sp>
      <p:sp>
        <p:nvSpPr>
          <p:cNvPr id="16" name="TextBox 15">
            <a:extLst xmlns:a="http://schemas.openxmlformats.org/drawingml/2006/main">
              <a:ext uri="{FF2B5EF4-FFF2-40B4-BE49-F238E27FC236}">
                <a16:creationId xmlns:a16="http://schemas.microsoft.com/office/drawing/2014/main" id="{A348AC81-5D4F-4221-91E2-2B61032AA866}"/>
              </a:ext>
            </a:extLst>
          </p:cNvPr>
          <p:cNvSpPr>
            <a:spLocks xmlns:a="http://schemas.openxmlformats.org/drawingml/2006/main" noGrp="1"/>
          </p:cNvSpPr>
          <p:nvPr/>
        </p:nvSpPr>
        <p:spPr>
          <a:xfrm xmlns:a="http://schemas.openxmlformats.org/drawingml/2006/main">
            <a:off x="638251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Teams can test past data, then run silently, then try a limited pilot before affecting care.</a:t>
            </a:r>
          </a:p>
        </p:txBody>
      </p:sp>
      <p:sp>
        <p:nvSpPr>
          <p:cNvPr id="17" name="TextBox 16">
            <a:extLst xmlns:a="http://schemas.openxmlformats.org/drawingml/2006/main">
              <a:ext uri="{FF2B5EF4-FFF2-40B4-BE49-F238E27FC236}">
                <a16:creationId xmlns:a16="http://schemas.microsoft.com/office/drawing/2014/main" id="{0189CDBE-DBE1-4102-896D-D470C23C8EA5}"/>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Reusable platform; each disease still needs its own data, model, workflow, and safety proof / 04</a:t>
            </a:r>
          </a:p>
        </p:txBody>
      </p:sp>
    </p:spTree>
    <p:extLst>
      <p:ext uri="{BB962C8B-B14F-4D97-AF65-F5344CB8AC3E}">
        <p14:creationId xmlns:p14="http://schemas.microsoft.com/office/powerpoint/2010/main" val="1152305953"/>
      </p:ext>
    </p:extLst>
  </p:cSld>
</p:sld>
</file>

<file path=ppt/slides/slide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B7D0897-00AD-4965-8CE2-0C3E3BDAA89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THE CORE PROBLEM</a:t>
            </a:r>
          </a:p>
        </p:txBody>
      </p:sp>
      <p:sp>
        <p:nvSpPr>
          <p:cNvPr id="3" name="TextBox 2">
            <a:extLst xmlns:a="http://schemas.openxmlformats.org/drawingml/2006/main">
              <a:ext uri="{FF2B5EF4-FFF2-40B4-BE49-F238E27FC236}">
                <a16:creationId xmlns:a16="http://schemas.microsoft.com/office/drawing/2014/main" id="{F19EF4B8-D416-44CC-8F0F-CD690DE62B0E}"/>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The hard part is coordination—not just prediction.</a:t>
            </a:r>
          </a:p>
        </p:txBody>
      </p:sp>
      <p:sp>
        <p:nvSpPr>
          <p:cNvPr id="4" name="TextBox 3">
            <a:extLst xmlns:a="http://schemas.openxmlformats.org/drawingml/2006/main">
              <a:ext uri="{FF2B5EF4-FFF2-40B4-BE49-F238E27FC236}">
                <a16:creationId xmlns:a16="http://schemas.microsoft.com/office/drawing/2014/main" id="{BE5C6F23-B794-41CB-9828-0309755B56BA}"/>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A useful warning system must handle different data, different hospital rules, safe updates, and clear evidence of what happened.</a:t>
            </a:r>
          </a:p>
        </p:txBody>
      </p:sp>
      <p:sp>
        <p:nvSpPr>
          <p:cNvPr id="5" name="Rounded Rectangle 4">
            <a:extLst xmlns:a="http://schemas.openxmlformats.org/drawingml/2006/main">
              <a:ext uri="{FF2B5EF4-FFF2-40B4-BE49-F238E27FC236}">
                <a16:creationId xmlns:a16="http://schemas.microsoft.com/office/drawing/2014/main" id="{B185A7CA-8862-4A59-84A7-D6796384C0A0}"/>
              </a:ext>
            </a:extLst>
          </p:cNvPr>
          <p:cNvSpPr>
            <a:spLocks xmlns:a="http://schemas.openxmlformats.org/drawingml/2006/main" noGrp="1"/>
          </p:cNvSpPr>
          <p:nvPr/>
        </p:nvSpPr>
        <p:spPr>
          <a:xfrm xmlns:a="http://schemas.openxmlformats.org/drawingml/2006/main">
            <a:off x="777240" y="1737360"/>
            <a:ext cx="4892040" cy="11430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4A6ABA7-B17F-4F9D-95AC-A9AD1840DA5F}"/>
              </a:ext>
            </a:extLst>
          </p:cNvPr>
          <p:cNvSpPr>
            <a:spLocks xmlns:a="http://schemas.openxmlformats.org/drawingml/2006/main" noGrp="1"/>
          </p:cNvSpPr>
          <p:nvPr/>
        </p:nvSpPr>
        <p:spPr>
          <a:xfrm xmlns:a="http://schemas.openxmlformats.org/drawingml/2006/main">
            <a:off x="94183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Scattered data</a:t>
            </a:r>
          </a:p>
        </p:txBody>
      </p:sp>
      <p:sp>
        <p:nvSpPr>
          <p:cNvPr id="7" name="TextBox 6">
            <a:extLst xmlns:a="http://schemas.openxmlformats.org/drawingml/2006/main">
              <a:ext uri="{FF2B5EF4-FFF2-40B4-BE49-F238E27FC236}">
                <a16:creationId xmlns:a16="http://schemas.microsoft.com/office/drawing/2014/main" id="{A16C6DE5-10AC-4D7B-A902-BE1A4B95FA97}"/>
              </a:ext>
            </a:extLst>
          </p:cNvPr>
          <p:cNvSpPr>
            <a:spLocks xmlns:a="http://schemas.openxmlformats.org/drawingml/2006/main" noGrp="1"/>
          </p:cNvSpPr>
          <p:nvPr/>
        </p:nvSpPr>
        <p:spPr>
          <a:xfrm xmlns:a="http://schemas.openxmlformats.org/drawingml/2006/main">
            <a:off x="94183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Values arrive in different formats, units, and times. Dagents checks and standardizes them locally.</a:t>
            </a:r>
          </a:p>
        </p:txBody>
      </p:sp>
      <p:sp>
        <p:nvSpPr>
          <p:cNvPr id="8" name="Rounded Rectangle 7">
            <a:extLst xmlns:a="http://schemas.openxmlformats.org/drawingml/2006/main">
              <a:ext uri="{FF2B5EF4-FFF2-40B4-BE49-F238E27FC236}">
                <a16:creationId xmlns:a16="http://schemas.microsoft.com/office/drawing/2014/main" id="{DB689BD0-DEBE-4890-84C2-52C9C0F87691}"/>
              </a:ext>
            </a:extLst>
          </p:cNvPr>
          <p:cNvSpPr>
            <a:spLocks xmlns:a="http://schemas.openxmlformats.org/drawingml/2006/main" noGrp="1"/>
          </p:cNvSpPr>
          <p:nvPr/>
        </p:nvSpPr>
        <p:spPr>
          <a:xfrm xmlns:a="http://schemas.openxmlformats.org/drawingml/2006/main">
            <a:off x="6217920" y="1737360"/>
            <a:ext cx="4892040" cy="11430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2C22423-3633-4CFF-9783-DEDD0DB789E8}"/>
              </a:ext>
            </a:extLst>
          </p:cNvPr>
          <p:cNvSpPr>
            <a:spLocks xmlns:a="http://schemas.openxmlformats.org/drawingml/2006/main" noGrp="1"/>
          </p:cNvSpPr>
          <p:nvPr/>
        </p:nvSpPr>
        <p:spPr>
          <a:xfrm xmlns:a="http://schemas.openxmlformats.org/drawingml/2006/main">
            <a:off x="638251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Different hospitals</a:t>
            </a:r>
          </a:p>
        </p:txBody>
      </p:sp>
      <p:sp>
        <p:nvSpPr>
          <p:cNvPr id="10" name="TextBox 9">
            <a:extLst xmlns:a="http://schemas.openxmlformats.org/drawingml/2006/main">
              <a:ext uri="{FF2B5EF4-FFF2-40B4-BE49-F238E27FC236}">
                <a16:creationId xmlns:a16="http://schemas.microsoft.com/office/drawing/2014/main" id="{38C7BA40-A629-4F2C-9946-C9AFDE739862}"/>
              </a:ext>
            </a:extLst>
          </p:cNvPr>
          <p:cNvSpPr>
            <a:spLocks xmlns:a="http://schemas.openxmlformats.org/drawingml/2006/main" noGrp="1"/>
          </p:cNvSpPr>
          <p:nvPr/>
        </p:nvSpPr>
        <p:spPr>
          <a:xfrm xmlns:a="http://schemas.openxmlformats.org/drawingml/2006/main">
            <a:off x="638251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Patients, workflows, and acceptable warning volume vary. Dagents keeps local settings while comparing approved results.</a:t>
            </a:r>
          </a:p>
        </p:txBody>
      </p:sp>
      <p:sp>
        <p:nvSpPr>
          <p:cNvPr id="11" name="Rounded Rectangle 10">
            <a:extLst xmlns:a="http://schemas.openxmlformats.org/drawingml/2006/main">
              <a:ext uri="{FF2B5EF4-FFF2-40B4-BE49-F238E27FC236}">
                <a16:creationId xmlns:a16="http://schemas.microsoft.com/office/drawing/2014/main" id="{E5CF9E1F-B30B-4AF0-BFE2-3E3E214ECC1C}"/>
              </a:ext>
            </a:extLst>
          </p:cNvPr>
          <p:cNvSpPr>
            <a:spLocks xmlns:a="http://schemas.openxmlformats.org/drawingml/2006/main" noGrp="1"/>
          </p:cNvSpPr>
          <p:nvPr/>
        </p:nvSpPr>
        <p:spPr>
          <a:xfrm xmlns:a="http://schemas.openxmlformats.org/drawingml/2006/main">
            <a:off x="777240" y="3383280"/>
            <a:ext cx="4892040" cy="114300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B6C606A-7A36-4A56-AE5F-ED90CCBB9865}"/>
              </a:ext>
            </a:extLst>
          </p:cNvPr>
          <p:cNvSpPr>
            <a:spLocks xmlns:a="http://schemas.openxmlformats.org/drawingml/2006/main" noGrp="1"/>
          </p:cNvSpPr>
          <p:nvPr/>
        </p:nvSpPr>
        <p:spPr>
          <a:xfrm xmlns:a="http://schemas.openxmlformats.org/drawingml/2006/main">
            <a:off x="94183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Repeated platform work</a:t>
            </a:r>
          </a:p>
        </p:txBody>
      </p:sp>
      <p:sp>
        <p:nvSpPr>
          <p:cNvPr id="13" name="TextBox 12">
            <a:extLst xmlns:a="http://schemas.openxmlformats.org/drawingml/2006/main">
              <a:ext uri="{FF2B5EF4-FFF2-40B4-BE49-F238E27FC236}">
                <a16:creationId xmlns:a16="http://schemas.microsoft.com/office/drawing/2014/main" id="{0E2DE3C6-7B14-47CE-984B-4FEA66D42DD9}"/>
              </a:ext>
            </a:extLst>
          </p:cNvPr>
          <p:cNvSpPr>
            <a:spLocks xmlns:a="http://schemas.openxmlformats.org/drawingml/2006/main" noGrp="1"/>
          </p:cNvSpPr>
          <p:nvPr/>
        </p:nvSpPr>
        <p:spPr>
          <a:xfrm xmlns:a="http://schemas.openxmlformats.org/drawingml/2006/main">
            <a:off x="94183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Without a shared framework, every site rebuilds scheduling, model runs, deployment, monitoring, and rollback.</a:t>
            </a:r>
          </a:p>
        </p:txBody>
      </p:sp>
      <p:sp>
        <p:nvSpPr>
          <p:cNvPr id="14" name="Rounded Rectangle 13">
            <a:extLst xmlns:a="http://schemas.openxmlformats.org/drawingml/2006/main">
              <a:ext uri="{FF2B5EF4-FFF2-40B4-BE49-F238E27FC236}">
                <a16:creationId xmlns:a16="http://schemas.microsoft.com/office/drawing/2014/main" id="{02068F01-5A1E-4CA8-BAC8-5916EBED6DE1}"/>
              </a:ext>
            </a:extLst>
          </p:cNvPr>
          <p:cNvSpPr>
            <a:spLocks xmlns:a="http://schemas.openxmlformats.org/drawingml/2006/main" noGrp="1"/>
          </p:cNvSpPr>
          <p:nvPr/>
        </p:nvSpPr>
        <p:spPr>
          <a:xfrm xmlns:a="http://schemas.openxmlformats.org/drawingml/2006/main">
            <a:off x="6217920" y="3383280"/>
            <a:ext cx="4892040" cy="11430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FF3519E-A7D4-4C26-97BE-CCD863D217C3}"/>
              </a:ext>
            </a:extLst>
          </p:cNvPr>
          <p:cNvSpPr>
            <a:spLocks xmlns:a="http://schemas.openxmlformats.org/drawingml/2006/main" noGrp="1"/>
          </p:cNvSpPr>
          <p:nvPr/>
        </p:nvSpPr>
        <p:spPr>
          <a:xfrm xmlns:a="http://schemas.openxmlformats.org/drawingml/2006/main">
            <a:off x="638251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Late audit evidence</a:t>
            </a:r>
          </a:p>
        </p:txBody>
      </p:sp>
      <p:sp>
        <p:nvSpPr>
          <p:cNvPr id="16" name="TextBox 15">
            <a:extLst xmlns:a="http://schemas.openxmlformats.org/drawingml/2006/main">
              <a:ext uri="{FF2B5EF4-FFF2-40B4-BE49-F238E27FC236}">
                <a16:creationId xmlns:a16="http://schemas.microsoft.com/office/drawing/2014/main" id="{A348AC81-5D4F-4221-91E2-2B61032AA866}"/>
              </a:ext>
            </a:extLst>
          </p:cNvPr>
          <p:cNvSpPr>
            <a:spLocks xmlns:a="http://schemas.openxmlformats.org/drawingml/2006/main" noGrp="1"/>
          </p:cNvSpPr>
          <p:nvPr/>
        </p:nvSpPr>
        <p:spPr>
          <a:xfrm xmlns:a="http://schemas.openxmlformats.org/drawingml/2006/main">
            <a:off x="638251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Approvals, changes, overrides, and run history are often gathered after the fact. Dagents records them as work happens.</a:t>
            </a:r>
          </a:p>
        </p:txBody>
      </p:sp>
      <p:sp>
        <p:nvSpPr>
          <p:cNvPr id="17" name="TextBox 16">
            <a:extLst xmlns:a="http://schemas.openxmlformats.org/drawingml/2006/main">
              <a:ext uri="{FF2B5EF4-FFF2-40B4-BE49-F238E27FC236}">
                <a16:creationId xmlns:a16="http://schemas.microsoft.com/office/drawing/2014/main" id="{0189CDBE-DBE1-4102-896D-D470C23C8EA5}"/>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Result: duplicated engineering, slower rollout, uneven behavior, and weak cross-hospital learning / 05</a:t>
            </a:r>
          </a:p>
        </p:txBody>
      </p:sp>
    </p:spTree>
    <p:extLst>
      <p:ext uri="{BB962C8B-B14F-4D97-AF65-F5344CB8AC3E}">
        <p14:creationId xmlns:p14="http://schemas.microsoft.com/office/powerpoint/2010/main" val="115230595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2" name="Rectangle 21">
            <a:extLst xmlns:a="http://schemas.openxmlformats.org/drawingml/2006/main">
              <a:ext uri="{FF2B5EF4-FFF2-40B4-BE49-F238E27FC236}">
                <a16:creationId xmlns:a16="http://schemas.microsoft.com/office/drawing/2014/main" id="{F479A346-CD14-411A-AFB6-6934DCA382C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9525">
            <a:solidFill>
              <a:srgbClr val="F7F3EA"/>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B6129DDB-6D69-4CA7-A898-3289B0DC0648}"/>
              </a:ext>
            </a:extLst>
          </p:cNvPr>
          <p:cNvSpPr>
            <a:spLocks xmlns:a="http://schemas.openxmlformats.org/drawingml/2006/main" noGrp="1"/>
          </p:cNvSpPr>
          <p:nvPr/>
        </p:nvSpPr>
        <p:spPr>
          <a:xfrm xmlns:a="http://schemas.openxmlformats.org/drawingml/2006/main">
            <a:off x="666750" y="400050"/>
            <a:ext cx="1619250" cy="238125"/>
          </a:xfrm>
          <a:prstGeom xmlns:a="http://schemas.openxmlformats.org/drawingml/2006/main" prst="rect">
            <a:avLst/>
          </a:prstGeom>
          <a:solidFill xmlns:a="http://schemas.openxmlformats.org/drawingml/2006/main">
            <a:srgbClr val="15201B"/>
          </a:solidFill>
          <a:ln xmlns:a="http://schemas.openxmlformats.org/drawingml/2006/main" w="9525">
            <a:solidFill>
              <a:srgbClr val="15201B"/>
            </a:solidFill>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FFFFFF"/>
                </a:solidFill>
                <a:latin typeface="Aptos"/>
                <a:ea typeface="Aptos"/>
                <a:cs typeface="Aptos"/>
              </a:defRPr>
            </a:pPr>
            <a:r>
              <a:rPr sz="900" b="1">
                <a:solidFill>
                  <a:srgbClr val="FFFFFF"/>
                </a:solidFill>
                <a:latin typeface="Aptos"/>
                <a:ea typeface="Aptos"/>
                <a:cs typeface="Aptos"/>
              </a:rPr>
              <a:t>WHAT THE SYSTEM MUST DO</a:t>
            </a:r>
          </a:p>
        </p:txBody>
      </p:sp>
      <p:sp>
        <p:nvSpPr>
          <p:cNvPr id="3" name="Rectangle 2">
            <a:extLst xmlns:a="http://schemas.openxmlformats.org/drawingml/2006/main">
              <a:ext uri="{FF2B5EF4-FFF2-40B4-BE49-F238E27FC236}">
                <a16:creationId xmlns:a16="http://schemas.microsoft.com/office/drawing/2014/main" id="{E37BB917-2BF2-4DEC-9B37-1BA2E428C27D}"/>
              </a:ext>
            </a:extLst>
          </p:cNvPr>
          <p:cNvSpPr>
            <a:spLocks xmlns:a="http://schemas.openxmlformats.org/drawingml/2006/main" noGrp="1"/>
          </p:cNvSpPr>
          <p:nvPr/>
        </p:nvSpPr>
        <p:spPr>
          <a:xfrm xmlns:a="http://schemas.openxmlformats.org/drawingml/2006/main">
            <a:off x="666750" y="781050"/>
            <a:ext cx="819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2550" b="0">
                <a:solidFill>
                  <a:srgbClr val="15201B"/>
                </a:solidFill>
                <a:latin typeface="Georgia"/>
                <a:ea typeface="Georgia"/>
                <a:cs typeface="Georgia"/>
              </a:defRPr>
            </a:pPr>
            <a:r>
              <a:rPr sz="2550" b="0">
                <a:solidFill>
                  <a:srgbClr val="15201B"/>
                </a:solidFill>
                <a:latin typeface="Georgia"/>
                <a:ea typeface="Georgia"/>
                <a:cs typeface="Georgia"/>
              </a:rPr>
              <a:t>The case needs a reusable system—not just a risk score.</a:t>
            </a:r>
          </a:p>
        </p:txBody>
      </p:sp>
      <p:sp>
        <p:nvSpPr>
          <p:cNvPr id="4" name="Rectangle 3">
            <a:extLst xmlns:a="http://schemas.openxmlformats.org/drawingml/2006/main">
              <a:ext uri="{FF2B5EF4-FFF2-40B4-BE49-F238E27FC236}">
                <a16:creationId xmlns:a16="http://schemas.microsoft.com/office/drawing/2014/main" id="{24704B30-3E55-43AC-B117-A3BC57094B39}"/>
              </a:ext>
            </a:extLst>
          </p:cNvPr>
          <p:cNvSpPr>
            <a:spLocks xmlns:a="http://schemas.openxmlformats.org/drawingml/2006/main" noGrp="1"/>
          </p:cNvSpPr>
          <p:nvPr/>
        </p:nvSpPr>
        <p:spPr>
          <a:xfrm xmlns:a="http://schemas.openxmlformats.org/drawingml/2006/main">
            <a:off x="685800" y="16764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E6B64"/>
                </a:solidFill>
                <a:latin typeface="Aptos"/>
                <a:ea typeface="Aptos"/>
                <a:cs typeface="Aptos"/>
              </a:defRPr>
            </a:pPr>
            <a:r>
              <a:rPr sz="1200" b="0">
                <a:solidFill>
                  <a:srgbClr val="5E6B64"/>
                </a:solidFill>
                <a:latin typeface="Aptos"/>
                <a:ea typeface="Aptos"/>
                <a:cs typeface="Aptos"/>
              </a:rPr>
              <a:t>Five capabilities turn a model into controlled warning support across several hospitals.</a:t>
            </a:r>
          </a:p>
        </p:txBody>
      </p:sp>
      <p:sp>
        <p:nvSpPr>
          <p:cNvPr id="5" name="Rounded Rectangle 4">
            <a:extLst xmlns:a="http://schemas.openxmlformats.org/drawingml/2006/main">
              <a:ext uri="{FF2B5EF4-FFF2-40B4-BE49-F238E27FC236}">
                <a16:creationId xmlns:a16="http://schemas.microsoft.com/office/drawing/2014/main" id="{A13081A4-6899-453F-BDDB-D3AF6CA62CF7}"/>
              </a:ext>
            </a:extLst>
          </p:cNvPr>
          <p:cNvSpPr>
            <a:spLocks xmlns:a="http://schemas.openxmlformats.org/drawingml/2006/main" noGrp="1"/>
          </p:cNvSpPr>
          <p:nvPr/>
        </p:nvSpPr>
        <p:spPr>
          <a:xfrm xmlns:a="http://schemas.openxmlformats.org/drawingml/2006/main">
            <a:off x="666750" y="2381249"/>
            <a:ext cx="2076450" cy="1685925"/>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5CDBF"/>
            </a:solidFill>
          </a:ln>
        </p:spPr>
        <p:txBody>
          <a:bodyPr xmlns:a="http://schemas.openxmlformats.org/drawingml/2006/main"/>
          <a:lstStyle xmlns:a="http://schemas.openxmlformats.org/drawingml/2006/main"/>
          <a:p xmlns:a="http://schemas.openxmlformats.org/drawingml/2006/main">
            <a:endParaRPr/>
          </a:p>
        </p:txBody>
      </p:sp>
      <p:sp>
        <p:nvSpPr>
          <p:cNvPr id="6" name="Rounded Rectangle 5">
            <a:extLst xmlns:a="http://schemas.openxmlformats.org/drawingml/2006/main">
              <a:ext uri="{FF2B5EF4-FFF2-40B4-BE49-F238E27FC236}">
                <a16:creationId xmlns:a16="http://schemas.microsoft.com/office/drawing/2014/main" id="{E3E67488-16FF-4721-B16B-EED624647858}"/>
              </a:ext>
            </a:extLst>
          </p:cNvPr>
          <p:cNvSpPr>
            <a:spLocks xmlns:a="http://schemas.openxmlformats.org/drawingml/2006/main" noGrp="1"/>
          </p:cNvSpPr>
          <p:nvPr/>
        </p:nvSpPr>
        <p:spPr>
          <a:xfrm xmlns:a="http://schemas.openxmlformats.org/drawingml/2006/main">
            <a:off x="666750" y="2381250"/>
            <a:ext cx="2076450" cy="361950"/>
          </a:xfrm>
          <a:prstGeom xmlns:a="http://schemas.openxmlformats.org/drawingml/2006/main" prst="roundRect">
            <a:avLst>
              <a:gd name="adj" fmla="val 10526"/>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lIns="0" tIns="0" rIns="0" bIns="0" anchor="ct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Connect + check</a:t>
            </a:r>
          </a:p>
        </p:txBody>
      </p:sp>
      <p:sp>
        <p:nvSpPr>
          <p:cNvPr id="7" name="Rectangle 6">
            <a:extLst xmlns:a="http://schemas.openxmlformats.org/drawingml/2006/main">
              <a:ext uri="{FF2B5EF4-FFF2-40B4-BE49-F238E27FC236}">
                <a16:creationId xmlns:a16="http://schemas.microsoft.com/office/drawing/2014/main" id="{3FFA21E9-90FD-423B-94CD-5AE2604AE6C4}"/>
              </a:ext>
            </a:extLst>
          </p:cNvPr>
          <p:cNvSpPr>
            <a:spLocks xmlns:a="http://schemas.openxmlformats.org/drawingml/2006/main" noGrp="1"/>
          </p:cNvSpPr>
          <p:nvPr/>
        </p:nvSpPr>
        <p:spPr>
          <a:xfrm xmlns:a="http://schemas.openxmlformats.org/drawingml/2006/main">
            <a:off x="819150" y="2895600"/>
            <a:ext cx="1771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5201B"/>
                </a:solidFill>
                <a:latin typeface="Aptos"/>
                <a:ea typeface="Aptos"/>
                <a:cs typeface="Aptos"/>
              </a:defRPr>
            </a:pPr>
            <a:r>
              <a:rPr sz="1200" b="0">
                <a:solidFill>
                  <a:srgbClr val="15201B"/>
                </a:solidFill>
                <a:latin typeface="Aptos"/>
                <a:ea typeface="Aptos"/>
                <a:cs typeface="Aptos"/>
              </a:rPr>
              <a:t>Connect hospital systems, standardize units, check missing or old data, and record where values came from.</a:t>
            </a:r>
          </a:p>
        </p:txBody>
      </p:sp>
      <p:sp>
        <p:nvSpPr>
          <p:cNvPr id="8" name="Rounded Rectangle 7">
            <a:extLst xmlns:a="http://schemas.openxmlformats.org/drawingml/2006/main">
              <a:ext uri="{FF2B5EF4-FFF2-40B4-BE49-F238E27FC236}">
                <a16:creationId xmlns:a16="http://schemas.microsoft.com/office/drawing/2014/main" id="{BAEBE119-5A68-4F66-9ECE-171920DB925C}"/>
              </a:ext>
            </a:extLst>
          </p:cNvPr>
          <p:cNvSpPr>
            <a:spLocks xmlns:a="http://schemas.openxmlformats.org/drawingml/2006/main" noGrp="1"/>
          </p:cNvSpPr>
          <p:nvPr/>
        </p:nvSpPr>
        <p:spPr>
          <a:xfrm xmlns:a="http://schemas.openxmlformats.org/drawingml/2006/main">
            <a:off x="2971800" y="2381250"/>
            <a:ext cx="2076450" cy="1685924"/>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5CDBF"/>
            </a:solidFill>
          </a:ln>
        </p:spPr>
        <p:txBody>
          <a:bodyPr xmlns:a="http://schemas.openxmlformats.org/drawingml/2006/main"/>
          <a:lstStyle xmlns:a="http://schemas.openxmlformats.org/drawingml/2006/main"/>
          <a:p xmlns:a="http://schemas.openxmlformats.org/drawingml/2006/main">
            <a:endParaRPr/>
          </a:p>
        </p:txBody>
      </p:sp>
      <p:sp>
        <p:nvSpPr>
          <p:cNvPr id="9" name="Rounded Rectangle 8">
            <a:extLst xmlns:a="http://schemas.openxmlformats.org/drawingml/2006/main">
              <a:ext uri="{FF2B5EF4-FFF2-40B4-BE49-F238E27FC236}">
                <a16:creationId xmlns:a16="http://schemas.microsoft.com/office/drawing/2014/main" id="{D92C0DF7-A365-4208-97B7-95B9C2846808}"/>
              </a:ext>
            </a:extLst>
          </p:cNvPr>
          <p:cNvSpPr>
            <a:spLocks xmlns:a="http://schemas.openxmlformats.org/drawingml/2006/main" noGrp="1"/>
          </p:cNvSpPr>
          <p:nvPr/>
        </p:nvSpPr>
        <p:spPr>
          <a:xfrm xmlns:a="http://schemas.openxmlformats.org/drawingml/2006/main">
            <a:off x="2971800" y="2381250"/>
            <a:ext cx="2076450" cy="361950"/>
          </a:xfrm>
          <a:prstGeom xmlns:a="http://schemas.openxmlformats.org/drawingml/2006/main" prst="roundRect">
            <a:avLst>
              <a:gd name="adj" fmla="val 10526"/>
            </a:avLst>
          </a:prstGeom>
          <a:solidFill xmlns:a="http://schemas.openxmlformats.org/drawingml/2006/main">
            <a:srgbClr val="2D5B7C"/>
          </a:solidFill>
          <a:ln xmlns:a="http://schemas.openxmlformats.org/drawingml/2006/main" w="9525">
            <a:solidFill>
              <a:srgbClr val="2D5B7C"/>
            </a:solidFill>
          </a:ln>
        </p:spPr>
        <p:txBody>
          <a:bodyPr xmlns:a="http://schemas.openxmlformats.org/drawingml/2006/main" lIns="0" tIns="0" rIns="0" bIns="0" anchor="ct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Run locally</a:t>
            </a:r>
          </a:p>
        </p:txBody>
      </p:sp>
      <p:sp>
        <p:nvSpPr>
          <p:cNvPr id="10" name="Rectangle 9">
            <a:extLst xmlns:a="http://schemas.openxmlformats.org/drawingml/2006/main">
              <a:ext uri="{FF2B5EF4-FFF2-40B4-BE49-F238E27FC236}">
                <a16:creationId xmlns:a16="http://schemas.microsoft.com/office/drawing/2014/main" id="{D366C7E8-D30E-4F8F-A2A3-A470D4067A7E}"/>
              </a:ext>
            </a:extLst>
          </p:cNvPr>
          <p:cNvSpPr>
            <a:spLocks xmlns:a="http://schemas.openxmlformats.org/drawingml/2006/main" noGrp="1"/>
          </p:cNvSpPr>
          <p:nvPr/>
        </p:nvSpPr>
        <p:spPr>
          <a:xfrm xmlns:a="http://schemas.openxmlformats.org/drawingml/2006/main">
            <a:off x="3124200" y="2895600"/>
            <a:ext cx="1771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5201B"/>
                </a:solidFill>
                <a:latin typeface="Aptos"/>
                <a:ea typeface="Aptos"/>
                <a:cs typeface="Aptos"/>
              </a:defRPr>
            </a:pPr>
            <a:r>
              <a:rPr sz="1200" b="0">
                <a:solidFill>
                  <a:srgbClr val="15201B"/>
                </a:solidFill>
                <a:latin typeface="Aptos"/>
                <a:ea typeface="Aptos"/>
                <a:cs typeface="Aptos"/>
              </a:rPr>
              <a:t>The local agent checks approved data, calculates risk inside the hospital, blocks unsafe runs, and records what happened.</a:t>
            </a:r>
          </a:p>
        </p:txBody>
      </p:sp>
      <p:sp>
        <p:nvSpPr>
          <p:cNvPr id="11" name="Rounded Rectangle 10">
            <a:extLst xmlns:a="http://schemas.openxmlformats.org/drawingml/2006/main">
              <a:ext uri="{FF2B5EF4-FFF2-40B4-BE49-F238E27FC236}">
                <a16:creationId xmlns:a16="http://schemas.microsoft.com/office/drawing/2014/main" id="{E52E24A4-0141-4B37-8928-691636878792}"/>
              </a:ext>
            </a:extLst>
          </p:cNvPr>
          <p:cNvSpPr>
            <a:spLocks xmlns:a="http://schemas.openxmlformats.org/drawingml/2006/main" noGrp="1"/>
          </p:cNvSpPr>
          <p:nvPr/>
        </p:nvSpPr>
        <p:spPr>
          <a:xfrm xmlns:a="http://schemas.openxmlformats.org/drawingml/2006/main">
            <a:off x="5276850" y="2381248"/>
            <a:ext cx="2076450" cy="1685925"/>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5CDBF"/>
            </a:solidFill>
          </a:ln>
        </p:spPr>
        <p:txBody>
          <a:bodyPr xmlns:a="http://schemas.openxmlformats.org/drawingml/2006/main"/>
          <a:lstStyle xmlns:a="http://schemas.openxmlformats.org/drawingml/2006/main"/>
          <a:p xmlns:a="http://schemas.openxmlformats.org/drawingml/2006/main">
            <a:endParaRPr/>
          </a:p>
        </p:txBody>
      </p:sp>
      <p:sp>
        <p:nvSpPr>
          <p:cNvPr id="12" name="Rounded Rectangle 11">
            <a:extLst xmlns:a="http://schemas.openxmlformats.org/drawingml/2006/main">
              <a:ext uri="{FF2B5EF4-FFF2-40B4-BE49-F238E27FC236}">
                <a16:creationId xmlns:a16="http://schemas.microsoft.com/office/drawing/2014/main" id="{D7327AB3-C9C1-4F2A-A6D0-10D7A4A645FF}"/>
              </a:ext>
            </a:extLst>
          </p:cNvPr>
          <p:cNvSpPr>
            <a:spLocks xmlns:a="http://schemas.openxmlformats.org/drawingml/2006/main" noGrp="1"/>
          </p:cNvSpPr>
          <p:nvPr/>
        </p:nvSpPr>
        <p:spPr>
          <a:xfrm xmlns:a="http://schemas.openxmlformats.org/drawingml/2006/main">
            <a:off x="5276850" y="2381250"/>
            <a:ext cx="2076450" cy="361950"/>
          </a:xfrm>
          <a:prstGeom xmlns:a="http://schemas.openxmlformats.org/drawingml/2006/main" prst="roundRect">
            <a:avLst>
              <a:gd name="adj" fmla="val 10526"/>
            </a:avLst>
          </a:prstGeom>
          <a:solidFill xmlns:a="http://schemas.openxmlformats.org/drawingml/2006/main">
            <a:srgbClr val="A34D3E"/>
          </a:solidFill>
          <a:ln xmlns:a="http://schemas.openxmlformats.org/drawingml/2006/main" w="9525">
            <a:solidFill>
              <a:srgbClr val="A34D3E"/>
            </a:solidFill>
          </a:ln>
        </p:spPr>
        <p:txBody>
          <a:bodyPr xmlns:a="http://schemas.openxmlformats.org/drawingml/2006/main" lIns="0" tIns="0" rIns="0" bIns="0" anchor="ct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Help the clinician</a:t>
            </a:r>
          </a:p>
        </p:txBody>
      </p:sp>
      <p:sp>
        <p:nvSpPr>
          <p:cNvPr id="13" name="Rectangle 12">
            <a:extLst xmlns:a="http://schemas.openxmlformats.org/drawingml/2006/main">
              <a:ext uri="{FF2B5EF4-FFF2-40B4-BE49-F238E27FC236}">
                <a16:creationId xmlns:a16="http://schemas.microsoft.com/office/drawing/2014/main" id="{02D56E01-AE91-43A1-8163-B51B0EF3698D}"/>
              </a:ext>
            </a:extLst>
          </p:cNvPr>
          <p:cNvSpPr>
            <a:spLocks xmlns:a="http://schemas.openxmlformats.org/drawingml/2006/main" noGrp="1"/>
          </p:cNvSpPr>
          <p:nvPr/>
        </p:nvSpPr>
        <p:spPr>
          <a:xfrm xmlns:a="http://schemas.openxmlformats.org/drawingml/2006/main">
            <a:off x="5429250" y="2895600"/>
            <a:ext cx="1771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5201B"/>
                </a:solidFill>
                <a:latin typeface="Aptos"/>
                <a:ea typeface="Aptos"/>
                <a:cs typeface="Aptos"/>
              </a:defRPr>
            </a:pPr>
            <a:r>
              <a:rPr sz="1200" b="0">
                <a:solidFill>
                  <a:srgbClr val="15201B"/>
                </a:solidFill>
                <a:latin typeface="Aptos"/>
                <a:ea typeface="Aptos"/>
                <a:cs typeface="Aptos"/>
              </a:rPr>
              <a:t>Show why the warning appeared, how certain it is, and known limits. Record the clinician's response.</a:t>
            </a:r>
          </a:p>
        </p:txBody>
      </p:sp>
      <p:sp>
        <p:nvSpPr>
          <p:cNvPr id="14" name="Rounded Rectangle 13">
            <a:extLst xmlns:a="http://schemas.openxmlformats.org/drawingml/2006/main">
              <a:ext uri="{FF2B5EF4-FFF2-40B4-BE49-F238E27FC236}">
                <a16:creationId xmlns:a16="http://schemas.microsoft.com/office/drawing/2014/main" id="{DF730831-E735-4AF3-8B89-EC1D8BA5E7F2}"/>
              </a:ext>
            </a:extLst>
          </p:cNvPr>
          <p:cNvSpPr>
            <a:spLocks xmlns:a="http://schemas.openxmlformats.org/drawingml/2006/main" noGrp="1"/>
          </p:cNvSpPr>
          <p:nvPr/>
        </p:nvSpPr>
        <p:spPr>
          <a:xfrm xmlns:a="http://schemas.openxmlformats.org/drawingml/2006/main">
            <a:off x="7581900" y="2381250"/>
            <a:ext cx="1771650" cy="1685924"/>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5CDBF"/>
            </a:solidFill>
          </a:ln>
        </p:spPr>
        <p:txBody>
          <a:bodyPr xmlns:a="http://schemas.openxmlformats.org/drawingml/2006/main"/>
          <a:lstStyle xmlns:a="http://schemas.openxmlformats.org/drawingml/2006/main"/>
          <a:p xmlns:a="http://schemas.openxmlformats.org/drawingml/2006/main">
            <a:endParaRPr/>
          </a:p>
        </p:txBody>
      </p:sp>
      <p:sp>
        <p:nvSpPr>
          <p:cNvPr id="15" name="Rounded Rectangle 14">
            <a:extLst xmlns:a="http://schemas.openxmlformats.org/drawingml/2006/main">
              <a:ext uri="{FF2B5EF4-FFF2-40B4-BE49-F238E27FC236}">
                <a16:creationId xmlns:a16="http://schemas.microsoft.com/office/drawing/2014/main" id="{B84B2B6C-E9FC-4DAE-AEEF-1C30741DD9A8}"/>
              </a:ext>
            </a:extLst>
          </p:cNvPr>
          <p:cNvSpPr>
            <a:spLocks xmlns:a="http://schemas.openxmlformats.org/drawingml/2006/main" noGrp="1"/>
          </p:cNvSpPr>
          <p:nvPr/>
        </p:nvSpPr>
        <p:spPr>
          <a:xfrm xmlns:a="http://schemas.openxmlformats.org/drawingml/2006/main">
            <a:off x="7581900" y="2381250"/>
            <a:ext cx="1771650" cy="361950"/>
          </a:xfrm>
          <a:prstGeom xmlns:a="http://schemas.openxmlformats.org/drawingml/2006/main" prst="roundRect">
            <a:avLst>
              <a:gd name="adj" fmla="val 10526"/>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lIns="0" tIns="0" rIns="0" bIns="0" anchor="ct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Learn across hospitals</a:t>
            </a:r>
          </a:p>
        </p:txBody>
      </p:sp>
      <p:sp>
        <p:nvSpPr>
          <p:cNvPr id="16" name="Rectangle 15">
            <a:extLst xmlns:a="http://schemas.openxmlformats.org/drawingml/2006/main">
              <a:ext uri="{FF2B5EF4-FFF2-40B4-BE49-F238E27FC236}">
                <a16:creationId xmlns:a16="http://schemas.microsoft.com/office/drawing/2014/main" id="{F3AE6955-92C1-481D-8741-E1B4ACD11D07}"/>
              </a:ext>
            </a:extLst>
          </p:cNvPr>
          <p:cNvSpPr>
            <a:spLocks xmlns:a="http://schemas.openxmlformats.org/drawingml/2006/main" noGrp="1"/>
          </p:cNvSpPr>
          <p:nvPr/>
        </p:nvSpPr>
        <p:spPr>
          <a:xfrm xmlns:a="http://schemas.openxmlformats.org/drawingml/2006/main">
            <a:off x="7734300" y="2895600"/>
            <a:ext cx="1466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5201B"/>
                </a:solidFill>
                <a:latin typeface="Aptos"/>
                <a:ea typeface="Aptos"/>
                <a:cs typeface="Aptos"/>
              </a:defRPr>
            </a:pPr>
            <a:r>
              <a:rPr sz="1200" b="0">
                <a:solidFill>
                  <a:srgbClr val="15201B"/>
                </a:solidFill>
                <a:latin typeface="Aptos"/>
                <a:ea typeface="Aptos"/>
                <a:cs typeface="Aptos"/>
              </a:rPr>
              <a:t>The global agent compares approved summaries and chooses model settings that fit each hospital.</a:t>
            </a:r>
          </a:p>
        </p:txBody>
      </p:sp>
      <p:sp>
        <p:nvSpPr>
          <p:cNvPr id="17" name="Rounded Rectangle 16">
            <a:extLst xmlns:a="http://schemas.openxmlformats.org/drawingml/2006/main">
              <a:ext uri="{FF2B5EF4-FFF2-40B4-BE49-F238E27FC236}">
                <a16:creationId xmlns:a16="http://schemas.microsoft.com/office/drawing/2014/main" id="{A7DFFB37-32AB-426D-936F-2F09D6103545}"/>
              </a:ext>
            </a:extLst>
          </p:cNvPr>
          <p:cNvSpPr>
            <a:spLocks xmlns:a="http://schemas.openxmlformats.org/drawingml/2006/main" noGrp="1"/>
          </p:cNvSpPr>
          <p:nvPr/>
        </p:nvSpPr>
        <p:spPr>
          <a:xfrm xmlns:a="http://schemas.openxmlformats.org/drawingml/2006/main">
            <a:off x="9582150" y="2381249"/>
            <a:ext cx="1771650" cy="1685923"/>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5CDBF"/>
            </a:solidFill>
          </a:ln>
        </p:spPr>
        <p:txBody>
          <a:bodyPr xmlns:a="http://schemas.openxmlformats.org/drawingml/2006/main"/>
          <a:lstStyle xmlns:a="http://schemas.openxmlformats.org/drawingml/2006/main"/>
          <a:p xmlns:a="http://schemas.openxmlformats.org/drawingml/2006/main">
            <a:endParaRPr/>
          </a:p>
        </p:txBody>
      </p:sp>
      <p:sp>
        <p:nvSpPr>
          <p:cNvPr id="18" name="Rounded Rectangle 17">
            <a:extLst xmlns:a="http://schemas.openxmlformats.org/drawingml/2006/main">
              <a:ext uri="{FF2B5EF4-FFF2-40B4-BE49-F238E27FC236}">
                <a16:creationId xmlns:a16="http://schemas.microsoft.com/office/drawing/2014/main" id="{07216B4A-3BF2-4504-852C-8A99711EC0E0}"/>
              </a:ext>
            </a:extLst>
          </p:cNvPr>
          <p:cNvSpPr>
            <a:spLocks xmlns:a="http://schemas.openxmlformats.org/drawingml/2006/main" noGrp="1"/>
          </p:cNvSpPr>
          <p:nvPr/>
        </p:nvSpPr>
        <p:spPr>
          <a:xfrm xmlns:a="http://schemas.openxmlformats.org/drawingml/2006/main">
            <a:off x="9582150" y="2381250"/>
            <a:ext cx="1771650" cy="361950"/>
          </a:xfrm>
          <a:prstGeom xmlns:a="http://schemas.openxmlformats.org/drawingml/2006/main" prst="roundRect">
            <a:avLst>
              <a:gd name="adj" fmla="val 10526"/>
            </a:avLst>
          </a:prstGeom>
          <a:solidFill xmlns:a="http://schemas.openxmlformats.org/drawingml/2006/main">
            <a:srgbClr val="2D5B7C"/>
          </a:solidFill>
          <a:ln xmlns:a="http://schemas.openxmlformats.org/drawingml/2006/main" w="9525">
            <a:solidFill>
              <a:srgbClr val="2D5B7C"/>
            </a:solidFill>
          </a:ln>
        </p:spPr>
        <p:txBody>
          <a:bodyPr xmlns:a="http://schemas.openxmlformats.org/drawingml/2006/main" lIns="0" tIns="0" rIns="0" bIns="0" anchor="ct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Update safely</a:t>
            </a:r>
          </a:p>
        </p:txBody>
      </p:sp>
      <p:sp>
        <p:nvSpPr>
          <p:cNvPr id="19" name="Rectangle 18">
            <a:extLst xmlns:a="http://schemas.openxmlformats.org/drawingml/2006/main">
              <a:ext uri="{FF2B5EF4-FFF2-40B4-BE49-F238E27FC236}">
                <a16:creationId xmlns:a16="http://schemas.microsoft.com/office/drawing/2014/main" id="{155BB77E-A396-45E8-81E6-0554EE3EAA7C}"/>
              </a:ext>
            </a:extLst>
          </p:cNvPr>
          <p:cNvSpPr>
            <a:spLocks xmlns:a="http://schemas.openxmlformats.org/drawingml/2006/main" noGrp="1"/>
          </p:cNvSpPr>
          <p:nvPr/>
        </p:nvSpPr>
        <p:spPr>
          <a:xfrm xmlns:a="http://schemas.openxmlformats.org/drawingml/2006/main">
            <a:off x="9734550" y="2895600"/>
            <a:ext cx="1466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5201B"/>
                </a:solidFill>
                <a:latin typeface="Aptos"/>
                <a:ea typeface="Aptos"/>
                <a:cs typeface="Aptos"/>
              </a:defRPr>
            </a:pPr>
            <a:r>
              <a:rPr sz="1200" b="0">
                <a:solidFill>
                  <a:srgbClr val="15201B"/>
                </a:solidFill>
                <a:latin typeface="Aptos"/>
                <a:ea typeface="Aptos"/>
                <a:cs typeface="Aptos"/>
              </a:rPr>
              <a:t>Track versions, test small rollouts, monitor results, and return to an older version if needed.</a:t>
            </a:r>
          </a:p>
        </p:txBody>
      </p:sp>
      <p:sp>
        <p:nvSpPr>
          <p:cNvPr id="20" name="Rectangle 19">
            <a:extLst xmlns:a="http://schemas.openxmlformats.org/drawingml/2006/main">
              <a:ext uri="{FF2B5EF4-FFF2-40B4-BE49-F238E27FC236}">
                <a16:creationId xmlns:a16="http://schemas.microsoft.com/office/drawing/2014/main" id="{7E02936F-D2E1-4B65-BA8E-7DDEA9BF7168}"/>
              </a:ext>
            </a:extLst>
          </p:cNvPr>
          <p:cNvSpPr>
            <a:spLocks xmlns:a="http://schemas.openxmlformats.org/drawingml/2006/main" noGrp="1"/>
          </p:cNvSpPr>
          <p:nvPr/>
        </p:nvSpPr>
        <p:spPr>
          <a:xfrm xmlns:a="http://schemas.openxmlformats.org/drawingml/2006/main">
            <a:off x="1257300" y="4524375"/>
            <a:ext cx="9620250" cy="742950"/>
          </a:xfrm>
          <a:prstGeom xmlns:a="http://schemas.openxmlformats.org/drawingml/2006/main" prst="rect">
            <a:avLst/>
          </a:prstGeom>
          <a:solidFill xmlns:a="http://schemas.openxmlformats.org/drawingml/2006/main">
            <a:srgbClr val="ECE6D9"/>
          </a:solidFill>
          <a:ln xmlns:a="http://schemas.openxmlformats.org/drawingml/2006/main" w="9525">
            <a:solidFill>
              <a:srgbClr val="D5CDBF"/>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650" b="0">
                <a:solidFill>
                  <a:srgbClr val="15201B"/>
                </a:solidFill>
                <a:latin typeface="Aptos"/>
                <a:ea typeface="Aptos"/>
                <a:cs typeface="Aptos"/>
              </a:defRPr>
            </a:pPr>
            <a:r>
              <a:rPr sz="1650" b="0">
                <a:solidFill>
                  <a:srgbClr val="15201B"/>
                </a:solidFill>
                <a:latin typeface="Aptos"/>
                <a:ea typeface="Aptos"/>
                <a:cs typeface="Aptos"/>
              </a:rPr>
              <a:t>Controls across every step: security, privacy, change history, data retention, and clear human ownership.</a:t>
            </a:r>
          </a:p>
        </p:txBody>
      </p:sp>
      <p:sp>
        <p:nvSpPr>
          <p:cNvPr id="21" name="Rectangle 20">
            <a:extLst xmlns:a="http://schemas.openxmlformats.org/drawingml/2006/main">
              <a:ext uri="{FF2B5EF4-FFF2-40B4-BE49-F238E27FC236}">
                <a16:creationId xmlns:a16="http://schemas.microsoft.com/office/drawing/2014/main" id="{ED41F84D-20B4-45ED-993A-A1BBBB1ECECB}"/>
              </a:ext>
            </a:extLst>
          </p:cNvPr>
          <p:cNvSpPr>
            <a:spLocks xmlns:a="http://schemas.openxmlformats.org/drawingml/2006/main" noGrp="1"/>
          </p:cNvSpPr>
          <p:nvPr/>
        </p:nvSpPr>
        <p:spPr>
          <a:xfrm xmlns:a="http://schemas.openxmlformats.org/drawingml/2006/main">
            <a:off x="666750" y="645795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5E6B64"/>
                </a:solidFill>
                <a:latin typeface="Aptos"/>
                <a:ea typeface="Aptos"/>
                <a:cs typeface="Aptos"/>
              </a:defRPr>
            </a:pPr>
            <a:r>
              <a:rPr sz="825" b="0">
                <a:solidFill>
                  <a:srgbClr val="5E6B64"/>
                </a:solidFill>
                <a:latin typeface="Aptos"/>
                <a:ea typeface="Aptos"/>
                <a:cs typeface="Aptos"/>
              </a:rPr>
              <a:t>Dagents Healthcare / 06</a:t>
            </a:r>
          </a:p>
        </p:txBody>
      </p:sp>
    </p:spTree>
    <p:extLst>
      <p:ext uri="{BB962C8B-B14F-4D97-AF65-F5344CB8AC3E}">
        <p14:creationId xmlns:p14="http://schemas.microsoft.com/office/powerpoint/2010/main" val="157911841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DD55E98F-5E53-45A3-B710-C479446F575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9525">
            <a:solidFill>
              <a:srgbClr val="F7F3EA"/>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66EC36A-0FD9-442A-B7A1-A8DE348F1301}"/>
              </a:ext>
            </a:extLst>
          </p:cNvPr>
          <p:cNvSpPr>
            <a:spLocks xmlns:a="http://schemas.openxmlformats.org/drawingml/2006/main" noGrp="1"/>
          </p:cNvSpPr>
          <p:nvPr/>
        </p:nvSpPr>
        <p:spPr>
          <a:xfrm xmlns:a="http://schemas.openxmlformats.org/drawingml/2006/main">
            <a:off x="666750" y="400050"/>
            <a:ext cx="1619250" cy="238125"/>
          </a:xfrm>
          <a:prstGeom xmlns:a="http://schemas.openxmlformats.org/drawingml/2006/main" prst="rect">
            <a:avLst/>
          </a:prstGeom>
          <a:solidFill xmlns:a="http://schemas.openxmlformats.org/drawingml/2006/main">
            <a:srgbClr val="15201B"/>
          </a:solidFill>
          <a:ln xmlns:a="http://schemas.openxmlformats.org/drawingml/2006/main" w="9525">
            <a:solidFill>
              <a:srgbClr val="15201B"/>
            </a:solidFill>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FFFFFF"/>
                </a:solidFill>
                <a:latin typeface="Aptos"/>
                <a:ea typeface="Aptos"/>
                <a:cs typeface="Aptos"/>
              </a:defRPr>
            </a:pPr>
            <a:r>
              <a:rPr sz="900" b="1">
                <a:solidFill>
                  <a:srgbClr val="FFFFFF"/>
                </a:solidFill>
                <a:latin typeface="Aptos"/>
                <a:ea typeface="Aptos"/>
                <a:cs typeface="Aptos"/>
              </a:rPr>
              <a:t>CURRENT STATE</a:t>
            </a:r>
          </a:p>
        </p:txBody>
      </p:sp>
      <p:sp>
        <p:nvSpPr>
          <p:cNvPr id="3" name="Rectangle 2">
            <a:extLst xmlns:a="http://schemas.openxmlformats.org/drawingml/2006/main">
              <a:ext uri="{FF2B5EF4-FFF2-40B4-BE49-F238E27FC236}">
                <a16:creationId xmlns:a16="http://schemas.microsoft.com/office/drawing/2014/main" id="{5BBD3491-C736-49FA-8A7C-16BB18027A76}"/>
              </a:ext>
            </a:extLst>
          </p:cNvPr>
          <p:cNvSpPr>
            <a:spLocks xmlns:a="http://schemas.openxmlformats.org/drawingml/2006/main" noGrp="1"/>
          </p:cNvSpPr>
          <p:nvPr/>
        </p:nvSpPr>
        <p:spPr>
          <a:xfrm xmlns:a="http://schemas.openxmlformats.org/drawingml/2006/main">
            <a:off x="666750" y="781050"/>
            <a:ext cx="819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2550" b="0">
                <a:solidFill>
                  <a:srgbClr val="15201B"/>
                </a:solidFill>
                <a:latin typeface="Georgia"/>
                <a:ea typeface="Georgia"/>
                <a:cs typeface="Georgia"/>
              </a:defRPr>
            </a:pPr>
            <a:r>
              <a:rPr sz="2550" b="0">
                <a:solidFill>
                  <a:srgbClr val="15201B"/>
                </a:solidFill>
                <a:latin typeface="Georgia"/>
                <a:ea typeface="Georgia"/>
                <a:cs typeface="Georgia"/>
              </a:rPr>
              <a:t>Hospitals often build separate warning systems.</a:t>
            </a:r>
          </a:p>
        </p:txBody>
      </p:sp>
      <p:sp>
        <p:nvSpPr>
          <p:cNvPr id="4" name="Rectangle 3">
            <a:extLst xmlns:a="http://schemas.openxmlformats.org/drawingml/2006/main">
              <a:ext uri="{FF2B5EF4-FFF2-40B4-BE49-F238E27FC236}">
                <a16:creationId xmlns:a16="http://schemas.microsoft.com/office/drawing/2014/main" id="{05D92106-81F4-40BC-9FDA-053D81E4CB48}"/>
              </a:ext>
            </a:extLst>
          </p:cNvPr>
          <p:cNvSpPr>
            <a:spLocks xmlns:a="http://schemas.openxmlformats.org/drawingml/2006/main" noGrp="1"/>
          </p:cNvSpPr>
          <p:nvPr/>
        </p:nvSpPr>
        <p:spPr>
          <a:xfrm xmlns:a="http://schemas.openxmlformats.org/drawingml/2006/main">
            <a:off x="685800" y="16764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E6B64"/>
                </a:solidFill>
                <a:latin typeface="Aptos"/>
                <a:ea typeface="Aptos"/>
                <a:cs typeface="Aptos"/>
              </a:defRPr>
            </a:pPr>
            <a:r>
              <a:rPr sz="1200" b="0">
                <a:solidFill>
                  <a:srgbClr val="5E6B64"/>
                </a:solidFill>
                <a:latin typeface="Aptos"/>
                <a:ea typeface="Aptos"/>
                <a:cs typeface="Aptos"/>
              </a:rPr>
              <a:t>Different data, rules, and vendors make comparison difficult. Patient-identifying information should remain protected.</a:t>
            </a:r>
          </a:p>
        </p:txBody>
      </p:sp>
      <p:pic>
        <p:nvPicPr>
          <p:cNvPr id="13" name="Picture 4"/>
          <p:cNvPicPr>
            <a:picLocks xmlns:a="http://schemas.openxmlformats.org/drawingml/2006/main" noChangeAspect="1"/>
          </p:cNvPicPr>
          <p:nvPr/>
        </p:nvPicPr>
        <p:blipFill>
          <a:blip xmlns:r="http://schemas.openxmlformats.org/officeDocument/2006/relationships" xmlns:a="http://schemas.openxmlformats.org/drawingml/2006/main" r:embed="Rc7a30f9c487e4b17"/>
          <a:stretch xmlns:a="http://schemas.openxmlformats.org/drawingml/2006/main"/>
        </p:blipFill>
        <p:spPr>
          <a:xfrm xmlns:a="http://schemas.openxmlformats.org/drawingml/2006/main">
            <a:off x="742950" y="2897757"/>
            <a:ext cx="10668000" cy="2319787"/>
          </a:xfrm>
          <a:prstGeom xmlns:a="http://schemas.openxmlformats.org/drawingml/2006/main" prst="rect">
            <a:avLst/>
          </a:prstGeom>
        </p:spPr>
      </p:pic>
      <p:sp>
        <p:nvSpPr>
          <p:cNvPr id="6" name="Rectangle 5">
            <a:extLst xmlns:a="http://schemas.openxmlformats.org/drawingml/2006/main">
              <a:ext uri="{FF2B5EF4-FFF2-40B4-BE49-F238E27FC236}">
                <a16:creationId xmlns:a16="http://schemas.microsoft.com/office/drawing/2014/main" id="{DBC064B4-2A25-420C-912E-01DBA415A964}"/>
              </a:ext>
            </a:extLst>
          </p:cNvPr>
          <p:cNvSpPr>
            <a:spLocks xmlns:a="http://schemas.openxmlformats.org/drawingml/2006/main" noGrp="1"/>
          </p:cNvSpPr>
          <p:nvPr/>
        </p:nvSpPr>
        <p:spPr>
          <a:xfrm xmlns:a="http://schemas.openxmlformats.org/drawingml/2006/main">
            <a:off x="666750" y="645795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5E6B64"/>
                </a:solidFill>
                <a:latin typeface="Aptos"/>
                <a:ea typeface="Aptos"/>
                <a:cs typeface="Aptos"/>
              </a:defRPr>
            </a:pPr>
            <a:r>
              <a:rPr sz="825" b="0">
                <a:solidFill>
                  <a:srgbClr val="5E6B64"/>
                </a:solidFill>
                <a:latin typeface="Aptos"/>
                <a:ea typeface="Aptos"/>
                <a:cs typeface="Aptos"/>
              </a:rPr>
              <a:t>Dagents Healthcare / 07</a:t>
            </a:r>
          </a:p>
        </p:txBody>
      </p:sp>
    </p:spTree>
    <p:extLst>
      <p:ext uri="{BB962C8B-B14F-4D97-AF65-F5344CB8AC3E}">
        <p14:creationId xmlns:p14="http://schemas.microsoft.com/office/powerpoint/2010/main" val="179631338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D0E53F3A-15C4-4E87-B1FC-FD206D4F9D8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9525">
            <a:solidFill>
              <a:srgbClr val="F7F3EA"/>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AB784829-7899-4AD9-909A-707E198CB695}"/>
              </a:ext>
            </a:extLst>
          </p:cNvPr>
          <p:cNvSpPr>
            <a:spLocks xmlns:a="http://schemas.openxmlformats.org/drawingml/2006/main" noGrp="1"/>
          </p:cNvSpPr>
          <p:nvPr/>
        </p:nvSpPr>
        <p:spPr>
          <a:xfrm xmlns:a="http://schemas.openxmlformats.org/drawingml/2006/main">
            <a:off x="666750" y="400050"/>
            <a:ext cx="1619250" cy="238125"/>
          </a:xfrm>
          <a:prstGeom xmlns:a="http://schemas.openxmlformats.org/drawingml/2006/main" prst="rect">
            <a:avLst/>
          </a:prstGeom>
          <a:solidFill xmlns:a="http://schemas.openxmlformats.org/drawingml/2006/main">
            <a:srgbClr val="15201B"/>
          </a:solidFill>
          <a:ln xmlns:a="http://schemas.openxmlformats.org/drawingml/2006/main" w="9525">
            <a:solidFill>
              <a:srgbClr val="15201B"/>
            </a:solidFill>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FFFFFF"/>
                </a:solidFill>
                <a:latin typeface="Aptos"/>
                <a:ea typeface="Aptos"/>
                <a:cs typeface="Aptos"/>
              </a:defRPr>
            </a:pPr>
            <a:r>
              <a:rPr sz="900" b="1">
                <a:solidFill>
                  <a:srgbClr val="FFFFFF"/>
                </a:solidFill>
                <a:latin typeface="Aptos"/>
                <a:ea typeface="Aptos"/>
                <a:cs typeface="Aptos"/>
              </a:rPr>
              <a:t>TARGET DESIGN</a:t>
            </a:r>
          </a:p>
        </p:txBody>
      </p:sp>
      <p:sp>
        <p:nvSpPr>
          <p:cNvPr id="3" name="Rectangle 2">
            <a:extLst xmlns:a="http://schemas.openxmlformats.org/drawingml/2006/main">
              <a:ext uri="{FF2B5EF4-FFF2-40B4-BE49-F238E27FC236}">
                <a16:creationId xmlns:a16="http://schemas.microsoft.com/office/drawing/2014/main" id="{EEA7AFF5-32B7-4744-9598-EC73A05D2890}"/>
              </a:ext>
            </a:extLst>
          </p:cNvPr>
          <p:cNvSpPr>
            <a:spLocks xmlns:a="http://schemas.openxmlformats.org/drawingml/2006/main" noGrp="1"/>
          </p:cNvSpPr>
          <p:nvPr/>
        </p:nvSpPr>
        <p:spPr>
          <a:xfrm xmlns:a="http://schemas.openxmlformats.org/drawingml/2006/main">
            <a:off x="666750" y="781050"/>
            <a:ext cx="819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2550" b="0">
                <a:solidFill>
                  <a:srgbClr val="15201B"/>
                </a:solidFill>
                <a:latin typeface="Georgia"/>
                <a:ea typeface="Georgia"/>
                <a:cs typeface="Georgia"/>
              </a:defRPr>
            </a:pPr>
            <a:r>
              <a:rPr sz="2550" b="0">
                <a:solidFill>
                  <a:srgbClr val="15201B"/>
                </a:solidFill>
                <a:latin typeface="Georgia"/>
                <a:ea typeface="Georgia"/>
                <a:cs typeface="Georgia"/>
              </a:rPr>
              <a:t>Dagents keeps patient work local.</a:t>
            </a:r>
          </a:p>
        </p:txBody>
      </p:sp>
      <p:sp>
        <p:nvSpPr>
          <p:cNvPr id="4" name="Rectangle 3">
            <a:extLst xmlns:a="http://schemas.openxmlformats.org/drawingml/2006/main">
              <a:ext uri="{FF2B5EF4-FFF2-40B4-BE49-F238E27FC236}">
                <a16:creationId xmlns:a16="http://schemas.microsoft.com/office/drawing/2014/main" id="{270B3257-4C1E-4555-8FD9-857EDB8DB616}"/>
              </a:ext>
            </a:extLst>
          </p:cNvPr>
          <p:cNvSpPr>
            <a:spLocks xmlns:a="http://schemas.openxmlformats.org/drawingml/2006/main" noGrp="1"/>
          </p:cNvSpPr>
          <p:nvPr/>
        </p:nvSpPr>
        <p:spPr>
          <a:xfrm xmlns:a="http://schemas.openxmlformats.org/drawingml/2006/main">
            <a:off x="685800" y="16764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E6B64"/>
                </a:solidFill>
                <a:latin typeface="Aptos"/>
                <a:ea typeface="Aptos"/>
                <a:cs typeface="Aptos"/>
              </a:defRPr>
            </a:pPr>
            <a:r>
              <a:rPr sz="1200" b="0">
                <a:solidFill>
                  <a:srgbClr val="5E6B64"/>
                </a:solidFill>
                <a:latin typeface="Aptos"/>
                <a:ea typeface="Aptos"/>
                <a:cs typeface="Aptos"/>
              </a:rPr>
              <a:t>Local agents stay in each hospital; the global agent exchanges approved summaries and controlled updates.</a:t>
            </a:r>
          </a:p>
        </p:txBody>
      </p:sp>
      <p:pic>
        <p:nvPicPr>
          <p:cNvPr id="13" name="Picture 4"/>
          <p:cNvPicPr>
            <a:picLocks xmlns:a="http://schemas.openxmlformats.org/drawingml/2006/main" noChangeAspect="1"/>
          </p:cNvPicPr>
          <p:nvPr/>
        </p:nvPicPr>
        <p:blipFill>
          <a:blip xmlns:r="http://schemas.openxmlformats.org/officeDocument/2006/relationships" xmlns:a="http://schemas.openxmlformats.org/drawingml/2006/main" r:embed="R5d8a8bee0f424510"/>
          <a:stretch xmlns:a="http://schemas.openxmlformats.org/drawingml/2006/main"/>
        </p:blipFill>
        <p:spPr>
          <a:xfrm xmlns:a="http://schemas.openxmlformats.org/drawingml/2006/main">
            <a:off x="571500" y="1936730"/>
            <a:ext cx="11049000" cy="3413164"/>
          </a:xfrm>
          <a:prstGeom xmlns:a="http://schemas.openxmlformats.org/drawingml/2006/main" prst="rect">
            <a:avLst/>
          </a:prstGeom>
        </p:spPr>
      </p:pic>
      <p:sp>
        <p:nvSpPr>
          <p:cNvPr id="6" name="Rectangle 5">
            <a:extLst xmlns:a="http://schemas.openxmlformats.org/drawingml/2006/main">
              <a:ext uri="{FF2B5EF4-FFF2-40B4-BE49-F238E27FC236}">
                <a16:creationId xmlns:a16="http://schemas.microsoft.com/office/drawing/2014/main" id="{AF9A9093-40E4-42D4-AA15-CBE19544F380}"/>
              </a:ext>
            </a:extLst>
          </p:cNvPr>
          <p:cNvSpPr>
            <a:spLocks xmlns:a="http://schemas.openxmlformats.org/drawingml/2006/main" noGrp="1"/>
          </p:cNvSpPr>
          <p:nvPr/>
        </p:nvSpPr>
        <p:spPr>
          <a:xfrm xmlns:a="http://schemas.openxmlformats.org/drawingml/2006/main">
            <a:off x="666750" y="645795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5E6B64"/>
                </a:solidFill>
                <a:latin typeface="Aptos"/>
                <a:ea typeface="Aptos"/>
                <a:cs typeface="Aptos"/>
              </a:defRPr>
            </a:pPr>
            <a:r>
              <a:rPr sz="825" b="0">
                <a:solidFill>
                  <a:srgbClr val="5E6B64"/>
                </a:solidFill>
                <a:latin typeface="Aptos"/>
                <a:ea typeface="Aptos"/>
                <a:cs typeface="Aptos"/>
              </a:rPr>
              <a:t>Dagents Healthcare / 08</a:t>
            </a:r>
          </a:p>
        </p:txBody>
      </p:sp>
    </p:spTree>
    <p:extLst>
      <p:ext uri="{BB962C8B-B14F-4D97-AF65-F5344CB8AC3E}">
        <p14:creationId xmlns:p14="http://schemas.microsoft.com/office/powerpoint/2010/main" val="738132797"/>
      </p:ext>
    </p:extLst>
  </p:cSld>
</p:sld>
</file>

<file path=ppt/slides/slide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D7D1158-DC0C-4870-9A1F-691F8C825EE8}"/>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LOCAL AGENT (LMA)</a:t>
            </a:r>
          </a:p>
        </p:txBody>
      </p:sp>
      <p:sp>
        <p:nvSpPr>
          <p:cNvPr id="3" name="TextBox 2">
            <a:extLst xmlns:a="http://schemas.openxmlformats.org/drawingml/2006/main">
              <a:ext uri="{FF2B5EF4-FFF2-40B4-BE49-F238E27FC236}">
                <a16:creationId xmlns:a16="http://schemas.microsoft.com/office/drawing/2014/main" id="{84656273-0838-4E98-9C35-87AA81425751}"/>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The local agent handles patient-level work.</a:t>
            </a:r>
          </a:p>
        </p:txBody>
      </p:sp>
      <p:sp>
        <p:nvSpPr>
          <p:cNvPr id="4" name="TextBox 3">
            <a:extLst xmlns:a="http://schemas.openxmlformats.org/drawingml/2006/main">
              <a:ext uri="{FF2B5EF4-FFF2-40B4-BE49-F238E27FC236}">
                <a16:creationId xmlns:a16="http://schemas.microsoft.com/office/drawing/2014/main" id="{54FDD751-E4A4-4D59-8F78-D01EFE7D22D5}"/>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It checks that the data and intended use are allowed before calculating risk; the clinician still decides what to do.</a:t>
            </a:r>
          </a:p>
        </p:txBody>
      </p:sp>
      <p:sp>
        <p:nvSpPr>
          <p:cNvPr id="5" name="Rounded Rectangle 4">
            <a:extLst xmlns:a="http://schemas.openxmlformats.org/drawingml/2006/main">
              <a:ext uri="{FF2B5EF4-FFF2-40B4-BE49-F238E27FC236}">
                <a16:creationId xmlns:a16="http://schemas.microsoft.com/office/drawing/2014/main" id="{4FE36FB3-EF4F-4471-8C0C-A6391FFA5999}"/>
              </a:ext>
            </a:extLst>
          </p:cNvPr>
          <p:cNvSpPr>
            <a:spLocks xmlns:a="http://schemas.openxmlformats.org/drawingml/2006/main" noGrp="1"/>
          </p:cNvSpPr>
          <p:nvPr/>
        </p:nvSpPr>
        <p:spPr>
          <a:xfrm xmlns:a="http://schemas.openxmlformats.org/drawingml/2006/main">
            <a:off x="685800" y="1874519"/>
            <a:ext cx="2423160" cy="256032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AC154123-D6D6-43E5-8E10-D9956C94BDCE}"/>
              </a:ext>
            </a:extLst>
          </p:cNvPr>
          <p:cNvSpPr>
            <a:spLocks xmlns:a="http://schemas.openxmlformats.org/drawingml/2006/main" noGrp="1"/>
          </p:cNvSpPr>
          <p:nvPr/>
        </p:nvSpPr>
        <p:spPr>
          <a:xfrm xmlns:a="http://schemas.openxmlformats.org/drawingml/2006/main">
            <a:off x="85039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RECEIVE</a:t>
            </a:r>
          </a:p>
        </p:txBody>
      </p:sp>
      <p:sp>
        <p:nvSpPr>
          <p:cNvPr id="7" name="TextBox 6">
            <a:extLst xmlns:a="http://schemas.openxmlformats.org/drawingml/2006/main">
              <a:ext uri="{FF2B5EF4-FFF2-40B4-BE49-F238E27FC236}">
                <a16:creationId xmlns:a16="http://schemas.microsoft.com/office/drawing/2014/main" id="{10E5C917-0DA9-4A9D-81A2-91E6CAEF835A}"/>
              </a:ext>
            </a:extLst>
          </p:cNvPr>
          <p:cNvSpPr>
            <a:spLocks xmlns:a="http://schemas.openxmlformats.org/drawingml/2006/main" noGrp="1"/>
          </p:cNvSpPr>
          <p:nvPr/>
        </p:nvSpPr>
        <p:spPr>
          <a:xfrm xmlns:a="http://schemas.openxmlformats.org/drawingml/2006/main">
            <a:off x="85039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Receive approved patient-record data and device readings inside the hospital.</a:t>
            </a:r>
          </a:p>
        </p:txBody>
      </p:sp>
      <p:sp>
        <p:nvSpPr>
          <p:cNvPr id="8" name="TextBox 7">
            <a:extLst xmlns:a="http://schemas.openxmlformats.org/drawingml/2006/main">
              <a:ext uri="{FF2B5EF4-FFF2-40B4-BE49-F238E27FC236}">
                <a16:creationId xmlns:a16="http://schemas.microsoft.com/office/drawing/2014/main" id="{283583F2-18F8-47B5-B953-1BE32838718A}"/>
              </a:ext>
            </a:extLst>
          </p:cNvPr>
          <p:cNvSpPr>
            <a:spLocks xmlns:a="http://schemas.openxmlformats.org/drawingml/2006/main" noGrp="1"/>
          </p:cNvSpPr>
          <p:nvPr/>
        </p:nvSpPr>
        <p:spPr>
          <a:xfrm xmlns:a="http://schemas.openxmlformats.org/drawingml/2006/main">
            <a:off x="315468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9" name="Rounded Rectangle 8">
            <a:extLst xmlns:a="http://schemas.openxmlformats.org/drawingml/2006/main">
              <a:ext uri="{FF2B5EF4-FFF2-40B4-BE49-F238E27FC236}">
                <a16:creationId xmlns:a16="http://schemas.microsoft.com/office/drawing/2014/main" id="{B7B06795-DCE9-4C8D-B015-25CADBD41A99}"/>
              </a:ext>
            </a:extLst>
          </p:cNvPr>
          <p:cNvSpPr>
            <a:spLocks xmlns:a="http://schemas.openxmlformats.org/drawingml/2006/main" noGrp="1"/>
          </p:cNvSpPr>
          <p:nvPr/>
        </p:nvSpPr>
        <p:spPr>
          <a:xfrm xmlns:a="http://schemas.openxmlformats.org/drawingml/2006/main">
            <a:off x="3474720" y="1874519"/>
            <a:ext cx="2423160" cy="256032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B360983-67AA-4183-B04A-ACC05DF791ED}"/>
              </a:ext>
            </a:extLst>
          </p:cNvPr>
          <p:cNvSpPr>
            <a:spLocks xmlns:a="http://schemas.openxmlformats.org/drawingml/2006/main" noGrp="1"/>
          </p:cNvSpPr>
          <p:nvPr/>
        </p:nvSpPr>
        <p:spPr>
          <a:xfrm xmlns:a="http://schemas.openxmlformats.org/drawingml/2006/main">
            <a:off x="363931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CHECK</a:t>
            </a:r>
          </a:p>
        </p:txBody>
      </p:sp>
      <p:sp>
        <p:nvSpPr>
          <p:cNvPr id="11" name="TextBox 10">
            <a:extLst xmlns:a="http://schemas.openxmlformats.org/drawingml/2006/main">
              <a:ext uri="{FF2B5EF4-FFF2-40B4-BE49-F238E27FC236}">
                <a16:creationId xmlns:a16="http://schemas.microsoft.com/office/drawing/2014/main" id="{B4D09C7A-CE49-4C0C-BAB7-7F16C2331F9C}"/>
              </a:ext>
            </a:extLst>
          </p:cNvPr>
          <p:cNvSpPr>
            <a:spLocks xmlns:a="http://schemas.openxmlformats.org/drawingml/2006/main" noGrp="1"/>
          </p:cNvSpPr>
          <p:nvPr/>
        </p:nvSpPr>
        <p:spPr>
          <a:xfrm xmlns:a="http://schemas.openxmlformats.org/drawingml/2006/main">
            <a:off x="363931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Check format, units, age, allowed use, and missing values.</a:t>
            </a:r>
          </a:p>
        </p:txBody>
      </p:sp>
      <p:sp>
        <p:nvSpPr>
          <p:cNvPr id="12" name="TextBox 11">
            <a:extLst xmlns:a="http://schemas.openxmlformats.org/drawingml/2006/main">
              <a:ext uri="{FF2B5EF4-FFF2-40B4-BE49-F238E27FC236}">
                <a16:creationId xmlns:a16="http://schemas.microsoft.com/office/drawing/2014/main" id="{388FFCDD-207D-447E-AD8D-0C3AEB782266}"/>
              </a:ext>
            </a:extLst>
          </p:cNvPr>
          <p:cNvSpPr>
            <a:spLocks xmlns:a="http://schemas.openxmlformats.org/drawingml/2006/main" noGrp="1"/>
          </p:cNvSpPr>
          <p:nvPr/>
        </p:nvSpPr>
        <p:spPr>
          <a:xfrm xmlns:a="http://schemas.openxmlformats.org/drawingml/2006/main">
            <a:off x="594360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3" name="Rounded Rectangle 12">
            <a:extLst xmlns:a="http://schemas.openxmlformats.org/drawingml/2006/main">
              <a:ext uri="{FF2B5EF4-FFF2-40B4-BE49-F238E27FC236}">
                <a16:creationId xmlns:a16="http://schemas.microsoft.com/office/drawing/2014/main" id="{0F266D72-A8AA-4D4D-B477-7E6D7F171E6D}"/>
              </a:ext>
            </a:extLst>
          </p:cNvPr>
          <p:cNvSpPr>
            <a:spLocks xmlns:a="http://schemas.openxmlformats.org/drawingml/2006/main" noGrp="1"/>
          </p:cNvSpPr>
          <p:nvPr/>
        </p:nvSpPr>
        <p:spPr>
          <a:xfrm xmlns:a="http://schemas.openxmlformats.org/drawingml/2006/main">
            <a:off x="6263640" y="1874519"/>
            <a:ext cx="2423160" cy="256032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C4BA714-596E-48B7-B7FB-8173266FCE0E}"/>
              </a:ext>
            </a:extLst>
          </p:cNvPr>
          <p:cNvSpPr>
            <a:spLocks xmlns:a="http://schemas.openxmlformats.org/drawingml/2006/main" noGrp="1"/>
          </p:cNvSpPr>
          <p:nvPr/>
        </p:nvSpPr>
        <p:spPr>
          <a:xfrm xmlns:a="http://schemas.openxmlformats.org/drawingml/2006/main">
            <a:off x="642823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CALCULATE</a:t>
            </a:r>
          </a:p>
        </p:txBody>
      </p:sp>
      <p:sp>
        <p:nvSpPr>
          <p:cNvPr id="15" name="TextBox 14">
            <a:extLst xmlns:a="http://schemas.openxmlformats.org/drawingml/2006/main">
              <a:ext uri="{FF2B5EF4-FFF2-40B4-BE49-F238E27FC236}">
                <a16:creationId xmlns:a16="http://schemas.microsoft.com/office/drawing/2014/main" id="{7A1A9390-FE67-4674-85D7-F68E58244653}"/>
              </a:ext>
            </a:extLst>
          </p:cNvPr>
          <p:cNvSpPr>
            <a:spLocks xmlns:a="http://schemas.openxmlformats.org/drawingml/2006/main" noGrp="1"/>
          </p:cNvSpPr>
          <p:nvPr/>
        </p:nvSpPr>
        <p:spPr>
          <a:xfrm xmlns:a="http://schemas.openxmlformats.org/drawingml/2006/main">
            <a:off x="642823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Run the approved model; return a risk score, the main reasons, and the model version.</a:t>
            </a:r>
          </a:p>
        </p:txBody>
      </p:sp>
      <p:sp>
        <p:nvSpPr>
          <p:cNvPr id="16" name="TextBox 15">
            <a:extLst xmlns:a="http://schemas.openxmlformats.org/drawingml/2006/main">
              <a:ext uri="{FF2B5EF4-FFF2-40B4-BE49-F238E27FC236}">
                <a16:creationId xmlns:a16="http://schemas.microsoft.com/office/drawing/2014/main" id="{FD7B0A54-6410-4C3C-9E18-B02B32C485DB}"/>
              </a:ext>
            </a:extLst>
          </p:cNvPr>
          <p:cNvSpPr>
            <a:spLocks xmlns:a="http://schemas.openxmlformats.org/drawingml/2006/main" noGrp="1"/>
          </p:cNvSpPr>
          <p:nvPr/>
        </p:nvSpPr>
        <p:spPr>
          <a:xfrm xmlns:a="http://schemas.openxmlformats.org/drawingml/2006/main">
            <a:off x="873252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7" name="Rounded Rectangle 16">
            <a:extLst xmlns:a="http://schemas.openxmlformats.org/drawingml/2006/main">
              <a:ext uri="{FF2B5EF4-FFF2-40B4-BE49-F238E27FC236}">
                <a16:creationId xmlns:a16="http://schemas.microsoft.com/office/drawing/2014/main" id="{507F04C6-72CF-4D13-82CA-222128D1F2CF}"/>
              </a:ext>
            </a:extLst>
          </p:cNvPr>
          <p:cNvSpPr>
            <a:spLocks xmlns:a="http://schemas.openxmlformats.org/drawingml/2006/main" noGrp="1"/>
          </p:cNvSpPr>
          <p:nvPr/>
        </p:nvSpPr>
        <p:spPr>
          <a:xfrm xmlns:a="http://schemas.openxmlformats.org/drawingml/2006/main">
            <a:off x="9052559" y="1874519"/>
            <a:ext cx="2423160" cy="256032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EE6E707-0227-4865-8B3F-1C65728A0F1A}"/>
              </a:ext>
            </a:extLst>
          </p:cNvPr>
          <p:cNvSpPr>
            <a:spLocks xmlns:a="http://schemas.openxmlformats.org/drawingml/2006/main" noGrp="1"/>
          </p:cNvSpPr>
          <p:nvPr/>
        </p:nvSpPr>
        <p:spPr>
          <a:xfrm xmlns:a="http://schemas.openxmlformats.org/drawingml/2006/main">
            <a:off x="921715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SHOW</a:t>
            </a:r>
          </a:p>
        </p:txBody>
      </p:sp>
      <p:sp>
        <p:nvSpPr>
          <p:cNvPr id="19" name="TextBox 18">
            <a:extLst xmlns:a="http://schemas.openxmlformats.org/drawingml/2006/main">
              <a:ext uri="{FF2B5EF4-FFF2-40B4-BE49-F238E27FC236}">
                <a16:creationId xmlns:a16="http://schemas.microsoft.com/office/drawing/2014/main" id="{8A8E6459-BE37-4D1A-BC1C-440076936B49}"/>
              </a:ext>
            </a:extLst>
          </p:cNvPr>
          <p:cNvSpPr>
            <a:spLocks xmlns:a="http://schemas.openxmlformats.org/drawingml/2006/main" noGrp="1"/>
          </p:cNvSpPr>
          <p:nvPr/>
        </p:nvSpPr>
        <p:spPr>
          <a:xfrm xmlns:a="http://schemas.openxmlformats.org/drawingml/2006/main">
            <a:off x="921715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Show the warning to a clinician and record the response and outcome.</a:t>
            </a:r>
          </a:p>
        </p:txBody>
      </p:sp>
      <p:sp>
        <p:nvSpPr>
          <p:cNvPr id="20" name="TextBox 19">
            <a:extLst xmlns:a="http://schemas.openxmlformats.org/drawingml/2006/main">
              <a:ext uri="{FF2B5EF4-FFF2-40B4-BE49-F238E27FC236}">
                <a16:creationId xmlns:a16="http://schemas.microsoft.com/office/drawing/2014/main" id="{3E002B24-9FFE-495E-9B87-E5DD1FE8718C}"/>
              </a:ext>
            </a:extLst>
          </p:cNvPr>
          <p:cNvSpPr>
            <a:spLocks xmlns:a="http://schemas.openxmlformats.org/drawingml/2006/main" noGrp="1"/>
          </p:cNvSpPr>
          <p:nvPr/>
        </p:nvSpPr>
        <p:spPr>
          <a:xfrm xmlns:a="http://schemas.openxmlformats.org/drawingml/2006/main">
            <a:off x="914400" y="4800600"/>
            <a:ext cx="98755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500">
                <a:solidFill>
                  <a:srgbClr val="15201B"/>
                </a:solidFill>
                <a:latin typeface="Aptos"/>
                <a:ea typeface="Aptos"/>
                <a:cs typeface="Aptos"/>
              </a:defRPr>
            </a:pPr>
            <a:r>
              <a:t>Only approved summaries without patient names or identifiers leave the hospital.</a:t>
            </a:r>
          </a:p>
        </p:txBody>
      </p:sp>
      <p:sp>
        <p:nvSpPr>
          <p:cNvPr id="21" name="TextBox 20">
            <a:extLst xmlns:a="http://schemas.openxmlformats.org/drawingml/2006/main">
              <a:ext uri="{FF2B5EF4-FFF2-40B4-BE49-F238E27FC236}">
                <a16:creationId xmlns:a16="http://schemas.microsoft.com/office/drawing/2014/main" id="{85564141-C074-4DC7-BBE3-D0FC1209659F}"/>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Local execution / 09</a:t>
            </a:r>
          </a:p>
        </p:txBody>
      </p:sp>
    </p:spTree>
    <p:extLst>
      <p:ext uri="{BB962C8B-B14F-4D97-AF65-F5344CB8AC3E}">
        <p14:creationId xmlns:p14="http://schemas.microsoft.com/office/powerpoint/2010/main" val="1530383934"/>
      </p:ext>
    </p:extLst>
  </p:cSld>
</p:sld>
</file>

<file path=ppt/slides/slide1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D7D1158-DC0C-4870-9A1F-691F8C825EE8}"/>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GLOBAL AGENT (GMA)</a:t>
            </a:r>
          </a:p>
        </p:txBody>
      </p:sp>
      <p:sp>
        <p:nvSpPr>
          <p:cNvPr id="3" name="TextBox 2">
            <a:extLst xmlns:a="http://schemas.openxmlformats.org/drawingml/2006/main">
              <a:ext uri="{FF2B5EF4-FFF2-40B4-BE49-F238E27FC236}">
                <a16:creationId xmlns:a16="http://schemas.microsoft.com/office/drawing/2014/main" id="{84656273-0838-4E98-9C35-87AA81425751}"/>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The global agent coordinates learning across hospitals.</a:t>
            </a:r>
          </a:p>
        </p:txBody>
      </p:sp>
      <p:sp>
        <p:nvSpPr>
          <p:cNvPr id="4" name="TextBox 3">
            <a:extLst xmlns:a="http://schemas.openxmlformats.org/drawingml/2006/main">
              <a:ext uri="{FF2B5EF4-FFF2-40B4-BE49-F238E27FC236}">
                <a16:creationId xmlns:a16="http://schemas.microsoft.com/office/drawing/2014/main" id="{54FDD751-E4A4-4D59-8F78-D01EFE7D22D5}"/>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It improves consistency while allowing each hospital to keep its own patients, workflow, and warning limits.</a:t>
            </a:r>
          </a:p>
        </p:txBody>
      </p:sp>
      <p:sp>
        <p:nvSpPr>
          <p:cNvPr id="5" name="Rounded Rectangle 4">
            <a:extLst xmlns:a="http://schemas.openxmlformats.org/drawingml/2006/main">
              <a:ext uri="{FF2B5EF4-FFF2-40B4-BE49-F238E27FC236}">
                <a16:creationId xmlns:a16="http://schemas.microsoft.com/office/drawing/2014/main" id="{4FE36FB3-EF4F-4471-8C0C-A6391FFA5999}"/>
              </a:ext>
            </a:extLst>
          </p:cNvPr>
          <p:cNvSpPr>
            <a:spLocks xmlns:a="http://schemas.openxmlformats.org/drawingml/2006/main" noGrp="1"/>
          </p:cNvSpPr>
          <p:nvPr/>
        </p:nvSpPr>
        <p:spPr>
          <a:xfrm xmlns:a="http://schemas.openxmlformats.org/drawingml/2006/main">
            <a:off x="685800" y="1874519"/>
            <a:ext cx="2423160" cy="256032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AC154123-D6D6-43E5-8E10-D9956C94BDCE}"/>
              </a:ext>
            </a:extLst>
          </p:cNvPr>
          <p:cNvSpPr>
            <a:spLocks xmlns:a="http://schemas.openxmlformats.org/drawingml/2006/main" noGrp="1"/>
          </p:cNvSpPr>
          <p:nvPr/>
        </p:nvSpPr>
        <p:spPr>
          <a:xfrm xmlns:a="http://schemas.openxmlformats.org/drawingml/2006/main">
            <a:off x="85039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REGISTER</a:t>
            </a:r>
          </a:p>
        </p:txBody>
      </p:sp>
      <p:sp>
        <p:nvSpPr>
          <p:cNvPr id="7" name="TextBox 6">
            <a:extLst xmlns:a="http://schemas.openxmlformats.org/drawingml/2006/main">
              <a:ext uri="{FF2B5EF4-FFF2-40B4-BE49-F238E27FC236}">
                <a16:creationId xmlns:a16="http://schemas.microsoft.com/office/drawing/2014/main" id="{10E5C917-0DA9-4A9D-81A2-91E6CAEF835A}"/>
              </a:ext>
            </a:extLst>
          </p:cNvPr>
          <p:cNvSpPr>
            <a:spLocks xmlns:a="http://schemas.openxmlformats.org/drawingml/2006/main" noGrp="1"/>
          </p:cNvSpPr>
          <p:nvPr/>
        </p:nvSpPr>
        <p:spPr>
          <a:xfrm xmlns:a="http://schemas.openxmlformats.org/drawingml/2006/main">
            <a:off x="85039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Track each hospital, local agent, version, capability, and sharing rule.</a:t>
            </a:r>
          </a:p>
        </p:txBody>
      </p:sp>
      <p:sp>
        <p:nvSpPr>
          <p:cNvPr id="8" name="TextBox 7">
            <a:extLst xmlns:a="http://schemas.openxmlformats.org/drawingml/2006/main">
              <a:ext uri="{FF2B5EF4-FFF2-40B4-BE49-F238E27FC236}">
                <a16:creationId xmlns:a16="http://schemas.microsoft.com/office/drawing/2014/main" id="{283583F2-18F8-47B5-B953-1BE32838718A}"/>
              </a:ext>
            </a:extLst>
          </p:cNvPr>
          <p:cNvSpPr>
            <a:spLocks xmlns:a="http://schemas.openxmlformats.org/drawingml/2006/main" noGrp="1"/>
          </p:cNvSpPr>
          <p:nvPr/>
        </p:nvSpPr>
        <p:spPr>
          <a:xfrm xmlns:a="http://schemas.openxmlformats.org/drawingml/2006/main">
            <a:off x="315468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9" name="Rounded Rectangle 8">
            <a:extLst xmlns:a="http://schemas.openxmlformats.org/drawingml/2006/main">
              <a:ext uri="{FF2B5EF4-FFF2-40B4-BE49-F238E27FC236}">
                <a16:creationId xmlns:a16="http://schemas.microsoft.com/office/drawing/2014/main" id="{B7B06795-DCE9-4C8D-B015-25CADBD41A99}"/>
              </a:ext>
            </a:extLst>
          </p:cNvPr>
          <p:cNvSpPr>
            <a:spLocks xmlns:a="http://schemas.openxmlformats.org/drawingml/2006/main" noGrp="1"/>
          </p:cNvSpPr>
          <p:nvPr/>
        </p:nvSpPr>
        <p:spPr>
          <a:xfrm xmlns:a="http://schemas.openxmlformats.org/drawingml/2006/main">
            <a:off x="3474720" y="1874519"/>
            <a:ext cx="2423160" cy="256032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B360983-67AA-4183-B04A-ACC05DF791ED}"/>
              </a:ext>
            </a:extLst>
          </p:cNvPr>
          <p:cNvSpPr>
            <a:spLocks xmlns:a="http://schemas.openxmlformats.org/drawingml/2006/main" noGrp="1"/>
          </p:cNvSpPr>
          <p:nvPr/>
        </p:nvSpPr>
        <p:spPr>
          <a:xfrm xmlns:a="http://schemas.openxmlformats.org/drawingml/2006/main">
            <a:off x="363931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COLLECT</a:t>
            </a:r>
          </a:p>
        </p:txBody>
      </p:sp>
      <p:sp>
        <p:nvSpPr>
          <p:cNvPr id="11" name="TextBox 10">
            <a:extLst xmlns:a="http://schemas.openxmlformats.org/drawingml/2006/main">
              <a:ext uri="{FF2B5EF4-FFF2-40B4-BE49-F238E27FC236}">
                <a16:creationId xmlns:a16="http://schemas.microsoft.com/office/drawing/2014/main" id="{B4D09C7A-CE49-4C0C-BAB7-7F16C2331F9C}"/>
              </a:ext>
            </a:extLst>
          </p:cNvPr>
          <p:cNvSpPr>
            <a:spLocks xmlns:a="http://schemas.openxmlformats.org/drawingml/2006/main" noGrp="1"/>
          </p:cNvSpPr>
          <p:nvPr/>
        </p:nvSpPr>
        <p:spPr>
          <a:xfrm xmlns:a="http://schemas.openxmlformats.org/drawingml/2006/main">
            <a:off x="363931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Receive approved summaries and performance results—not unrestricted patient records.</a:t>
            </a:r>
          </a:p>
        </p:txBody>
      </p:sp>
      <p:sp>
        <p:nvSpPr>
          <p:cNvPr id="12" name="TextBox 11">
            <a:extLst xmlns:a="http://schemas.openxmlformats.org/drawingml/2006/main">
              <a:ext uri="{FF2B5EF4-FFF2-40B4-BE49-F238E27FC236}">
                <a16:creationId xmlns:a16="http://schemas.microsoft.com/office/drawing/2014/main" id="{388FFCDD-207D-447E-AD8D-0C3AEB782266}"/>
              </a:ext>
            </a:extLst>
          </p:cNvPr>
          <p:cNvSpPr>
            <a:spLocks xmlns:a="http://schemas.openxmlformats.org/drawingml/2006/main" noGrp="1"/>
          </p:cNvSpPr>
          <p:nvPr/>
        </p:nvSpPr>
        <p:spPr>
          <a:xfrm xmlns:a="http://schemas.openxmlformats.org/drawingml/2006/main">
            <a:off x="594360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3" name="Rounded Rectangle 12">
            <a:extLst xmlns:a="http://schemas.openxmlformats.org/drawingml/2006/main">
              <a:ext uri="{FF2B5EF4-FFF2-40B4-BE49-F238E27FC236}">
                <a16:creationId xmlns:a16="http://schemas.microsoft.com/office/drawing/2014/main" id="{0F266D72-A8AA-4D4D-B477-7E6D7F171E6D}"/>
              </a:ext>
            </a:extLst>
          </p:cNvPr>
          <p:cNvSpPr>
            <a:spLocks xmlns:a="http://schemas.openxmlformats.org/drawingml/2006/main" noGrp="1"/>
          </p:cNvSpPr>
          <p:nvPr/>
        </p:nvSpPr>
        <p:spPr>
          <a:xfrm xmlns:a="http://schemas.openxmlformats.org/drawingml/2006/main">
            <a:off x="6263640" y="1874519"/>
            <a:ext cx="2423160" cy="256032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C4BA714-596E-48B7-B7FB-8173266FCE0E}"/>
              </a:ext>
            </a:extLst>
          </p:cNvPr>
          <p:cNvSpPr>
            <a:spLocks xmlns:a="http://schemas.openxmlformats.org/drawingml/2006/main" noGrp="1"/>
          </p:cNvSpPr>
          <p:nvPr/>
        </p:nvSpPr>
        <p:spPr>
          <a:xfrm xmlns:a="http://schemas.openxmlformats.org/drawingml/2006/main">
            <a:off x="642823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COMPARE</a:t>
            </a:r>
          </a:p>
        </p:txBody>
      </p:sp>
      <p:sp>
        <p:nvSpPr>
          <p:cNvPr id="15" name="TextBox 14">
            <a:extLst xmlns:a="http://schemas.openxmlformats.org/drawingml/2006/main">
              <a:ext uri="{FF2B5EF4-FFF2-40B4-BE49-F238E27FC236}">
                <a16:creationId xmlns:a16="http://schemas.microsoft.com/office/drawing/2014/main" id="{7A1A9390-FE67-4674-85D7-F68E58244653}"/>
              </a:ext>
            </a:extLst>
          </p:cNvPr>
          <p:cNvSpPr>
            <a:spLocks xmlns:a="http://schemas.openxmlformats.org/drawingml/2006/main" noGrp="1"/>
          </p:cNvSpPr>
          <p:nvPr/>
        </p:nvSpPr>
        <p:spPr>
          <a:xfrm xmlns:a="http://schemas.openxmlformats.org/drawingml/2006/main">
            <a:off x="642823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Compare warning quality, changes over time, workload, and system reliability across hospitals.</a:t>
            </a:r>
          </a:p>
        </p:txBody>
      </p:sp>
      <p:sp>
        <p:nvSpPr>
          <p:cNvPr id="16" name="TextBox 15">
            <a:extLst xmlns:a="http://schemas.openxmlformats.org/drawingml/2006/main">
              <a:ext uri="{FF2B5EF4-FFF2-40B4-BE49-F238E27FC236}">
                <a16:creationId xmlns:a16="http://schemas.microsoft.com/office/drawing/2014/main" id="{FD7B0A54-6410-4C3C-9E18-B02B32C485DB}"/>
              </a:ext>
            </a:extLst>
          </p:cNvPr>
          <p:cNvSpPr>
            <a:spLocks xmlns:a="http://schemas.openxmlformats.org/drawingml/2006/main" noGrp="1"/>
          </p:cNvSpPr>
          <p:nvPr/>
        </p:nvSpPr>
        <p:spPr>
          <a:xfrm xmlns:a="http://schemas.openxmlformats.org/drawingml/2006/main">
            <a:off x="873252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7" name="Rounded Rectangle 16">
            <a:extLst xmlns:a="http://schemas.openxmlformats.org/drawingml/2006/main">
              <a:ext uri="{FF2B5EF4-FFF2-40B4-BE49-F238E27FC236}">
                <a16:creationId xmlns:a16="http://schemas.microsoft.com/office/drawing/2014/main" id="{507F04C6-72CF-4D13-82CA-222128D1F2CF}"/>
              </a:ext>
            </a:extLst>
          </p:cNvPr>
          <p:cNvSpPr>
            <a:spLocks xmlns:a="http://schemas.openxmlformats.org/drawingml/2006/main" noGrp="1"/>
          </p:cNvSpPr>
          <p:nvPr/>
        </p:nvSpPr>
        <p:spPr>
          <a:xfrm xmlns:a="http://schemas.openxmlformats.org/drawingml/2006/main">
            <a:off x="9052559" y="1874519"/>
            <a:ext cx="2423160" cy="256032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EE6E707-0227-4865-8B3F-1C65728A0F1A}"/>
              </a:ext>
            </a:extLst>
          </p:cNvPr>
          <p:cNvSpPr>
            <a:spLocks xmlns:a="http://schemas.openxmlformats.org/drawingml/2006/main" noGrp="1"/>
          </p:cNvSpPr>
          <p:nvPr/>
        </p:nvSpPr>
        <p:spPr>
          <a:xfrm xmlns:a="http://schemas.openxmlformats.org/drawingml/2006/main">
            <a:off x="921715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PLAN + UPDATE</a:t>
            </a:r>
          </a:p>
        </p:txBody>
      </p:sp>
      <p:sp>
        <p:nvSpPr>
          <p:cNvPr id="19" name="TextBox 18">
            <a:extLst xmlns:a="http://schemas.openxmlformats.org/drawingml/2006/main">
              <a:ext uri="{FF2B5EF4-FFF2-40B4-BE49-F238E27FC236}">
                <a16:creationId xmlns:a16="http://schemas.microsoft.com/office/drawing/2014/main" id="{8A8E6459-BE37-4D1A-BC1C-440076936B49}"/>
              </a:ext>
            </a:extLst>
          </p:cNvPr>
          <p:cNvSpPr>
            <a:spLocks xmlns:a="http://schemas.openxmlformats.org/drawingml/2006/main" noGrp="1"/>
          </p:cNvSpPr>
          <p:nvPr/>
        </p:nvSpPr>
        <p:spPr>
          <a:xfrm xmlns:a="http://schemas.openxmlformats.org/drawingml/2006/main">
            <a:off x="921715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Choose settings for each hospital, test with a small rollout, monitor, pause, or return to an older version.</a:t>
            </a:r>
          </a:p>
        </p:txBody>
      </p:sp>
      <p:sp>
        <p:nvSpPr>
          <p:cNvPr id="20" name="TextBox 19">
            <a:extLst xmlns:a="http://schemas.openxmlformats.org/drawingml/2006/main">
              <a:ext uri="{FF2B5EF4-FFF2-40B4-BE49-F238E27FC236}">
                <a16:creationId xmlns:a16="http://schemas.microsoft.com/office/drawing/2014/main" id="{3E002B24-9FFE-495E-9B87-E5DD1FE8718C}"/>
              </a:ext>
            </a:extLst>
          </p:cNvPr>
          <p:cNvSpPr>
            <a:spLocks xmlns:a="http://schemas.openxmlformats.org/drawingml/2006/main" noGrp="1"/>
          </p:cNvSpPr>
          <p:nvPr/>
        </p:nvSpPr>
        <p:spPr>
          <a:xfrm xmlns:a="http://schemas.openxmlformats.org/drawingml/2006/main">
            <a:off x="914400" y="4800600"/>
            <a:ext cx="98755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500">
                <a:solidFill>
                  <a:srgbClr val="15201B"/>
                </a:solidFill>
                <a:latin typeface="Aptos"/>
                <a:ea typeface="Aptos"/>
                <a:cs typeface="Aptos"/>
              </a:defRPr>
            </a:pPr>
            <a:r>
              <a:t>The global agent coordinates hospitals; it does not make patient-care decisions.</a:t>
            </a:r>
          </a:p>
        </p:txBody>
      </p:sp>
      <p:sp>
        <p:nvSpPr>
          <p:cNvPr id="21" name="TextBox 20">
            <a:extLst xmlns:a="http://schemas.openxmlformats.org/drawingml/2006/main">
              <a:ext uri="{FF2B5EF4-FFF2-40B4-BE49-F238E27FC236}">
                <a16:creationId xmlns:a16="http://schemas.microsoft.com/office/drawing/2014/main" id="{85564141-C074-4DC7-BBE3-D0FC1209659F}"/>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Global coordination / 10</a:t>
            </a:r>
          </a:p>
        </p:txBody>
      </p:sp>
    </p:spTree>
    <p:extLst>
      <p:ext uri="{BB962C8B-B14F-4D97-AF65-F5344CB8AC3E}">
        <p14:creationId xmlns:p14="http://schemas.microsoft.com/office/powerpoint/2010/main" val="1530383934"/>
      </p:ext>
    </p:extLst>
  </p:cSld>
</p:sld>
</file>

<file path=ppt/slides/slide1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D7D1158-DC0C-4870-9A1F-691F8C825EE8}"/>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ONE RUN</a:t>
            </a:r>
          </a:p>
        </p:txBody>
      </p:sp>
      <p:sp>
        <p:nvSpPr>
          <p:cNvPr id="3" name="TextBox 2">
            <a:extLst xmlns:a="http://schemas.openxmlformats.org/drawingml/2006/main">
              <a:ext uri="{FF2B5EF4-FFF2-40B4-BE49-F238E27FC236}">
                <a16:creationId xmlns:a16="http://schemas.microsoft.com/office/drawing/2014/main" id="{84656273-0838-4E98-9C35-87AA81425751}"/>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One patient warning becomes a safe learning signal.</a:t>
            </a:r>
          </a:p>
        </p:txBody>
      </p:sp>
      <p:sp>
        <p:nvSpPr>
          <p:cNvPr id="4" name="TextBox 3">
            <a:extLst xmlns:a="http://schemas.openxmlformats.org/drawingml/2006/main">
              <a:ext uri="{FF2B5EF4-FFF2-40B4-BE49-F238E27FC236}">
                <a16:creationId xmlns:a16="http://schemas.microsoft.com/office/drawing/2014/main" id="{54FDD751-E4A4-4D59-8F78-D01EFE7D22D5}"/>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Every run follows the same simple path, while the final care decision remains human.</a:t>
            </a:r>
          </a:p>
        </p:txBody>
      </p:sp>
      <p:sp>
        <p:nvSpPr>
          <p:cNvPr id="5" name="Rounded Rectangle 4">
            <a:extLst xmlns:a="http://schemas.openxmlformats.org/drawingml/2006/main">
              <a:ext uri="{FF2B5EF4-FFF2-40B4-BE49-F238E27FC236}">
                <a16:creationId xmlns:a16="http://schemas.microsoft.com/office/drawing/2014/main" id="{4FE36FB3-EF4F-4471-8C0C-A6391FFA5999}"/>
              </a:ext>
            </a:extLst>
          </p:cNvPr>
          <p:cNvSpPr>
            <a:spLocks xmlns:a="http://schemas.openxmlformats.org/drawingml/2006/main" noGrp="1"/>
          </p:cNvSpPr>
          <p:nvPr/>
        </p:nvSpPr>
        <p:spPr>
          <a:xfrm xmlns:a="http://schemas.openxmlformats.org/drawingml/2006/main">
            <a:off x="685800" y="1874519"/>
            <a:ext cx="2423160" cy="256032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AC154123-D6D6-43E5-8E10-D9956C94BDCE}"/>
              </a:ext>
            </a:extLst>
          </p:cNvPr>
          <p:cNvSpPr>
            <a:spLocks xmlns:a="http://schemas.openxmlformats.org/drawingml/2006/main" noGrp="1"/>
          </p:cNvSpPr>
          <p:nvPr/>
        </p:nvSpPr>
        <p:spPr>
          <a:xfrm xmlns:a="http://schemas.openxmlformats.org/drawingml/2006/main">
            <a:off x="85039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DATA ARRIVES</a:t>
            </a:r>
          </a:p>
        </p:txBody>
      </p:sp>
      <p:sp>
        <p:nvSpPr>
          <p:cNvPr id="7" name="TextBox 6">
            <a:extLst xmlns:a="http://schemas.openxmlformats.org/drawingml/2006/main">
              <a:ext uri="{FF2B5EF4-FFF2-40B4-BE49-F238E27FC236}">
                <a16:creationId xmlns:a16="http://schemas.microsoft.com/office/drawing/2014/main" id="{10E5C917-0DA9-4A9D-81A2-91E6CAEF835A}"/>
              </a:ext>
            </a:extLst>
          </p:cNvPr>
          <p:cNvSpPr>
            <a:spLocks xmlns:a="http://schemas.openxmlformats.org/drawingml/2006/main" noGrp="1"/>
          </p:cNvSpPr>
          <p:nvPr/>
        </p:nvSpPr>
        <p:spPr>
          <a:xfrm xmlns:a="http://schemas.openxmlformats.org/drawingml/2006/main">
            <a:off x="85039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New vital signs, lab results, medicines, and visit information reach the local agent.</a:t>
            </a:r>
          </a:p>
        </p:txBody>
      </p:sp>
      <p:sp>
        <p:nvSpPr>
          <p:cNvPr id="8" name="TextBox 7">
            <a:extLst xmlns:a="http://schemas.openxmlformats.org/drawingml/2006/main">
              <a:ext uri="{FF2B5EF4-FFF2-40B4-BE49-F238E27FC236}">
                <a16:creationId xmlns:a16="http://schemas.microsoft.com/office/drawing/2014/main" id="{283583F2-18F8-47B5-B953-1BE32838718A}"/>
              </a:ext>
            </a:extLst>
          </p:cNvPr>
          <p:cNvSpPr>
            <a:spLocks xmlns:a="http://schemas.openxmlformats.org/drawingml/2006/main" noGrp="1"/>
          </p:cNvSpPr>
          <p:nvPr/>
        </p:nvSpPr>
        <p:spPr>
          <a:xfrm xmlns:a="http://schemas.openxmlformats.org/drawingml/2006/main">
            <a:off x="315468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9" name="Rounded Rectangle 8">
            <a:extLst xmlns:a="http://schemas.openxmlformats.org/drawingml/2006/main">
              <a:ext uri="{FF2B5EF4-FFF2-40B4-BE49-F238E27FC236}">
                <a16:creationId xmlns:a16="http://schemas.microsoft.com/office/drawing/2014/main" id="{B7B06795-DCE9-4C8D-B015-25CADBD41A99}"/>
              </a:ext>
            </a:extLst>
          </p:cNvPr>
          <p:cNvSpPr>
            <a:spLocks xmlns:a="http://schemas.openxmlformats.org/drawingml/2006/main" noGrp="1"/>
          </p:cNvSpPr>
          <p:nvPr/>
        </p:nvSpPr>
        <p:spPr>
          <a:xfrm xmlns:a="http://schemas.openxmlformats.org/drawingml/2006/main">
            <a:off x="3474720" y="1874519"/>
            <a:ext cx="2423160" cy="256032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B360983-67AA-4183-B04A-ACC05DF791ED}"/>
              </a:ext>
            </a:extLst>
          </p:cNvPr>
          <p:cNvSpPr>
            <a:spLocks xmlns:a="http://schemas.openxmlformats.org/drawingml/2006/main" noGrp="1"/>
          </p:cNvSpPr>
          <p:nvPr/>
        </p:nvSpPr>
        <p:spPr>
          <a:xfrm xmlns:a="http://schemas.openxmlformats.org/drawingml/2006/main">
            <a:off x="363931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CHECK</a:t>
            </a:r>
          </a:p>
        </p:txBody>
      </p:sp>
      <p:sp>
        <p:nvSpPr>
          <p:cNvPr id="11" name="TextBox 10">
            <a:extLst xmlns:a="http://schemas.openxmlformats.org/drawingml/2006/main">
              <a:ext uri="{FF2B5EF4-FFF2-40B4-BE49-F238E27FC236}">
                <a16:creationId xmlns:a16="http://schemas.microsoft.com/office/drawing/2014/main" id="{B4D09C7A-CE49-4C0C-BAB7-7F16C2331F9C}"/>
              </a:ext>
            </a:extLst>
          </p:cNvPr>
          <p:cNvSpPr>
            <a:spLocks xmlns:a="http://schemas.openxmlformats.org/drawingml/2006/main" noGrp="1"/>
          </p:cNvSpPr>
          <p:nvPr/>
        </p:nvSpPr>
        <p:spPr>
          <a:xfrm xmlns:a="http://schemas.openxmlformats.org/drawingml/2006/main">
            <a:off x="363931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The local agent checks permission and data quality, then runs the approved model.</a:t>
            </a:r>
          </a:p>
        </p:txBody>
      </p:sp>
      <p:sp>
        <p:nvSpPr>
          <p:cNvPr id="12" name="TextBox 11">
            <a:extLst xmlns:a="http://schemas.openxmlformats.org/drawingml/2006/main">
              <a:ext uri="{FF2B5EF4-FFF2-40B4-BE49-F238E27FC236}">
                <a16:creationId xmlns:a16="http://schemas.microsoft.com/office/drawing/2014/main" id="{388FFCDD-207D-447E-AD8D-0C3AEB782266}"/>
              </a:ext>
            </a:extLst>
          </p:cNvPr>
          <p:cNvSpPr>
            <a:spLocks xmlns:a="http://schemas.openxmlformats.org/drawingml/2006/main" noGrp="1"/>
          </p:cNvSpPr>
          <p:nvPr/>
        </p:nvSpPr>
        <p:spPr>
          <a:xfrm xmlns:a="http://schemas.openxmlformats.org/drawingml/2006/main">
            <a:off x="594360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3" name="Rounded Rectangle 12">
            <a:extLst xmlns:a="http://schemas.openxmlformats.org/drawingml/2006/main">
              <a:ext uri="{FF2B5EF4-FFF2-40B4-BE49-F238E27FC236}">
                <a16:creationId xmlns:a16="http://schemas.microsoft.com/office/drawing/2014/main" id="{0F266D72-A8AA-4D4D-B477-7E6D7F171E6D}"/>
              </a:ext>
            </a:extLst>
          </p:cNvPr>
          <p:cNvSpPr>
            <a:spLocks xmlns:a="http://schemas.openxmlformats.org/drawingml/2006/main" noGrp="1"/>
          </p:cNvSpPr>
          <p:nvPr/>
        </p:nvSpPr>
        <p:spPr>
          <a:xfrm xmlns:a="http://schemas.openxmlformats.org/drawingml/2006/main">
            <a:off x="6263640" y="1874519"/>
            <a:ext cx="2423160" cy="256032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C4BA714-596E-48B7-B7FB-8173266FCE0E}"/>
              </a:ext>
            </a:extLst>
          </p:cNvPr>
          <p:cNvSpPr>
            <a:spLocks xmlns:a="http://schemas.openxmlformats.org/drawingml/2006/main" noGrp="1"/>
          </p:cNvSpPr>
          <p:nvPr/>
        </p:nvSpPr>
        <p:spPr>
          <a:xfrm xmlns:a="http://schemas.openxmlformats.org/drawingml/2006/main">
            <a:off x="642823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REVIEW</a:t>
            </a:r>
          </a:p>
        </p:txBody>
      </p:sp>
      <p:sp>
        <p:nvSpPr>
          <p:cNvPr id="15" name="TextBox 14">
            <a:extLst xmlns:a="http://schemas.openxmlformats.org/drawingml/2006/main">
              <a:ext uri="{FF2B5EF4-FFF2-40B4-BE49-F238E27FC236}">
                <a16:creationId xmlns:a16="http://schemas.microsoft.com/office/drawing/2014/main" id="{7A1A9390-FE67-4674-85D7-F68E58244653}"/>
              </a:ext>
            </a:extLst>
          </p:cNvPr>
          <p:cNvSpPr>
            <a:spLocks xmlns:a="http://schemas.openxmlformats.org/drawingml/2006/main" noGrp="1"/>
          </p:cNvSpPr>
          <p:nvPr/>
        </p:nvSpPr>
        <p:spPr>
          <a:xfrm xmlns:a="http://schemas.openxmlformats.org/drawingml/2006/main">
            <a:off x="642823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The clinician sees the warning and its main reasons, then decides whether to act.</a:t>
            </a:r>
          </a:p>
        </p:txBody>
      </p:sp>
      <p:sp>
        <p:nvSpPr>
          <p:cNvPr id="16" name="TextBox 15">
            <a:extLst xmlns:a="http://schemas.openxmlformats.org/drawingml/2006/main">
              <a:ext uri="{FF2B5EF4-FFF2-40B4-BE49-F238E27FC236}">
                <a16:creationId xmlns:a16="http://schemas.microsoft.com/office/drawing/2014/main" id="{FD7B0A54-6410-4C3C-9E18-B02B32C485DB}"/>
              </a:ext>
            </a:extLst>
          </p:cNvPr>
          <p:cNvSpPr>
            <a:spLocks xmlns:a="http://schemas.openxmlformats.org/drawingml/2006/main" noGrp="1"/>
          </p:cNvSpPr>
          <p:nvPr/>
        </p:nvSpPr>
        <p:spPr>
          <a:xfrm xmlns:a="http://schemas.openxmlformats.org/drawingml/2006/main">
            <a:off x="873252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7" name="Rounded Rectangle 16">
            <a:extLst xmlns:a="http://schemas.openxmlformats.org/drawingml/2006/main">
              <a:ext uri="{FF2B5EF4-FFF2-40B4-BE49-F238E27FC236}">
                <a16:creationId xmlns:a16="http://schemas.microsoft.com/office/drawing/2014/main" id="{507F04C6-72CF-4D13-82CA-222128D1F2CF}"/>
              </a:ext>
            </a:extLst>
          </p:cNvPr>
          <p:cNvSpPr>
            <a:spLocks xmlns:a="http://schemas.openxmlformats.org/drawingml/2006/main" noGrp="1"/>
          </p:cNvSpPr>
          <p:nvPr/>
        </p:nvSpPr>
        <p:spPr>
          <a:xfrm xmlns:a="http://schemas.openxmlformats.org/drawingml/2006/main">
            <a:off x="9052559" y="1874519"/>
            <a:ext cx="2423160" cy="256032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EE6E707-0227-4865-8B3F-1C65728A0F1A}"/>
              </a:ext>
            </a:extLst>
          </p:cNvPr>
          <p:cNvSpPr>
            <a:spLocks xmlns:a="http://schemas.openxmlformats.org/drawingml/2006/main" noGrp="1"/>
          </p:cNvSpPr>
          <p:nvPr/>
        </p:nvSpPr>
        <p:spPr>
          <a:xfrm xmlns:a="http://schemas.openxmlformats.org/drawingml/2006/main">
            <a:off x="921715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SHARE</a:t>
            </a:r>
          </a:p>
        </p:txBody>
      </p:sp>
      <p:sp>
        <p:nvSpPr>
          <p:cNvPr id="19" name="TextBox 18">
            <a:extLst xmlns:a="http://schemas.openxmlformats.org/drawingml/2006/main">
              <a:ext uri="{FF2B5EF4-FFF2-40B4-BE49-F238E27FC236}">
                <a16:creationId xmlns:a16="http://schemas.microsoft.com/office/drawing/2014/main" id="{8A8E6459-BE37-4D1A-BC1C-440076936B49}"/>
              </a:ext>
            </a:extLst>
          </p:cNvPr>
          <p:cNvSpPr>
            <a:spLocks xmlns:a="http://schemas.openxmlformats.org/drawingml/2006/main" noGrp="1"/>
          </p:cNvSpPr>
          <p:nvPr/>
        </p:nvSpPr>
        <p:spPr>
          <a:xfrm xmlns:a="http://schemas.openxmlformats.org/drawingml/2006/main">
            <a:off x="921715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A summary without patient identifiers is shared so hospitals can learn from each other.</a:t>
            </a:r>
          </a:p>
        </p:txBody>
      </p:sp>
      <p:sp>
        <p:nvSpPr>
          <p:cNvPr id="20" name="TextBox 19">
            <a:extLst xmlns:a="http://schemas.openxmlformats.org/drawingml/2006/main">
              <a:ext uri="{FF2B5EF4-FFF2-40B4-BE49-F238E27FC236}">
                <a16:creationId xmlns:a16="http://schemas.microsoft.com/office/drawing/2014/main" id="{3E002B24-9FFE-495E-9B87-E5DD1FE8718C}"/>
              </a:ext>
            </a:extLst>
          </p:cNvPr>
          <p:cNvSpPr>
            <a:spLocks xmlns:a="http://schemas.openxmlformats.org/drawingml/2006/main" noGrp="1"/>
          </p:cNvSpPr>
          <p:nvPr/>
        </p:nvSpPr>
        <p:spPr>
          <a:xfrm xmlns:a="http://schemas.openxmlformats.org/drawingml/2006/main">
            <a:off x="914400" y="4800600"/>
            <a:ext cx="98755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500">
                <a:solidFill>
                  <a:srgbClr val="15201B"/>
                </a:solidFill>
                <a:latin typeface="Aptos"/>
                <a:ea typeface="Aptos"/>
                <a:cs typeface="Aptos"/>
              </a:defRPr>
            </a:pPr>
            <a:r>
              <a:t>If a check fails, no warning is shown; the reason is recorded for review.</a:t>
            </a:r>
          </a:p>
        </p:txBody>
      </p:sp>
      <p:sp>
        <p:nvSpPr>
          <p:cNvPr id="21" name="TextBox 20">
            <a:extLst xmlns:a="http://schemas.openxmlformats.org/drawingml/2006/main">
              <a:ext uri="{FF2B5EF4-FFF2-40B4-BE49-F238E27FC236}">
                <a16:creationId xmlns:a16="http://schemas.microsoft.com/office/drawing/2014/main" id="{85564141-C074-4DC7-BBE3-D0FC1209659F}"/>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Simple run sequence / 11</a:t>
            </a:r>
          </a:p>
        </p:txBody>
      </p:sp>
    </p:spTree>
    <p:extLst>
      <p:ext uri="{BB962C8B-B14F-4D97-AF65-F5344CB8AC3E}">
        <p14:creationId xmlns:p14="http://schemas.microsoft.com/office/powerpoint/2010/main" val="1530383934"/>
      </p:ext>
    </p:extLst>
  </p:cSld>
</p:sld>
</file>

<file path=ppt/slides/slide1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D7D1158-DC0C-4870-9A1F-691F8C825EE8}"/>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COORDINATION LAYER</a:t>
            </a:r>
          </a:p>
        </p:txBody>
      </p:sp>
      <p:sp>
        <p:nvSpPr>
          <p:cNvPr id="3" name="TextBox 2">
            <a:extLst xmlns:a="http://schemas.openxmlformats.org/drawingml/2006/main">
              <a:ext uri="{FF2B5EF4-FFF2-40B4-BE49-F238E27FC236}">
                <a16:creationId xmlns:a16="http://schemas.microsoft.com/office/drawing/2014/main" id="{84656273-0838-4E98-9C35-87AA81425751}"/>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Dagents already has the basic coordination pieces.</a:t>
            </a:r>
          </a:p>
        </p:txBody>
      </p:sp>
      <p:sp>
        <p:nvSpPr>
          <p:cNvPr id="4" name="TextBox 3">
            <a:extLst xmlns:a="http://schemas.openxmlformats.org/drawingml/2006/main">
              <a:ext uri="{FF2B5EF4-FFF2-40B4-BE49-F238E27FC236}">
                <a16:creationId xmlns:a16="http://schemas.microsoft.com/office/drawing/2014/main" id="{54FDD751-E4A4-4D59-8F78-D01EFE7D22D5}"/>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It can register agents, check data, run models, send updates, watch system health, and prepare deployment instructions.</a:t>
            </a:r>
          </a:p>
        </p:txBody>
      </p:sp>
      <p:sp>
        <p:nvSpPr>
          <p:cNvPr id="5" name="Rounded Rectangle 4">
            <a:extLst xmlns:a="http://schemas.openxmlformats.org/drawingml/2006/main">
              <a:ext uri="{FF2B5EF4-FFF2-40B4-BE49-F238E27FC236}">
                <a16:creationId xmlns:a16="http://schemas.microsoft.com/office/drawing/2014/main" id="{4FE36FB3-EF4F-4471-8C0C-A6391FFA5999}"/>
              </a:ext>
            </a:extLst>
          </p:cNvPr>
          <p:cNvSpPr>
            <a:spLocks xmlns:a="http://schemas.openxmlformats.org/drawingml/2006/main" noGrp="1"/>
          </p:cNvSpPr>
          <p:nvPr/>
        </p:nvSpPr>
        <p:spPr>
          <a:xfrm xmlns:a="http://schemas.openxmlformats.org/drawingml/2006/main">
            <a:off x="685800" y="1874519"/>
            <a:ext cx="2423160" cy="256032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AC154123-D6D6-43E5-8E10-D9956C94BDCE}"/>
              </a:ext>
            </a:extLst>
          </p:cNvPr>
          <p:cNvSpPr>
            <a:spLocks xmlns:a="http://schemas.openxmlformats.org/drawingml/2006/main" noGrp="1"/>
          </p:cNvSpPr>
          <p:nvPr/>
        </p:nvSpPr>
        <p:spPr>
          <a:xfrm xmlns:a="http://schemas.openxmlformats.org/drawingml/2006/main">
            <a:off x="85039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REGISTER</a:t>
            </a:r>
          </a:p>
        </p:txBody>
      </p:sp>
      <p:sp>
        <p:nvSpPr>
          <p:cNvPr id="7" name="TextBox 6">
            <a:extLst xmlns:a="http://schemas.openxmlformats.org/drawingml/2006/main">
              <a:ext uri="{FF2B5EF4-FFF2-40B4-BE49-F238E27FC236}">
                <a16:creationId xmlns:a16="http://schemas.microsoft.com/office/drawing/2014/main" id="{10E5C917-0DA9-4A9D-81A2-91E6CAEF835A}"/>
              </a:ext>
            </a:extLst>
          </p:cNvPr>
          <p:cNvSpPr>
            <a:spLocks xmlns:a="http://schemas.openxmlformats.org/drawingml/2006/main" noGrp="1"/>
          </p:cNvSpPr>
          <p:nvPr/>
        </p:nvSpPr>
        <p:spPr>
          <a:xfrm xmlns:a="http://schemas.openxmlformats.org/drawingml/2006/main">
            <a:off x="85039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Record each hospital and local agent, what it can do, and which version it should run.</a:t>
            </a:r>
          </a:p>
        </p:txBody>
      </p:sp>
      <p:sp>
        <p:nvSpPr>
          <p:cNvPr id="8" name="TextBox 7">
            <a:extLst xmlns:a="http://schemas.openxmlformats.org/drawingml/2006/main">
              <a:ext uri="{FF2B5EF4-FFF2-40B4-BE49-F238E27FC236}">
                <a16:creationId xmlns:a16="http://schemas.microsoft.com/office/drawing/2014/main" id="{283583F2-18F8-47B5-B953-1BE32838718A}"/>
              </a:ext>
            </a:extLst>
          </p:cNvPr>
          <p:cNvSpPr>
            <a:spLocks xmlns:a="http://schemas.openxmlformats.org/drawingml/2006/main" noGrp="1"/>
          </p:cNvSpPr>
          <p:nvPr/>
        </p:nvSpPr>
        <p:spPr>
          <a:xfrm xmlns:a="http://schemas.openxmlformats.org/drawingml/2006/main">
            <a:off x="315468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9" name="Rounded Rectangle 8">
            <a:extLst xmlns:a="http://schemas.openxmlformats.org/drawingml/2006/main">
              <a:ext uri="{FF2B5EF4-FFF2-40B4-BE49-F238E27FC236}">
                <a16:creationId xmlns:a16="http://schemas.microsoft.com/office/drawing/2014/main" id="{B7B06795-DCE9-4C8D-B015-25CADBD41A99}"/>
              </a:ext>
            </a:extLst>
          </p:cNvPr>
          <p:cNvSpPr>
            <a:spLocks xmlns:a="http://schemas.openxmlformats.org/drawingml/2006/main" noGrp="1"/>
          </p:cNvSpPr>
          <p:nvPr/>
        </p:nvSpPr>
        <p:spPr>
          <a:xfrm xmlns:a="http://schemas.openxmlformats.org/drawingml/2006/main">
            <a:off x="3474720" y="1874519"/>
            <a:ext cx="2423160" cy="256032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B360983-67AA-4183-B04A-ACC05DF791ED}"/>
              </a:ext>
            </a:extLst>
          </p:cNvPr>
          <p:cNvSpPr>
            <a:spLocks xmlns:a="http://schemas.openxmlformats.org/drawingml/2006/main" noGrp="1"/>
          </p:cNvSpPr>
          <p:nvPr/>
        </p:nvSpPr>
        <p:spPr>
          <a:xfrm xmlns:a="http://schemas.openxmlformats.org/drawingml/2006/main">
            <a:off x="363931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CHECK</a:t>
            </a:r>
          </a:p>
        </p:txBody>
      </p:sp>
      <p:sp>
        <p:nvSpPr>
          <p:cNvPr id="11" name="TextBox 10">
            <a:extLst xmlns:a="http://schemas.openxmlformats.org/drawingml/2006/main">
              <a:ext uri="{FF2B5EF4-FFF2-40B4-BE49-F238E27FC236}">
                <a16:creationId xmlns:a16="http://schemas.microsoft.com/office/drawing/2014/main" id="{B4D09C7A-CE49-4C0C-BAB7-7F16C2331F9C}"/>
              </a:ext>
            </a:extLst>
          </p:cNvPr>
          <p:cNvSpPr>
            <a:spLocks xmlns:a="http://schemas.openxmlformats.org/drawingml/2006/main" noGrp="1"/>
          </p:cNvSpPr>
          <p:nvPr/>
        </p:nvSpPr>
        <p:spPr>
          <a:xfrm xmlns:a="http://schemas.openxmlformats.org/drawingml/2006/main">
            <a:off x="363931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Summarize local data quality and compare approved summaries across hospitals.</a:t>
            </a:r>
          </a:p>
        </p:txBody>
      </p:sp>
      <p:sp>
        <p:nvSpPr>
          <p:cNvPr id="12" name="TextBox 11">
            <a:extLst xmlns:a="http://schemas.openxmlformats.org/drawingml/2006/main">
              <a:ext uri="{FF2B5EF4-FFF2-40B4-BE49-F238E27FC236}">
                <a16:creationId xmlns:a16="http://schemas.microsoft.com/office/drawing/2014/main" id="{388FFCDD-207D-447E-AD8D-0C3AEB782266}"/>
              </a:ext>
            </a:extLst>
          </p:cNvPr>
          <p:cNvSpPr>
            <a:spLocks xmlns:a="http://schemas.openxmlformats.org/drawingml/2006/main" noGrp="1"/>
          </p:cNvSpPr>
          <p:nvPr/>
        </p:nvSpPr>
        <p:spPr>
          <a:xfrm xmlns:a="http://schemas.openxmlformats.org/drawingml/2006/main">
            <a:off x="594360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3" name="Rounded Rectangle 12">
            <a:extLst xmlns:a="http://schemas.openxmlformats.org/drawingml/2006/main">
              <a:ext uri="{FF2B5EF4-FFF2-40B4-BE49-F238E27FC236}">
                <a16:creationId xmlns:a16="http://schemas.microsoft.com/office/drawing/2014/main" id="{0F266D72-A8AA-4D4D-B477-7E6D7F171E6D}"/>
              </a:ext>
            </a:extLst>
          </p:cNvPr>
          <p:cNvSpPr>
            <a:spLocks xmlns:a="http://schemas.openxmlformats.org/drawingml/2006/main" noGrp="1"/>
          </p:cNvSpPr>
          <p:nvPr/>
        </p:nvSpPr>
        <p:spPr>
          <a:xfrm xmlns:a="http://schemas.openxmlformats.org/drawingml/2006/main">
            <a:off x="6263640" y="1874519"/>
            <a:ext cx="2423160" cy="256032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C4BA714-596E-48B7-B7FB-8173266FCE0E}"/>
              </a:ext>
            </a:extLst>
          </p:cNvPr>
          <p:cNvSpPr>
            <a:spLocks xmlns:a="http://schemas.openxmlformats.org/drawingml/2006/main" noGrp="1"/>
          </p:cNvSpPr>
          <p:nvPr/>
        </p:nvSpPr>
        <p:spPr>
          <a:xfrm xmlns:a="http://schemas.openxmlformats.org/drawingml/2006/main">
            <a:off x="642823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RUN</a:t>
            </a:r>
          </a:p>
        </p:txBody>
      </p:sp>
      <p:sp>
        <p:nvSpPr>
          <p:cNvPr id="15" name="TextBox 14">
            <a:extLst xmlns:a="http://schemas.openxmlformats.org/drawingml/2006/main">
              <a:ext uri="{FF2B5EF4-FFF2-40B4-BE49-F238E27FC236}">
                <a16:creationId xmlns:a16="http://schemas.microsoft.com/office/drawing/2014/main" id="{7A1A9390-FE67-4674-85D7-F68E58244653}"/>
              </a:ext>
            </a:extLst>
          </p:cNvPr>
          <p:cNvSpPr>
            <a:spLocks xmlns:a="http://schemas.openxmlformats.org/drawingml/2006/main" noGrp="1"/>
          </p:cNvSpPr>
          <p:nvPr/>
        </p:nvSpPr>
        <p:spPr>
          <a:xfrm xmlns:a="http://schemas.openxmlformats.org/drawingml/2006/main">
            <a:off x="642823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Send a clear request describing the task, model, inputs, version, and allowed scope.</a:t>
            </a:r>
          </a:p>
        </p:txBody>
      </p:sp>
      <p:sp>
        <p:nvSpPr>
          <p:cNvPr id="16" name="TextBox 15">
            <a:extLst xmlns:a="http://schemas.openxmlformats.org/drawingml/2006/main">
              <a:ext uri="{FF2B5EF4-FFF2-40B4-BE49-F238E27FC236}">
                <a16:creationId xmlns:a16="http://schemas.microsoft.com/office/drawing/2014/main" id="{FD7B0A54-6410-4C3C-9E18-B02B32C485DB}"/>
              </a:ext>
            </a:extLst>
          </p:cNvPr>
          <p:cNvSpPr>
            <a:spLocks xmlns:a="http://schemas.openxmlformats.org/drawingml/2006/main" noGrp="1"/>
          </p:cNvSpPr>
          <p:nvPr/>
        </p:nvSpPr>
        <p:spPr>
          <a:xfrm xmlns:a="http://schemas.openxmlformats.org/drawingml/2006/main">
            <a:off x="873252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7" name="Rounded Rectangle 16">
            <a:extLst xmlns:a="http://schemas.openxmlformats.org/drawingml/2006/main">
              <a:ext uri="{FF2B5EF4-FFF2-40B4-BE49-F238E27FC236}">
                <a16:creationId xmlns:a16="http://schemas.microsoft.com/office/drawing/2014/main" id="{507F04C6-72CF-4D13-82CA-222128D1F2CF}"/>
              </a:ext>
            </a:extLst>
          </p:cNvPr>
          <p:cNvSpPr>
            <a:spLocks xmlns:a="http://schemas.openxmlformats.org/drawingml/2006/main" noGrp="1"/>
          </p:cNvSpPr>
          <p:nvPr/>
        </p:nvSpPr>
        <p:spPr>
          <a:xfrm xmlns:a="http://schemas.openxmlformats.org/drawingml/2006/main">
            <a:off x="9052559" y="1874519"/>
            <a:ext cx="2423160" cy="256032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EE6E707-0227-4865-8B3F-1C65728A0F1A}"/>
              </a:ext>
            </a:extLst>
          </p:cNvPr>
          <p:cNvSpPr>
            <a:spLocks xmlns:a="http://schemas.openxmlformats.org/drawingml/2006/main" noGrp="1"/>
          </p:cNvSpPr>
          <p:nvPr/>
        </p:nvSpPr>
        <p:spPr>
          <a:xfrm xmlns:a="http://schemas.openxmlformats.org/drawingml/2006/main">
            <a:off x="921715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UPDATE</a:t>
            </a:r>
          </a:p>
        </p:txBody>
      </p:sp>
      <p:sp>
        <p:nvSpPr>
          <p:cNvPr id="19" name="TextBox 18">
            <a:extLst xmlns:a="http://schemas.openxmlformats.org/drawingml/2006/main">
              <a:ext uri="{FF2B5EF4-FFF2-40B4-BE49-F238E27FC236}">
                <a16:creationId xmlns:a16="http://schemas.microsoft.com/office/drawing/2014/main" id="{8A8E6459-BE37-4D1A-BC1C-440076936B49}"/>
              </a:ext>
            </a:extLst>
          </p:cNvPr>
          <p:cNvSpPr>
            <a:spLocks xmlns:a="http://schemas.openxmlformats.org/drawingml/2006/main" noGrp="1"/>
          </p:cNvSpPr>
          <p:nvPr/>
        </p:nvSpPr>
        <p:spPr>
          <a:xfrm xmlns:a="http://schemas.openxmlformats.org/drawingml/2006/main">
            <a:off x="921715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Send versioned plans, watch health, and return to a safe version when needed.</a:t>
            </a:r>
          </a:p>
        </p:txBody>
      </p:sp>
      <p:sp>
        <p:nvSpPr>
          <p:cNvPr id="20" name="TextBox 19">
            <a:extLst xmlns:a="http://schemas.openxmlformats.org/drawingml/2006/main">
              <a:ext uri="{FF2B5EF4-FFF2-40B4-BE49-F238E27FC236}">
                <a16:creationId xmlns:a16="http://schemas.microsoft.com/office/drawing/2014/main" id="{3E002B24-9FFE-495E-9B87-E5DD1FE8718C}"/>
              </a:ext>
            </a:extLst>
          </p:cNvPr>
          <p:cNvSpPr>
            <a:spLocks xmlns:a="http://schemas.openxmlformats.org/drawingml/2006/main" noGrp="1"/>
          </p:cNvSpPr>
          <p:nvPr/>
        </p:nvSpPr>
        <p:spPr>
          <a:xfrm xmlns:a="http://schemas.openxmlformats.org/drawingml/2006/main">
            <a:off x="914400" y="4800600"/>
            <a:ext cx="98755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500">
                <a:solidFill>
                  <a:srgbClr val="15201B"/>
                </a:solidFill>
                <a:latin typeface="Aptos"/>
                <a:ea typeface="Aptos"/>
                <a:cs typeface="Aptos"/>
              </a:defRPr>
            </a:pPr>
            <a:r>
              <a:t>Still needed for production: durable storage, reliable messaging, signed updates, and tamper-resistant logs.</a:t>
            </a:r>
          </a:p>
        </p:txBody>
      </p:sp>
      <p:sp>
        <p:nvSpPr>
          <p:cNvPr id="21" name="TextBox 20">
            <a:extLst xmlns:a="http://schemas.openxmlformats.org/drawingml/2006/main">
              <a:ext uri="{FF2B5EF4-FFF2-40B4-BE49-F238E27FC236}">
                <a16:creationId xmlns:a16="http://schemas.microsoft.com/office/drawing/2014/main" id="{85564141-C074-4DC7-BBE3-D0FC1209659F}"/>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Existing Dagents capabilities / 12</a:t>
            </a:r>
          </a:p>
        </p:txBody>
      </p:sp>
    </p:spTree>
    <p:extLst>
      <p:ext uri="{BB962C8B-B14F-4D97-AF65-F5344CB8AC3E}">
        <p14:creationId xmlns:p14="http://schemas.microsoft.com/office/powerpoint/2010/main" val="1530383934"/>
      </p:ext>
    </p:extLst>
  </p:cSld>
</p:sld>
</file>

<file path=ppt/slides/slide1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CD648CF-CF55-43A3-BA43-EB8791CF677F}"/>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COMPLIANCE</a:t>
            </a:r>
          </a:p>
        </p:txBody>
      </p:sp>
      <p:sp>
        <p:nvSpPr>
          <p:cNvPr id="3" name="TextBox 2">
            <a:extLst xmlns:a="http://schemas.openxmlformats.org/drawingml/2006/main">
              <a:ext uri="{FF2B5EF4-FFF2-40B4-BE49-F238E27FC236}">
                <a16:creationId xmlns:a16="http://schemas.microsoft.com/office/drawing/2014/main" id="{4DCB496F-1310-475C-A519-C8BA8F24DD53}"/>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Dagents does not guarantee compliance.</a:t>
            </a:r>
          </a:p>
        </p:txBody>
      </p:sp>
      <p:sp>
        <p:nvSpPr>
          <p:cNvPr id="4" name="TextBox 3">
            <a:extLst xmlns:a="http://schemas.openxmlformats.org/drawingml/2006/main">
              <a:ext uri="{FF2B5EF4-FFF2-40B4-BE49-F238E27FC236}">
                <a16:creationId xmlns:a16="http://schemas.microsoft.com/office/drawing/2014/main" id="{D95AC7B1-6DBE-4302-9E28-BB63F1715338}"/>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The framework can enforce repeatable technical checks. Hospitals still own policies, staff training, security operations, privacy decisions, and clinical safety.</a:t>
            </a:r>
          </a:p>
        </p:txBody>
      </p:sp>
      <p:sp>
        <p:nvSpPr>
          <p:cNvPr id="5" name="Rounded Rectangle 4">
            <a:extLst xmlns:a="http://schemas.openxmlformats.org/drawingml/2006/main">
              <a:ext uri="{FF2B5EF4-FFF2-40B4-BE49-F238E27FC236}">
                <a16:creationId xmlns:a16="http://schemas.microsoft.com/office/drawing/2014/main" id="{7F423318-1869-493B-A37C-9D8807C2FB93}"/>
              </a:ext>
            </a:extLst>
          </p:cNvPr>
          <p:cNvSpPr>
            <a:spLocks xmlns:a="http://schemas.openxmlformats.org/drawingml/2006/main" noGrp="1"/>
          </p:cNvSpPr>
          <p:nvPr/>
        </p:nvSpPr>
        <p:spPr>
          <a:xfrm xmlns:a="http://schemas.openxmlformats.org/drawingml/2006/main">
            <a:off x="731520" y="1691640"/>
            <a:ext cx="3291840" cy="20574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3A090CC2-FE5E-4144-BAB1-0D654DEF05B0}"/>
              </a:ext>
            </a:extLst>
          </p:cNvPr>
          <p:cNvSpPr>
            <a:spLocks xmlns:a="http://schemas.openxmlformats.org/drawingml/2006/main" noGrp="1"/>
          </p:cNvSpPr>
          <p:nvPr/>
        </p:nvSpPr>
        <p:spPr>
          <a:xfrm xmlns:a="http://schemas.openxmlformats.org/drawingml/2006/main">
            <a:off x="896112" y="1837944"/>
            <a:ext cx="2971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HIPAA</a:t>
            </a:r>
          </a:p>
        </p:txBody>
      </p:sp>
      <p:sp>
        <p:nvSpPr>
          <p:cNvPr id="7" name="TextBox 6">
            <a:extLst xmlns:a="http://schemas.openxmlformats.org/drawingml/2006/main">
              <a:ext uri="{FF2B5EF4-FFF2-40B4-BE49-F238E27FC236}">
                <a16:creationId xmlns:a16="http://schemas.microsoft.com/office/drawing/2014/main" id="{172B981C-D1C5-43B3-ACBD-9791320C0E2A}"/>
              </a:ext>
            </a:extLst>
          </p:cNvPr>
          <p:cNvSpPr>
            <a:spLocks xmlns:a="http://schemas.openxmlformats.org/drawingml/2006/main" noGrp="1"/>
          </p:cNvSpPr>
          <p:nvPr/>
        </p:nvSpPr>
        <p:spPr>
          <a:xfrm xmlns:a="http://schemas.openxmlformats.org/drawingml/2006/main">
            <a:off x="896112" y="2221992"/>
            <a:ext cx="2971800" cy="1399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U.S. rules for protecting patient health information. Dagents can keep identifying data local and record each run. Hospitals still need access controls, encryption, retention rules, risk reviews, and incident response.</a:t>
            </a:r>
          </a:p>
        </p:txBody>
      </p:sp>
      <p:sp>
        <p:nvSpPr>
          <p:cNvPr id="8" name="Rounded Rectangle 7">
            <a:extLst xmlns:a="http://schemas.openxmlformats.org/drawingml/2006/main">
              <a:ext uri="{FF2B5EF4-FFF2-40B4-BE49-F238E27FC236}">
                <a16:creationId xmlns:a16="http://schemas.microsoft.com/office/drawing/2014/main" id="{78914DE6-27C2-4D94-B667-557896AC0B67}"/>
              </a:ext>
            </a:extLst>
          </p:cNvPr>
          <p:cNvSpPr>
            <a:spLocks xmlns:a="http://schemas.openxmlformats.org/drawingml/2006/main" noGrp="1"/>
          </p:cNvSpPr>
          <p:nvPr/>
        </p:nvSpPr>
        <p:spPr>
          <a:xfrm xmlns:a="http://schemas.openxmlformats.org/drawingml/2006/main">
            <a:off x="4434840" y="1691640"/>
            <a:ext cx="3291840" cy="20574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FCB7709-14E5-4061-8DC5-0E6C77010337}"/>
              </a:ext>
            </a:extLst>
          </p:cNvPr>
          <p:cNvSpPr>
            <a:spLocks xmlns:a="http://schemas.openxmlformats.org/drawingml/2006/main" noGrp="1"/>
          </p:cNvSpPr>
          <p:nvPr/>
        </p:nvSpPr>
        <p:spPr>
          <a:xfrm xmlns:a="http://schemas.openxmlformats.org/drawingml/2006/main">
            <a:off x="4599431" y="1837944"/>
            <a:ext cx="2971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SOC 2</a:t>
            </a:r>
          </a:p>
        </p:txBody>
      </p:sp>
      <p:sp>
        <p:nvSpPr>
          <p:cNvPr id="10" name="TextBox 9">
            <a:extLst xmlns:a="http://schemas.openxmlformats.org/drawingml/2006/main">
              <a:ext uri="{FF2B5EF4-FFF2-40B4-BE49-F238E27FC236}">
                <a16:creationId xmlns:a16="http://schemas.microsoft.com/office/drawing/2014/main" id="{78CE9E10-F8E5-4106-95F5-F683B86639AB}"/>
              </a:ext>
            </a:extLst>
          </p:cNvPr>
          <p:cNvSpPr>
            <a:spLocks xmlns:a="http://schemas.openxmlformats.org/drawingml/2006/main" noGrp="1"/>
          </p:cNvSpPr>
          <p:nvPr/>
        </p:nvSpPr>
        <p:spPr>
          <a:xfrm xmlns:a="http://schemas.openxmlformats.org/drawingml/2006/main">
            <a:off x="4599431" y="2221992"/>
            <a:ext cx="2971800" cy="1399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An independent review of service security and reliability controls. Dagents can provide health checks and change records. The organization still needs control owners, access reviews, vendor checks, incident evidence, and an auditor.</a:t>
            </a:r>
          </a:p>
        </p:txBody>
      </p:sp>
      <p:sp>
        <p:nvSpPr>
          <p:cNvPr id="11" name="Rounded Rectangle 10">
            <a:extLst xmlns:a="http://schemas.openxmlformats.org/drawingml/2006/main">
              <a:ext uri="{FF2B5EF4-FFF2-40B4-BE49-F238E27FC236}">
                <a16:creationId xmlns:a16="http://schemas.microsoft.com/office/drawing/2014/main" id="{46B04290-7355-4C3D-A11F-9C147701D543}"/>
              </a:ext>
            </a:extLst>
          </p:cNvPr>
          <p:cNvSpPr>
            <a:spLocks xmlns:a="http://schemas.openxmlformats.org/drawingml/2006/main" noGrp="1"/>
          </p:cNvSpPr>
          <p:nvPr/>
        </p:nvSpPr>
        <p:spPr>
          <a:xfrm xmlns:a="http://schemas.openxmlformats.org/drawingml/2006/main">
            <a:off x="8138160" y="1691640"/>
            <a:ext cx="3291840" cy="20574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E90F19C-CA8E-4655-950F-AAC22240870F}"/>
              </a:ext>
            </a:extLst>
          </p:cNvPr>
          <p:cNvSpPr>
            <a:spLocks xmlns:a="http://schemas.openxmlformats.org/drawingml/2006/main" noGrp="1"/>
          </p:cNvSpPr>
          <p:nvPr/>
        </p:nvSpPr>
        <p:spPr>
          <a:xfrm xmlns:a="http://schemas.openxmlformats.org/drawingml/2006/main">
            <a:off x="8302752" y="1837944"/>
            <a:ext cx="2971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CLINICAL AI SAFETY</a:t>
            </a:r>
          </a:p>
        </p:txBody>
      </p:sp>
      <p:sp>
        <p:nvSpPr>
          <p:cNvPr id="13" name="TextBox 12">
            <a:extLst xmlns:a="http://schemas.openxmlformats.org/drawingml/2006/main">
              <a:ext uri="{FF2B5EF4-FFF2-40B4-BE49-F238E27FC236}">
                <a16:creationId xmlns:a16="http://schemas.microsoft.com/office/drawing/2014/main" id="{9E4295D3-D8DF-4565-A41A-39801B37A06F}"/>
              </a:ext>
            </a:extLst>
          </p:cNvPr>
          <p:cNvSpPr>
            <a:spLocks xmlns:a="http://schemas.openxmlformats.org/drawingml/2006/main" noGrp="1"/>
          </p:cNvSpPr>
          <p:nvPr/>
        </p:nvSpPr>
        <p:spPr>
          <a:xfrm xmlns:a="http://schemas.openxmlformats.org/drawingml/2006/main">
            <a:off x="8302752" y="2221992"/>
            <a:ext cx="2971800" cy="1399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Rules and evidence for software that informs care. Dagents can track model versions, reasons, approvals, and rollback. Teams still need a clear intended use, clinical testing, usability work, and safety review.</a:t>
            </a:r>
          </a:p>
        </p:txBody>
      </p:sp>
      <p:sp>
        <p:nvSpPr>
          <p:cNvPr id="14" name="TextBox 13">
            <a:extLst xmlns:a="http://schemas.openxmlformats.org/drawingml/2006/main">
              <a:ext uri="{FF2B5EF4-FFF2-40B4-BE49-F238E27FC236}">
                <a16:creationId xmlns:a16="http://schemas.microsoft.com/office/drawing/2014/main" id="{78F717F3-1A00-49A6-B673-1840A77E5987}"/>
              </a:ext>
            </a:extLst>
          </p:cNvPr>
          <p:cNvSpPr>
            <a:spLocks xmlns:a="http://schemas.openxmlformats.org/drawingml/2006/main" noGrp="1"/>
          </p:cNvSpPr>
          <p:nvPr/>
        </p:nvSpPr>
        <p:spPr>
          <a:xfrm xmlns:a="http://schemas.openxmlformats.org/drawingml/2006/main">
            <a:off x="868680" y="4251960"/>
            <a:ext cx="10241280"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a:solidFill>
                  <a:srgbClr val="15201B"/>
                </a:solidFill>
                <a:latin typeface="Aptos"/>
                <a:ea typeface="Aptos"/>
                <a:cs typeface="Aptos"/>
              </a:defRPr>
            </a:pPr>
            <a:r>
              <a:t>Architecture is only a starting point. A real compliance claim depends on controls being implemented, used, tested, and reviewed.</a:t>
            </a:r>
          </a:p>
        </p:txBody>
      </p:sp>
    </p:spTree>
    <p:extLst>
      <p:ext uri="{BB962C8B-B14F-4D97-AF65-F5344CB8AC3E}">
        <p14:creationId xmlns:p14="http://schemas.microsoft.com/office/powerpoint/2010/main" val="1156893860"/>
      </p:ext>
    </p:extLst>
  </p:cSld>
</p:sld>
</file>

<file path=ppt/slides/slide1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D4E8989-E57F-4626-85F5-D8BB0621247D}"/>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WHO OWNS WHAT?</a:t>
            </a:r>
          </a:p>
        </p:txBody>
      </p:sp>
      <p:sp>
        <p:nvSpPr>
          <p:cNvPr id="3" name="TextBox 2">
            <a:extLst xmlns:a="http://schemas.openxmlformats.org/drawingml/2006/main">
              <a:ext uri="{FF2B5EF4-FFF2-40B4-BE49-F238E27FC236}">
                <a16:creationId xmlns:a16="http://schemas.microsoft.com/office/drawing/2014/main" id="{CFE5C766-C07D-40C3-8F6C-307209C139EF}"/>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Dagents helps; hospitals remain accountable.</a:t>
            </a:r>
          </a:p>
        </p:txBody>
      </p:sp>
      <p:sp>
        <p:nvSpPr>
          <p:cNvPr id="4" name="TextBox 3">
            <a:extLst xmlns:a="http://schemas.openxmlformats.org/drawingml/2006/main">
              <a:ext uri="{FF2B5EF4-FFF2-40B4-BE49-F238E27FC236}">
                <a16:creationId xmlns:a16="http://schemas.microsoft.com/office/drawing/2014/main" id="{1C1B5261-56CE-4F96-91CB-9740E59EC576}"/>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Each requirement needs both a technical mechanism and a named person or team responsible for it.</a:t>
            </a:r>
          </a:p>
        </p:txBody>
      </p:sp>
      <p:sp>
        <p:nvSpPr>
          <p:cNvPr id="5" name="Rectangle 4">
            <a:extLst xmlns:a="http://schemas.openxmlformats.org/drawingml/2006/main">
              <a:ext uri="{FF2B5EF4-FFF2-40B4-BE49-F238E27FC236}">
                <a16:creationId xmlns:a16="http://schemas.microsoft.com/office/drawing/2014/main" id="{E7F1805F-EF62-40CE-BCC7-2EA7A166CF07}"/>
              </a:ext>
            </a:extLst>
          </p:cNvPr>
          <p:cNvSpPr>
            <a:spLocks xmlns:a="http://schemas.openxmlformats.org/drawingml/2006/main" noGrp="1"/>
          </p:cNvSpPr>
          <p:nvPr/>
        </p:nvSpPr>
        <p:spPr>
          <a:xfrm xmlns:a="http://schemas.openxmlformats.org/drawingml/2006/main">
            <a:off x="548640" y="1691640"/>
            <a:ext cx="2852928" cy="70866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3D4D3499-D0BC-4ABC-A3C7-D355723F9CAF}"/>
              </a:ext>
            </a:extLst>
          </p:cNvPr>
          <p:cNvSpPr>
            <a:spLocks xmlns:a="http://schemas.openxmlformats.org/drawingml/2006/main" noGrp="1"/>
          </p:cNvSpPr>
          <p:nvPr/>
        </p:nvSpPr>
        <p:spPr>
          <a:xfrm xmlns:a="http://schemas.openxmlformats.org/drawingml/2006/main">
            <a:off x="621792" y="176479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Area</a:t>
            </a:r>
          </a:p>
        </p:txBody>
      </p:sp>
      <p:sp>
        <p:nvSpPr>
          <p:cNvPr id="7" name="Rectangle 6">
            <a:extLst xmlns:a="http://schemas.openxmlformats.org/drawingml/2006/main">
              <a:ext uri="{FF2B5EF4-FFF2-40B4-BE49-F238E27FC236}">
                <a16:creationId xmlns:a16="http://schemas.microsoft.com/office/drawing/2014/main" id="{9068C4C9-3A06-4D8E-9457-27812CB3FD93}"/>
              </a:ext>
            </a:extLst>
          </p:cNvPr>
          <p:cNvSpPr>
            <a:spLocks xmlns:a="http://schemas.openxmlformats.org/drawingml/2006/main" noGrp="1"/>
          </p:cNvSpPr>
          <p:nvPr/>
        </p:nvSpPr>
        <p:spPr>
          <a:xfrm xmlns:a="http://schemas.openxmlformats.org/drawingml/2006/main">
            <a:off x="3401568" y="1691640"/>
            <a:ext cx="4059935" cy="70866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068EDBD8-A00D-4F14-B5B3-60D7F12E8467}"/>
              </a:ext>
            </a:extLst>
          </p:cNvPr>
          <p:cNvSpPr>
            <a:spLocks xmlns:a="http://schemas.openxmlformats.org/drawingml/2006/main" noGrp="1"/>
          </p:cNvSpPr>
          <p:nvPr/>
        </p:nvSpPr>
        <p:spPr>
          <a:xfrm xmlns:a="http://schemas.openxmlformats.org/drawingml/2006/main">
            <a:off x="3474720" y="17647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Dagents helps with</a:t>
            </a:r>
          </a:p>
        </p:txBody>
      </p:sp>
      <p:sp>
        <p:nvSpPr>
          <p:cNvPr id="9" name="Rectangle 8">
            <a:extLst xmlns:a="http://schemas.openxmlformats.org/drawingml/2006/main">
              <a:ext uri="{FF2B5EF4-FFF2-40B4-BE49-F238E27FC236}">
                <a16:creationId xmlns:a16="http://schemas.microsoft.com/office/drawing/2014/main" id="{E5E3E1CA-6083-4A33-8D95-CA2C3D0D0CAE}"/>
              </a:ext>
            </a:extLst>
          </p:cNvPr>
          <p:cNvSpPr>
            <a:spLocks xmlns:a="http://schemas.openxmlformats.org/drawingml/2006/main" noGrp="1"/>
          </p:cNvSpPr>
          <p:nvPr/>
        </p:nvSpPr>
        <p:spPr>
          <a:xfrm xmlns:a="http://schemas.openxmlformats.org/drawingml/2006/main">
            <a:off x="7461504" y="1691640"/>
            <a:ext cx="4059935" cy="70866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F19FA0D1-4AF6-4EE6-BCBF-ED4B4BA258E3}"/>
              </a:ext>
            </a:extLst>
          </p:cNvPr>
          <p:cNvSpPr>
            <a:spLocks xmlns:a="http://schemas.openxmlformats.org/drawingml/2006/main" noGrp="1"/>
          </p:cNvSpPr>
          <p:nvPr/>
        </p:nvSpPr>
        <p:spPr>
          <a:xfrm xmlns:a="http://schemas.openxmlformats.org/drawingml/2006/main">
            <a:off x="7534656" y="17647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Hospital team still owns</a:t>
            </a:r>
          </a:p>
        </p:txBody>
      </p:sp>
      <p:sp>
        <p:nvSpPr>
          <p:cNvPr id="11" name="Rectangle 10">
            <a:extLst xmlns:a="http://schemas.openxmlformats.org/drawingml/2006/main">
              <a:ext uri="{FF2B5EF4-FFF2-40B4-BE49-F238E27FC236}">
                <a16:creationId xmlns:a16="http://schemas.microsoft.com/office/drawing/2014/main" id="{6A044D66-81C0-4F26-A06F-E69907D2A2C4}"/>
              </a:ext>
            </a:extLst>
          </p:cNvPr>
          <p:cNvSpPr>
            <a:spLocks xmlns:a="http://schemas.openxmlformats.org/drawingml/2006/main" noGrp="1"/>
          </p:cNvSpPr>
          <p:nvPr/>
        </p:nvSpPr>
        <p:spPr>
          <a:xfrm xmlns:a="http://schemas.openxmlformats.org/drawingml/2006/main">
            <a:off x="548640" y="240030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2E5DD4A-EB51-4AD5-A0CA-86FC255DDF91}"/>
              </a:ext>
            </a:extLst>
          </p:cNvPr>
          <p:cNvSpPr>
            <a:spLocks xmlns:a="http://schemas.openxmlformats.org/drawingml/2006/main" noGrp="1"/>
          </p:cNvSpPr>
          <p:nvPr/>
        </p:nvSpPr>
        <p:spPr>
          <a:xfrm xmlns:a="http://schemas.openxmlformats.org/drawingml/2006/main">
            <a:off x="621792" y="247345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Patient-data security</a:t>
            </a:r>
          </a:p>
        </p:txBody>
      </p:sp>
      <p:sp>
        <p:nvSpPr>
          <p:cNvPr id="13" name="Rectangle 12">
            <a:extLst xmlns:a="http://schemas.openxmlformats.org/drawingml/2006/main">
              <a:ext uri="{FF2B5EF4-FFF2-40B4-BE49-F238E27FC236}">
                <a16:creationId xmlns:a16="http://schemas.microsoft.com/office/drawing/2014/main" id="{1A848C07-0190-44A9-94C2-153602F25B14}"/>
              </a:ext>
            </a:extLst>
          </p:cNvPr>
          <p:cNvSpPr>
            <a:spLocks xmlns:a="http://schemas.openxmlformats.org/drawingml/2006/main" noGrp="1"/>
          </p:cNvSpPr>
          <p:nvPr/>
        </p:nvSpPr>
        <p:spPr>
          <a:xfrm xmlns:a="http://schemas.openxmlformats.org/drawingml/2006/main">
            <a:off x="3401568" y="240030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CF75CCE3-CCB8-45CB-9D13-41B0F49DB43B}"/>
              </a:ext>
            </a:extLst>
          </p:cNvPr>
          <p:cNvSpPr>
            <a:spLocks xmlns:a="http://schemas.openxmlformats.org/drawingml/2006/main" noGrp="1"/>
          </p:cNvSpPr>
          <p:nvPr/>
        </p:nvSpPr>
        <p:spPr>
          <a:xfrm xmlns:a="http://schemas.openxmlformats.org/drawingml/2006/main">
            <a:off x="3474720" y="247345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Keep work local; limit data sources; record versions and runs</a:t>
            </a:r>
          </a:p>
        </p:txBody>
      </p:sp>
      <p:sp>
        <p:nvSpPr>
          <p:cNvPr id="15" name="Rectangle 14">
            <a:extLst xmlns:a="http://schemas.openxmlformats.org/drawingml/2006/main">
              <a:ext uri="{FF2B5EF4-FFF2-40B4-BE49-F238E27FC236}">
                <a16:creationId xmlns:a16="http://schemas.microsoft.com/office/drawing/2014/main" id="{9ADD7280-F293-4742-A23C-F4BA857B98C4}"/>
              </a:ext>
            </a:extLst>
          </p:cNvPr>
          <p:cNvSpPr>
            <a:spLocks xmlns:a="http://schemas.openxmlformats.org/drawingml/2006/main" noGrp="1"/>
          </p:cNvSpPr>
          <p:nvPr/>
        </p:nvSpPr>
        <p:spPr>
          <a:xfrm xmlns:a="http://schemas.openxmlformats.org/drawingml/2006/main">
            <a:off x="7461504" y="240030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5B7D715B-A37D-41DE-8799-5723E13FBB3B}"/>
              </a:ext>
            </a:extLst>
          </p:cNvPr>
          <p:cNvSpPr>
            <a:spLocks xmlns:a="http://schemas.openxmlformats.org/drawingml/2006/main" noGrp="1"/>
          </p:cNvSpPr>
          <p:nvPr/>
        </p:nvSpPr>
        <p:spPr>
          <a:xfrm xmlns:a="http://schemas.openxmlformats.org/drawingml/2006/main">
            <a:off x="7534656" y="247345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User access, login protection, encryption, backups, audits, and incident response</a:t>
            </a:r>
          </a:p>
        </p:txBody>
      </p:sp>
      <p:sp>
        <p:nvSpPr>
          <p:cNvPr id="17" name="Rectangle 16">
            <a:extLst xmlns:a="http://schemas.openxmlformats.org/drawingml/2006/main">
              <a:ext uri="{FF2B5EF4-FFF2-40B4-BE49-F238E27FC236}">
                <a16:creationId xmlns:a16="http://schemas.microsoft.com/office/drawing/2014/main" id="{946B42DB-0925-4B13-9BDF-D84C345503F4}"/>
              </a:ext>
            </a:extLst>
          </p:cNvPr>
          <p:cNvSpPr>
            <a:spLocks xmlns:a="http://schemas.openxmlformats.org/drawingml/2006/main" noGrp="1"/>
          </p:cNvSpPr>
          <p:nvPr/>
        </p:nvSpPr>
        <p:spPr>
          <a:xfrm xmlns:a="http://schemas.openxmlformats.org/drawingml/2006/main">
            <a:off x="548640" y="310896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CD76EFD7-E340-4FB2-BC76-B94625762EF7}"/>
              </a:ext>
            </a:extLst>
          </p:cNvPr>
          <p:cNvSpPr>
            <a:spLocks xmlns:a="http://schemas.openxmlformats.org/drawingml/2006/main" noGrp="1"/>
          </p:cNvSpPr>
          <p:nvPr/>
        </p:nvSpPr>
        <p:spPr>
          <a:xfrm xmlns:a="http://schemas.openxmlformats.org/drawingml/2006/main">
            <a:off x="621792" y="318211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Patient privacy</a:t>
            </a:r>
          </a:p>
        </p:txBody>
      </p:sp>
      <p:sp>
        <p:nvSpPr>
          <p:cNvPr id="19" name="Rectangle 18">
            <a:extLst xmlns:a="http://schemas.openxmlformats.org/drawingml/2006/main">
              <a:ext uri="{FF2B5EF4-FFF2-40B4-BE49-F238E27FC236}">
                <a16:creationId xmlns:a16="http://schemas.microsoft.com/office/drawing/2014/main" id="{44769EAF-01DB-4FB3-A301-3E373765833F}"/>
              </a:ext>
            </a:extLst>
          </p:cNvPr>
          <p:cNvSpPr>
            <a:spLocks xmlns:a="http://schemas.openxmlformats.org/drawingml/2006/main" noGrp="1"/>
          </p:cNvSpPr>
          <p:nvPr/>
        </p:nvSpPr>
        <p:spPr>
          <a:xfrm xmlns:a="http://schemas.openxmlformats.org/drawingml/2006/main">
            <a:off x="3401568" y="310896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20E32270-6044-458E-9EA3-F00CDCD3710F}"/>
              </a:ext>
            </a:extLst>
          </p:cNvPr>
          <p:cNvSpPr>
            <a:spLocks xmlns:a="http://schemas.openxmlformats.org/drawingml/2006/main" noGrp="1"/>
          </p:cNvSpPr>
          <p:nvPr/>
        </p:nvSpPr>
        <p:spPr>
          <a:xfrm xmlns:a="http://schemas.openxmlformats.org/drawingml/2006/main">
            <a:off x="3474720" y="318211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Share approved summaries instead of unrestricted patient records</a:t>
            </a:r>
          </a:p>
        </p:txBody>
      </p:sp>
      <p:sp>
        <p:nvSpPr>
          <p:cNvPr id="21" name="Rectangle 20">
            <a:extLst xmlns:a="http://schemas.openxmlformats.org/drawingml/2006/main">
              <a:ext uri="{FF2B5EF4-FFF2-40B4-BE49-F238E27FC236}">
                <a16:creationId xmlns:a16="http://schemas.microsoft.com/office/drawing/2014/main" id="{C17CC1B5-E443-4F95-95D5-DB135876C29E}"/>
              </a:ext>
            </a:extLst>
          </p:cNvPr>
          <p:cNvSpPr>
            <a:spLocks xmlns:a="http://schemas.openxmlformats.org/drawingml/2006/main" noGrp="1"/>
          </p:cNvSpPr>
          <p:nvPr/>
        </p:nvSpPr>
        <p:spPr>
          <a:xfrm xmlns:a="http://schemas.openxmlformats.org/drawingml/2006/main">
            <a:off x="7461504" y="310896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8F98D1C9-37AF-4BEA-91FB-A63BEF14D797}"/>
              </a:ext>
            </a:extLst>
          </p:cNvPr>
          <p:cNvSpPr>
            <a:spLocks xmlns:a="http://schemas.openxmlformats.org/drawingml/2006/main" noGrp="1"/>
          </p:cNvSpPr>
          <p:nvPr/>
        </p:nvSpPr>
        <p:spPr>
          <a:xfrm xmlns:a="http://schemas.openxmlformats.org/drawingml/2006/main">
            <a:off x="7534656" y="318211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Purpose, permission, minimum data, retention, deletion, and legal decisions</a:t>
            </a:r>
          </a:p>
        </p:txBody>
      </p:sp>
      <p:sp>
        <p:nvSpPr>
          <p:cNvPr id="23" name="Rectangle 22">
            <a:extLst xmlns:a="http://schemas.openxmlformats.org/drawingml/2006/main">
              <a:ext uri="{FF2B5EF4-FFF2-40B4-BE49-F238E27FC236}">
                <a16:creationId xmlns:a16="http://schemas.microsoft.com/office/drawing/2014/main" id="{3E5F381D-1153-47FA-A0BB-109C5DD96653}"/>
              </a:ext>
            </a:extLst>
          </p:cNvPr>
          <p:cNvSpPr>
            <a:spLocks xmlns:a="http://schemas.openxmlformats.org/drawingml/2006/main" noGrp="1"/>
          </p:cNvSpPr>
          <p:nvPr/>
        </p:nvSpPr>
        <p:spPr>
          <a:xfrm xmlns:a="http://schemas.openxmlformats.org/drawingml/2006/main">
            <a:off x="548640" y="381762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FAF97B7-0EC7-492E-8216-12B43368AEDD}"/>
              </a:ext>
            </a:extLst>
          </p:cNvPr>
          <p:cNvSpPr>
            <a:spLocks xmlns:a="http://schemas.openxmlformats.org/drawingml/2006/main" noGrp="1"/>
          </p:cNvSpPr>
          <p:nvPr/>
        </p:nvSpPr>
        <p:spPr>
          <a:xfrm xmlns:a="http://schemas.openxmlformats.org/drawingml/2006/main">
            <a:off x="621792" y="389077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Service assurance</a:t>
            </a:r>
          </a:p>
        </p:txBody>
      </p:sp>
      <p:sp>
        <p:nvSpPr>
          <p:cNvPr id="25" name="Rectangle 24">
            <a:extLst xmlns:a="http://schemas.openxmlformats.org/drawingml/2006/main">
              <a:ext uri="{FF2B5EF4-FFF2-40B4-BE49-F238E27FC236}">
                <a16:creationId xmlns:a16="http://schemas.microsoft.com/office/drawing/2014/main" id="{A1E449BD-0545-4D14-92B0-C0C03BBAFF33}"/>
              </a:ext>
            </a:extLst>
          </p:cNvPr>
          <p:cNvSpPr>
            <a:spLocks xmlns:a="http://schemas.openxmlformats.org/drawingml/2006/main" noGrp="1"/>
          </p:cNvSpPr>
          <p:nvPr/>
        </p:nvSpPr>
        <p:spPr>
          <a:xfrm xmlns:a="http://schemas.openxmlformats.org/drawingml/2006/main">
            <a:off x="3401568" y="381762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6B8A814C-2F17-404B-A854-B3C72CE13365}"/>
              </a:ext>
            </a:extLst>
          </p:cNvPr>
          <p:cNvSpPr>
            <a:spLocks xmlns:a="http://schemas.openxmlformats.org/drawingml/2006/main" noGrp="1"/>
          </p:cNvSpPr>
          <p:nvPr/>
        </p:nvSpPr>
        <p:spPr>
          <a:xfrm xmlns:a="http://schemas.openxmlformats.org/drawingml/2006/main">
            <a:off x="3474720" y="389077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Repeatable deployment, health checks, and change history</a:t>
            </a:r>
          </a:p>
        </p:txBody>
      </p:sp>
      <p:sp>
        <p:nvSpPr>
          <p:cNvPr id="27" name="Rectangle 26">
            <a:extLst xmlns:a="http://schemas.openxmlformats.org/drawingml/2006/main">
              <a:ext uri="{FF2B5EF4-FFF2-40B4-BE49-F238E27FC236}">
                <a16:creationId xmlns:a16="http://schemas.microsoft.com/office/drawing/2014/main" id="{BB1C8B34-EAA6-4DE3-B12F-AA600A1B12A1}"/>
              </a:ext>
            </a:extLst>
          </p:cNvPr>
          <p:cNvSpPr>
            <a:spLocks xmlns:a="http://schemas.openxmlformats.org/drawingml/2006/main" noGrp="1"/>
          </p:cNvSpPr>
          <p:nvPr/>
        </p:nvSpPr>
        <p:spPr>
          <a:xfrm xmlns:a="http://schemas.openxmlformats.org/drawingml/2006/main">
            <a:off x="7461504" y="381762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7CCB038B-9458-4F3C-B60D-C76CC950198B}"/>
              </a:ext>
            </a:extLst>
          </p:cNvPr>
          <p:cNvSpPr>
            <a:spLocks xmlns:a="http://schemas.openxmlformats.org/drawingml/2006/main" noGrp="1"/>
          </p:cNvSpPr>
          <p:nvPr/>
        </p:nvSpPr>
        <p:spPr>
          <a:xfrm xmlns:a="http://schemas.openxmlformats.org/drawingml/2006/main">
            <a:off x="7534656" y="389077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Control owners, access and vendor reviews, operating proof, and external audit</a:t>
            </a:r>
          </a:p>
        </p:txBody>
      </p:sp>
      <p:sp>
        <p:nvSpPr>
          <p:cNvPr id="29" name="Rectangle 28">
            <a:extLst xmlns:a="http://schemas.openxmlformats.org/drawingml/2006/main">
              <a:ext uri="{FF2B5EF4-FFF2-40B4-BE49-F238E27FC236}">
                <a16:creationId xmlns:a16="http://schemas.microsoft.com/office/drawing/2014/main" id="{58BFFB0F-F26A-4B25-BDDE-4A02E13B10D4}"/>
              </a:ext>
            </a:extLst>
          </p:cNvPr>
          <p:cNvSpPr>
            <a:spLocks xmlns:a="http://schemas.openxmlformats.org/drawingml/2006/main" noGrp="1"/>
          </p:cNvSpPr>
          <p:nvPr/>
        </p:nvSpPr>
        <p:spPr>
          <a:xfrm xmlns:a="http://schemas.openxmlformats.org/drawingml/2006/main">
            <a:off x="548640" y="452628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2BF68200-F02A-4EF6-8662-A4CB7975F2EB}"/>
              </a:ext>
            </a:extLst>
          </p:cNvPr>
          <p:cNvSpPr>
            <a:spLocks xmlns:a="http://schemas.openxmlformats.org/drawingml/2006/main" noGrp="1"/>
          </p:cNvSpPr>
          <p:nvPr/>
        </p:nvSpPr>
        <p:spPr>
          <a:xfrm xmlns:a="http://schemas.openxmlformats.org/drawingml/2006/main">
            <a:off x="621792" y="459943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Clinical safety</a:t>
            </a:r>
          </a:p>
        </p:txBody>
      </p:sp>
      <p:sp>
        <p:nvSpPr>
          <p:cNvPr id="31" name="Rectangle 30">
            <a:extLst xmlns:a="http://schemas.openxmlformats.org/drawingml/2006/main">
              <a:ext uri="{FF2B5EF4-FFF2-40B4-BE49-F238E27FC236}">
                <a16:creationId xmlns:a16="http://schemas.microsoft.com/office/drawing/2014/main" id="{D2033B15-3D32-4139-9093-C3EC0D52C72B}"/>
              </a:ext>
            </a:extLst>
          </p:cNvPr>
          <p:cNvSpPr>
            <a:spLocks xmlns:a="http://schemas.openxmlformats.org/drawingml/2006/main" noGrp="1"/>
          </p:cNvSpPr>
          <p:nvPr/>
        </p:nvSpPr>
        <p:spPr>
          <a:xfrm xmlns:a="http://schemas.openxmlformats.org/drawingml/2006/main">
            <a:off x="3401568" y="452628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1EB4A3BF-0609-4D48-BB1C-CAAF8C3117CD}"/>
              </a:ext>
            </a:extLst>
          </p:cNvPr>
          <p:cNvSpPr>
            <a:spLocks xmlns:a="http://schemas.openxmlformats.org/drawingml/2006/main" noGrp="1"/>
          </p:cNvSpPr>
          <p:nvPr/>
        </p:nvSpPr>
        <p:spPr>
          <a:xfrm xmlns:a="http://schemas.openxmlformats.org/drawingml/2006/main">
            <a:off x="3474720" y="459943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Human decision point, model and input history, approvals, and rollback</a:t>
            </a:r>
          </a:p>
        </p:txBody>
      </p:sp>
      <p:sp>
        <p:nvSpPr>
          <p:cNvPr id="33" name="Rectangle 32">
            <a:extLst xmlns:a="http://schemas.openxmlformats.org/drawingml/2006/main">
              <a:ext uri="{FF2B5EF4-FFF2-40B4-BE49-F238E27FC236}">
                <a16:creationId xmlns:a16="http://schemas.microsoft.com/office/drawing/2014/main" id="{A4367BC6-3FF2-4B63-8123-85C14F4AE04D}"/>
              </a:ext>
            </a:extLst>
          </p:cNvPr>
          <p:cNvSpPr>
            <a:spLocks xmlns:a="http://schemas.openxmlformats.org/drawingml/2006/main" noGrp="1"/>
          </p:cNvSpPr>
          <p:nvPr/>
        </p:nvSpPr>
        <p:spPr>
          <a:xfrm xmlns:a="http://schemas.openxmlformats.org/drawingml/2006/main">
            <a:off x="7461504" y="452628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D5117802-2B97-47AE-A1C3-A536E4CCB58D}"/>
              </a:ext>
            </a:extLst>
          </p:cNvPr>
          <p:cNvSpPr>
            <a:spLocks xmlns:a="http://schemas.openxmlformats.org/drawingml/2006/main" noGrp="1"/>
          </p:cNvSpPr>
          <p:nvPr/>
        </p:nvSpPr>
        <p:spPr>
          <a:xfrm xmlns:a="http://schemas.openxmlformats.org/drawingml/2006/main">
            <a:off x="7534656" y="459943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Clinical testing, usability, intended use, regulation, and safety ownership</a:t>
            </a:r>
          </a:p>
        </p:txBody>
      </p:sp>
      <p:sp>
        <p:nvSpPr>
          <p:cNvPr id="35" name="Rectangle 34">
            <a:extLst xmlns:a="http://schemas.openxmlformats.org/drawingml/2006/main">
              <a:ext uri="{FF2B5EF4-FFF2-40B4-BE49-F238E27FC236}">
                <a16:creationId xmlns:a16="http://schemas.microsoft.com/office/drawing/2014/main" id="{D6EFD778-B6C6-47AA-84F1-9B01BBEC5F74}"/>
              </a:ext>
            </a:extLst>
          </p:cNvPr>
          <p:cNvSpPr>
            <a:spLocks xmlns:a="http://schemas.openxmlformats.org/drawingml/2006/main" noGrp="1"/>
          </p:cNvSpPr>
          <p:nvPr/>
        </p:nvSpPr>
        <p:spPr>
          <a:xfrm xmlns:a="http://schemas.openxmlformats.org/drawingml/2006/main">
            <a:off x="548640" y="523494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C51FE5C2-7C69-4B76-AFAD-6C3053287881}"/>
              </a:ext>
            </a:extLst>
          </p:cNvPr>
          <p:cNvSpPr>
            <a:spLocks xmlns:a="http://schemas.openxmlformats.org/drawingml/2006/main" noGrp="1"/>
          </p:cNvSpPr>
          <p:nvPr/>
        </p:nvSpPr>
        <p:spPr>
          <a:xfrm xmlns:a="http://schemas.openxmlformats.org/drawingml/2006/main">
            <a:off x="621792" y="530809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Health-data standards</a:t>
            </a:r>
          </a:p>
        </p:txBody>
      </p:sp>
      <p:sp>
        <p:nvSpPr>
          <p:cNvPr id="37" name="Rectangle 36">
            <a:extLst xmlns:a="http://schemas.openxmlformats.org/drawingml/2006/main">
              <a:ext uri="{FF2B5EF4-FFF2-40B4-BE49-F238E27FC236}">
                <a16:creationId xmlns:a16="http://schemas.microsoft.com/office/drawing/2014/main" id="{07A16C5C-A3F7-4D95-919C-C36CB3FC5A8D}"/>
              </a:ext>
            </a:extLst>
          </p:cNvPr>
          <p:cNvSpPr>
            <a:spLocks xmlns:a="http://schemas.openxmlformats.org/drawingml/2006/main" noGrp="1"/>
          </p:cNvSpPr>
          <p:nvPr/>
        </p:nvSpPr>
        <p:spPr>
          <a:xfrm xmlns:a="http://schemas.openxmlformats.org/drawingml/2006/main">
            <a:off x="3401568" y="523494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4CA9917C-CB0F-42EF-A94E-9F39FAF1E497}"/>
              </a:ext>
            </a:extLst>
          </p:cNvPr>
          <p:cNvSpPr>
            <a:spLocks xmlns:a="http://schemas.openxmlformats.org/drawingml/2006/main" noGrp="1"/>
          </p:cNvSpPr>
          <p:nvPr/>
        </p:nvSpPr>
        <p:spPr>
          <a:xfrm xmlns:a="http://schemas.openxmlformats.org/drawingml/2006/main">
            <a:off x="3474720" y="53080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 clear connector boundary for hospital data</a:t>
            </a:r>
          </a:p>
        </p:txBody>
      </p:sp>
      <p:sp>
        <p:nvSpPr>
          <p:cNvPr id="39" name="Rectangle 38">
            <a:extLst xmlns:a="http://schemas.openxmlformats.org/drawingml/2006/main">
              <a:ext uri="{FF2B5EF4-FFF2-40B4-BE49-F238E27FC236}">
                <a16:creationId xmlns:a16="http://schemas.microsoft.com/office/drawing/2014/main" id="{DB1E8843-AA41-4085-AB1E-55C106CB7396}"/>
              </a:ext>
            </a:extLst>
          </p:cNvPr>
          <p:cNvSpPr>
            <a:spLocks xmlns:a="http://schemas.openxmlformats.org/drawingml/2006/main" noGrp="1"/>
          </p:cNvSpPr>
          <p:nvPr/>
        </p:nvSpPr>
        <p:spPr>
          <a:xfrm xmlns:a="http://schemas.openxmlformats.org/drawingml/2006/main">
            <a:off x="7461504" y="523494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3A852803-0465-4E91-BB33-E4EA6A463B73}"/>
              </a:ext>
            </a:extLst>
          </p:cNvPr>
          <p:cNvSpPr>
            <a:spLocks xmlns:a="http://schemas.openxmlformats.org/drawingml/2006/main" noGrp="1"/>
          </p:cNvSpPr>
          <p:nvPr/>
        </p:nvSpPr>
        <p:spPr>
          <a:xfrm xmlns:a="http://schemas.openxmlformats.org/drawingml/2006/main">
            <a:off x="7534656" y="53080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Correct coding, terminology, source tracking, and patient matching</a:t>
            </a:r>
          </a:p>
        </p:txBody>
      </p:sp>
      <p:sp>
        <p:nvSpPr>
          <p:cNvPr id="41" name="TextBox 40">
            <a:extLst xmlns:a="http://schemas.openxmlformats.org/drawingml/2006/main">
              <a:ext uri="{FF2B5EF4-FFF2-40B4-BE49-F238E27FC236}">
                <a16:creationId xmlns:a16="http://schemas.microsoft.com/office/drawing/2014/main" id="{745CA374-23DB-499D-BD95-A09CAB022F85}"/>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Planning aid—not a legal, audit, or medical conclusion / 14</a:t>
            </a:r>
          </a:p>
        </p:txBody>
      </p:sp>
    </p:spTree>
    <p:extLst>
      <p:ext uri="{BB962C8B-B14F-4D97-AF65-F5344CB8AC3E}">
        <p14:creationId xmlns:p14="http://schemas.microsoft.com/office/powerpoint/2010/main" val="201909069"/>
      </p:ext>
    </p:extLst>
  </p:cSld>
</p:sld>
</file>

<file path=ppt/slides/slide1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D7D1158-DC0C-4870-9A1F-691F8C825EE8}"/>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SAFETY CHECKS</a:t>
            </a:r>
          </a:p>
        </p:txBody>
      </p:sp>
      <p:sp>
        <p:nvSpPr>
          <p:cNvPr id="3" name="TextBox 2">
            <a:extLst xmlns:a="http://schemas.openxmlformats.org/drawingml/2006/main">
              <a:ext uri="{FF2B5EF4-FFF2-40B4-BE49-F238E27FC236}">
                <a16:creationId xmlns:a16="http://schemas.microsoft.com/office/drawing/2014/main" id="{84656273-0838-4E98-9C35-87AA81425751}"/>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Four checks must pass before a warning is shown.</a:t>
            </a:r>
          </a:p>
        </p:txBody>
      </p:sp>
      <p:sp>
        <p:nvSpPr>
          <p:cNvPr id="4" name="TextBox 3">
            <a:extLst xmlns:a="http://schemas.openxmlformats.org/drawingml/2006/main">
              <a:ext uri="{FF2B5EF4-FFF2-40B4-BE49-F238E27FC236}">
                <a16:creationId xmlns:a16="http://schemas.microsoft.com/office/drawing/2014/main" id="{54FDD751-E4A4-4D59-8F78-D01EFE7D22D5}"/>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Any failed check stops the run, records the reason, and sends the issue for review.</a:t>
            </a:r>
          </a:p>
        </p:txBody>
      </p:sp>
      <p:sp>
        <p:nvSpPr>
          <p:cNvPr id="5" name="Rounded Rectangle 4">
            <a:extLst xmlns:a="http://schemas.openxmlformats.org/drawingml/2006/main">
              <a:ext uri="{FF2B5EF4-FFF2-40B4-BE49-F238E27FC236}">
                <a16:creationId xmlns:a16="http://schemas.microsoft.com/office/drawing/2014/main" id="{4FE36FB3-EF4F-4471-8C0C-A6391FFA5999}"/>
              </a:ext>
            </a:extLst>
          </p:cNvPr>
          <p:cNvSpPr>
            <a:spLocks xmlns:a="http://schemas.openxmlformats.org/drawingml/2006/main" noGrp="1"/>
          </p:cNvSpPr>
          <p:nvPr/>
        </p:nvSpPr>
        <p:spPr>
          <a:xfrm xmlns:a="http://schemas.openxmlformats.org/drawingml/2006/main">
            <a:off x="685800" y="1874519"/>
            <a:ext cx="2423160" cy="256032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AC154123-D6D6-43E5-8E10-D9956C94BDCE}"/>
              </a:ext>
            </a:extLst>
          </p:cNvPr>
          <p:cNvSpPr>
            <a:spLocks xmlns:a="http://schemas.openxmlformats.org/drawingml/2006/main" noGrp="1"/>
          </p:cNvSpPr>
          <p:nvPr/>
        </p:nvSpPr>
        <p:spPr>
          <a:xfrm xmlns:a="http://schemas.openxmlformats.org/drawingml/2006/main">
            <a:off x="85039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1. APPROVED USE</a:t>
            </a:r>
          </a:p>
        </p:txBody>
      </p:sp>
      <p:sp>
        <p:nvSpPr>
          <p:cNvPr id="7" name="TextBox 6">
            <a:extLst xmlns:a="http://schemas.openxmlformats.org/drawingml/2006/main">
              <a:ext uri="{FF2B5EF4-FFF2-40B4-BE49-F238E27FC236}">
                <a16:creationId xmlns:a16="http://schemas.microsoft.com/office/drawing/2014/main" id="{10E5C917-0DA9-4A9D-81A2-91E6CAEF835A}"/>
              </a:ext>
            </a:extLst>
          </p:cNvPr>
          <p:cNvSpPr>
            <a:spLocks xmlns:a="http://schemas.openxmlformats.org/drawingml/2006/main" noGrp="1"/>
          </p:cNvSpPr>
          <p:nvPr/>
        </p:nvSpPr>
        <p:spPr>
          <a:xfrm xmlns:a="http://schemas.openxmlformats.org/drawingml/2006/main">
            <a:off x="85039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Is this data allowed for this patient group and this purpose?</a:t>
            </a:r>
          </a:p>
        </p:txBody>
      </p:sp>
      <p:sp>
        <p:nvSpPr>
          <p:cNvPr id="8" name="TextBox 7">
            <a:extLst xmlns:a="http://schemas.openxmlformats.org/drawingml/2006/main">
              <a:ext uri="{FF2B5EF4-FFF2-40B4-BE49-F238E27FC236}">
                <a16:creationId xmlns:a16="http://schemas.microsoft.com/office/drawing/2014/main" id="{283583F2-18F8-47B5-B953-1BE32838718A}"/>
              </a:ext>
            </a:extLst>
          </p:cNvPr>
          <p:cNvSpPr>
            <a:spLocks xmlns:a="http://schemas.openxmlformats.org/drawingml/2006/main" noGrp="1"/>
          </p:cNvSpPr>
          <p:nvPr/>
        </p:nvSpPr>
        <p:spPr>
          <a:xfrm xmlns:a="http://schemas.openxmlformats.org/drawingml/2006/main">
            <a:off x="315468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9" name="Rounded Rectangle 8">
            <a:extLst xmlns:a="http://schemas.openxmlformats.org/drawingml/2006/main">
              <a:ext uri="{FF2B5EF4-FFF2-40B4-BE49-F238E27FC236}">
                <a16:creationId xmlns:a16="http://schemas.microsoft.com/office/drawing/2014/main" id="{B7B06795-DCE9-4C8D-B015-25CADBD41A99}"/>
              </a:ext>
            </a:extLst>
          </p:cNvPr>
          <p:cNvSpPr>
            <a:spLocks xmlns:a="http://schemas.openxmlformats.org/drawingml/2006/main" noGrp="1"/>
          </p:cNvSpPr>
          <p:nvPr/>
        </p:nvSpPr>
        <p:spPr>
          <a:xfrm xmlns:a="http://schemas.openxmlformats.org/drawingml/2006/main">
            <a:off x="3474720" y="1874519"/>
            <a:ext cx="2423160" cy="256032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B360983-67AA-4183-B04A-ACC05DF791ED}"/>
              </a:ext>
            </a:extLst>
          </p:cNvPr>
          <p:cNvSpPr>
            <a:spLocks xmlns:a="http://schemas.openxmlformats.org/drawingml/2006/main" noGrp="1"/>
          </p:cNvSpPr>
          <p:nvPr/>
        </p:nvSpPr>
        <p:spPr>
          <a:xfrm xmlns:a="http://schemas.openxmlformats.org/drawingml/2006/main">
            <a:off x="363931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2. GOOD DATA</a:t>
            </a:r>
          </a:p>
        </p:txBody>
      </p:sp>
      <p:sp>
        <p:nvSpPr>
          <p:cNvPr id="11" name="TextBox 10">
            <a:extLst xmlns:a="http://schemas.openxmlformats.org/drawingml/2006/main">
              <a:ext uri="{FF2B5EF4-FFF2-40B4-BE49-F238E27FC236}">
                <a16:creationId xmlns:a16="http://schemas.microsoft.com/office/drawing/2014/main" id="{B4D09C7A-CE49-4C0C-BAB7-7F16C2331F9C}"/>
              </a:ext>
            </a:extLst>
          </p:cNvPr>
          <p:cNvSpPr>
            <a:spLocks xmlns:a="http://schemas.openxmlformats.org/drawingml/2006/main" noGrp="1"/>
          </p:cNvSpPr>
          <p:nvPr/>
        </p:nvSpPr>
        <p:spPr>
          <a:xfrm xmlns:a="http://schemas.openxmlformats.org/drawingml/2006/main">
            <a:off x="363931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Is the data recent, complete enough, correctly formatted, and in the right units?</a:t>
            </a:r>
          </a:p>
        </p:txBody>
      </p:sp>
      <p:sp>
        <p:nvSpPr>
          <p:cNvPr id="12" name="TextBox 11">
            <a:extLst xmlns:a="http://schemas.openxmlformats.org/drawingml/2006/main">
              <a:ext uri="{FF2B5EF4-FFF2-40B4-BE49-F238E27FC236}">
                <a16:creationId xmlns:a16="http://schemas.microsoft.com/office/drawing/2014/main" id="{388FFCDD-207D-447E-AD8D-0C3AEB782266}"/>
              </a:ext>
            </a:extLst>
          </p:cNvPr>
          <p:cNvSpPr>
            <a:spLocks xmlns:a="http://schemas.openxmlformats.org/drawingml/2006/main" noGrp="1"/>
          </p:cNvSpPr>
          <p:nvPr/>
        </p:nvSpPr>
        <p:spPr>
          <a:xfrm xmlns:a="http://schemas.openxmlformats.org/drawingml/2006/main">
            <a:off x="594360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3" name="Rounded Rectangle 12">
            <a:extLst xmlns:a="http://schemas.openxmlformats.org/drawingml/2006/main">
              <a:ext uri="{FF2B5EF4-FFF2-40B4-BE49-F238E27FC236}">
                <a16:creationId xmlns:a16="http://schemas.microsoft.com/office/drawing/2014/main" id="{0F266D72-A8AA-4D4D-B477-7E6D7F171E6D}"/>
              </a:ext>
            </a:extLst>
          </p:cNvPr>
          <p:cNvSpPr>
            <a:spLocks xmlns:a="http://schemas.openxmlformats.org/drawingml/2006/main" noGrp="1"/>
          </p:cNvSpPr>
          <p:nvPr/>
        </p:nvSpPr>
        <p:spPr>
          <a:xfrm xmlns:a="http://schemas.openxmlformats.org/drawingml/2006/main">
            <a:off x="6263640" y="1874519"/>
            <a:ext cx="2423160" cy="256032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C4BA714-596E-48B7-B7FB-8173266FCE0E}"/>
              </a:ext>
            </a:extLst>
          </p:cNvPr>
          <p:cNvSpPr>
            <a:spLocks xmlns:a="http://schemas.openxmlformats.org/drawingml/2006/main" noGrp="1"/>
          </p:cNvSpPr>
          <p:nvPr/>
        </p:nvSpPr>
        <p:spPr>
          <a:xfrm xmlns:a="http://schemas.openxmlformats.org/drawingml/2006/main">
            <a:off x="642823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3. MODEL</a:t>
            </a:r>
          </a:p>
        </p:txBody>
      </p:sp>
      <p:sp>
        <p:nvSpPr>
          <p:cNvPr id="15" name="TextBox 14">
            <a:extLst xmlns:a="http://schemas.openxmlformats.org/drawingml/2006/main">
              <a:ext uri="{FF2B5EF4-FFF2-40B4-BE49-F238E27FC236}">
                <a16:creationId xmlns:a16="http://schemas.microsoft.com/office/drawing/2014/main" id="{7A1A9390-FE67-4674-85D7-F68E58244653}"/>
              </a:ext>
            </a:extLst>
          </p:cNvPr>
          <p:cNvSpPr>
            <a:spLocks xmlns:a="http://schemas.openxmlformats.org/drawingml/2006/main" noGrp="1"/>
          </p:cNvSpPr>
          <p:nvPr/>
        </p:nvSpPr>
        <p:spPr>
          <a:xfrm xmlns:a="http://schemas.openxmlformats.org/drawingml/2006/main">
            <a:off x="642823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Is the correct tested model and hospital setting being used?</a:t>
            </a:r>
          </a:p>
        </p:txBody>
      </p:sp>
      <p:sp>
        <p:nvSpPr>
          <p:cNvPr id="16" name="TextBox 15">
            <a:extLst xmlns:a="http://schemas.openxmlformats.org/drawingml/2006/main">
              <a:ext uri="{FF2B5EF4-FFF2-40B4-BE49-F238E27FC236}">
                <a16:creationId xmlns:a16="http://schemas.microsoft.com/office/drawing/2014/main" id="{FD7B0A54-6410-4C3C-9E18-B02B32C485DB}"/>
              </a:ext>
            </a:extLst>
          </p:cNvPr>
          <p:cNvSpPr>
            <a:spLocks xmlns:a="http://schemas.openxmlformats.org/drawingml/2006/main" noGrp="1"/>
          </p:cNvSpPr>
          <p:nvPr/>
        </p:nvSpPr>
        <p:spPr>
          <a:xfrm xmlns:a="http://schemas.openxmlformats.org/drawingml/2006/main">
            <a:off x="873252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7" name="Rounded Rectangle 16">
            <a:extLst xmlns:a="http://schemas.openxmlformats.org/drawingml/2006/main">
              <a:ext uri="{FF2B5EF4-FFF2-40B4-BE49-F238E27FC236}">
                <a16:creationId xmlns:a16="http://schemas.microsoft.com/office/drawing/2014/main" id="{507F04C6-72CF-4D13-82CA-222128D1F2CF}"/>
              </a:ext>
            </a:extLst>
          </p:cNvPr>
          <p:cNvSpPr>
            <a:spLocks xmlns:a="http://schemas.openxmlformats.org/drawingml/2006/main" noGrp="1"/>
          </p:cNvSpPr>
          <p:nvPr/>
        </p:nvSpPr>
        <p:spPr>
          <a:xfrm xmlns:a="http://schemas.openxmlformats.org/drawingml/2006/main">
            <a:off x="9052559" y="1874519"/>
            <a:ext cx="2423160" cy="256032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EE6E707-0227-4865-8B3F-1C65728A0F1A}"/>
              </a:ext>
            </a:extLst>
          </p:cNvPr>
          <p:cNvSpPr>
            <a:spLocks xmlns:a="http://schemas.openxmlformats.org/drawingml/2006/main" noGrp="1"/>
          </p:cNvSpPr>
          <p:nvPr/>
        </p:nvSpPr>
        <p:spPr>
          <a:xfrm xmlns:a="http://schemas.openxmlformats.org/drawingml/2006/main">
            <a:off x="921715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4. CLINICIAN</a:t>
            </a:r>
          </a:p>
        </p:txBody>
      </p:sp>
      <p:sp>
        <p:nvSpPr>
          <p:cNvPr id="19" name="TextBox 18">
            <a:extLst xmlns:a="http://schemas.openxmlformats.org/drawingml/2006/main">
              <a:ext uri="{FF2B5EF4-FFF2-40B4-BE49-F238E27FC236}">
                <a16:creationId xmlns:a16="http://schemas.microsoft.com/office/drawing/2014/main" id="{8A8E6459-BE37-4D1A-BC1C-440076936B49}"/>
              </a:ext>
            </a:extLst>
          </p:cNvPr>
          <p:cNvSpPr>
            <a:spLocks xmlns:a="http://schemas.openxmlformats.org/drawingml/2006/main" noGrp="1"/>
          </p:cNvSpPr>
          <p:nvPr/>
        </p:nvSpPr>
        <p:spPr>
          <a:xfrm xmlns:a="http://schemas.openxmlformats.org/drawingml/2006/main">
            <a:off x="921715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Can the clinician see the reasons and limits and make the final care decision?</a:t>
            </a:r>
          </a:p>
        </p:txBody>
      </p:sp>
      <p:sp>
        <p:nvSpPr>
          <p:cNvPr id="20" name="TextBox 19">
            <a:extLst xmlns:a="http://schemas.openxmlformats.org/drawingml/2006/main">
              <a:ext uri="{FF2B5EF4-FFF2-40B4-BE49-F238E27FC236}">
                <a16:creationId xmlns:a16="http://schemas.microsoft.com/office/drawing/2014/main" id="{3E002B24-9FFE-495E-9B87-E5DD1FE8718C}"/>
              </a:ext>
            </a:extLst>
          </p:cNvPr>
          <p:cNvSpPr>
            <a:spLocks xmlns:a="http://schemas.openxmlformats.org/drawingml/2006/main" noGrp="1"/>
          </p:cNvSpPr>
          <p:nvPr/>
        </p:nvSpPr>
        <p:spPr>
          <a:xfrm xmlns:a="http://schemas.openxmlformats.org/drawingml/2006/main">
            <a:off x="914400" y="4800600"/>
            <a:ext cx="98755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500">
                <a:solidFill>
                  <a:srgbClr val="15201B"/>
                </a:solidFill>
                <a:latin typeface="Aptos"/>
                <a:ea typeface="Aptos"/>
                <a:cs typeface="Aptos"/>
              </a:defRPr>
            </a:pPr>
            <a:r>
              <a:t>Start with past data, then run silently. Stop safely and record why whenever a check fails.</a:t>
            </a:r>
          </a:p>
        </p:txBody>
      </p:sp>
      <p:sp>
        <p:nvSpPr>
          <p:cNvPr id="21" name="TextBox 20">
            <a:extLst xmlns:a="http://schemas.openxmlformats.org/drawingml/2006/main">
              <a:ext uri="{FF2B5EF4-FFF2-40B4-BE49-F238E27FC236}">
                <a16:creationId xmlns:a16="http://schemas.microsoft.com/office/drawing/2014/main" id="{85564141-C074-4DC7-BBE3-D0FC1209659F}"/>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Safety before action / 15</a:t>
            </a:r>
          </a:p>
        </p:txBody>
      </p:sp>
    </p:spTree>
    <p:extLst>
      <p:ext uri="{BB962C8B-B14F-4D97-AF65-F5344CB8AC3E}">
        <p14:creationId xmlns:p14="http://schemas.microsoft.com/office/powerpoint/2010/main" val="1530383934"/>
      </p:ext>
    </p:extLst>
  </p:cSld>
</p:sld>
</file>

<file path=ppt/slides/slide1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C8DBD12-B4E5-4D50-862A-EE95276939B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EFFORT</a:t>
            </a:r>
          </a:p>
        </p:txBody>
      </p:sp>
      <p:sp>
        <p:nvSpPr>
          <p:cNvPr id="3" name="TextBox 2">
            <a:extLst xmlns:a="http://schemas.openxmlformats.org/drawingml/2006/main">
              <a:ext uri="{FF2B5EF4-FFF2-40B4-BE49-F238E27FC236}">
                <a16:creationId xmlns:a16="http://schemas.microsoft.com/office/drawing/2014/main" id="{4CA5135A-B7C2-4A3F-A4B9-1A19657118BC}"/>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Dagents reduces repeated platform work.</a:t>
            </a:r>
          </a:p>
        </p:txBody>
      </p:sp>
      <p:sp>
        <p:nvSpPr>
          <p:cNvPr id="4" name="TextBox 3">
            <a:extLst xmlns:a="http://schemas.openxmlformats.org/drawingml/2006/main">
              <a:ext uri="{FF2B5EF4-FFF2-40B4-BE49-F238E27FC236}">
                <a16:creationId xmlns:a16="http://schemas.microsoft.com/office/drawing/2014/main" id="{144F016E-D41B-49E9-9DA2-D7111539AAC2}"/>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The benefit grows when more hospitals, models, or regulated use cases share the same coordination layer.</a:t>
            </a:r>
          </a:p>
        </p:txBody>
      </p:sp>
      <p:sp>
        <p:nvSpPr>
          <p:cNvPr id="5" name="Rectangle 4">
            <a:extLst xmlns:a="http://schemas.openxmlformats.org/drawingml/2006/main">
              <a:ext uri="{FF2B5EF4-FFF2-40B4-BE49-F238E27FC236}">
                <a16:creationId xmlns:a16="http://schemas.microsoft.com/office/drawing/2014/main" id="{9CE8E996-E424-4293-8C1C-AF9D6E1AB446}"/>
              </a:ext>
            </a:extLst>
          </p:cNvPr>
          <p:cNvSpPr>
            <a:spLocks xmlns:a="http://schemas.openxmlformats.org/drawingml/2006/main" noGrp="1"/>
          </p:cNvSpPr>
          <p:nvPr/>
        </p:nvSpPr>
        <p:spPr>
          <a:xfrm xmlns:a="http://schemas.openxmlformats.org/drawingml/2006/main">
            <a:off x="502920" y="1627632"/>
            <a:ext cx="2888589"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015342B3-FAB8-43E7-96EC-D556D6737311}"/>
              </a:ext>
            </a:extLst>
          </p:cNvPr>
          <p:cNvSpPr>
            <a:spLocks xmlns:a="http://schemas.openxmlformats.org/drawingml/2006/main" noGrp="1"/>
          </p:cNvSpPr>
          <p:nvPr/>
        </p:nvSpPr>
        <p:spPr>
          <a:xfrm xmlns:a="http://schemas.openxmlformats.org/drawingml/2006/main">
            <a:off x="576072" y="17007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Area</a:t>
            </a:r>
          </a:p>
        </p:txBody>
      </p:sp>
      <p:sp>
        <p:nvSpPr>
          <p:cNvPr id="7" name="Rectangle 6">
            <a:extLst xmlns:a="http://schemas.openxmlformats.org/drawingml/2006/main">
              <a:ext uri="{FF2B5EF4-FFF2-40B4-BE49-F238E27FC236}">
                <a16:creationId xmlns:a16="http://schemas.microsoft.com/office/drawing/2014/main" id="{352CF242-7638-4E68-8FA8-D78A0F42581E}"/>
              </a:ext>
            </a:extLst>
          </p:cNvPr>
          <p:cNvSpPr>
            <a:spLocks xmlns:a="http://schemas.openxmlformats.org/drawingml/2006/main" noGrp="1"/>
          </p:cNvSpPr>
          <p:nvPr/>
        </p:nvSpPr>
        <p:spPr>
          <a:xfrm xmlns:a="http://schemas.openxmlformats.org/drawingml/2006/main">
            <a:off x="3391509"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CF779A8A-1ADC-407D-865C-BB8D994150C0}"/>
              </a:ext>
            </a:extLst>
          </p:cNvPr>
          <p:cNvSpPr>
            <a:spLocks xmlns:a="http://schemas.openxmlformats.org/drawingml/2006/main" noGrp="1"/>
          </p:cNvSpPr>
          <p:nvPr/>
        </p:nvSpPr>
        <p:spPr>
          <a:xfrm xmlns:a="http://schemas.openxmlformats.org/drawingml/2006/main">
            <a:off x="3464661"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Reusable in Dagents</a:t>
            </a:r>
          </a:p>
        </p:txBody>
      </p:sp>
      <p:sp>
        <p:nvSpPr>
          <p:cNvPr id="9" name="Rectangle 8">
            <a:extLst xmlns:a="http://schemas.openxmlformats.org/drawingml/2006/main">
              <a:ext uri="{FF2B5EF4-FFF2-40B4-BE49-F238E27FC236}">
                <a16:creationId xmlns:a16="http://schemas.microsoft.com/office/drawing/2014/main" id="{87467CD7-205E-45FC-9D3C-702CF1606E65}"/>
              </a:ext>
            </a:extLst>
          </p:cNvPr>
          <p:cNvSpPr>
            <a:spLocks xmlns:a="http://schemas.openxmlformats.org/drawingml/2006/main" noGrp="1"/>
          </p:cNvSpPr>
          <p:nvPr/>
        </p:nvSpPr>
        <p:spPr>
          <a:xfrm xmlns:a="http://schemas.openxmlformats.org/drawingml/2006/main">
            <a:off x="7502194"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12D5641A-7A5E-448B-8A7F-B80482867BF1}"/>
              </a:ext>
            </a:extLst>
          </p:cNvPr>
          <p:cNvSpPr>
            <a:spLocks xmlns:a="http://schemas.openxmlformats.org/drawingml/2006/main" noGrp="1"/>
          </p:cNvSpPr>
          <p:nvPr/>
        </p:nvSpPr>
        <p:spPr>
          <a:xfrm xmlns:a="http://schemas.openxmlformats.org/drawingml/2006/main">
            <a:off x="7575346"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Still specific to this case</a:t>
            </a:r>
          </a:p>
        </p:txBody>
      </p:sp>
      <p:sp>
        <p:nvSpPr>
          <p:cNvPr id="11" name="Rectangle 10">
            <a:extLst xmlns:a="http://schemas.openxmlformats.org/drawingml/2006/main">
              <a:ext uri="{FF2B5EF4-FFF2-40B4-BE49-F238E27FC236}">
                <a16:creationId xmlns:a16="http://schemas.microsoft.com/office/drawing/2014/main" id="{60FEFA45-D8D3-4A9C-96A4-DF0C960481D7}"/>
              </a:ext>
            </a:extLst>
          </p:cNvPr>
          <p:cNvSpPr>
            <a:spLocks xmlns:a="http://schemas.openxmlformats.org/drawingml/2006/main" noGrp="1"/>
          </p:cNvSpPr>
          <p:nvPr/>
        </p:nvSpPr>
        <p:spPr>
          <a:xfrm xmlns:a="http://schemas.openxmlformats.org/drawingml/2006/main">
            <a:off x="502920" y="238201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0780A78-0661-4E04-B7B9-70E32540089F}"/>
              </a:ext>
            </a:extLst>
          </p:cNvPr>
          <p:cNvSpPr>
            <a:spLocks xmlns:a="http://schemas.openxmlformats.org/drawingml/2006/main" noGrp="1"/>
          </p:cNvSpPr>
          <p:nvPr/>
        </p:nvSpPr>
        <p:spPr>
          <a:xfrm xmlns:a="http://schemas.openxmlformats.org/drawingml/2006/main">
            <a:off x="576072" y="245516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Data connections</a:t>
            </a:r>
          </a:p>
        </p:txBody>
      </p:sp>
      <p:sp>
        <p:nvSpPr>
          <p:cNvPr id="13" name="Rectangle 12">
            <a:extLst xmlns:a="http://schemas.openxmlformats.org/drawingml/2006/main">
              <a:ext uri="{FF2B5EF4-FFF2-40B4-BE49-F238E27FC236}">
                <a16:creationId xmlns:a16="http://schemas.microsoft.com/office/drawing/2014/main" id="{ED1933A7-9FF4-435B-B5FF-A7C3853C93C5}"/>
              </a:ext>
            </a:extLst>
          </p:cNvPr>
          <p:cNvSpPr>
            <a:spLocks xmlns:a="http://schemas.openxmlformats.org/drawingml/2006/main" noGrp="1"/>
          </p:cNvSpPr>
          <p:nvPr/>
        </p:nvSpPr>
        <p:spPr>
          <a:xfrm xmlns:a="http://schemas.openxmlformats.org/drawingml/2006/main">
            <a:off x="3391509"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61842238-9A3F-4E78-B85C-E0D55061F392}"/>
              </a:ext>
            </a:extLst>
          </p:cNvPr>
          <p:cNvSpPr>
            <a:spLocks xmlns:a="http://schemas.openxmlformats.org/drawingml/2006/main" noGrp="1"/>
          </p:cNvSpPr>
          <p:nvPr/>
        </p:nvSpPr>
        <p:spPr>
          <a:xfrm xmlns:a="http://schemas.openxmlformats.org/drawingml/2006/main">
            <a:off x="3464661"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Standard checks, data summaries, and local/global boundaries</a:t>
            </a:r>
          </a:p>
        </p:txBody>
      </p:sp>
      <p:sp>
        <p:nvSpPr>
          <p:cNvPr id="15" name="Rectangle 14">
            <a:extLst xmlns:a="http://schemas.openxmlformats.org/drawingml/2006/main">
              <a:ext uri="{FF2B5EF4-FFF2-40B4-BE49-F238E27FC236}">
                <a16:creationId xmlns:a16="http://schemas.microsoft.com/office/drawing/2014/main" id="{98451E3A-FC4E-40B7-BC28-6148F8CF2167}"/>
              </a:ext>
            </a:extLst>
          </p:cNvPr>
          <p:cNvSpPr>
            <a:spLocks xmlns:a="http://schemas.openxmlformats.org/drawingml/2006/main" noGrp="1"/>
          </p:cNvSpPr>
          <p:nvPr/>
        </p:nvSpPr>
        <p:spPr>
          <a:xfrm xmlns:a="http://schemas.openxmlformats.org/drawingml/2006/main">
            <a:off x="7502194"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7274E3E5-309C-446F-98C9-71A8971D04D0}"/>
              </a:ext>
            </a:extLst>
          </p:cNvPr>
          <p:cNvSpPr>
            <a:spLocks xmlns:a="http://schemas.openxmlformats.org/drawingml/2006/main" noGrp="1"/>
          </p:cNvSpPr>
          <p:nvPr/>
        </p:nvSpPr>
        <p:spPr>
          <a:xfrm xmlns:a="http://schemas.openxmlformats.org/drawingml/2006/main">
            <a:off x="7575346"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Connect each hospital system; align terms, units, patient groups, and source history</a:t>
            </a:r>
          </a:p>
        </p:txBody>
      </p:sp>
      <p:sp>
        <p:nvSpPr>
          <p:cNvPr id="17" name="Rectangle 16">
            <a:extLst xmlns:a="http://schemas.openxmlformats.org/drawingml/2006/main">
              <a:ext uri="{FF2B5EF4-FFF2-40B4-BE49-F238E27FC236}">
                <a16:creationId xmlns:a16="http://schemas.microsoft.com/office/drawing/2014/main" id="{845E18DC-73DC-4E75-9B6E-E9FD5FA926E0}"/>
              </a:ext>
            </a:extLst>
          </p:cNvPr>
          <p:cNvSpPr>
            <a:spLocks xmlns:a="http://schemas.openxmlformats.org/drawingml/2006/main" noGrp="1"/>
          </p:cNvSpPr>
          <p:nvPr/>
        </p:nvSpPr>
        <p:spPr>
          <a:xfrm xmlns:a="http://schemas.openxmlformats.org/drawingml/2006/main">
            <a:off x="502920" y="313639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118314E-8CA6-45E6-9DB4-5A0A01FE4EF5}"/>
              </a:ext>
            </a:extLst>
          </p:cNvPr>
          <p:cNvSpPr>
            <a:spLocks xmlns:a="http://schemas.openxmlformats.org/drawingml/2006/main" noGrp="1"/>
          </p:cNvSpPr>
          <p:nvPr/>
        </p:nvSpPr>
        <p:spPr>
          <a:xfrm xmlns:a="http://schemas.openxmlformats.org/drawingml/2006/main">
            <a:off x="576072" y="320954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Run coordination</a:t>
            </a:r>
          </a:p>
        </p:txBody>
      </p:sp>
      <p:sp>
        <p:nvSpPr>
          <p:cNvPr id="19" name="Rectangle 18">
            <a:extLst xmlns:a="http://schemas.openxmlformats.org/drawingml/2006/main">
              <a:ext uri="{FF2B5EF4-FFF2-40B4-BE49-F238E27FC236}">
                <a16:creationId xmlns:a16="http://schemas.microsoft.com/office/drawing/2014/main" id="{0AD4F55D-7290-4A1A-B1AA-1202B3E96581}"/>
              </a:ext>
            </a:extLst>
          </p:cNvPr>
          <p:cNvSpPr>
            <a:spLocks xmlns:a="http://schemas.openxmlformats.org/drawingml/2006/main" noGrp="1"/>
          </p:cNvSpPr>
          <p:nvPr/>
        </p:nvSpPr>
        <p:spPr>
          <a:xfrm xmlns:a="http://schemas.openxmlformats.org/drawingml/2006/main">
            <a:off x="3391509"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579DA9AE-C9EA-4E8B-99E2-9C3D9CA6335A}"/>
              </a:ext>
            </a:extLst>
          </p:cNvPr>
          <p:cNvSpPr>
            <a:spLocks xmlns:a="http://schemas.openxmlformats.org/drawingml/2006/main" noGrp="1"/>
          </p:cNvSpPr>
          <p:nvPr/>
        </p:nvSpPr>
        <p:spPr>
          <a:xfrm xmlns:a="http://schemas.openxmlformats.org/drawingml/2006/main">
            <a:off x="3464661"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Reusable pipelines, run records, agent registration, and deployment plans</a:t>
            </a:r>
          </a:p>
        </p:txBody>
      </p:sp>
      <p:sp>
        <p:nvSpPr>
          <p:cNvPr id="21" name="Rectangle 20">
            <a:extLst xmlns:a="http://schemas.openxmlformats.org/drawingml/2006/main">
              <a:ext uri="{FF2B5EF4-FFF2-40B4-BE49-F238E27FC236}">
                <a16:creationId xmlns:a16="http://schemas.microsoft.com/office/drawing/2014/main" id="{3859F6ED-810F-4C83-86D5-41384E8BEAFA}"/>
              </a:ext>
            </a:extLst>
          </p:cNvPr>
          <p:cNvSpPr>
            <a:spLocks xmlns:a="http://schemas.openxmlformats.org/drawingml/2006/main" noGrp="1"/>
          </p:cNvSpPr>
          <p:nvPr/>
        </p:nvSpPr>
        <p:spPr>
          <a:xfrm xmlns:a="http://schemas.openxmlformats.org/drawingml/2006/main">
            <a:off x="7502194"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ABA3B850-E077-4340-B122-134E8C1E3C94}"/>
              </a:ext>
            </a:extLst>
          </p:cNvPr>
          <p:cNvSpPr>
            <a:spLocks xmlns:a="http://schemas.openxmlformats.org/drawingml/2006/main" noGrp="1"/>
          </p:cNvSpPr>
          <p:nvPr/>
        </p:nvSpPr>
        <p:spPr>
          <a:xfrm xmlns:a="http://schemas.openxmlformats.org/drawingml/2006/main">
            <a:off x="7575346"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Production-grade queues, retries, schedules, storage, and recovery</a:t>
            </a:r>
          </a:p>
        </p:txBody>
      </p:sp>
      <p:sp>
        <p:nvSpPr>
          <p:cNvPr id="23" name="Rectangle 22">
            <a:extLst xmlns:a="http://schemas.openxmlformats.org/drawingml/2006/main">
              <a:ext uri="{FF2B5EF4-FFF2-40B4-BE49-F238E27FC236}">
                <a16:creationId xmlns:a16="http://schemas.microsoft.com/office/drawing/2014/main" id="{80906D7F-DE00-4FB9-B671-BE04D37B5AED}"/>
              </a:ext>
            </a:extLst>
          </p:cNvPr>
          <p:cNvSpPr>
            <a:spLocks xmlns:a="http://schemas.openxmlformats.org/drawingml/2006/main" noGrp="1"/>
          </p:cNvSpPr>
          <p:nvPr/>
        </p:nvSpPr>
        <p:spPr>
          <a:xfrm xmlns:a="http://schemas.openxmlformats.org/drawingml/2006/main">
            <a:off x="502920" y="389077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42AE019-BFA0-4AA7-AF8E-95A18B590175}"/>
              </a:ext>
            </a:extLst>
          </p:cNvPr>
          <p:cNvSpPr>
            <a:spLocks xmlns:a="http://schemas.openxmlformats.org/drawingml/2006/main" noGrp="1"/>
          </p:cNvSpPr>
          <p:nvPr/>
        </p:nvSpPr>
        <p:spPr>
          <a:xfrm xmlns:a="http://schemas.openxmlformats.org/drawingml/2006/main">
            <a:off x="576072" y="396392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Model management</a:t>
            </a:r>
          </a:p>
        </p:txBody>
      </p:sp>
      <p:sp>
        <p:nvSpPr>
          <p:cNvPr id="25" name="Rectangle 24">
            <a:extLst xmlns:a="http://schemas.openxmlformats.org/drawingml/2006/main">
              <a:ext uri="{FF2B5EF4-FFF2-40B4-BE49-F238E27FC236}">
                <a16:creationId xmlns:a16="http://schemas.microsoft.com/office/drawing/2014/main" id="{41EAF58D-8638-4C52-B131-4FB895092805}"/>
              </a:ext>
            </a:extLst>
          </p:cNvPr>
          <p:cNvSpPr>
            <a:spLocks xmlns:a="http://schemas.openxmlformats.org/drawingml/2006/main" noGrp="1"/>
          </p:cNvSpPr>
          <p:nvPr/>
        </p:nvSpPr>
        <p:spPr>
          <a:xfrm xmlns:a="http://schemas.openxmlformats.org/drawingml/2006/main">
            <a:off x="3391509"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5CF9B0E1-A2E7-48D6-802D-BFA82A23E450}"/>
              </a:ext>
            </a:extLst>
          </p:cNvPr>
          <p:cNvSpPr>
            <a:spLocks xmlns:a="http://schemas.openxmlformats.org/drawingml/2006/main" noGrp="1"/>
          </p:cNvSpPr>
          <p:nvPr/>
        </p:nvSpPr>
        <p:spPr>
          <a:xfrm xmlns:a="http://schemas.openxmlformats.org/drawingml/2006/main">
            <a:off x="3464661"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Reusable model-run, result, testing, and version patterns</a:t>
            </a:r>
          </a:p>
        </p:txBody>
      </p:sp>
      <p:sp>
        <p:nvSpPr>
          <p:cNvPr id="27" name="Rectangle 26">
            <a:extLst xmlns:a="http://schemas.openxmlformats.org/drawingml/2006/main">
              <a:ext uri="{FF2B5EF4-FFF2-40B4-BE49-F238E27FC236}">
                <a16:creationId xmlns:a16="http://schemas.microsoft.com/office/drawing/2014/main" id="{B247C103-7BCD-4BBF-8FED-74868A3C3695}"/>
              </a:ext>
            </a:extLst>
          </p:cNvPr>
          <p:cNvSpPr>
            <a:spLocks xmlns:a="http://schemas.openxmlformats.org/drawingml/2006/main" noGrp="1"/>
          </p:cNvSpPr>
          <p:nvPr/>
        </p:nvSpPr>
        <p:spPr>
          <a:xfrm xmlns:a="http://schemas.openxmlformats.org/drawingml/2006/main">
            <a:off x="7502194"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B7EA3D92-36D0-4F25-8F70-B08D576FB91C}"/>
              </a:ext>
            </a:extLst>
          </p:cNvPr>
          <p:cNvSpPr>
            <a:spLocks xmlns:a="http://schemas.openxmlformats.org/drawingml/2006/main" noGrp="1"/>
          </p:cNvSpPr>
          <p:nvPr/>
        </p:nvSpPr>
        <p:spPr>
          <a:xfrm xmlns:a="http://schemas.openxmlformats.org/drawingml/2006/main">
            <a:off x="7575346"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Build and clinically test the sepsis model, warning limits, and monitoring</a:t>
            </a:r>
          </a:p>
        </p:txBody>
      </p:sp>
      <p:sp>
        <p:nvSpPr>
          <p:cNvPr id="29" name="Rectangle 28">
            <a:extLst xmlns:a="http://schemas.openxmlformats.org/drawingml/2006/main">
              <a:ext uri="{FF2B5EF4-FFF2-40B4-BE49-F238E27FC236}">
                <a16:creationId xmlns:a16="http://schemas.microsoft.com/office/drawing/2014/main" id="{F6C8D755-973E-4DFA-A9BB-4D1561BC8F2D}"/>
              </a:ext>
            </a:extLst>
          </p:cNvPr>
          <p:cNvSpPr>
            <a:spLocks xmlns:a="http://schemas.openxmlformats.org/drawingml/2006/main" noGrp="1"/>
          </p:cNvSpPr>
          <p:nvPr/>
        </p:nvSpPr>
        <p:spPr>
          <a:xfrm xmlns:a="http://schemas.openxmlformats.org/drawingml/2006/main">
            <a:off x="502920" y="464515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0838EB1B-F066-4BCF-8C4F-5B2A81D6B611}"/>
              </a:ext>
            </a:extLst>
          </p:cNvPr>
          <p:cNvSpPr>
            <a:spLocks xmlns:a="http://schemas.openxmlformats.org/drawingml/2006/main" noGrp="1"/>
          </p:cNvSpPr>
          <p:nvPr/>
        </p:nvSpPr>
        <p:spPr>
          <a:xfrm xmlns:a="http://schemas.openxmlformats.org/drawingml/2006/main">
            <a:off x="576072" y="471830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Deployment</a:t>
            </a:r>
          </a:p>
        </p:txBody>
      </p:sp>
      <p:sp>
        <p:nvSpPr>
          <p:cNvPr id="31" name="Rectangle 30">
            <a:extLst xmlns:a="http://schemas.openxmlformats.org/drawingml/2006/main">
              <a:ext uri="{FF2B5EF4-FFF2-40B4-BE49-F238E27FC236}">
                <a16:creationId xmlns:a16="http://schemas.microsoft.com/office/drawing/2014/main" id="{CB14006E-D9C0-4D92-BA26-C2AE0D7838DF}"/>
              </a:ext>
            </a:extLst>
          </p:cNvPr>
          <p:cNvSpPr>
            <a:spLocks xmlns:a="http://schemas.openxmlformats.org/drawingml/2006/main" noGrp="1"/>
          </p:cNvSpPr>
          <p:nvPr/>
        </p:nvSpPr>
        <p:spPr>
          <a:xfrm xmlns:a="http://schemas.openxmlformats.org/drawingml/2006/main">
            <a:off x="3391509"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7BC6A327-84A3-4C0C-92BA-5BF7E6A77F30}"/>
              </a:ext>
            </a:extLst>
          </p:cNvPr>
          <p:cNvSpPr>
            <a:spLocks xmlns:a="http://schemas.openxmlformats.org/drawingml/2006/main" noGrp="1"/>
          </p:cNvSpPr>
          <p:nvPr/>
        </p:nvSpPr>
        <p:spPr>
          <a:xfrm xmlns:a="http://schemas.openxmlformats.org/drawingml/2006/main">
            <a:off x="3464661"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Reusable container and deployment instructions</a:t>
            </a:r>
          </a:p>
        </p:txBody>
      </p:sp>
      <p:sp>
        <p:nvSpPr>
          <p:cNvPr id="33" name="Rectangle 32">
            <a:extLst xmlns:a="http://schemas.openxmlformats.org/drawingml/2006/main">
              <a:ext uri="{FF2B5EF4-FFF2-40B4-BE49-F238E27FC236}">
                <a16:creationId xmlns:a16="http://schemas.microsoft.com/office/drawing/2014/main" id="{0C8831F0-7FE8-4CE5-9F5C-AC01B1C74153}"/>
              </a:ext>
            </a:extLst>
          </p:cNvPr>
          <p:cNvSpPr>
            <a:spLocks xmlns:a="http://schemas.openxmlformats.org/drawingml/2006/main" noGrp="1"/>
          </p:cNvSpPr>
          <p:nvPr/>
        </p:nvSpPr>
        <p:spPr>
          <a:xfrm xmlns:a="http://schemas.openxmlformats.org/drawingml/2006/main">
            <a:off x="7502194"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D9BC41C7-12CA-49DD-B21A-2842B470EEA6}"/>
              </a:ext>
            </a:extLst>
          </p:cNvPr>
          <p:cNvSpPr>
            <a:spLocks xmlns:a="http://schemas.openxmlformats.org/drawingml/2006/main" noGrp="1"/>
          </p:cNvSpPr>
          <p:nvPr/>
        </p:nvSpPr>
        <p:spPr>
          <a:xfrm xmlns:a="http://schemas.openxmlformats.org/drawingml/2006/main">
            <a:off x="7575346"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Protect secrets, sign updates, isolate sites, test small rollouts, and plan recovery</a:t>
            </a:r>
          </a:p>
        </p:txBody>
      </p:sp>
      <p:sp>
        <p:nvSpPr>
          <p:cNvPr id="35" name="Rectangle 34">
            <a:extLst xmlns:a="http://schemas.openxmlformats.org/drawingml/2006/main">
              <a:ext uri="{FF2B5EF4-FFF2-40B4-BE49-F238E27FC236}">
                <a16:creationId xmlns:a16="http://schemas.microsoft.com/office/drawing/2014/main" id="{8C08C939-B03B-40D8-A0AC-F9FECE411770}"/>
              </a:ext>
            </a:extLst>
          </p:cNvPr>
          <p:cNvSpPr>
            <a:spLocks xmlns:a="http://schemas.openxmlformats.org/drawingml/2006/main" noGrp="1"/>
          </p:cNvSpPr>
          <p:nvPr/>
        </p:nvSpPr>
        <p:spPr>
          <a:xfrm xmlns:a="http://schemas.openxmlformats.org/drawingml/2006/main">
            <a:off x="502920" y="539953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20428393-C352-48CE-8EE3-95676E46C147}"/>
              </a:ext>
            </a:extLst>
          </p:cNvPr>
          <p:cNvSpPr>
            <a:spLocks xmlns:a="http://schemas.openxmlformats.org/drawingml/2006/main" noGrp="1"/>
          </p:cNvSpPr>
          <p:nvPr/>
        </p:nvSpPr>
        <p:spPr>
          <a:xfrm xmlns:a="http://schemas.openxmlformats.org/drawingml/2006/main">
            <a:off x="576072" y="54726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Evidence + controls</a:t>
            </a:r>
          </a:p>
        </p:txBody>
      </p:sp>
      <p:sp>
        <p:nvSpPr>
          <p:cNvPr id="37" name="Rectangle 36">
            <a:extLst xmlns:a="http://schemas.openxmlformats.org/drawingml/2006/main">
              <a:ext uri="{FF2B5EF4-FFF2-40B4-BE49-F238E27FC236}">
                <a16:creationId xmlns:a16="http://schemas.microsoft.com/office/drawing/2014/main" id="{89B7E1E8-B494-4075-9967-EAC444533778}"/>
              </a:ext>
            </a:extLst>
          </p:cNvPr>
          <p:cNvSpPr>
            <a:spLocks xmlns:a="http://schemas.openxmlformats.org/drawingml/2006/main" noGrp="1"/>
          </p:cNvSpPr>
          <p:nvPr/>
        </p:nvSpPr>
        <p:spPr>
          <a:xfrm xmlns:a="http://schemas.openxmlformats.org/drawingml/2006/main">
            <a:off x="3391509"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DDCB4B39-747E-485F-8D7F-1DA41FF4926A}"/>
              </a:ext>
            </a:extLst>
          </p:cNvPr>
          <p:cNvSpPr>
            <a:spLocks xmlns:a="http://schemas.openxmlformats.org/drawingml/2006/main" noGrp="1"/>
          </p:cNvSpPr>
          <p:nvPr/>
        </p:nvSpPr>
        <p:spPr>
          <a:xfrm xmlns:a="http://schemas.openxmlformats.org/drawingml/2006/main">
            <a:off x="3464661"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Reusable plans, run IDs, policy checks, and change history</a:t>
            </a:r>
          </a:p>
        </p:txBody>
      </p:sp>
      <p:sp>
        <p:nvSpPr>
          <p:cNvPr id="39" name="Rectangle 38">
            <a:extLst xmlns:a="http://schemas.openxmlformats.org/drawingml/2006/main">
              <a:ext uri="{FF2B5EF4-FFF2-40B4-BE49-F238E27FC236}">
                <a16:creationId xmlns:a16="http://schemas.microsoft.com/office/drawing/2014/main" id="{A146F475-A664-45DE-8E1A-8D68FE14EB33}"/>
              </a:ext>
            </a:extLst>
          </p:cNvPr>
          <p:cNvSpPr>
            <a:spLocks xmlns:a="http://schemas.openxmlformats.org/drawingml/2006/main" noGrp="1"/>
          </p:cNvSpPr>
          <p:nvPr/>
        </p:nvSpPr>
        <p:spPr>
          <a:xfrm xmlns:a="http://schemas.openxmlformats.org/drawingml/2006/main">
            <a:off x="7502194"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AE4A41FF-3F45-423C-AE62-D1955E617499}"/>
              </a:ext>
            </a:extLst>
          </p:cNvPr>
          <p:cNvSpPr>
            <a:spLocks xmlns:a="http://schemas.openxmlformats.org/drawingml/2006/main" noGrp="1"/>
          </p:cNvSpPr>
          <p:nvPr/>
        </p:nvSpPr>
        <p:spPr>
          <a:xfrm xmlns:a="http://schemas.openxmlformats.org/drawingml/2006/main">
            <a:off x="7575346"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Access rules, tamper-resistant logs, staff training, audits, and clinical oversight</a:t>
            </a:r>
          </a:p>
        </p:txBody>
      </p:sp>
      <p:sp>
        <p:nvSpPr>
          <p:cNvPr id="41" name="TextBox 40">
            <a:extLst xmlns:a="http://schemas.openxmlformats.org/drawingml/2006/main">
              <a:ext uri="{FF2B5EF4-FFF2-40B4-BE49-F238E27FC236}">
                <a16:creationId xmlns:a16="http://schemas.microsoft.com/office/drawing/2014/main" id="{E75FBFE2-8640-4A2C-801D-9487E96EEB43}"/>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For one fixed model at one site, Dagents may be more infrastructure than needed / 16</a:t>
            </a:r>
          </a:p>
        </p:txBody>
      </p:sp>
    </p:spTree>
    <p:extLst>
      <p:ext uri="{BB962C8B-B14F-4D97-AF65-F5344CB8AC3E}">
        <p14:creationId xmlns:p14="http://schemas.microsoft.com/office/powerpoint/2010/main" val="1134147268"/>
      </p:ext>
    </p:extLst>
  </p:cSld>
</p:sld>
</file>

<file path=ppt/slides/slide1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D4E8989-E57F-4626-85F5-D8BB0621247D}"/>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DECISION GUIDE</a:t>
            </a:r>
          </a:p>
        </p:txBody>
      </p:sp>
      <p:sp>
        <p:nvSpPr>
          <p:cNvPr id="3" name="TextBox 2">
            <a:extLst xmlns:a="http://schemas.openxmlformats.org/drawingml/2006/main">
              <a:ext uri="{FF2B5EF4-FFF2-40B4-BE49-F238E27FC236}">
                <a16:creationId xmlns:a16="http://schemas.microsoft.com/office/drawing/2014/main" id="{CFE5C766-C07D-40C3-8F6C-307209C139EF}"/>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Where Dagents fits—and where other tools lead.</a:t>
            </a:r>
          </a:p>
        </p:txBody>
      </p:sp>
      <p:sp>
        <p:nvSpPr>
          <p:cNvPr id="4" name="TextBox 3">
            <a:extLst xmlns:a="http://schemas.openxmlformats.org/drawingml/2006/main">
              <a:ext uri="{FF2B5EF4-FFF2-40B4-BE49-F238E27FC236}">
                <a16:creationId xmlns:a16="http://schemas.microsoft.com/office/drawing/2014/main" id="{1C1B5261-56CE-4F96-91CB-9740E59EC576}"/>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Use Dagents when one coordinating layer must span hospitals, models, and deployment targets.</a:t>
            </a:r>
          </a:p>
        </p:txBody>
      </p:sp>
      <p:sp>
        <p:nvSpPr>
          <p:cNvPr id="5" name="Rectangle 4">
            <a:extLst xmlns:a="http://schemas.openxmlformats.org/drawingml/2006/main">
              <a:ext uri="{FF2B5EF4-FFF2-40B4-BE49-F238E27FC236}">
                <a16:creationId xmlns:a16="http://schemas.microsoft.com/office/drawing/2014/main" id="{E7F1805F-EF62-40CE-BCC7-2EA7A166CF07}"/>
              </a:ext>
            </a:extLst>
          </p:cNvPr>
          <p:cNvSpPr>
            <a:spLocks xmlns:a="http://schemas.openxmlformats.org/drawingml/2006/main" noGrp="1"/>
          </p:cNvSpPr>
          <p:nvPr/>
        </p:nvSpPr>
        <p:spPr>
          <a:xfrm xmlns:a="http://schemas.openxmlformats.org/drawingml/2006/main">
            <a:off x="548640" y="1691640"/>
            <a:ext cx="2852928" cy="70866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3D4D3499-D0BC-4ABC-A3C7-D355723F9CAF}"/>
              </a:ext>
            </a:extLst>
          </p:cNvPr>
          <p:cNvSpPr>
            <a:spLocks xmlns:a="http://schemas.openxmlformats.org/drawingml/2006/main" noGrp="1"/>
          </p:cNvSpPr>
          <p:nvPr/>
        </p:nvSpPr>
        <p:spPr>
          <a:xfrm xmlns:a="http://schemas.openxmlformats.org/drawingml/2006/main">
            <a:off x="621792" y="176479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Option</a:t>
            </a:r>
          </a:p>
        </p:txBody>
      </p:sp>
      <p:sp>
        <p:nvSpPr>
          <p:cNvPr id="7" name="Rectangle 6">
            <a:extLst xmlns:a="http://schemas.openxmlformats.org/drawingml/2006/main">
              <a:ext uri="{FF2B5EF4-FFF2-40B4-BE49-F238E27FC236}">
                <a16:creationId xmlns:a16="http://schemas.microsoft.com/office/drawing/2014/main" id="{9068C4C9-3A06-4D8E-9457-27812CB3FD93}"/>
              </a:ext>
            </a:extLst>
          </p:cNvPr>
          <p:cNvSpPr>
            <a:spLocks xmlns:a="http://schemas.openxmlformats.org/drawingml/2006/main" noGrp="1"/>
          </p:cNvSpPr>
          <p:nvPr/>
        </p:nvSpPr>
        <p:spPr>
          <a:xfrm xmlns:a="http://schemas.openxmlformats.org/drawingml/2006/main">
            <a:off x="3401568" y="1691640"/>
            <a:ext cx="4059935" cy="70866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068EDBD8-A00D-4F14-B5B3-60D7F12E8467}"/>
              </a:ext>
            </a:extLst>
          </p:cNvPr>
          <p:cNvSpPr>
            <a:spLocks xmlns:a="http://schemas.openxmlformats.org/drawingml/2006/main" noGrp="1"/>
          </p:cNvSpPr>
          <p:nvPr/>
        </p:nvSpPr>
        <p:spPr>
          <a:xfrm xmlns:a="http://schemas.openxmlformats.org/drawingml/2006/main">
            <a:off x="3474720" y="17647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Why teams choose it</a:t>
            </a:r>
          </a:p>
        </p:txBody>
      </p:sp>
      <p:sp>
        <p:nvSpPr>
          <p:cNvPr id="9" name="Rectangle 8">
            <a:extLst xmlns:a="http://schemas.openxmlformats.org/drawingml/2006/main">
              <a:ext uri="{FF2B5EF4-FFF2-40B4-BE49-F238E27FC236}">
                <a16:creationId xmlns:a16="http://schemas.microsoft.com/office/drawing/2014/main" id="{E5E3E1CA-6083-4A33-8D95-CA2C3D0D0CAE}"/>
              </a:ext>
            </a:extLst>
          </p:cNvPr>
          <p:cNvSpPr>
            <a:spLocks xmlns:a="http://schemas.openxmlformats.org/drawingml/2006/main" noGrp="1"/>
          </p:cNvSpPr>
          <p:nvPr/>
        </p:nvSpPr>
        <p:spPr>
          <a:xfrm xmlns:a="http://schemas.openxmlformats.org/drawingml/2006/main">
            <a:off x="7461504" y="1691640"/>
            <a:ext cx="4059935" cy="70866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F19FA0D1-4AF6-4EE6-BCBF-ED4B4BA258E3}"/>
              </a:ext>
            </a:extLst>
          </p:cNvPr>
          <p:cNvSpPr>
            <a:spLocks xmlns:a="http://schemas.openxmlformats.org/drawingml/2006/main" noGrp="1"/>
          </p:cNvSpPr>
          <p:nvPr/>
        </p:nvSpPr>
        <p:spPr>
          <a:xfrm xmlns:a="http://schemas.openxmlformats.org/drawingml/2006/main">
            <a:off x="7534656" y="17647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Limit / Dagents fit</a:t>
            </a:r>
          </a:p>
        </p:txBody>
      </p:sp>
      <p:sp>
        <p:nvSpPr>
          <p:cNvPr id="11" name="Rectangle 10">
            <a:extLst xmlns:a="http://schemas.openxmlformats.org/drawingml/2006/main">
              <a:ext uri="{FF2B5EF4-FFF2-40B4-BE49-F238E27FC236}">
                <a16:creationId xmlns:a16="http://schemas.microsoft.com/office/drawing/2014/main" id="{6A044D66-81C0-4F26-A06F-E69907D2A2C4}"/>
              </a:ext>
            </a:extLst>
          </p:cNvPr>
          <p:cNvSpPr>
            <a:spLocks xmlns:a="http://schemas.openxmlformats.org/drawingml/2006/main" noGrp="1"/>
          </p:cNvSpPr>
          <p:nvPr/>
        </p:nvSpPr>
        <p:spPr>
          <a:xfrm xmlns:a="http://schemas.openxmlformats.org/drawingml/2006/main">
            <a:off x="548640" y="240030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2E5DD4A-EB51-4AD5-A0CA-86FC255DDF91}"/>
              </a:ext>
            </a:extLst>
          </p:cNvPr>
          <p:cNvSpPr>
            <a:spLocks xmlns:a="http://schemas.openxmlformats.org/drawingml/2006/main" noGrp="1"/>
          </p:cNvSpPr>
          <p:nvPr/>
        </p:nvSpPr>
        <p:spPr>
          <a:xfrm xmlns:a="http://schemas.openxmlformats.org/drawingml/2006/main">
            <a:off x="621792" y="247345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Dagents</a:t>
            </a:r>
          </a:p>
        </p:txBody>
      </p:sp>
      <p:sp>
        <p:nvSpPr>
          <p:cNvPr id="13" name="Rectangle 12">
            <a:extLst xmlns:a="http://schemas.openxmlformats.org/drawingml/2006/main">
              <a:ext uri="{FF2B5EF4-FFF2-40B4-BE49-F238E27FC236}">
                <a16:creationId xmlns:a16="http://schemas.microsoft.com/office/drawing/2014/main" id="{1A848C07-0190-44A9-94C2-153602F25B14}"/>
              </a:ext>
            </a:extLst>
          </p:cNvPr>
          <p:cNvSpPr>
            <a:spLocks xmlns:a="http://schemas.openxmlformats.org/drawingml/2006/main" noGrp="1"/>
          </p:cNvSpPr>
          <p:nvPr/>
        </p:nvSpPr>
        <p:spPr>
          <a:xfrm xmlns:a="http://schemas.openxmlformats.org/drawingml/2006/main">
            <a:off x="3401568" y="240030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CF75CCE3-CCB8-45CB-9D13-41B0F49DB43B}"/>
              </a:ext>
            </a:extLst>
          </p:cNvPr>
          <p:cNvSpPr>
            <a:spLocks xmlns:a="http://schemas.openxmlformats.org/drawingml/2006/main" noGrp="1"/>
          </p:cNvSpPr>
          <p:nvPr/>
        </p:nvSpPr>
        <p:spPr>
          <a:xfrm xmlns:a="http://schemas.openxmlformats.org/drawingml/2006/main">
            <a:off x="3474720" y="247345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Local and global agents, workflows, model runs, versioned plans, and deployment instructions</a:t>
            </a:r>
          </a:p>
        </p:txBody>
      </p:sp>
      <p:sp>
        <p:nvSpPr>
          <p:cNvPr id="15" name="Rectangle 14">
            <a:extLst xmlns:a="http://schemas.openxmlformats.org/drawingml/2006/main">
              <a:ext uri="{FF2B5EF4-FFF2-40B4-BE49-F238E27FC236}">
                <a16:creationId xmlns:a16="http://schemas.microsoft.com/office/drawing/2014/main" id="{9ADD7280-F293-4742-A23C-F4BA857B98C4}"/>
              </a:ext>
            </a:extLst>
          </p:cNvPr>
          <p:cNvSpPr>
            <a:spLocks xmlns:a="http://schemas.openxmlformats.org/drawingml/2006/main" noGrp="1"/>
          </p:cNvSpPr>
          <p:nvPr/>
        </p:nvSpPr>
        <p:spPr>
          <a:xfrm xmlns:a="http://schemas.openxmlformats.org/drawingml/2006/main">
            <a:off x="7461504" y="240030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5B7D715B-A37D-41DE-8799-5723E13FBB3B}"/>
              </a:ext>
            </a:extLst>
          </p:cNvPr>
          <p:cNvSpPr>
            <a:spLocks xmlns:a="http://schemas.openxmlformats.org/drawingml/2006/main" noGrp="1"/>
          </p:cNvSpPr>
          <p:nvPr/>
        </p:nvSpPr>
        <p:spPr>
          <a:xfrm xmlns:a="http://schemas.openxmlformats.org/drawingml/2006/main">
            <a:off x="7534656" y="247345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Broad and reusable, but less mature; needs production hardening and healthcare connectors</a:t>
            </a:r>
          </a:p>
        </p:txBody>
      </p:sp>
      <p:sp>
        <p:nvSpPr>
          <p:cNvPr id="17" name="Rectangle 16">
            <a:extLst xmlns:a="http://schemas.openxmlformats.org/drawingml/2006/main">
              <a:ext uri="{FF2B5EF4-FFF2-40B4-BE49-F238E27FC236}">
                <a16:creationId xmlns:a16="http://schemas.microsoft.com/office/drawing/2014/main" id="{946B42DB-0925-4B13-9BDF-D84C345503F4}"/>
              </a:ext>
            </a:extLst>
          </p:cNvPr>
          <p:cNvSpPr>
            <a:spLocks xmlns:a="http://schemas.openxmlformats.org/drawingml/2006/main" noGrp="1"/>
          </p:cNvSpPr>
          <p:nvPr/>
        </p:nvSpPr>
        <p:spPr>
          <a:xfrm xmlns:a="http://schemas.openxmlformats.org/drawingml/2006/main">
            <a:off x="548640" y="310896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CD76EFD7-E340-4FB2-BC76-B94625762EF7}"/>
              </a:ext>
            </a:extLst>
          </p:cNvPr>
          <p:cNvSpPr>
            <a:spLocks xmlns:a="http://schemas.openxmlformats.org/drawingml/2006/main" noGrp="1"/>
          </p:cNvSpPr>
          <p:nvPr/>
        </p:nvSpPr>
        <p:spPr>
          <a:xfrm xmlns:a="http://schemas.openxmlformats.org/drawingml/2006/main">
            <a:off x="621792" y="318211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Federated-learning tools</a:t>
            </a:r>
          </a:p>
        </p:txBody>
      </p:sp>
      <p:sp>
        <p:nvSpPr>
          <p:cNvPr id="19" name="Rectangle 18">
            <a:extLst xmlns:a="http://schemas.openxmlformats.org/drawingml/2006/main">
              <a:ext uri="{FF2B5EF4-FFF2-40B4-BE49-F238E27FC236}">
                <a16:creationId xmlns:a16="http://schemas.microsoft.com/office/drawing/2014/main" id="{44769EAF-01DB-4FB3-A301-3E373765833F}"/>
              </a:ext>
            </a:extLst>
          </p:cNvPr>
          <p:cNvSpPr>
            <a:spLocks xmlns:a="http://schemas.openxmlformats.org/drawingml/2006/main" noGrp="1"/>
          </p:cNvSpPr>
          <p:nvPr/>
        </p:nvSpPr>
        <p:spPr>
          <a:xfrm xmlns:a="http://schemas.openxmlformats.org/drawingml/2006/main">
            <a:off x="3401568" y="310896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20E32270-6044-458E-9EA3-F00CDCD3710F}"/>
              </a:ext>
            </a:extLst>
          </p:cNvPr>
          <p:cNvSpPr>
            <a:spLocks xmlns:a="http://schemas.openxmlformats.org/drawingml/2006/main" noGrp="1"/>
          </p:cNvSpPr>
          <p:nvPr/>
        </p:nvSpPr>
        <p:spPr>
          <a:xfrm xmlns:a="http://schemas.openxmlformats.org/drawingml/2006/main">
            <a:off x="3474720" y="318211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Train or test models across sites without moving all raw data</a:t>
            </a:r>
          </a:p>
        </p:txBody>
      </p:sp>
      <p:sp>
        <p:nvSpPr>
          <p:cNvPr id="21" name="Rectangle 20">
            <a:extLst xmlns:a="http://schemas.openxmlformats.org/drawingml/2006/main">
              <a:ext uri="{FF2B5EF4-FFF2-40B4-BE49-F238E27FC236}">
                <a16:creationId xmlns:a16="http://schemas.microsoft.com/office/drawing/2014/main" id="{C17CC1B5-E443-4F95-95D5-DB135876C29E}"/>
              </a:ext>
            </a:extLst>
          </p:cNvPr>
          <p:cNvSpPr>
            <a:spLocks xmlns:a="http://schemas.openxmlformats.org/drawingml/2006/main" noGrp="1"/>
          </p:cNvSpPr>
          <p:nvPr/>
        </p:nvSpPr>
        <p:spPr>
          <a:xfrm xmlns:a="http://schemas.openxmlformats.org/drawingml/2006/main">
            <a:off x="7461504" y="310896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8F98D1C9-37AF-4BEA-91FB-A63BEF14D797}"/>
              </a:ext>
            </a:extLst>
          </p:cNvPr>
          <p:cNvSpPr>
            <a:spLocks xmlns:a="http://schemas.openxmlformats.org/drawingml/2006/main" noGrp="1"/>
          </p:cNvSpPr>
          <p:nvPr/>
        </p:nvSpPr>
        <p:spPr>
          <a:xfrm xmlns:a="http://schemas.openxmlformats.org/drawingml/2006/main">
            <a:off x="7534656" y="318211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Stronger for this specialist job; can run inside a Dagents-managed workflow</a:t>
            </a:r>
          </a:p>
        </p:txBody>
      </p:sp>
      <p:sp>
        <p:nvSpPr>
          <p:cNvPr id="23" name="Rectangle 22">
            <a:extLst xmlns:a="http://schemas.openxmlformats.org/drawingml/2006/main">
              <a:ext uri="{FF2B5EF4-FFF2-40B4-BE49-F238E27FC236}">
                <a16:creationId xmlns:a16="http://schemas.microsoft.com/office/drawing/2014/main" id="{3E5F381D-1153-47FA-A0BB-109C5DD96653}"/>
              </a:ext>
            </a:extLst>
          </p:cNvPr>
          <p:cNvSpPr>
            <a:spLocks xmlns:a="http://schemas.openxmlformats.org/drawingml/2006/main" noGrp="1"/>
          </p:cNvSpPr>
          <p:nvPr/>
        </p:nvSpPr>
        <p:spPr>
          <a:xfrm xmlns:a="http://schemas.openxmlformats.org/drawingml/2006/main">
            <a:off x="548640" y="381762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FAF97B7-0EC7-492E-8216-12B43368AEDD}"/>
              </a:ext>
            </a:extLst>
          </p:cNvPr>
          <p:cNvSpPr>
            <a:spLocks xmlns:a="http://schemas.openxmlformats.org/drawingml/2006/main" noGrp="1"/>
          </p:cNvSpPr>
          <p:nvPr/>
        </p:nvSpPr>
        <p:spPr>
          <a:xfrm xmlns:a="http://schemas.openxmlformats.org/drawingml/2006/main">
            <a:off x="621792" y="389077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Cloud ML platforms</a:t>
            </a:r>
          </a:p>
        </p:txBody>
      </p:sp>
      <p:sp>
        <p:nvSpPr>
          <p:cNvPr id="25" name="Rectangle 24">
            <a:extLst xmlns:a="http://schemas.openxmlformats.org/drawingml/2006/main">
              <a:ext uri="{FF2B5EF4-FFF2-40B4-BE49-F238E27FC236}">
                <a16:creationId xmlns:a16="http://schemas.microsoft.com/office/drawing/2014/main" id="{A1E449BD-0545-4D14-92B0-C0C03BBAFF33}"/>
              </a:ext>
            </a:extLst>
          </p:cNvPr>
          <p:cNvSpPr>
            <a:spLocks xmlns:a="http://schemas.openxmlformats.org/drawingml/2006/main" noGrp="1"/>
          </p:cNvSpPr>
          <p:nvPr/>
        </p:nvSpPr>
        <p:spPr>
          <a:xfrm xmlns:a="http://schemas.openxmlformats.org/drawingml/2006/main">
            <a:off x="3401568" y="381762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6B8A814C-2F17-404B-A854-B3C72CE13365}"/>
              </a:ext>
            </a:extLst>
          </p:cNvPr>
          <p:cNvSpPr>
            <a:spLocks xmlns:a="http://schemas.openxmlformats.org/drawingml/2006/main" noGrp="1"/>
          </p:cNvSpPr>
          <p:nvPr/>
        </p:nvSpPr>
        <p:spPr>
          <a:xfrm xmlns:a="http://schemas.openxmlformats.org/drawingml/2006/main">
            <a:off x="3474720" y="389077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Managed training, model catalog, online endpoints, and monitoring</a:t>
            </a:r>
          </a:p>
        </p:txBody>
      </p:sp>
      <p:sp>
        <p:nvSpPr>
          <p:cNvPr id="27" name="Rectangle 26">
            <a:extLst xmlns:a="http://schemas.openxmlformats.org/drawingml/2006/main">
              <a:ext uri="{FF2B5EF4-FFF2-40B4-BE49-F238E27FC236}">
                <a16:creationId xmlns:a16="http://schemas.microsoft.com/office/drawing/2014/main" id="{BB1C8B34-EAA6-4DE3-B12F-AA600A1B12A1}"/>
              </a:ext>
            </a:extLst>
          </p:cNvPr>
          <p:cNvSpPr>
            <a:spLocks xmlns:a="http://schemas.openxmlformats.org/drawingml/2006/main" noGrp="1"/>
          </p:cNvSpPr>
          <p:nvPr/>
        </p:nvSpPr>
        <p:spPr>
          <a:xfrm xmlns:a="http://schemas.openxmlformats.org/drawingml/2006/main">
            <a:off x="7461504" y="381762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7CCB038B-9458-4F3C-B60D-C76CC950198B}"/>
              </a:ext>
            </a:extLst>
          </p:cNvPr>
          <p:cNvSpPr>
            <a:spLocks xmlns:a="http://schemas.openxmlformats.org/drawingml/2006/main" noGrp="1"/>
          </p:cNvSpPr>
          <p:nvPr/>
        </p:nvSpPr>
        <p:spPr>
          <a:xfrm xmlns:a="http://schemas.openxmlformats.org/drawingml/2006/main">
            <a:off x="7534656" y="389077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Faster cloud setup; hospital integration and dependence on one cloud still remain</a:t>
            </a:r>
          </a:p>
        </p:txBody>
      </p:sp>
      <p:sp>
        <p:nvSpPr>
          <p:cNvPr id="29" name="Rectangle 28">
            <a:extLst xmlns:a="http://schemas.openxmlformats.org/drawingml/2006/main">
              <a:ext uri="{FF2B5EF4-FFF2-40B4-BE49-F238E27FC236}">
                <a16:creationId xmlns:a16="http://schemas.microsoft.com/office/drawing/2014/main" id="{58BFFB0F-F26A-4B25-BDDE-4A02E13B10D4}"/>
              </a:ext>
            </a:extLst>
          </p:cNvPr>
          <p:cNvSpPr>
            <a:spLocks xmlns:a="http://schemas.openxmlformats.org/drawingml/2006/main" noGrp="1"/>
          </p:cNvSpPr>
          <p:nvPr/>
        </p:nvSpPr>
        <p:spPr>
          <a:xfrm xmlns:a="http://schemas.openxmlformats.org/drawingml/2006/main">
            <a:off x="548640" y="452628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2BF68200-F02A-4EF6-8662-A4CB7975F2EB}"/>
              </a:ext>
            </a:extLst>
          </p:cNvPr>
          <p:cNvSpPr>
            <a:spLocks xmlns:a="http://schemas.openxmlformats.org/drawingml/2006/main" noGrp="1"/>
          </p:cNvSpPr>
          <p:nvPr/>
        </p:nvSpPr>
        <p:spPr>
          <a:xfrm xmlns:a="http://schemas.openxmlformats.org/drawingml/2006/main">
            <a:off x="621792" y="459943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Workflow platforms</a:t>
            </a:r>
          </a:p>
        </p:txBody>
      </p:sp>
      <p:sp>
        <p:nvSpPr>
          <p:cNvPr id="31" name="Rectangle 30">
            <a:extLst xmlns:a="http://schemas.openxmlformats.org/drawingml/2006/main">
              <a:ext uri="{FF2B5EF4-FFF2-40B4-BE49-F238E27FC236}">
                <a16:creationId xmlns:a16="http://schemas.microsoft.com/office/drawing/2014/main" id="{D2033B15-3D32-4139-9093-C3EC0D52C72B}"/>
              </a:ext>
            </a:extLst>
          </p:cNvPr>
          <p:cNvSpPr>
            <a:spLocks xmlns:a="http://schemas.openxmlformats.org/drawingml/2006/main" noGrp="1"/>
          </p:cNvSpPr>
          <p:nvPr/>
        </p:nvSpPr>
        <p:spPr>
          <a:xfrm xmlns:a="http://schemas.openxmlformats.org/drawingml/2006/main">
            <a:off x="3401568" y="452628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1EB4A3BF-0609-4D48-BB1C-CAAF8C3117CD}"/>
              </a:ext>
            </a:extLst>
          </p:cNvPr>
          <p:cNvSpPr>
            <a:spLocks xmlns:a="http://schemas.openxmlformats.org/drawingml/2006/main" noGrp="1"/>
          </p:cNvSpPr>
          <p:nvPr/>
        </p:nvSpPr>
        <p:spPr>
          <a:xfrm xmlns:a="http://schemas.openxmlformats.org/drawingml/2006/main">
            <a:off x="3474720" y="459943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Schedule steps, retry failures, reuse results, and run work on Kubernetes</a:t>
            </a:r>
          </a:p>
        </p:txBody>
      </p:sp>
      <p:sp>
        <p:nvSpPr>
          <p:cNvPr id="33" name="Rectangle 32">
            <a:extLst xmlns:a="http://schemas.openxmlformats.org/drawingml/2006/main">
              <a:ext uri="{FF2B5EF4-FFF2-40B4-BE49-F238E27FC236}">
                <a16:creationId xmlns:a16="http://schemas.microsoft.com/office/drawing/2014/main" id="{A4367BC6-3FF2-4B63-8123-85C14F4AE04D}"/>
              </a:ext>
            </a:extLst>
          </p:cNvPr>
          <p:cNvSpPr>
            <a:spLocks xmlns:a="http://schemas.openxmlformats.org/drawingml/2006/main" noGrp="1"/>
          </p:cNvSpPr>
          <p:nvPr/>
        </p:nvSpPr>
        <p:spPr>
          <a:xfrm xmlns:a="http://schemas.openxmlformats.org/drawingml/2006/main">
            <a:off x="7461504" y="452628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D5117802-2B97-47AE-A1C3-A536E4CCB58D}"/>
              </a:ext>
            </a:extLst>
          </p:cNvPr>
          <p:cNvSpPr>
            <a:spLocks xmlns:a="http://schemas.openxmlformats.org/drawingml/2006/main" noGrp="1"/>
          </p:cNvSpPr>
          <p:nvPr/>
        </p:nvSpPr>
        <p:spPr>
          <a:xfrm xmlns:a="http://schemas.openxmlformats.org/drawingml/2006/main">
            <a:off x="7534656" y="459943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Mature workflows, but they do not define hospital ownership or clinical safety rules</a:t>
            </a:r>
          </a:p>
        </p:txBody>
      </p:sp>
      <p:sp>
        <p:nvSpPr>
          <p:cNvPr id="35" name="Rectangle 34">
            <a:extLst xmlns:a="http://schemas.openxmlformats.org/drawingml/2006/main">
              <a:ext uri="{FF2B5EF4-FFF2-40B4-BE49-F238E27FC236}">
                <a16:creationId xmlns:a16="http://schemas.microsoft.com/office/drawing/2014/main" id="{D6EFD778-B6C6-47AA-84F1-9B01BBEC5F74}"/>
              </a:ext>
            </a:extLst>
          </p:cNvPr>
          <p:cNvSpPr>
            <a:spLocks xmlns:a="http://schemas.openxmlformats.org/drawingml/2006/main" noGrp="1"/>
          </p:cNvSpPr>
          <p:nvPr/>
        </p:nvSpPr>
        <p:spPr>
          <a:xfrm xmlns:a="http://schemas.openxmlformats.org/drawingml/2006/main">
            <a:off x="548640" y="523494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C51FE5C2-7C69-4B76-AFAD-6C3053287881}"/>
              </a:ext>
            </a:extLst>
          </p:cNvPr>
          <p:cNvSpPr>
            <a:spLocks xmlns:a="http://schemas.openxmlformats.org/drawingml/2006/main" noGrp="1"/>
          </p:cNvSpPr>
          <p:nvPr/>
        </p:nvSpPr>
        <p:spPr>
          <a:xfrm xmlns:a="http://schemas.openxmlformats.org/drawingml/2006/main">
            <a:off x="621792" y="530809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Clinical point product</a:t>
            </a:r>
          </a:p>
        </p:txBody>
      </p:sp>
      <p:sp>
        <p:nvSpPr>
          <p:cNvPr id="37" name="Rectangle 36">
            <a:extLst xmlns:a="http://schemas.openxmlformats.org/drawingml/2006/main">
              <a:ext uri="{FF2B5EF4-FFF2-40B4-BE49-F238E27FC236}">
                <a16:creationId xmlns:a16="http://schemas.microsoft.com/office/drawing/2014/main" id="{07A16C5C-A3F7-4D95-919C-C36CB3FC5A8D}"/>
              </a:ext>
            </a:extLst>
          </p:cNvPr>
          <p:cNvSpPr>
            <a:spLocks xmlns:a="http://schemas.openxmlformats.org/drawingml/2006/main" noGrp="1"/>
          </p:cNvSpPr>
          <p:nvPr/>
        </p:nvSpPr>
        <p:spPr>
          <a:xfrm xmlns:a="http://schemas.openxmlformats.org/drawingml/2006/main">
            <a:off x="3401568" y="523494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4CA9917C-CB0F-42EF-A94E-9F39FAF1E497}"/>
              </a:ext>
            </a:extLst>
          </p:cNvPr>
          <p:cNvSpPr>
            <a:spLocks xmlns:a="http://schemas.openxmlformats.org/drawingml/2006/main" noGrp="1"/>
          </p:cNvSpPr>
          <p:nvPr/>
        </p:nvSpPr>
        <p:spPr>
          <a:xfrm xmlns:a="http://schemas.openxmlformats.org/drawingml/2006/main">
            <a:off x="3474720" y="53080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 ready-made, validated product for one exact care workflow</a:t>
            </a:r>
          </a:p>
        </p:txBody>
      </p:sp>
      <p:sp>
        <p:nvSpPr>
          <p:cNvPr id="39" name="Rectangle 38">
            <a:extLst xmlns:a="http://schemas.openxmlformats.org/drawingml/2006/main">
              <a:ext uri="{FF2B5EF4-FFF2-40B4-BE49-F238E27FC236}">
                <a16:creationId xmlns:a16="http://schemas.microsoft.com/office/drawing/2014/main" id="{DB1E8843-AA41-4085-AB1E-55C106CB7396}"/>
              </a:ext>
            </a:extLst>
          </p:cNvPr>
          <p:cNvSpPr>
            <a:spLocks xmlns:a="http://schemas.openxmlformats.org/drawingml/2006/main" noGrp="1"/>
          </p:cNvSpPr>
          <p:nvPr/>
        </p:nvSpPr>
        <p:spPr>
          <a:xfrm xmlns:a="http://schemas.openxmlformats.org/drawingml/2006/main">
            <a:off x="7461504" y="523494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3A852803-0465-4E91-BB33-E4EA6A463B73}"/>
              </a:ext>
            </a:extLst>
          </p:cNvPr>
          <p:cNvSpPr>
            <a:spLocks xmlns:a="http://schemas.openxmlformats.org/drawingml/2006/main" noGrp="1"/>
          </p:cNvSpPr>
          <p:nvPr/>
        </p:nvSpPr>
        <p:spPr>
          <a:xfrm xmlns:a="http://schemas.openxmlformats.org/drawingml/2006/main">
            <a:off x="7534656" y="53080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Fastest for that exact use; less flexible across diseases, models, and hospitals</a:t>
            </a:r>
          </a:p>
        </p:txBody>
      </p:sp>
      <p:sp>
        <p:nvSpPr>
          <p:cNvPr id="41" name="TextBox 40">
            <a:extLst xmlns:a="http://schemas.openxmlformats.org/drawingml/2006/main">
              <a:ext uri="{FF2B5EF4-FFF2-40B4-BE49-F238E27FC236}">
                <a16:creationId xmlns:a16="http://schemas.microsoft.com/office/drawing/2014/main" id="{745CA374-23DB-499D-BD95-A09CAB022F85}"/>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Dagents can coordinate these tools instead of replacing every specialist component / 17</a:t>
            </a:r>
          </a:p>
        </p:txBody>
      </p:sp>
    </p:spTree>
    <p:extLst>
      <p:ext uri="{BB962C8B-B14F-4D97-AF65-F5344CB8AC3E}">
        <p14:creationId xmlns:p14="http://schemas.microsoft.com/office/powerpoint/2010/main" val="201909069"/>
      </p:ext>
    </p:extLst>
  </p:cSld>
</p:sld>
</file>

<file path=ppt/slides/slide1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3616C7F-5DE1-4780-8723-F2B4F47C5526}"/>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PILOT ROADMAP</a:t>
            </a:r>
          </a:p>
        </p:txBody>
      </p:sp>
      <p:sp>
        <p:nvSpPr>
          <p:cNvPr id="3" name="TextBox 2">
            <a:extLst xmlns:a="http://schemas.openxmlformats.org/drawingml/2006/main">
              <a:ext uri="{FF2B5EF4-FFF2-40B4-BE49-F238E27FC236}">
                <a16:creationId xmlns:a16="http://schemas.microsoft.com/office/drawing/2014/main" id="{3FA26162-FC55-4072-9ED2-CB330866CB78}"/>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Evidence—not dates—moves the pilot forward.</a:t>
            </a:r>
          </a:p>
        </p:txBody>
      </p:sp>
      <p:sp>
        <p:nvSpPr>
          <p:cNvPr id="4" name="TextBox 3">
            <a:extLst xmlns:a="http://schemas.openxmlformats.org/drawingml/2006/main">
              <a:ext uri="{FF2B5EF4-FFF2-40B4-BE49-F238E27FC236}">
                <a16:creationId xmlns:a16="http://schemas.microsoft.com/office/drawing/2014/main" id="{21087E13-600F-4E88-BC5E-106AEBF65EB7}"/>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Each phase must pass its review before the next phase begins; dates alone are not enough.</a:t>
            </a:r>
          </a:p>
        </p:txBody>
      </p:sp>
      <p:sp>
        <p:nvSpPr>
          <p:cNvPr id="5" name="Rectangle 4">
            <a:extLst xmlns:a="http://schemas.openxmlformats.org/drawingml/2006/main">
              <a:ext uri="{FF2B5EF4-FFF2-40B4-BE49-F238E27FC236}">
                <a16:creationId xmlns:a16="http://schemas.microsoft.com/office/drawing/2014/main" id="{1F383E6C-1657-4B5B-8879-7FC0AEC261AE}"/>
              </a:ext>
            </a:extLst>
          </p:cNvPr>
          <p:cNvSpPr>
            <a:spLocks xmlns:a="http://schemas.openxmlformats.org/drawingml/2006/main" noGrp="1"/>
          </p:cNvSpPr>
          <p:nvPr/>
        </p:nvSpPr>
        <p:spPr>
          <a:xfrm xmlns:a="http://schemas.openxmlformats.org/drawingml/2006/main">
            <a:off x="594360" y="1691640"/>
            <a:ext cx="2852928" cy="6781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44815377-4277-4F34-B2E8-94C36D9C4436}"/>
              </a:ext>
            </a:extLst>
          </p:cNvPr>
          <p:cNvSpPr>
            <a:spLocks xmlns:a="http://schemas.openxmlformats.org/drawingml/2006/main" noGrp="1"/>
          </p:cNvSpPr>
          <p:nvPr/>
        </p:nvSpPr>
        <p:spPr>
          <a:xfrm xmlns:a="http://schemas.openxmlformats.org/drawingml/2006/main">
            <a:off x="667512" y="1764792"/>
            <a:ext cx="2706624"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Phase</a:t>
            </a:r>
          </a:p>
        </p:txBody>
      </p:sp>
      <p:sp>
        <p:nvSpPr>
          <p:cNvPr id="7" name="Rectangle 6">
            <a:extLst xmlns:a="http://schemas.openxmlformats.org/drawingml/2006/main">
              <a:ext uri="{FF2B5EF4-FFF2-40B4-BE49-F238E27FC236}">
                <a16:creationId xmlns:a16="http://schemas.microsoft.com/office/drawing/2014/main" id="{883170B6-5F27-4C0A-8103-AABE975610F3}"/>
              </a:ext>
            </a:extLst>
          </p:cNvPr>
          <p:cNvSpPr>
            <a:spLocks xmlns:a="http://schemas.openxmlformats.org/drawingml/2006/main" noGrp="1"/>
          </p:cNvSpPr>
          <p:nvPr/>
        </p:nvSpPr>
        <p:spPr>
          <a:xfrm xmlns:a="http://schemas.openxmlformats.org/drawingml/2006/main">
            <a:off x="3447288" y="1691640"/>
            <a:ext cx="4059935" cy="6781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3F474AA2-CC5C-4831-A728-17A703311F53}"/>
              </a:ext>
            </a:extLst>
          </p:cNvPr>
          <p:cNvSpPr>
            <a:spLocks xmlns:a="http://schemas.openxmlformats.org/drawingml/2006/main" noGrp="1"/>
          </p:cNvSpPr>
          <p:nvPr/>
        </p:nvSpPr>
        <p:spPr>
          <a:xfrm xmlns:a="http://schemas.openxmlformats.org/drawingml/2006/main">
            <a:off x="3520440" y="176479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What happens</a:t>
            </a:r>
          </a:p>
        </p:txBody>
      </p:sp>
      <p:sp>
        <p:nvSpPr>
          <p:cNvPr id="9" name="Rectangle 8">
            <a:extLst xmlns:a="http://schemas.openxmlformats.org/drawingml/2006/main">
              <a:ext uri="{FF2B5EF4-FFF2-40B4-BE49-F238E27FC236}">
                <a16:creationId xmlns:a16="http://schemas.microsoft.com/office/drawing/2014/main" id="{546EF320-5BD6-4E93-BE04-B66DC0DBE514}"/>
              </a:ext>
            </a:extLst>
          </p:cNvPr>
          <p:cNvSpPr>
            <a:spLocks xmlns:a="http://schemas.openxmlformats.org/drawingml/2006/main" noGrp="1"/>
          </p:cNvSpPr>
          <p:nvPr/>
        </p:nvSpPr>
        <p:spPr>
          <a:xfrm xmlns:a="http://schemas.openxmlformats.org/drawingml/2006/main">
            <a:off x="7507224" y="1691640"/>
            <a:ext cx="4059935" cy="6781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F55EAA19-880D-4305-B631-18BEDD802D77}"/>
              </a:ext>
            </a:extLst>
          </p:cNvPr>
          <p:cNvSpPr>
            <a:spLocks xmlns:a="http://schemas.openxmlformats.org/drawingml/2006/main" noGrp="1"/>
          </p:cNvSpPr>
          <p:nvPr/>
        </p:nvSpPr>
        <p:spPr>
          <a:xfrm xmlns:a="http://schemas.openxmlformats.org/drawingml/2006/main">
            <a:off x="7580376" y="176479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Proof needed</a:t>
            </a:r>
          </a:p>
        </p:txBody>
      </p:sp>
      <p:sp>
        <p:nvSpPr>
          <p:cNvPr id="11" name="Rectangle 10">
            <a:extLst xmlns:a="http://schemas.openxmlformats.org/drawingml/2006/main">
              <a:ext uri="{FF2B5EF4-FFF2-40B4-BE49-F238E27FC236}">
                <a16:creationId xmlns:a16="http://schemas.microsoft.com/office/drawing/2014/main" id="{59D077EF-7B73-4A48-BF93-BE2FF98AD55C}"/>
              </a:ext>
            </a:extLst>
          </p:cNvPr>
          <p:cNvSpPr>
            <a:spLocks xmlns:a="http://schemas.openxmlformats.org/drawingml/2006/main" noGrp="1"/>
          </p:cNvSpPr>
          <p:nvPr/>
        </p:nvSpPr>
        <p:spPr>
          <a:xfrm xmlns:a="http://schemas.openxmlformats.org/drawingml/2006/main">
            <a:off x="594360" y="2369820"/>
            <a:ext cx="2852928"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130F56B-65E8-4B4D-AE87-7B800F1570AE}"/>
              </a:ext>
            </a:extLst>
          </p:cNvPr>
          <p:cNvSpPr>
            <a:spLocks xmlns:a="http://schemas.openxmlformats.org/drawingml/2006/main" noGrp="1"/>
          </p:cNvSpPr>
          <p:nvPr/>
        </p:nvSpPr>
        <p:spPr>
          <a:xfrm xmlns:a="http://schemas.openxmlformats.org/drawingml/2006/main">
            <a:off x="667512" y="2442972"/>
            <a:ext cx="2706624"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1. Define</a:t>
            </a:r>
          </a:p>
        </p:txBody>
      </p:sp>
      <p:sp>
        <p:nvSpPr>
          <p:cNvPr id="13" name="Rectangle 12">
            <a:extLst xmlns:a="http://schemas.openxmlformats.org/drawingml/2006/main">
              <a:ext uri="{FF2B5EF4-FFF2-40B4-BE49-F238E27FC236}">
                <a16:creationId xmlns:a16="http://schemas.microsoft.com/office/drawing/2014/main" id="{04A7A60E-3308-46B9-8ED0-A94A1248497E}"/>
              </a:ext>
            </a:extLst>
          </p:cNvPr>
          <p:cNvSpPr>
            <a:spLocks xmlns:a="http://schemas.openxmlformats.org/drawingml/2006/main" noGrp="1"/>
          </p:cNvSpPr>
          <p:nvPr/>
        </p:nvSpPr>
        <p:spPr>
          <a:xfrm xmlns:a="http://schemas.openxmlformats.org/drawingml/2006/main">
            <a:off x="3447288" y="236982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C7E2E768-B155-4108-A917-81CEC8DEFE13}"/>
              </a:ext>
            </a:extLst>
          </p:cNvPr>
          <p:cNvSpPr>
            <a:spLocks xmlns:a="http://schemas.openxmlformats.org/drawingml/2006/main" noGrp="1"/>
          </p:cNvSpPr>
          <p:nvPr/>
        </p:nvSpPr>
        <p:spPr>
          <a:xfrm xmlns:a="http://schemas.openxmlformats.org/drawingml/2006/main">
            <a:off x="3520440" y="244297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Agree who the warning is for, what it predicts, which data it uses, exclusions, and owners</a:t>
            </a:r>
          </a:p>
        </p:txBody>
      </p:sp>
      <p:sp>
        <p:nvSpPr>
          <p:cNvPr id="15" name="Rectangle 14">
            <a:extLst xmlns:a="http://schemas.openxmlformats.org/drawingml/2006/main">
              <a:ext uri="{FF2B5EF4-FFF2-40B4-BE49-F238E27FC236}">
                <a16:creationId xmlns:a16="http://schemas.microsoft.com/office/drawing/2014/main" id="{B35302B5-AEFF-4AC3-A299-F08E8F36F866}"/>
              </a:ext>
            </a:extLst>
          </p:cNvPr>
          <p:cNvSpPr>
            <a:spLocks xmlns:a="http://schemas.openxmlformats.org/drawingml/2006/main" noGrp="1"/>
          </p:cNvSpPr>
          <p:nvPr/>
        </p:nvSpPr>
        <p:spPr>
          <a:xfrm xmlns:a="http://schemas.openxmlformats.org/drawingml/2006/main">
            <a:off x="7507224" y="236982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C07A7815-5F24-4450-95EC-DD6BE8725C25}"/>
              </a:ext>
            </a:extLst>
          </p:cNvPr>
          <p:cNvSpPr>
            <a:spLocks xmlns:a="http://schemas.openxmlformats.org/drawingml/2006/main" noGrp="1"/>
          </p:cNvSpPr>
          <p:nvPr/>
        </p:nvSpPr>
        <p:spPr>
          <a:xfrm xmlns:a="http://schemas.openxmlformats.org/drawingml/2006/main">
            <a:off x="7580376" y="244297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Approved case definition and shared data description</a:t>
            </a:r>
          </a:p>
        </p:txBody>
      </p:sp>
      <p:sp>
        <p:nvSpPr>
          <p:cNvPr id="17" name="Rectangle 16">
            <a:extLst xmlns:a="http://schemas.openxmlformats.org/drawingml/2006/main">
              <a:ext uri="{FF2B5EF4-FFF2-40B4-BE49-F238E27FC236}">
                <a16:creationId xmlns:a16="http://schemas.microsoft.com/office/drawing/2014/main" id="{4AE41A3F-8B3A-42AB-AA96-2BA4DC29AD3B}"/>
              </a:ext>
            </a:extLst>
          </p:cNvPr>
          <p:cNvSpPr>
            <a:spLocks xmlns:a="http://schemas.openxmlformats.org/drawingml/2006/main" noGrp="1"/>
          </p:cNvSpPr>
          <p:nvPr/>
        </p:nvSpPr>
        <p:spPr>
          <a:xfrm xmlns:a="http://schemas.openxmlformats.org/drawingml/2006/main">
            <a:off x="594360" y="3048000"/>
            <a:ext cx="2852928"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E74F5F03-3944-44F7-B5E4-9E1086F02AB1}"/>
              </a:ext>
            </a:extLst>
          </p:cNvPr>
          <p:cNvSpPr>
            <a:spLocks xmlns:a="http://schemas.openxmlformats.org/drawingml/2006/main" noGrp="1"/>
          </p:cNvSpPr>
          <p:nvPr/>
        </p:nvSpPr>
        <p:spPr>
          <a:xfrm xmlns:a="http://schemas.openxmlformats.org/drawingml/2006/main">
            <a:off x="667512" y="3121152"/>
            <a:ext cx="2706624"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2. Test past data</a:t>
            </a:r>
          </a:p>
        </p:txBody>
      </p:sp>
      <p:sp>
        <p:nvSpPr>
          <p:cNvPr id="19" name="Rectangle 18">
            <a:extLst xmlns:a="http://schemas.openxmlformats.org/drawingml/2006/main">
              <a:ext uri="{FF2B5EF4-FFF2-40B4-BE49-F238E27FC236}">
                <a16:creationId xmlns:a16="http://schemas.microsoft.com/office/drawing/2014/main" id="{DAAA2085-00F1-42F1-853E-7AC03F183B23}"/>
              </a:ext>
            </a:extLst>
          </p:cNvPr>
          <p:cNvSpPr>
            <a:spLocks xmlns:a="http://schemas.openxmlformats.org/drawingml/2006/main" noGrp="1"/>
          </p:cNvSpPr>
          <p:nvPr/>
        </p:nvSpPr>
        <p:spPr>
          <a:xfrm xmlns:a="http://schemas.openxmlformats.org/drawingml/2006/main">
            <a:off x="3447288" y="304800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7566ED5F-A66B-4934-ABC4-E83734BE467F}"/>
              </a:ext>
            </a:extLst>
          </p:cNvPr>
          <p:cNvSpPr>
            <a:spLocks xmlns:a="http://schemas.openxmlformats.org/drawingml/2006/main" noGrp="1"/>
          </p:cNvSpPr>
          <p:nvPr/>
        </p:nvSpPr>
        <p:spPr>
          <a:xfrm xmlns:a="http://schemas.openxmlformats.org/drawingml/2006/main">
            <a:off x="3520440" y="312115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Run the local agent separately on historical records at each hospital</a:t>
            </a:r>
          </a:p>
        </p:txBody>
      </p:sp>
      <p:sp>
        <p:nvSpPr>
          <p:cNvPr id="21" name="Rectangle 20">
            <a:extLst xmlns:a="http://schemas.openxmlformats.org/drawingml/2006/main">
              <a:ext uri="{FF2B5EF4-FFF2-40B4-BE49-F238E27FC236}">
                <a16:creationId xmlns:a16="http://schemas.microsoft.com/office/drawing/2014/main" id="{BEC5B3F9-6E5F-47E9-85B6-FB13ED306D04}"/>
              </a:ext>
            </a:extLst>
          </p:cNvPr>
          <p:cNvSpPr>
            <a:spLocks xmlns:a="http://schemas.openxmlformats.org/drawingml/2006/main" noGrp="1"/>
          </p:cNvSpPr>
          <p:nvPr/>
        </p:nvSpPr>
        <p:spPr>
          <a:xfrm xmlns:a="http://schemas.openxmlformats.org/drawingml/2006/main">
            <a:off x="7507224" y="304800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59212C95-D024-49DF-A483-9058E582E581}"/>
              </a:ext>
            </a:extLst>
          </p:cNvPr>
          <p:cNvSpPr>
            <a:spLocks xmlns:a="http://schemas.openxmlformats.org/drawingml/2006/main" noGrp="1"/>
          </p:cNvSpPr>
          <p:nvPr/>
        </p:nvSpPr>
        <p:spPr>
          <a:xfrm xmlns:a="http://schemas.openxmlformats.org/drawingml/2006/main">
            <a:off x="7580376" y="312115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Data quality, warning accuracy across groups, and normal warning volume</a:t>
            </a:r>
          </a:p>
        </p:txBody>
      </p:sp>
      <p:sp>
        <p:nvSpPr>
          <p:cNvPr id="23" name="Rectangle 22">
            <a:extLst xmlns:a="http://schemas.openxmlformats.org/drawingml/2006/main">
              <a:ext uri="{FF2B5EF4-FFF2-40B4-BE49-F238E27FC236}">
                <a16:creationId xmlns:a16="http://schemas.microsoft.com/office/drawing/2014/main" id="{6F6FE044-3348-4E4C-85FC-0F05D67F7015}"/>
              </a:ext>
            </a:extLst>
          </p:cNvPr>
          <p:cNvSpPr>
            <a:spLocks xmlns:a="http://schemas.openxmlformats.org/drawingml/2006/main" noGrp="1"/>
          </p:cNvSpPr>
          <p:nvPr/>
        </p:nvSpPr>
        <p:spPr>
          <a:xfrm xmlns:a="http://schemas.openxmlformats.org/drawingml/2006/main">
            <a:off x="594360" y="3726180"/>
            <a:ext cx="2852928"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6EC3BAFB-5BF5-4B01-8498-D3546837CBE9}"/>
              </a:ext>
            </a:extLst>
          </p:cNvPr>
          <p:cNvSpPr>
            <a:spLocks xmlns:a="http://schemas.openxmlformats.org/drawingml/2006/main" noGrp="1"/>
          </p:cNvSpPr>
          <p:nvPr/>
        </p:nvSpPr>
        <p:spPr>
          <a:xfrm xmlns:a="http://schemas.openxmlformats.org/drawingml/2006/main">
            <a:off x="667512" y="3799332"/>
            <a:ext cx="2706624"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3. Run silently</a:t>
            </a:r>
          </a:p>
        </p:txBody>
      </p:sp>
      <p:sp>
        <p:nvSpPr>
          <p:cNvPr id="25" name="Rectangle 24">
            <a:extLst xmlns:a="http://schemas.openxmlformats.org/drawingml/2006/main">
              <a:ext uri="{FF2B5EF4-FFF2-40B4-BE49-F238E27FC236}">
                <a16:creationId xmlns:a16="http://schemas.microsoft.com/office/drawing/2014/main" id="{82D6D3CF-7424-4D18-9890-24D763128CDA}"/>
              </a:ext>
            </a:extLst>
          </p:cNvPr>
          <p:cNvSpPr>
            <a:spLocks xmlns:a="http://schemas.openxmlformats.org/drawingml/2006/main" noGrp="1"/>
          </p:cNvSpPr>
          <p:nvPr/>
        </p:nvSpPr>
        <p:spPr>
          <a:xfrm xmlns:a="http://schemas.openxmlformats.org/drawingml/2006/main">
            <a:off x="3447288" y="372618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047CA9F4-FF5F-4C24-A036-12A0C3216696}"/>
              </a:ext>
            </a:extLst>
          </p:cNvPr>
          <p:cNvSpPr>
            <a:spLocks xmlns:a="http://schemas.openxmlformats.org/drawingml/2006/main" noGrp="1"/>
          </p:cNvSpPr>
          <p:nvPr/>
        </p:nvSpPr>
        <p:spPr>
          <a:xfrm xmlns:a="http://schemas.openxmlformats.org/drawingml/2006/main">
            <a:off x="3520440" y="379933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Use live data but do not show warnings to clinicians</a:t>
            </a:r>
          </a:p>
        </p:txBody>
      </p:sp>
      <p:sp>
        <p:nvSpPr>
          <p:cNvPr id="27" name="Rectangle 26">
            <a:extLst xmlns:a="http://schemas.openxmlformats.org/drawingml/2006/main">
              <a:ext uri="{FF2B5EF4-FFF2-40B4-BE49-F238E27FC236}">
                <a16:creationId xmlns:a16="http://schemas.microsoft.com/office/drawing/2014/main" id="{09E31BD2-C02C-48F0-A0FE-5BBBB95B0C51}"/>
              </a:ext>
            </a:extLst>
          </p:cNvPr>
          <p:cNvSpPr>
            <a:spLocks xmlns:a="http://schemas.openxmlformats.org/drawingml/2006/main" noGrp="1"/>
          </p:cNvSpPr>
          <p:nvPr/>
        </p:nvSpPr>
        <p:spPr>
          <a:xfrm xmlns:a="http://schemas.openxmlformats.org/drawingml/2006/main">
            <a:off x="7507224" y="372618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28121A96-7DBE-4B73-92D8-36238161F7A4}"/>
              </a:ext>
            </a:extLst>
          </p:cNvPr>
          <p:cNvSpPr>
            <a:spLocks xmlns:a="http://schemas.openxmlformats.org/drawingml/2006/main" noGrp="1"/>
          </p:cNvSpPr>
          <p:nvPr/>
        </p:nvSpPr>
        <p:spPr>
          <a:xfrm xmlns:a="http://schemas.openxmlformats.org/drawingml/2006/main">
            <a:off x="7580376" y="379933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Speed, reliability, warning volume, complete records, and recovery results</a:t>
            </a:r>
          </a:p>
        </p:txBody>
      </p:sp>
      <p:sp>
        <p:nvSpPr>
          <p:cNvPr id="29" name="Rectangle 28">
            <a:extLst xmlns:a="http://schemas.openxmlformats.org/drawingml/2006/main">
              <a:ext uri="{FF2B5EF4-FFF2-40B4-BE49-F238E27FC236}">
                <a16:creationId xmlns:a16="http://schemas.microsoft.com/office/drawing/2014/main" id="{B0FC2832-250A-4D49-8EBF-4722A2F7531D}"/>
              </a:ext>
            </a:extLst>
          </p:cNvPr>
          <p:cNvSpPr>
            <a:spLocks xmlns:a="http://schemas.openxmlformats.org/drawingml/2006/main" noGrp="1"/>
          </p:cNvSpPr>
          <p:nvPr/>
        </p:nvSpPr>
        <p:spPr>
          <a:xfrm xmlns:a="http://schemas.openxmlformats.org/drawingml/2006/main">
            <a:off x="594360" y="4404360"/>
            <a:ext cx="2852928"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63E1A0B1-652A-4252-85BC-BD3E5B3D5858}"/>
              </a:ext>
            </a:extLst>
          </p:cNvPr>
          <p:cNvSpPr>
            <a:spLocks xmlns:a="http://schemas.openxmlformats.org/drawingml/2006/main" noGrp="1"/>
          </p:cNvSpPr>
          <p:nvPr/>
        </p:nvSpPr>
        <p:spPr>
          <a:xfrm xmlns:a="http://schemas.openxmlformats.org/drawingml/2006/main">
            <a:off x="667512" y="4477512"/>
            <a:ext cx="2706624"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4. Limited pilot</a:t>
            </a:r>
          </a:p>
        </p:txBody>
      </p:sp>
      <p:sp>
        <p:nvSpPr>
          <p:cNvPr id="31" name="Rectangle 30">
            <a:extLst xmlns:a="http://schemas.openxmlformats.org/drawingml/2006/main">
              <a:ext uri="{FF2B5EF4-FFF2-40B4-BE49-F238E27FC236}">
                <a16:creationId xmlns:a16="http://schemas.microsoft.com/office/drawing/2014/main" id="{874D9192-44C0-4A4A-AFE8-E45CE995A1D6}"/>
              </a:ext>
            </a:extLst>
          </p:cNvPr>
          <p:cNvSpPr>
            <a:spLocks xmlns:a="http://schemas.openxmlformats.org/drawingml/2006/main" noGrp="1"/>
          </p:cNvSpPr>
          <p:nvPr/>
        </p:nvSpPr>
        <p:spPr>
          <a:xfrm xmlns:a="http://schemas.openxmlformats.org/drawingml/2006/main">
            <a:off x="3447288" y="440436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30C880F6-2B6F-4633-8D56-D150FD6C1945}"/>
              </a:ext>
            </a:extLst>
          </p:cNvPr>
          <p:cNvSpPr>
            <a:spLocks xmlns:a="http://schemas.openxmlformats.org/drawingml/2006/main" noGrp="1"/>
          </p:cNvSpPr>
          <p:nvPr/>
        </p:nvSpPr>
        <p:spPr>
          <a:xfrm xmlns:a="http://schemas.openxmlformats.org/drawingml/2006/main">
            <a:off x="3520440" y="447751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Show warnings to clinicians under an approved plan</a:t>
            </a:r>
          </a:p>
        </p:txBody>
      </p:sp>
      <p:sp>
        <p:nvSpPr>
          <p:cNvPr id="33" name="Rectangle 32">
            <a:extLst xmlns:a="http://schemas.openxmlformats.org/drawingml/2006/main">
              <a:ext uri="{FF2B5EF4-FFF2-40B4-BE49-F238E27FC236}">
                <a16:creationId xmlns:a16="http://schemas.microsoft.com/office/drawing/2014/main" id="{940F8CA7-3636-4591-A377-3CB024DBE12B}"/>
              </a:ext>
            </a:extLst>
          </p:cNvPr>
          <p:cNvSpPr>
            <a:spLocks xmlns:a="http://schemas.openxmlformats.org/drawingml/2006/main" noGrp="1"/>
          </p:cNvSpPr>
          <p:nvPr/>
        </p:nvSpPr>
        <p:spPr>
          <a:xfrm xmlns:a="http://schemas.openxmlformats.org/drawingml/2006/main">
            <a:off x="7507224" y="440436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378A6AC6-8C69-48F4-9C9E-8763D385948D}"/>
              </a:ext>
            </a:extLst>
          </p:cNvPr>
          <p:cNvSpPr>
            <a:spLocks xmlns:a="http://schemas.openxmlformats.org/drawingml/2006/main" noGrp="1"/>
          </p:cNvSpPr>
          <p:nvPr/>
        </p:nvSpPr>
        <p:spPr>
          <a:xfrm xmlns:a="http://schemas.openxmlformats.org/drawingml/2006/main">
            <a:off x="7580376" y="447751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Workflow usefulness, workload, overrides, usability, and safety review</a:t>
            </a:r>
          </a:p>
        </p:txBody>
      </p:sp>
      <p:sp>
        <p:nvSpPr>
          <p:cNvPr id="35" name="Rectangle 34">
            <a:extLst xmlns:a="http://schemas.openxmlformats.org/drawingml/2006/main">
              <a:ext uri="{FF2B5EF4-FFF2-40B4-BE49-F238E27FC236}">
                <a16:creationId xmlns:a16="http://schemas.microsoft.com/office/drawing/2014/main" id="{AC7DBE89-C515-4B02-83EF-50CDFCD86217}"/>
              </a:ext>
            </a:extLst>
          </p:cNvPr>
          <p:cNvSpPr>
            <a:spLocks xmlns:a="http://schemas.openxmlformats.org/drawingml/2006/main" noGrp="1"/>
          </p:cNvSpPr>
          <p:nvPr/>
        </p:nvSpPr>
        <p:spPr>
          <a:xfrm xmlns:a="http://schemas.openxmlformats.org/drawingml/2006/main">
            <a:off x="594360" y="5082540"/>
            <a:ext cx="2852928"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1FD674F3-FB7C-44A9-A53F-62A858865527}"/>
              </a:ext>
            </a:extLst>
          </p:cNvPr>
          <p:cNvSpPr>
            <a:spLocks xmlns:a="http://schemas.openxmlformats.org/drawingml/2006/main" noGrp="1"/>
          </p:cNvSpPr>
          <p:nvPr/>
        </p:nvSpPr>
        <p:spPr>
          <a:xfrm xmlns:a="http://schemas.openxmlformats.org/drawingml/2006/main">
            <a:off x="667512" y="5155692"/>
            <a:ext cx="2706624"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5. Expand</a:t>
            </a:r>
          </a:p>
        </p:txBody>
      </p:sp>
      <p:sp>
        <p:nvSpPr>
          <p:cNvPr id="37" name="Rectangle 36">
            <a:extLst xmlns:a="http://schemas.openxmlformats.org/drawingml/2006/main">
              <a:ext uri="{FF2B5EF4-FFF2-40B4-BE49-F238E27FC236}">
                <a16:creationId xmlns:a16="http://schemas.microsoft.com/office/drawing/2014/main" id="{55DED86A-8DF5-4D99-B9D6-C41B6D36E250}"/>
              </a:ext>
            </a:extLst>
          </p:cNvPr>
          <p:cNvSpPr>
            <a:spLocks xmlns:a="http://schemas.openxmlformats.org/drawingml/2006/main" noGrp="1"/>
          </p:cNvSpPr>
          <p:nvPr/>
        </p:nvSpPr>
        <p:spPr>
          <a:xfrm xmlns:a="http://schemas.openxmlformats.org/drawingml/2006/main">
            <a:off x="3447288" y="508254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444DD496-AB69-4A09-920B-2DFCCCC582F8}"/>
              </a:ext>
            </a:extLst>
          </p:cNvPr>
          <p:cNvSpPr>
            <a:spLocks xmlns:a="http://schemas.openxmlformats.org/drawingml/2006/main" noGrp="1"/>
          </p:cNvSpPr>
          <p:nvPr/>
        </p:nvSpPr>
        <p:spPr>
          <a:xfrm xmlns:a="http://schemas.openxmlformats.org/drawingml/2006/main">
            <a:off x="3520440" y="515569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Compare hospitals, test updates at a small set first, and prove rollback</a:t>
            </a:r>
          </a:p>
        </p:txBody>
      </p:sp>
      <p:sp>
        <p:nvSpPr>
          <p:cNvPr id="39" name="Rectangle 38">
            <a:extLst xmlns:a="http://schemas.openxmlformats.org/drawingml/2006/main">
              <a:ext uri="{FF2B5EF4-FFF2-40B4-BE49-F238E27FC236}">
                <a16:creationId xmlns:a16="http://schemas.microsoft.com/office/drawing/2014/main" id="{BB578E8A-A664-4A81-A466-F2903CA08D64}"/>
              </a:ext>
            </a:extLst>
          </p:cNvPr>
          <p:cNvSpPr>
            <a:spLocks xmlns:a="http://schemas.openxmlformats.org/drawingml/2006/main" noGrp="1"/>
          </p:cNvSpPr>
          <p:nvPr/>
        </p:nvSpPr>
        <p:spPr>
          <a:xfrm xmlns:a="http://schemas.openxmlformats.org/drawingml/2006/main">
            <a:off x="7507224" y="508254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42767822-8C6A-4AA1-9B75-C58DF72BBE26}"/>
              </a:ext>
            </a:extLst>
          </p:cNvPr>
          <p:cNvSpPr>
            <a:spLocks xmlns:a="http://schemas.openxmlformats.org/drawingml/2006/main" noGrp="1"/>
          </p:cNvSpPr>
          <p:nvPr/>
        </p:nvSpPr>
        <p:spPr>
          <a:xfrm xmlns:a="http://schemas.openxmlformats.org/drawingml/2006/main">
            <a:off x="7580376" y="515569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Multi-hospital results plus security, privacy, regulatory, and audit readiness</a:t>
            </a:r>
          </a:p>
        </p:txBody>
      </p:sp>
      <p:sp>
        <p:nvSpPr>
          <p:cNvPr id="41" name="TextBox 40">
            <a:extLst xmlns:a="http://schemas.openxmlformats.org/drawingml/2006/main">
              <a:ext uri="{FF2B5EF4-FFF2-40B4-BE49-F238E27FC236}">
                <a16:creationId xmlns:a16="http://schemas.microsoft.com/office/drawing/2014/main" id="{B1D0300A-8102-422A-B87C-10ACE4D3BDF4}"/>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No automatic patient-care action in the initial case study / 18</a:t>
            </a:r>
          </a:p>
        </p:txBody>
      </p:sp>
    </p:spTree>
    <p:extLst>
      <p:ext uri="{BB962C8B-B14F-4D97-AF65-F5344CB8AC3E}">
        <p14:creationId xmlns:p14="http://schemas.microsoft.com/office/powerpoint/2010/main" val="1705652030"/>
      </p:ext>
    </p:extLst>
  </p:cSld>
</p:sld>
</file>

<file path=ppt/slides/slide1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B7D0897-00AD-4965-8CE2-0C3E3BDAA89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EVALUATION</a:t>
            </a:r>
          </a:p>
        </p:txBody>
      </p:sp>
      <p:sp>
        <p:nvSpPr>
          <p:cNvPr id="3" name="TextBox 2">
            <a:extLst xmlns:a="http://schemas.openxmlformats.org/drawingml/2006/main">
              <a:ext uri="{FF2B5EF4-FFF2-40B4-BE49-F238E27FC236}">
                <a16:creationId xmlns:a16="http://schemas.microsoft.com/office/drawing/2014/main" id="{F19EF4B8-D416-44CC-8F0F-CD690DE62B0E}"/>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A useful pilot must work beyond the model.</a:t>
            </a:r>
          </a:p>
        </p:txBody>
      </p:sp>
      <p:sp>
        <p:nvSpPr>
          <p:cNvPr id="4" name="TextBox 3">
            <a:extLst xmlns:a="http://schemas.openxmlformats.org/drawingml/2006/main">
              <a:ext uri="{FF2B5EF4-FFF2-40B4-BE49-F238E27FC236}">
                <a16:creationId xmlns:a16="http://schemas.microsoft.com/office/drawing/2014/main" id="{BE5C6F23-B794-41CB-9828-0309755B56BA}"/>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Model accuracy alone is not enough. The warning must also be safe, dependable, understandable, and controllable.</a:t>
            </a:r>
          </a:p>
        </p:txBody>
      </p:sp>
      <p:sp>
        <p:nvSpPr>
          <p:cNvPr id="5" name="Rounded Rectangle 4">
            <a:extLst xmlns:a="http://schemas.openxmlformats.org/drawingml/2006/main">
              <a:ext uri="{FF2B5EF4-FFF2-40B4-BE49-F238E27FC236}">
                <a16:creationId xmlns:a16="http://schemas.microsoft.com/office/drawing/2014/main" id="{B185A7CA-8862-4A59-84A7-D6796384C0A0}"/>
              </a:ext>
            </a:extLst>
          </p:cNvPr>
          <p:cNvSpPr>
            <a:spLocks xmlns:a="http://schemas.openxmlformats.org/drawingml/2006/main" noGrp="1"/>
          </p:cNvSpPr>
          <p:nvPr/>
        </p:nvSpPr>
        <p:spPr>
          <a:xfrm xmlns:a="http://schemas.openxmlformats.org/drawingml/2006/main">
            <a:off x="777240" y="1737360"/>
            <a:ext cx="4892040" cy="11430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4A6ABA7-B17F-4F9D-95AC-A9AD1840DA5F}"/>
              </a:ext>
            </a:extLst>
          </p:cNvPr>
          <p:cNvSpPr>
            <a:spLocks xmlns:a="http://schemas.openxmlformats.org/drawingml/2006/main" noGrp="1"/>
          </p:cNvSpPr>
          <p:nvPr/>
        </p:nvSpPr>
        <p:spPr>
          <a:xfrm xmlns:a="http://schemas.openxmlformats.org/drawingml/2006/main">
            <a:off x="94183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Useful warnings</a:t>
            </a:r>
          </a:p>
        </p:txBody>
      </p:sp>
      <p:sp>
        <p:nvSpPr>
          <p:cNvPr id="7" name="TextBox 6">
            <a:extLst xmlns:a="http://schemas.openxmlformats.org/drawingml/2006/main">
              <a:ext uri="{FF2B5EF4-FFF2-40B4-BE49-F238E27FC236}">
                <a16:creationId xmlns:a16="http://schemas.microsoft.com/office/drawing/2014/main" id="{A16C6DE5-10AC-4D7B-A902-BE1A4B95FA97}"/>
              </a:ext>
            </a:extLst>
          </p:cNvPr>
          <p:cNvSpPr>
            <a:spLocks xmlns:a="http://schemas.openxmlformats.org/drawingml/2006/main" noGrp="1"/>
          </p:cNvSpPr>
          <p:nvPr/>
        </p:nvSpPr>
        <p:spPr>
          <a:xfrm xmlns:a="http://schemas.openxmlformats.org/drawingml/2006/main">
            <a:off x="94183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How many true cases are caught, how many warnings are correct, and how much advance notice is given.</a:t>
            </a:r>
          </a:p>
        </p:txBody>
      </p:sp>
      <p:sp>
        <p:nvSpPr>
          <p:cNvPr id="8" name="Rounded Rectangle 7">
            <a:extLst xmlns:a="http://schemas.openxmlformats.org/drawingml/2006/main">
              <a:ext uri="{FF2B5EF4-FFF2-40B4-BE49-F238E27FC236}">
                <a16:creationId xmlns:a16="http://schemas.microsoft.com/office/drawing/2014/main" id="{DB689BD0-DEBE-4890-84C2-52C9C0F87691}"/>
              </a:ext>
            </a:extLst>
          </p:cNvPr>
          <p:cNvSpPr>
            <a:spLocks xmlns:a="http://schemas.openxmlformats.org/drawingml/2006/main" noGrp="1"/>
          </p:cNvSpPr>
          <p:nvPr/>
        </p:nvSpPr>
        <p:spPr>
          <a:xfrm xmlns:a="http://schemas.openxmlformats.org/drawingml/2006/main">
            <a:off x="6217920" y="1737360"/>
            <a:ext cx="4892040" cy="11430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2C22423-3633-4CFF-9783-DEDD0DB789E8}"/>
              </a:ext>
            </a:extLst>
          </p:cNvPr>
          <p:cNvSpPr>
            <a:spLocks xmlns:a="http://schemas.openxmlformats.org/drawingml/2006/main" noGrp="1"/>
          </p:cNvSpPr>
          <p:nvPr/>
        </p:nvSpPr>
        <p:spPr>
          <a:xfrm xmlns:a="http://schemas.openxmlformats.org/drawingml/2006/main">
            <a:off x="638251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Safe across groups</a:t>
            </a:r>
          </a:p>
        </p:txBody>
      </p:sp>
      <p:sp>
        <p:nvSpPr>
          <p:cNvPr id="10" name="TextBox 9">
            <a:extLst xmlns:a="http://schemas.openxmlformats.org/drawingml/2006/main">
              <a:ext uri="{FF2B5EF4-FFF2-40B4-BE49-F238E27FC236}">
                <a16:creationId xmlns:a16="http://schemas.microsoft.com/office/drawing/2014/main" id="{38C7BA40-A629-4F2C-9946-C9AFDE739862}"/>
              </a:ext>
            </a:extLst>
          </p:cNvPr>
          <p:cNvSpPr>
            <a:spLocks xmlns:a="http://schemas.openxmlformats.org/drawingml/2006/main" noGrp="1"/>
          </p:cNvSpPr>
          <p:nvPr/>
        </p:nvSpPr>
        <p:spPr>
          <a:xfrm xmlns:a="http://schemas.openxmlformats.org/drawingml/2006/main">
            <a:off x="638251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Check whether any patient group receives worse performance or too many warnings.</a:t>
            </a:r>
          </a:p>
        </p:txBody>
      </p:sp>
      <p:sp>
        <p:nvSpPr>
          <p:cNvPr id="11" name="Rounded Rectangle 10">
            <a:extLst xmlns:a="http://schemas.openxmlformats.org/drawingml/2006/main">
              <a:ext uri="{FF2B5EF4-FFF2-40B4-BE49-F238E27FC236}">
                <a16:creationId xmlns:a16="http://schemas.microsoft.com/office/drawing/2014/main" id="{E5CF9E1F-B30B-4AF0-BFE2-3E3E214ECC1C}"/>
              </a:ext>
            </a:extLst>
          </p:cNvPr>
          <p:cNvSpPr>
            <a:spLocks xmlns:a="http://schemas.openxmlformats.org/drawingml/2006/main" noGrp="1"/>
          </p:cNvSpPr>
          <p:nvPr/>
        </p:nvSpPr>
        <p:spPr>
          <a:xfrm xmlns:a="http://schemas.openxmlformats.org/drawingml/2006/main">
            <a:off x="777240" y="3383280"/>
            <a:ext cx="4892040" cy="114300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B6C606A-7A36-4A56-AE5F-ED90CCBB9865}"/>
              </a:ext>
            </a:extLst>
          </p:cNvPr>
          <p:cNvSpPr>
            <a:spLocks xmlns:a="http://schemas.openxmlformats.org/drawingml/2006/main" noGrp="1"/>
          </p:cNvSpPr>
          <p:nvPr/>
        </p:nvSpPr>
        <p:spPr>
          <a:xfrm xmlns:a="http://schemas.openxmlformats.org/drawingml/2006/main">
            <a:off x="94183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Reliable in practice</a:t>
            </a:r>
          </a:p>
        </p:txBody>
      </p:sp>
      <p:sp>
        <p:nvSpPr>
          <p:cNvPr id="13" name="TextBox 12">
            <a:extLst xmlns:a="http://schemas.openxmlformats.org/drawingml/2006/main">
              <a:ext uri="{FF2B5EF4-FFF2-40B4-BE49-F238E27FC236}">
                <a16:creationId xmlns:a16="http://schemas.microsoft.com/office/drawing/2014/main" id="{0E2DE3C6-7B14-47CE-984B-4FEA66D42DD9}"/>
              </a:ext>
            </a:extLst>
          </p:cNvPr>
          <p:cNvSpPr>
            <a:spLocks xmlns:a="http://schemas.openxmlformats.org/drawingml/2006/main" noGrp="1"/>
          </p:cNvSpPr>
          <p:nvPr/>
        </p:nvSpPr>
        <p:spPr>
          <a:xfrm xmlns:a="http://schemas.openxmlformats.org/drawingml/2006/main">
            <a:off x="94183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Fresh and complete data, successful runs, response time, recovery, and time to return to a safe version.</a:t>
            </a:r>
          </a:p>
        </p:txBody>
      </p:sp>
      <p:sp>
        <p:nvSpPr>
          <p:cNvPr id="14" name="Rounded Rectangle 13">
            <a:extLst xmlns:a="http://schemas.openxmlformats.org/drawingml/2006/main">
              <a:ext uri="{FF2B5EF4-FFF2-40B4-BE49-F238E27FC236}">
                <a16:creationId xmlns:a16="http://schemas.microsoft.com/office/drawing/2014/main" id="{02068F01-5A1E-4CA8-BAC8-5916EBED6DE1}"/>
              </a:ext>
            </a:extLst>
          </p:cNvPr>
          <p:cNvSpPr>
            <a:spLocks xmlns:a="http://schemas.openxmlformats.org/drawingml/2006/main" noGrp="1"/>
          </p:cNvSpPr>
          <p:nvPr/>
        </p:nvSpPr>
        <p:spPr>
          <a:xfrm xmlns:a="http://schemas.openxmlformats.org/drawingml/2006/main">
            <a:off x="6217920" y="3383280"/>
            <a:ext cx="4892040" cy="11430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FF3519E-A7D4-4C26-97BE-CCD863D217C3}"/>
              </a:ext>
            </a:extLst>
          </p:cNvPr>
          <p:cNvSpPr>
            <a:spLocks xmlns:a="http://schemas.openxmlformats.org/drawingml/2006/main" noGrp="1"/>
          </p:cNvSpPr>
          <p:nvPr/>
        </p:nvSpPr>
        <p:spPr>
          <a:xfrm xmlns:a="http://schemas.openxmlformats.org/drawingml/2006/main">
            <a:off x="638251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Proof of control</a:t>
            </a:r>
          </a:p>
        </p:txBody>
      </p:sp>
      <p:sp>
        <p:nvSpPr>
          <p:cNvPr id="16" name="TextBox 15">
            <a:extLst xmlns:a="http://schemas.openxmlformats.org/drawingml/2006/main">
              <a:ext uri="{FF2B5EF4-FFF2-40B4-BE49-F238E27FC236}">
                <a16:creationId xmlns:a16="http://schemas.microsoft.com/office/drawing/2014/main" id="{A348AC81-5D4F-4221-91E2-2B61032AA866}"/>
              </a:ext>
            </a:extLst>
          </p:cNvPr>
          <p:cNvSpPr>
            <a:spLocks xmlns:a="http://schemas.openxmlformats.org/drawingml/2006/main" noGrp="1"/>
          </p:cNvSpPr>
          <p:nvPr/>
        </p:nvSpPr>
        <p:spPr>
          <a:xfrm xmlns:a="http://schemas.openxmlformats.org/drawingml/2006/main">
            <a:off x="638251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Complete history of data, model version, access exceptions, and differences between hospitals.</a:t>
            </a:r>
          </a:p>
        </p:txBody>
      </p:sp>
      <p:sp>
        <p:nvSpPr>
          <p:cNvPr id="17" name="TextBox 16">
            <a:extLst xmlns:a="http://schemas.openxmlformats.org/drawingml/2006/main">
              <a:ext uri="{FF2B5EF4-FFF2-40B4-BE49-F238E27FC236}">
                <a16:creationId xmlns:a16="http://schemas.microsoft.com/office/drawing/2014/main" id="{0189CDBE-DBE1-4102-896D-D470C23C8EA5}"/>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Targets must come from measured baselines; this deck does not invent clinical outcomes / 19</a:t>
            </a:r>
          </a:p>
        </p:txBody>
      </p:sp>
    </p:spTree>
    <p:extLst>
      <p:ext uri="{BB962C8B-B14F-4D97-AF65-F5344CB8AC3E}">
        <p14:creationId xmlns:p14="http://schemas.microsoft.com/office/powerpoint/2010/main" val="115230595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6" name="Rectangle 15">
            <a:extLst xmlns:a="http://schemas.openxmlformats.org/drawingml/2006/main">
              <a:ext uri="{FF2B5EF4-FFF2-40B4-BE49-F238E27FC236}">
                <a16:creationId xmlns:a16="http://schemas.microsoft.com/office/drawing/2014/main" id="{5BB9CCDB-CDB6-46D2-AAB1-924DC0F3EDF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11815"/>
          </a:solidFill>
          <a:ln xmlns:a="http://schemas.openxmlformats.org/drawingml/2006/main" w="9525">
            <a:solidFill>
              <a:srgbClr val="111815"/>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93BB2566-7613-48BE-B8F4-6418A62A4686}"/>
              </a:ext>
            </a:extLst>
          </p:cNvPr>
          <p:cNvSpPr>
            <a:spLocks xmlns:a="http://schemas.openxmlformats.org/drawingml/2006/main" noGrp="1"/>
          </p:cNvSpPr>
          <p:nvPr/>
        </p:nvSpPr>
        <p:spPr>
          <a:xfrm xmlns:a="http://schemas.openxmlformats.org/drawingml/2006/main">
            <a:off x="666750" y="400050"/>
            <a:ext cx="1619250" cy="238125"/>
          </a:xfrm>
          <a:prstGeom xmlns:a="http://schemas.openxmlformats.org/drawingml/2006/main" prst="rect">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FFFFFF"/>
                </a:solidFill>
                <a:latin typeface="Aptos"/>
                <a:ea typeface="Aptos"/>
                <a:cs typeface="Aptos"/>
              </a:defRPr>
            </a:pPr>
            <a:r>
              <a:rPr sz="900" b="1">
                <a:solidFill>
                  <a:srgbClr val="FFFFFF"/>
                </a:solidFill>
                <a:latin typeface="Aptos"/>
                <a:ea typeface="Aptos"/>
                <a:cs typeface="Aptos"/>
              </a:rPr>
              <a:t>RECOMMENDATION</a:t>
            </a:r>
          </a:p>
        </p:txBody>
      </p:sp>
      <p:sp>
        <p:nvSpPr>
          <p:cNvPr id="3" name="Rectangle 2">
            <a:extLst xmlns:a="http://schemas.openxmlformats.org/drawingml/2006/main">
              <a:ext uri="{FF2B5EF4-FFF2-40B4-BE49-F238E27FC236}">
                <a16:creationId xmlns:a16="http://schemas.microsoft.com/office/drawing/2014/main" id="{F0F9FC07-4330-4143-B79D-8612B56C5543}"/>
              </a:ext>
            </a:extLst>
          </p:cNvPr>
          <p:cNvSpPr>
            <a:spLocks xmlns:a="http://schemas.openxmlformats.org/drawingml/2006/main" noGrp="1"/>
          </p:cNvSpPr>
          <p:nvPr/>
        </p:nvSpPr>
        <p:spPr>
          <a:xfrm xmlns:a="http://schemas.openxmlformats.org/drawingml/2006/main">
            <a:off x="666750" y="781050"/>
            <a:ext cx="819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2550" b="0">
                <a:solidFill>
                  <a:srgbClr val="FFFFFF"/>
                </a:solidFill>
                <a:latin typeface="Georgia"/>
                <a:ea typeface="Georgia"/>
                <a:cs typeface="Georgia"/>
              </a:defRPr>
            </a:pPr>
            <a:r>
              <a:rPr sz="2550" b="0">
                <a:solidFill>
                  <a:srgbClr val="FFFFFF"/>
                </a:solidFill>
                <a:latin typeface="Georgia"/>
                <a:ea typeface="Georgia"/>
                <a:cs typeface="Georgia"/>
              </a:rPr>
              <a:t>Use Dagents for a silent sepsis pilot, then extend carefully.</a:t>
            </a:r>
          </a:p>
        </p:txBody>
      </p:sp>
      <p:sp>
        <p:nvSpPr>
          <p:cNvPr id="4" name="Rectangle 3">
            <a:extLst xmlns:a="http://schemas.openxmlformats.org/drawingml/2006/main">
              <a:ext uri="{FF2B5EF4-FFF2-40B4-BE49-F238E27FC236}">
                <a16:creationId xmlns:a16="http://schemas.microsoft.com/office/drawing/2014/main" id="{7ECA9760-6385-4CDB-B187-EBB7C065B319}"/>
              </a:ext>
            </a:extLst>
          </p:cNvPr>
          <p:cNvSpPr>
            <a:spLocks xmlns:a="http://schemas.openxmlformats.org/drawingml/2006/main" noGrp="1"/>
          </p:cNvSpPr>
          <p:nvPr/>
        </p:nvSpPr>
        <p:spPr>
          <a:xfrm xmlns:a="http://schemas.openxmlformats.org/drawingml/2006/main">
            <a:off x="685800" y="16764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C6D2CB"/>
                </a:solidFill>
                <a:latin typeface="Aptos"/>
                <a:ea typeface="Aptos"/>
                <a:cs typeface="Aptos"/>
              </a:defRPr>
            </a:pPr>
            <a:r>
              <a:rPr sz="1200" b="0">
                <a:solidFill>
                  <a:srgbClr val="C6D2CB"/>
                </a:solidFill>
                <a:latin typeface="Aptos"/>
                <a:ea typeface="Aptos"/>
                <a:cs typeface="Aptos"/>
              </a:rPr>
              <a:t>Sepsis is the first proving ground because it tests urgent, local, multi-hospital coordination. It is not the permanent scope of the platform.</a:t>
            </a:r>
          </a:p>
        </p:txBody>
      </p:sp>
      <p:sp>
        <p:nvSpPr>
          <p:cNvPr id="5" name="Rectangle 4">
            <a:extLst xmlns:a="http://schemas.openxmlformats.org/drawingml/2006/main">
              <a:ext uri="{FF2B5EF4-FFF2-40B4-BE49-F238E27FC236}">
                <a16:creationId xmlns:a16="http://schemas.microsoft.com/office/drawing/2014/main" id="{3EB072AB-1C19-4895-B0A7-4060EE04F0E8}"/>
              </a:ext>
            </a:extLst>
          </p:cNvPr>
          <p:cNvSpPr>
            <a:spLocks xmlns:a="http://schemas.openxmlformats.org/drawingml/2006/main" noGrp="1"/>
          </p:cNvSpPr>
          <p:nvPr/>
        </p:nvSpPr>
        <p:spPr>
          <a:xfrm xmlns:a="http://schemas.openxmlformats.org/drawingml/2006/main">
            <a:off x="1238250" y="2695575"/>
            <a:ext cx="114300" cy="114300"/>
          </a:xfrm>
          <a:prstGeom xmlns:a="http://schemas.openxmlformats.org/drawingml/2006/main" prst="rect">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F50D9345-3D90-4ADB-8B0E-AC4618397D62}"/>
              </a:ext>
            </a:extLst>
          </p:cNvPr>
          <p:cNvSpPr>
            <a:spLocks xmlns:a="http://schemas.openxmlformats.org/drawingml/2006/main" noGrp="1"/>
          </p:cNvSpPr>
          <p:nvPr/>
        </p:nvSpPr>
        <p:spPr>
          <a:xfrm xmlns:a="http://schemas.openxmlformats.org/drawingml/2006/main">
            <a:off x="1504950" y="2628900"/>
            <a:ext cx="7924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FFFFFF"/>
                </a:solidFill>
                <a:latin typeface="Aptos"/>
                <a:ea typeface="Aptos"/>
                <a:cs typeface="Aptos"/>
              </a:defRPr>
            </a:pPr>
            <a:r>
              <a:rPr sz="1500" b="0">
                <a:solidFill>
                  <a:srgbClr val="FFFFFF"/>
                </a:solidFill>
                <a:latin typeface="Aptos"/>
                <a:ea typeface="Aptos"/>
                <a:cs typeface="Aptos"/>
              </a:rPr>
              <a:t>Local agents keep identifying patient data inside each hospital.</a:t>
            </a:r>
          </a:p>
        </p:txBody>
      </p:sp>
      <p:sp>
        <p:nvSpPr>
          <p:cNvPr id="7" name="Rectangle 6">
            <a:extLst xmlns:a="http://schemas.openxmlformats.org/drawingml/2006/main">
              <a:ext uri="{FF2B5EF4-FFF2-40B4-BE49-F238E27FC236}">
                <a16:creationId xmlns:a16="http://schemas.microsoft.com/office/drawing/2014/main" id="{34E22953-DC38-4E78-9226-CFA14AEE5151}"/>
              </a:ext>
            </a:extLst>
          </p:cNvPr>
          <p:cNvSpPr>
            <a:spLocks xmlns:a="http://schemas.openxmlformats.org/drawingml/2006/main" noGrp="1"/>
          </p:cNvSpPr>
          <p:nvPr/>
        </p:nvSpPr>
        <p:spPr>
          <a:xfrm xmlns:a="http://schemas.openxmlformats.org/drawingml/2006/main">
            <a:off x="1238250" y="3190875"/>
            <a:ext cx="114300" cy="114300"/>
          </a:xfrm>
          <a:prstGeom xmlns:a="http://schemas.openxmlformats.org/drawingml/2006/main" prst="rect">
            <a:avLst/>
          </a:prstGeom>
          <a:solidFill xmlns:a="http://schemas.openxmlformats.org/drawingml/2006/main">
            <a:srgbClr val="2D5B7C"/>
          </a:solidFill>
          <a:ln xmlns:a="http://schemas.openxmlformats.org/drawingml/2006/main" w="9525">
            <a:solidFill>
              <a:srgbClr val="2D5B7C"/>
            </a:solidFill>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E201BC90-F2F2-4805-BA8E-271EFB531396}"/>
              </a:ext>
            </a:extLst>
          </p:cNvPr>
          <p:cNvSpPr>
            <a:spLocks xmlns:a="http://schemas.openxmlformats.org/drawingml/2006/main" noGrp="1"/>
          </p:cNvSpPr>
          <p:nvPr/>
        </p:nvSpPr>
        <p:spPr>
          <a:xfrm xmlns:a="http://schemas.openxmlformats.org/drawingml/2006/main">
            <a:off x="1504950" y="3124200"/>
            <a:ext cx="7924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FFFFFF"/>
                </a:solidFill>
                <a:latin typeface="Aptos"/>
                <a:ea typeface="Aptos"/>
                <a:cs typeface="Aptos"/>
              </a:defRPr>
            </a:pPr>
            <a:r>
              <a:rPr sz="1500" b="0">
                <a:solidFill>
                  <a:srgbClr val="FFFFFF"/>
                </a:solidFill>
                <a:latin typeface="Aptos"/>
                <a:ea typeface="Aptos"/>
                <a:cs typeface="Aptos"/>
              </a:rPr>
              <a:t>The global agent compares only approved summaries and coordinates updates.</a:t>
            </a:r>
          </a:p>
        </p:txBody>
      </p:sp>
      <p:sp>
        <p:nvSpPr>
          <p:cNvPr id="9" name="Rectangle 8">
            <a:extLst xmlns:a="http://schemas.openxmlformats.org/drawingml/2006/main">
              <a:ext uri="{FF2B5EF4-FFF2-40B4-BE49-F238E27FC236}">
                <a16:creationId xmlns:a16="http://schemas.microsoft.com/office/drawing/2014/main" id="{83C595F4-C3FC-4AC3-9C61-8E944966915E}"/>
              </a:ext>
            </a:extLst>
          </p:cNvPr>
          <p:cNvSpPr>
            <a:spLocks xmlns:a="http://schemas.openxmlformats.org/drawingml/2006/main" noGrp="1"/>
          </p:cNvSpPr>
          <p:nvPr/>
        </p:nvSpPr>
        <p:spPr>
          <a:xfrm xmlns:a="http://schemas.openxmlformats.org/drawingml/2006/main">
            <a:off x="1238250" y="3686175"/>
            <a:ext cx="114300" cy="114300"/>
          </a:xfrm>
          <a:prstGeom xmlns:a="http://schemas.openxmlformats.org/drawingml/2006/main" prst="rect">
            <a:avLst/>
          </a:prstGeom>
          <a:solidFill xmlns:a="http://schemas.openxmlformats.org/drawingml/2006/main">
            <a:srgbClr val="B4842B"/>
          </a:solidFill>
          <a:ln xmlns:a="http://schemas.openxmlformats.org/drawingml/2006/main" w="9525">
            <a:solidFill>
              <a:srgbClr val="B4842B"/>
            </a:solidFill>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DF788CBF-F21E-4EBF-9914-76AC84C9ADCD}"/>
              </a:ext>
            </a:extLst>
          </p:cNvPr>
          <p:cNvSpPr>
            <a:spLocks xmlns:a="http://schemas.openxmlformats.org/drawingml/2006/main" noGrp="1"/>
          </p:cNvSpPr>
          <p:nvPr/>
        </p:nvSpPr>
        <p:spPr>
          <a:xfrm xmlns:a="http://schemas.openxmlformats.org/drawingml/2006/main">
            <a:off x="1504950" y="3619500"/>
            <a:ext cx="7924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FFFFFF"/>
                </a:solidFill>
                <a:latin typeface="Aptos"/>
                <a:ea typeface="Aptos"/>
                <a:cs typeface="Aptos"/>
              </a:defRPr>
            </a:pPr>
            <a:r>
              <a:rPr sz="1500" b="0">
                <a:solidFill>
                  <a:srgbClr val="FFFFFF"/>
                </a:solidFill>
                <a:latin typeface="Aptos"/>
                <a:ea typeface="Aptos"/>
                <a:cs typeface="Aptos"/>
              </a:rPr>
              <a:t>Shared services reduce repeated engineering across hospitals and later diseases.</a:t>
            </a:r>
          </a:p>
        </p:txBody>
      </p:sp>
      <p:sp>
        <p:nvSpPr>
          <p:cNvPr id="11" name="Rectangle 10">
            <a:extLst xmlns:a="http://schemas.openxmlformats.org/drawingml/2006/main">
              <a:ext uri="{FF2B5EF4-FFF2-40B4-BE49-F238E27FC236}">
                <a16:creationId xmlns:a16="http://schemas.microsoft.com/office/drawing/2014/main" id="{191B8C96-263A-43AE-AA7B-D08F672A8504}"/>
              </a:ext>
            </a:extLst>
          </p:cNvPr>
          <p:cNvSpPr>
            <a:spLocks xmlns:a="http://schemas.openxmlformats.org/drawingml/2006/main" noGrp="1"/>
          </p:cNvSpPr>
          <p:nvPr/>
        </p:nvSpPr>
        <p:spPr>
          <a:xfrm xmlns:a="http://schemas.openxmlformats.org/drawingml/2006/main">
            <a:off x="1238250" y="4181475"/>
            <a:ext cx="114300" cy="114300"/>
          </a:xfrm>
          <a:prstGeom xmlns:a="http://schemas.openxmlformats.org/drawingml/2006/main" prst="rect">
            <a:avLst/>
          </a:prstGeom>
          <a:solidFill xmlns:a="http://schemas.openxmlformats.org/drawingml/2006/main">
            <a:srgbClr val="A34D3E"/>
          </a:solidFill>
          <a:ln xmlns:a="http://schemas.openxmlformats.org/drawingml/2006/main" w="9525">
            <a:solidFill>
              <a:srgbClr val="A34D3E"/>
            </a:solidFill>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229351B7-7389-422E-BC6A-7BB16FE694F4}"/>
              </a:ext>
            </a:extLst>
          </p:cNvPr>
          <p:cNvSpPr>
            <a:spLocks xmlns:a="http://schemas.openxmlformats.org/drawingml/2006/main" noGrp="1"/>
          </p:cNvSpPr>
          <p:nvPr/>
        </p:nvSpPr>
        <p:spPr>
          <a:xfrm xmlns:a="http://schemas.openxmlformats.org/drawingml/2006/main">
            <a:off x="1504950" y="4114800"/>
            <a:ext cx="7924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FFFFFF"/>
                </a:solidFill>
                <a:latin typeface="Aptos"/>
                <a:ea typeface="Aptos"/>
                <a:cs typeface="Aptos"/>
              </a:defRPr>
            </a:pPr>
            <a:r>
              <a:rPr sz="1500" b="0">
                <a:solidFill>
                  <a:srgbClr val="FFFFFF"/>
                </a:solidFill>
                <a:latin typeface="Aptos"/>
                <a:ea typeface="Aptos"/>
                <a:cs typeface="Aptos"/>
              </a:rPr>
              <a:t>HIPAA and SOC 2 work becomes a clear list of controls and supporting evidence.</a:t>
            </a:r>
          </a:p>
        </p:txBody>
      </p:sp>
      <p:sp>
        <p:nvSpPr>
          <p:cNvPr id="13" name="Rectangle 12">
            <a:extLst xmlns:a="http://schemas.openxmlformats.org/drawingml/2006/main">
              <a:ext uri="{FF2B5EF4-FFF2-40B4-BE49-F238E27FC236}">
                <a16:creationId xmlns:a16="http://schemas.microsoft.com/office/drawing/2014/main" id="{B7051E74-2CCC-4F86-A1EB-E60028ACCA68}"/>
              </a:ext>
            </a:extLst>
          </p:cNvPr>
          <p:cNvSpPr>
            <a:spLocks xmlns:a="http://schemas.openxmlformats.org/drawingml/2006/main" noGrp="1"/>
          </p:cNvSpPr>
          <p:nvPr/>
        </p:nvSpPr>
        <p:spPr>
          <a:xfrm xmlns:a="http://schemas.openxmlformats.org/drawingml/2006/main">
            <a:off x="1238250" y="4676775"/>
            <a:ext cx="114300" cy="114300"/>
          </a:xfrm>
          <a:prstGeom xmlns:a="http://schemas.openxmlformats.org/drawingml/2006/main" prst="rect">
            <a:avLst/>
          </a:prstGeom>
          <a:solidFill xmlns:a="http://schemas.openxmlformats.org/drawingml/2006/main">
            <a:srgbClr val="65549A"/>
          </a:solidFill>
          <a:ln xmlns:a="http://schemas.openxmlformats.org/drawingml/2006/main" w="9525">
            <a:solidFill>
              <a:srgbClr val="65549A"/>
            </a:solidFill>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D8346266-EA9B-4C5E-A665-4242A6261EA6}"/>
              </a:ext>
            </a:extLst>
          </p:cNvPr>
          <p:cNvSpPr>
            <a:spLocks xmlns:a="http://schemas.openxmlformats.org/drawingml/2006/main" noGrp="1"/>
          </p:cNvSpPr>
          <p:nvPr/>
        </p:nvSpPr>
        <p:spPr>
          <a:xfrm xmlns:a="http://schemas.openxmlformats.org/drawingml/2006/main">
            <a:off x="1504950" y="4610100"/>
            <a:ext cx="7924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FFFFFF"/>
                </a:solidFill>
                <a:latin typeface="Aptos"/>
                <a:ea typeface="Aptos"/>
                <a:cs typeface="Aptos"/>
              </a:defRPr>
            </a:pPr>
            <a:r>
              <a:rPr sz="1500" b="0">
                <a:solidFill>
                  <a:srgbClr val="FFFFFF"/>
                </a:solidFill>
                <a:latin typeface="Aptos"/>
                <a:ea typeface="Aptos"/>
                <a:cs typeface="Aptos"/>
              </a:rPr>
              <a:t>Each new disease still needs its own data rules, validated model, workflow, and safety review.</a:t>
            </a:r>
          </a:p>
        </p:txBody>
      </p:sp>
      <p:sp>
        <p:nvSpPr>
          <p:cNvPr id="15" name="Rectangle 14">
            <a:extLst xmlns:a="http://schemas.openxmlformats.org/drawingml/2006/main">
              <a:ext uri="{FF2B5EF4-FFF2-40B4-BE49-F238E27FC236}">
                <a16:creationId xmlns:a16="http://schemas.microsoft.com/office/drawing/2014/main" id="{6D813CCE-EE3F-4E16-87AA-303D37C09902}"/>
              </a:ext>
            </a:extLst>
          </p:cNvPr>
          <p:cNvSpPr>
            <a:spLocks xmlns:a="http://schemas.openxmlformats.org/drawingml/2006/main" noGrp="1"/>
          </p:cNvSpPr>
          <p:nvPr/>
        </p:nvSpPr>
        <p:spPr>
          <a:xfrm xmlns:a="http://schemas.openxmlformats.org/drawingml/2006/main">
            <a:off x="666750" y="645795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94A39A"/>
                </a:solidFill>
                <a:latin typeface="Aptos"/>
                <a:ea typeface="Aptos"/>
                <a:cs typeface="Aptos"/>
              </a:defRPr>
            </a:pPr>
            <a:r>
              <a:rPr sz="825" b="0">
                <a:solidFill>
                  <a:srgbClr val="94A39A"/>
                </a:solidFill>
                <a:latin typeface="Aptos"/>
                <a:ea typeface="Aptos"/>
                <a:cs typeface="Aptos"/>
              </a:rPr>
              <a:t>Dagents Healthcare / 20</a:t>
            </a:r>
          </a:p>
        </p:txBody>
      </p:sp>
    </p:spTree>
    <p:extLst>
      <p:ext uri="{BB962C8B-B14F-4D97-AF65-F5344CB8AC3E}">
        <p14:creationId xmlns:p14="http://schemas.microsoft.com/office/powerpoint/2010/main" val="2484234"/>
      </p:ext>
    </p:extLst>
  </p:cSld>
</p:sld>
</file>

<file path=ppt/slides/slide2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C8DBD12-B4E5-4D50-862A-EE95276939B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GLOSSARY</a:t>
            </a:r>
          </a:p>
        </p:txBody>
      </p:sp>
      <p:sp>
        <p:nvSpPr>
          <p:cNvPr id="3" name="TextBox 2">
            <a:extLst xmlns:a="http://schemas.openxmlformats.org/drawingml/2006/main">
              <a:ext uri="{FF2B5EF4-FFF2-40B4-BE49-F238E27FC236}">
                <a16:creationId xmlns:a16="http://schemas.microsoft.com/office/drawing/2014/main" id="{4CA5135A-B7C2-4A3F-A4B9-1A19657118BC}"/>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Healthcare terms used in this deck.</a:t>
            </a:r>
          </a:p>
        </p:txBody>
      </p:sp>
      <p:sp>
        <p:nvSpPr>
          <p:cNvPr id="4" name="TextBox 3">
            <a:extLst xmlns:a="http://schemas.openxmlformats.org/drawingml/2006/main">
              <a:ext uri="{FF2B5EF4-FFF2-40B4-BE49-F238E27FC236}">
                <a16:creationId xmlns:a16="http://schemas.microsoft.com/office/drawing/2014/main" id="{144F016E-D41B-49E9-9DA2-D7111539AAC2}"/>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Plain working definitions for this presentation—not medical or legal advice.</a:t>
            </a:r>
          </a:p>
        </p:txBody>
      </p:sp>
      <p:sp>
        <p:nvSpPr>
          <p:cNvPr id="5" name="Rectangle 4">
            <a:extLst xmlns:a="http://schemas.openxmlformats.org/drawingml/2006/main">
              <a:ext uri="{FF2B5EF4-FFF2-40B4-BE49-F238E27FC236}">
                <a16:creationId xmlns:a16="http://schemas.microsoft.com/office/drawing/2014/main" id="{9CE8E996-E424-4293-8C1C-AF9D6E1AB446}"/>
              </a:ext>
            </a:extLst>
          </p:cNvPr>
          <p:cNvSpPr>
            <a:spLocks xmlns:a="http://schemas.openxmlformats.org/drawingml/2006/main" noGrp="1"/>
          </p:cNvSpPr>
          <p:nvPr/>
        </p:nvSpPr>
        <p:spPr>
          <a:xfrm xmlns:a="http://schemas.openxmlformats.org/drawingml/2006/main">
            <a:off x="502920" y="1627632"/>
            <a:ext cx="2888589"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015342B3-FAB8-43E7-96EC-D556D6737311}"/>
              </a:ext>
            </a:extLst>
          </p:cNvPr>
          <p:cNvSpPr>
            <a:spLocks xmlns:a="http://schemas.openxmlformats.org/drawingml/2006/main" noGrp="1"/>
          </p:cNvSpPr>
          <p:nvPr/>
        </p:nvSpPr>
        <p:spPr>
          <a:xfrm xmlns:a="http://schemas.openxmlformats.org/drawingml/2006/main">
            <a:off x="576072" y="17007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Term</a:t>
            </a:r>
          </a:p>
        </p:txBody>
      </p:sp>
      <p:sp>
        <p:nvSpPr>
          <p:cNvPr id="7" name="Rectangle 6">
            <a:extLst xmlns:a="http://schemas.openxmlformats.org/drawingml/2006/main">
              <a:ext uri="{FF2B5EF4-FFF2-40B4-BE49-F238E27FC236}">
                <a16:creationId xmlns:a16="http://schemas.microsoft.com/office/drawing/2014/main" id="{352CF242-7638-4E68-8FA8-D78A0F42581E}"/>
              </a:ext>
            </a:extLst>
          </p:cNvPr>
          <p:cNvSpPr>
            <a:spLocks xmlns:a="http://schemas.openxmlformats.org/drawingml/2006/main" noGrp="1"/>
          </p:cNvSpPr>
          <p:nvPr/>
        </p:nvSpPr>
        <p:spPr>
          <a:xfrm xmlns:a="http://schemas.openxmlformats.org/drawingml/2006/main">
            <a:off x="3391509"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CF779A8A-1ADC-407D-865C-BB8D994150C0}"/>
              </a:ext>
            </a:extLst>
          </p:cNvPr>
          <p:cNvSpPr>
            <a:spLocks xmlns:a="http://schemas.openxmlformats.org/drawingml/2006/main" noGrp="1"/>
          </p:cNvSpPr>
          <p:nvPr/>
        </p:nvSpPr>
        <p:spPr>
          <a:xfrm xmlns:a="http://schemas.openxmlformats.org/drawingml/2006/main">
            <a:off x="3464661"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Plain meaning</a:t>
            </a:r>
          </a:p>
        </p:txBody>
      </p:sp>
      <p:sp>
        <p:nvSpPr>
          <p:cNvPr id="9" name="Rectangle 8">
            <a:extLst xmlns:a="http://schemas.openxmlformats.org/drawingml/2006/main">
              <a:ext uri="{FF2B5EF4-FFF2-40B4-BE49-F238E27FC236}">
                <a16:creationId xmlns:a16="http://schemas.microsoft.com/office/drawing/2014/main" id="{87467CD7-205E-45FC-9D3C-702CF1606E65}"/>
              </a:ext>
            </a:extLst>
          </p:cNvPr>
          <p:cNvSpPr>
            <a:spLocks xmlns:a="http://schemas.openxmlformats.org/drawingml/2006/main" noGrp="1"/>
          </p:cNvSpPr>
          <p:nvPr/>
        </p:nvSpPr>
        <p:spPr>
          <a:xfrm xmlns:a="http://schemas.openxmlformats.org/drawingml/2006/main">
            <a:off x="7502194"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12D5641A-7A5E-448B-8A7F-B80482867BF1}"/>
              </a:ext>
            </a:extLst>
          </p:cNvPr>
          <p:cNvSpPr>
            <a:spLocks xmlns:a="http://schemas.openxmlformats.org/drawingml/2006/main" noGrp="1"/>
          </p:cNvSpPr>
          <p:nvPr/>
        </p:nvSpPr>
        <p:spPr>
          <a:xfrm xmlns:a="http://schemas.openxmlformats.org/drawingml/2006/main">
            <a:off x="7575346"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Why it matters here</a:t>
            </a:r>
          </a:p>
        </p:txBody>
      </p:sp>
      <p:sp>
        <p:nvSpPr>
          <p:cNvPr id="11" name="Rectangle 10">
            <a:extLst xmlns:a="http://schemas.openxmlformats.org/drawingml/2006/main">
              <a:ext uri="{FF2B5EF4-FFF2-40B4-BE49-F238E27FC236}">
                <a16:creationId xmlns:a16="http://schemas.microsoft.com/office/drawing/2014/main" id="{60FEFA45-D8D3-4A9C-96A4-DF0C960481D7}"/>
              </a:ext>
            </a:extLst>
          </p:cNvPr>
          <p:cNvSpPr>
            <a:spLocks xmlns:a="http://schemas.openxmlformats.org/drawingml/2006/main" noGrp="1"/>
          </p:cNvSpPr>
          <p:nvPr/>
        </p:nvSpPr>
        <p:spPr>
          <a:xfrm xmlns:a="http://schemas.openxmlformats.org/drawingml/2006/main">
            <a:off x="502920" y="238201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0780A78-0661-4E04-B7B9-70E32540089F}"/>
              </a:ext>
            </a:extLst>
          </p:cNvPr>
          <p:cNvSpPr>
            <a:spLocks xmlns:a="http://schemas.openxmlformats.org/drawingml/2006/main" noGrp="1"/>
          </p:cNvSpPr>
          <p:nvPr/>
        </p:nvSpPr>
        <p:spPr>
          <a:xfrm xmlns:a="http://schemas.openxmlformats.org/drawingml/2006/main">
            <a:off x="576072" y="245516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Sepsis</a:t>
            </a:r>
          </a:p>
        </p:txBody>
      </p:sp>
      <p:sp>
        <p:nvSpPr>
          <p:cNvPr id="13" name="Rectangle 12">
            <a:extLst xmlns:a="http://schemas.openxmlformats.org/drawingml/2006/main">
              <a:ext uri="{FF2B5EF4-FFF2-40B4-BE49-F238E27FC236}">
                <a16:creationId xmlns:a16="http://schemas.microsoft.com/office/drawing/2014/main" id="{ED1933A7-9FF4-435B-B5FF-A7C3853C93C5}"/>
              </a:ext>
            </a:extLst>
          </p:cNvPr>
          <p:cNvSpPr>
            <a:spLocks xmlns:a="http://schemas.openxmlformats.org/drawingml/2006/main" noGrp="1"/>
          </p:cNvSpPr>
          <p:nvPr/>
        </p:nvSpPr>
        <p:spPr>
          <a:xfrm xmlns:a="http://schemas.openxmlformats.org/drawingml/2006/main">
            <a:off x="3391509"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61842238-9A3F-4E78-B85C-E0D55061F392}"/>
              </a:ext>
            </a:extLst>
          </p:cNvPr>
          <p:cNvSpPr>
            <a:spLocks xmlns:a="http://schemas.openxmlformats.org/drawingml/2006/main" noGrp="1"/>
          </p:cNvSpPr>
          <p:nvPr/>
        </p:nvSpPr>
        <p:spPr>
          <a:xfrm xmlns:a="http://schemas.openxmlformats.org/drawingml/2006/main">
            <a:off x="3464661"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The body's extreme response to infection; it can damage organs quickly</a:t>
            </a:r>
          </a:p>
        </p:txBody>
      </p:sp>
      <p:sp>
        <p:nvSpPr>
          <p:cNvPr id="15" name="Rectangle 14">
            <a:extLst xmlns:a="http://schemas.openxmlformats.org/drawingml/2006/main">
              <a:ext uri="{FF2B5EF4-FFF2-40B4-BE49-F238E27FC236}">
                <a16:creationId xmlns:a16="http://schemas.microsoft.com/office/drawing/2014/main" id="{98451E3A-FC4E-40B7-BC28-6148F8CF2167}"/>
              </a:ext>
            </a:extLst>
          </p:cNvPr>
          <p:cNvSpPr>
            <a:spLocks xmlns:a="http://schemas.openxmlformats.org/drawingml/2006/main" noGrp="1"/>
          </p:cNvSpPr>
          <p:nvPr/>
        </p:nvSpPr>
        <p:spPr>
          <a:xfrm xmlns:a="http://schemas.openxmlformats.org/drawingml/2006/main">
            <a:off x="7502194"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7274E3E5-309C-446F-98C9-71A8971D04D0}"/>
              </a:ext>
            </a:extLst>
          </p:cNvPr>
          <p:cNvSpPr>
            <a:spLocks xmlns:a="http://schemas.openxmlformats.org/drawingml/2006/main" noGrp="1"/>
          </p:cNvSpPr>
          <p:nvPr/>
        </p:nvSpPr>
        <p:spPr>
          <a:xfrm xmlns:a="http://schemas.openxmlformats.org/drawingml/2006/main">
            <a:off x="7575346"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Chosen first because delays matter and many hospital signals must be coordinated</a:t>
            </a:r>
          </a:p>
        </p:txBody>
      </p:sp>
      <p:sp>
        <p:nvSpPr>
          <p:cNvPr id="17" name="Rectangle 16">
            <a:extLst xmlns:a="http://schemas.openxmlformats.org/drawingml/2006/main">
              <a:ext uri="{FF2B5EF4-FFF2-40B4-BE49-F238E27FC236}">
                <a16:creationId xmlns:a16="http://schemas.microsoft.com/office/drawing/2014/main" id="{845E18DC-73DC-4E75-9B6E-E9FD5FA926E0}"/>
              </a:ext>
            </a:extLst>
          </p:cNvPr>
          <p:cNvSpPr>
            <a:spLocks xmlns:a="http://schemas.openxmlformats.org/drawingml/2006/main" noGrp="1"/>
          </p:cNvSpPr>
          <p:nvPr/>
        </p:nvSpPr>
        <p:spPr>
          <a:xfrm xmlns:a="http://schemas.openxmlformats.org/drawingml/2006/main">
            <a:off x="502920" y="313639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118314E-8CA6-45E6-9DB4-5A0A01FE4EF5}"/>
              </a:ext>
            </a:extLst>
          </p:cNvPr>
          <p:cNvSpPr>
            <a:spLocks xmlns:a="http://schemas.openxmlformats.org/drawingml/2006/main" noGrp="1"/>
          </p:cNvSpPr>
          <p:nvPr/>
        </p:nvSpPr>
        <p:spPr>
          <a:xfrm xmlns:a="http://schemas.openxmlformats.org/drawingml/2006/main">
            <a:off x="576072" y="320954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EHR</a:t>
            </a:r>
          </a:p>
        </p:txBody>
      </p:sp>
      <p:sp>
        <p:nvSpPr>
          <p:cNvPr id="19" name="Rectangle 18">
            <a:extLst xmlns:a="http://schemas.openxmlformats.org/drawingml/2006/main">
              <a:ext uri="{FF2B5EF4-FFF2-40B4-BE49-F238E27FC236}">
                <a16:creationId xmlns:a16="http://schemas.microsoft.com/office/drawing/2014/main" id="{0AD4F55D-7290-4A1A-B1AA-1202B3E96581}"/>
              </a:ext>
            </a:extLst>
          </p:cNvPr>
          <p:cNvSpPr>
            <a:spLocks xmlns:a="http://schemas.openxmlformats.org/drawingml/2006/main" noGrp="1"/>
          </p:cNvSpPr>
          <p:nvPr/>
        </p:nvSpPr>
        <p:spPr>
          <a:xfrm xmlns:a="http://schemas.openxmlformats.org/drawingml/2006/main">
            <a:off x="3391509"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579DA9AE-C9EA-4E8B-99E2-9C3D9CA6335A}"/>
              </a:ext>
            </a:extLst>
          </p:cNvPr>
          <p:cNvSpPr>
            <a:spLocks xmlns:a="http://schemas.openxmlformats.org/drawingml/2006/main" noGrp="1"/>
          </p:cNvSpPr>
          <p:nvPr/>
        </p:nvSpPr>
        <p:spPr>
          <a:xfrm xmlns:a="http://schemas.openxmlformats.org/drawingml/2006/main">
            <a:off x="3464661"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 hospital's digital patient record</a:t>
            </a:r>
          </a:p>
        </p:txBody>
      </p:sp>
      <p:sp>
        <p:nvSpPr>
          <p:cNvPr id="21" name="Rectangle 20">
            <a:extLst xmlns:a="http://schemas.openxmlformats.org/drawingml/2006/main">
              <a:ext uri="{FF2B5EF4-FFF2-40B4-BE49-F238E27FC236}">
                <a16:creationId xmlns:a16="http://schemas.microsoft.com/office/drawing/2014/main" id="{3859F6ED-810F-4C83-86D5-41384E8BEAFA}"/>
              </a:ext>
            </a:extLst>
          </p:cNvPr>
          <p:cNvSpPr>
            <a:spLocks xmlns:a="http://schemas.openxmlformats.org/drawingml/2006/main" noGrp="1"/>
          </p:cNvSpPr>
          <p:nvPr/>
        </p:nvSpPr>
        <p:spPr>
          <a:xfrm xmlns:a="http://schemas.openxmlformats.org/drawingml/2006/main">
            <a:off x="7502194"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ABA3B850-E077-4340-B122-134E8C1E3C94}"/>
              </a:ext>
            </a:extLst>
          </p:cNvPr>
          <p:cNvSpPr>
            <a:spLocks xmlns:a="http://schemas.openxmlformats.org/drawingml/2006/main" noGrp="1"/>
          </p:cNvSpPr>
          <p:nvPr/>
        </p:nvSpPr>
        <p:spPr>
          <a:xfrm xmlns:a="http://schemas.openxmlformats.org/drawingml/2006/main">
            <a:off x="7575346"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Source of vital signs, lab results, medicines, and visit information</a:t>
            </a:r>
          </a:p>
        </p:txBody>
      </p:sp>
      <p:sp>
        <p:nvSpPr>
          <p:cNvPr id="23" name="Rectangle 22">
            <a:extLst xmlns:a="http://schemas.openxmlformats.org/drawingml/2006/main">
              <a:ext uri="{FF2B5EF4-FFF2-40B4-BE49-F238E27FC236}">
                <a16:creationId xmlns:a16="http://schemas.microsoft.com/office/drawing/2014/main" id="{80906D7F-DE00-4FB9-B671-BE04D37B5AED}"/>
              </a:ext>
            </a:extLst>
          </p:cNvPr>
          <p:cNvSpPr>
            <a:spLocks xmlns:a="http://schemas.openxmlformats.org/drawingml/2006/main" noGrp="1"/>
          </p:cNvSpPr>
          <p:nvPr/>
        </p:nvSpPr>
        <p:spPr>
          <a:xfrm xmlns:a="http://schemas.openxmlformats.org/drawingml/2006/main">
            <a:off x="502920" y="389077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42AE019-BFA0-4AA7-AF8E-95A18B590175}"/>
              </a:ext>
            </a:extLst>
          </p:cNvPr>
          <p:cNvSpPr>
            <a:spLocks xmlns:a="http://schemas.openxmlformats.org/drawingml/2006/main" noGrp="1"/>
          </p:cNvSpPr>
          <p:nvPr/>
        </p:nvSpPr>
        <p:spPr>
          <a:xfrm xmlns:a="http://schemas.openxmlformats.org/drawingml/2006/main">
            <a:off x="576072" y="396392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PHI</a:t>
            </a:r>
          </a:p>
        </p:txBody>
      </p:sp>
      <p:sp>
        <p:nvSpPr>
          <p:cNvPr id="25" name="Rectangle 24">
            <a:extLst xmlns:a="http://schemas.openxmlformats.org/drawingml/2006/main">
              <a:ext uri="{FF2B5EF4-FFF2-40B4-BE49-F238E27FC236}">
                <a16:creationId xmlns:a16="http://schemas.microsoft.com/office/drawing/2014/main" id="{41EAF58D-8638-4C52-B131-4FB895092805}"/>
              </a:ext>
            </a:extLst>
          </p:cNvPr>
          <p:cNvSpPr>
            <a:spLocks xmlns:a="http://schemas.openxmlformats.org/drawingml/2006/main" noGrp="1"/>
          </p:cNvSpPr>
          <p:nvPr/>
        </p:nvSpPr>
        <p:spPr>
          <a:xfrm xmlns:a="http://schemas.openxmlformats.org/drawingml/2006/main">
            <a:off x="3391509"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5CF9B0E1-A2E7-48D6-802D-BFA82A23E450}"/>
              </a:ext>
            </a:extLst>
          </p:cNvPr>
          <p:cNvSpPr>
            <a:spLocks xmlns:a="http://schemas.openxmlformats.org/drawingml/2006/main" noGrp="1"/>
          </p:cNvSpPr>
          <p:nvPr/>
        </p:nvSpPr>
        <p:spPr>
          <a:xfrm xmlns:a="http://schemas.openxmlformats.org/drawingml/2006/main">
            <a:off x="3464661"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Health information that can identify a person</a:t>
            </a:r>
          </a:p>
        </p:txBody>
      </p:sp>
      <p:sp>
        <p:nvSpPr>
          <p:cNvPr id="27" name="Rectangle 26">
            <a:extLst xmlns:a="http://schemas.openxmlformats.org/drawingml/2006/main">
              <a:ext uri="{FF2B5EF4-FFF2-40B4-BE49-F238E27FC236}">
                <a16:creationId xmlns:a16="http://schemas.microsoft.com/office/drawing/2014/main" id="{B247C103-7BCD-4BBF-8FED-74868A3C3695}"/>
              </a:ext>
            </a:extLst>
          </p:cNvPr>
          <p:cNvSpPr>
            <a:spLocks xmlns:a="http://schemas.openxmlformats.org/drawingml/2006/main" noGrp="1"/>
          </p:cNvSpPr>
          <p:nvPr/>
        </p:nvSpPr>
        <p:spPr>
          <a:xfrm xmlns:a="http://schemas.openxmlformats.org/drawingml/2006/main">
            <a:off x="7502194"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B7EA3D92-36D0-4F25-8F70-B08D576FB91C}"/>
              </a:ext>
            </a:extLst>
          </p:cNvPr>
          <p:cNvSpPr>
            <a:spLocks xmlns:a="http://schemas.openxmlformats.org/drawingml/2006/main" noGrp="1"/>
          </p:cNvSpPr>
          <p:nvPr/>
        </p:nvSpPr>
        <p:spPr>
          <a:xfrm xmlns:a="http://schemas.openxmlformats.org/drawingml/2006/main">
            <a:off x="7575346"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Kept inside the hospital unless an approved use allows sharing</a:t>
            </a:r>
          </a:p>
        </p:txBody>
      </p:sp>
      <p:sp>
        <p:nvSpPr>
          <p:cNvPr id="29" name="Rectangle 28">
            <a:extLst xmlns:a="http://schemas.openxmlformats.org/drawingml/2006/main">
              <a:ext uri="{FF2B5EF4-FFF2-40B4-BE49-F238E27FC236}">
                <a16:creationId xmlns:a16="http://schemas.microsoft.com/office/drawing/2014/main" id="{F6C8D755-973E-4DFA-A9BB-4D1561BC8F2D}"/>
              </a:ext>
            </a:extLst>
          </p:cNvPr>
          <p:cNvSpPr>
            <a:spLocks xmlns:a="http://schemas.openxmlformats.org/drawingml/2006/main" noGrp="1"/>
          </p:cNvSpPr>
          <p:nvPr/>
        </p:nvSpPr>
        <p:spPr>
          <a:xfrm xmlns:a="http://schemas.openxmlformats.org/drawingml/2006/main">
            <a:off x="502920" y="464515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0838EB1B-F066-4BCF-8C4F-5B2A81D6B611}"/>
              </a:ext>
            </a:extLst>
          </p:cNvPr>
          <p:cNvSpPr>
            <a:spLocks xmlns:a="http://schemas.openxmlformats.org/drawingml/2006/main" noGrp="1"/>
          </p:cNvSpPr>
          <p:nvPr/>
        </p:nvSpPr>
        <p:spPr>
          <a:xfrm xmlns:a="http://schemas.openxmlformats.org/drawingml/2006/main">
            <a:off x="576072" y="471830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Clinical decision support</a:t>
            </a:r>
          </a:p>
        </p:txBody>
      </p:sp>
      <p:sp>
        <p:nvSpPr>
          <p:cNvPr id="31" name="Rectangle 30">
            <a:extLst xmlns:a="http://schemas.openxmlformats.org/drawingml/2006/main">
              <a:ext uri="{FF2B5EF4-FFF2-40B4-BE49-F238E27FC236}">
                <a16:creationId xmlns:a16="http://schemas.microsoft.com/office/drawing/2014/main" id="{CB14006E-D9C0-4D92-BA26-C2AE0D7838DF}"/>
              </a:ext>
            </a:extLst>
          </p:cNvPr>
          <p:cNvSpPr>
            <a:spLocks xmlns:a="http://schemas.openxmlformats.org/drawingml/2006/main" noGrp="1"/>
          </p:cNvSpPr>
          <p:nvPr/>
        </p:nvSpPr>
        <p:spPr>
          <a:xfrm xmlns:a="http://schemas.openxmlformats.org/drawingml/2006/main">
            <a:off x="3391509"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7BC6A327-84A3-4C0C-92BA-5BF7E6A77F30}"/>
              </a:ext>
            </a:extLst>
          </p:cNvPr>
          <p:cNvSpPr>
            <a:spLocks xmlns:a="http://schemas.openxmlformats.org/drawingml/2006/main" noGrp="1"/>
          </p:cNvSpPr>
          <p:nvPr/>
        </p:nvSpPr>
        <p:spPr>
          <a:xfrm xmlns:a="http://schemas.openxmlformats.org/drawingml/2006/main">
            <a:off x="3464661"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Software advice shown to a clinician</a:t>
            </a:r>
          </a:p>
        </p:txBody>
      </p:sp>
      <p:sp>
        <p:nvSpPr>
          <p:cNvPr id="33" name="Rectangle 32">
            <a:extLst xmlns:a="http://schemas.openxmlformats.org/drawingml/2006/main">
              <a:ext uri="{FF2B5EF4-FFF2-40B4-BE49-F238E27FC236}">
                <a16:creationId xmlns:a16="http://schemas.microsoft.com/office/drawing/2014/main" id="{0C8831F0-7FE8-4CE5-9F5C-AC01B1C74153}"/>
              </a:ext>
            </a:extLst>
          </p:cNvPr>
          <p:cNvSpPr>
            <a:spLocks xmlns:a="http://schemas.openxmlformats.org/drawingml/2006/main" noGrp="1"/>
          </p:cNvSpPr>
          <p:nvPr/>
        </p:nvSpPr>
        <p:spPr>
          <a:xfrm xmlns:a="http://schemas.openxmlformats.org/drawingml/2006/main">
            <a:off x="7502194"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D9BC41C7-12CA-49DD-B21A-2842B470EEA6}"/>
              </a:ext>
            </a:extLst>
          </p:cNvPr>
          <p:cNvSpPr>
            <a:spLocks xmlns:a="http://schemas.openxmlformats.org/drawingml/2006/main" noGrp="1"/>
          </p:cNvSpPr>
          <p:nvPr/>
        </p:nvSpPr>
        <p:spPr>
          <a:xfrm xmlns:a="http://schemas.openxmlformats.org/drawingml/2006/main">
            <a:off x="7575346"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The clinician—not the software—makes the care decision</a:t>
            </a:r>
          </a:p>
        </p:txBody>
      </p:sp>
      <p:sp>
        <p:nvSpPr>
          <p:cNvPr id="35" name="Rectangle 34">
            <a:extLst xmlns:a="http://schemas.openxmlformats.org/drawingml/2006/main">
              <a:ext uri="{FF2B5EF4-FFF2-40B4-BE49-F238E27FC236}">
                <a16:creationId xmlns:a16="http://schemas.microsoft.com/office/drawing/2014/main" id="{8C08C939-B03B-40D8-A0AC-F9FECE411770}"/>
              </a:ext>
            </a:extLst>
          </p:cNvPr>
          <p:cNvSpPr>
            <a:spLocks xmlns:a="http://schemas.openxmlformats.org/drawingml/2006/main" noGrp="1"/>
          </p:cNvSpPr>
          <p:nvPr/>
        </p:nvSpPr>
        <p:spPr>
          <a:xfrm xmlns:a="http://schemas.openxmlformats.org/drawingml/2006/main">
            <a:off x="502920" y="539953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20428393-C352-48CE-8EE3-95676E46C147}"/>
              </a:ext>
            </a:extLst>
          </p:cNvPr>
          <p:cNvSpPr>
            <a:spLocks xmlns:a="http://schemas.openxmlformats.org/drawingml/2006/main" noGrp="1"/>
          </p:cNvSpPr>
          <p:nvPr/>
        </p:nvSpPr>
        <p:spPr>
          <a:xfrm xmlns:a="http://schemas.openxmlformats.org/drawingml/2006/main">
            <a:off x="576072" y="54726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Past-data test / silent live test</a:t>
            </a:r>
          </a:p>
        </p:txBody>
      </p:sp>
      <p:sp>
        <p:nvSpPr>
          <p:cNvPr id="37" name="Rectangle 36">
            <a:extLst xmlns:a="http://schemas.openxmlformats.org/drawingml/2006/main">
              <a:ext uri="{FF2B5EF4-FFF2-40B4-BE49-F238E27FC236}">
                <a16:creationId xmlns:a16="http://schemas.microsoft.com/office/drawing/2014/main" id="{89B7E1E8-B494-4075-9967-EAC444533778}"/>
              </a:ext>
            </a:extLst>
          </p:cNvPr>
          <p:cNvSpPr>
            <a:spLocks xmlns:a="http://schemas.openxmlformats.org/drawingml/2006/main" noGrp="1"/>
          </p:cNvSpPr>
          <p:nvPr/>
        </p:nvSpPr>
        <p:spPr>
          <a:xfrm xmlns:a="http://schemas.openxmlformats.org/drawingml/2006/main">
            <a:off x="3391509"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DDCB4B39-747E-485F-8D7F-1DA41FF4926A}"/>
              </a:ext>
            </a:extLst>
          </p:cNvPr>
          <p:cNvSpPr>
            <a:spLocks xmlns:a="http://schemas.openxmlformats.org/drawingml/2006/main" noGrp="1"/>
          </p:cNvSpPr>
          <p:nvPr/>
        </p:nvSpPr>
        <p:spPr>
          <a:xfrm xmlns:a="http://schemas.openxmlformats.org/drawingml/2006/main">
            <a:off x="3464661"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Test old records / run on live data without showing warnings</a:t>
            </a:r>
          </a:p>
        </p:txBody>
      </p:sp>
      <p:sp>
        <p:nvSpPr>
          <p:cNvPr id="39" name="Rectangle 38">
            <a:extLst xmlns:a="http://schemas.openxmlformats.org/drawingml/2006/main">
              <a:ext uri="{FF2B5EF4-FFF2-40B4-BE49-F238E27FC236}">
                <a16:creationId xmlns:a16="http://schemas.microsoft.com/office/drawing/2014/main" id="{A146F475-A664-45DE-8E1A-8D68FE14EB33}"/>
              </a:ext>
            </a:extLst>
          </p:cNvPr>
          <p:cNvSpPr>
            <a:spLocks xmlns:a="http://schemas.openxmlformats.org/drawingml/2006/main" noGrp="1"/>
          </p:cNvSpPr>
          <p:nvPr/>
        </p:nvSpPr>
        <p:spPr>
          <a:xfrm xmlns:a="http://schemas.openxmlformats.org/drawingml/2006/main">
            <a:off x="7502194"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AE4A41FF-3F45-423C-AE62-D1955E617499}"/>
              </a:ext>
            </a:extLst>
          </p:cNvPr>
          <p:cNvSpPr>
            <a:spLocks xmlns:a="http://schemas.openxmlformats.org/drawingml/2006/main" noGrp="1"/>
          </p:cNvSpPr>
          <p:nvPr/>
        </p:nvSpPr>
        <p:spPr>
          <a:xfrm xmlns:a="http://schemas.openxmlformats.org/drawingml/2006/main">
            <a:off x="7575346"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Safer steps before a limited clinician-facing pilot</a:t>
            </a:r>
          </a:p>
        </p:txBody>
      </p:sp>
      <p:sp>
        <p:nvSpPr>
          <p:cNvPr id="41" name="TextBox 40">
            <a:extLst xmlns:a="http://schemas.openxmlformats.org/drawingml/2006/main">
              <a:ext uri="{FF2B5EF4-FFF2-40B4-BE49-F238E27FC236}">
                <a16:creationId xmlns:a16="http://schemas.microsoft.com/office/drawing/2014/main" id="{E75FBFE2-8640-4A2C-801D-9487E96EEB43}"/>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Healthcare glossary / 21</a:t>
            </a:r>
          </a:p>
        </p:txBody>
      </p:sp>
    </p:spTree>
    <p:extLst>
      <p:ext uri="{BB962C8B-B14F-4D97-AF65-F5344CB8AC3E}">
        <p14:creationId xmlns:p14="http://schemas.microsoft.com/office/powerpoint/2010/main" val="1134147268"/>
      </p:ext>
    </p:extLst>
  </p:cSld>
</p:sld>
</file>

<file path=ppt/slides/slide2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C8DBD12-B4E5-4D50-862A-EE95276939B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GLOSSARY</a:t>
            </a:r>
          </a:p>
        </p:txBody>
      </p:sp>
      <p:sp>
        <p:nvSpPr>
          <p:cNvPr id="3" name="TextBox 2">
            <a:extLst xmlns:a="http://schemas.openxmlformats.org/drawingml/2006/main">
              <a:ext uri="{FF2B5EF4-FFF2-40B4-BE49-F238E27FC236}">
                <a16:creationId xmlns:a16="http://schemas.microsoft.com/office/drawing/2014/main" id="{4CA5135A-B7C2-4A3F-A4B9-1A19657118BC}"/>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Dagents and compliance terms used in this deck.</a:t>
            </a:r>
          </a:p>
        </p:txBody>
      </p:sp>
      <p:sp>
        <p:nvSpPr>
          <p:cNvPr id="4" name="TextBox 3">
            <a:extLst xmlns:a="http://schemas.openxmlformats.org/drawingml/2006/main">
              <a:ext uri="{FF2B5EF4-FFF2-40B4-BE49-F238E27FC236}">
                <a16:creationId xmlns:a16="http://schemas.microsoft.com/office/drawing/2014/main" id="{144F016E-D41B-49E9-9DA2-D7111539AAC2}"/>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These labels describe project roles and control frameworks—not automatic proof of safety or compliance.</a:t>
            </a:r>
          </a:p>
        </p:txBody>
      </p:sp>
      <p:sp>
        <p:nvSpPr>
          <p:cNvPr id="5" name="Rectangle 4">
            <a:extLst xmlns:a="http://schemas.openxmlformats.org/drawingml/2006/main">
              <a:ext uri="{FF2B5EF4-FFF2-40B4-BE49-F238E27FC236}">
                <a16:creationId xmlns:a16="http://schemas.microsoft.com/office/drawing/2014/main" id="{9CE8E996-E424-4293-8C1C-AF9D6E1AB446}"/>
              </a:ext>
            </a:extLst>
          </p:cNvPr>
          <p:cNvSpPr>
            <a:spLocks xmlns:a="http://schemas.openxmlformats.org/drawingml/2006/main" noGrp="1"/>
          </p:cNvSpPr>
          <p:nvPr/>
        </p:nvSpPr>
        <p:spPr>
          <a:xfrm xmlns:a="http://schemas.openxmlformats.org/drawingml/2006/main">
            <a:off x="502920" y="1627632"/>
            <a:ext cx="2888589"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015342B3-FAB8-43E7-96EC-D556D6737311}"/>
              </a:ext>
            </a:extLst>
          </p:cNvPr>
          <p:cNvSpPr>
            <a:spLocks xmlns:a="http://schemas.openxmlformats.org/drawingml/2006/main" noGrp="1"/>
          </p:cNvSpPr>
          <p:nvPr/>
        </p:nvSpPr>
        <p:spPr>
          <a:xfrm xmlns:a="http://schemas.openxmlformats.org/drawingml/2006/main">
            <a:off x="576072" y="17007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Term</a:t>
            </a:r>
          </a:p>
        </p:txBody>
      </p:sp>
      <p:sp>
        <p:nvSpPr>
          <p:cNvPr id="7" name="Rectangle 6">
            <a:extLst xmlns:a="http://schemas.openxmlformats.org/drawingml/2006/main">
              <a:ext uri="{FF2B5EF4-FFF2-40B4-BE49-F238E27FC236}">
                <a16:creationId xmlns:a16="http://schemas.microsoft.com/office/drawing/2014/main" id="{352CF242-7638-4E68-8FA8-D78A0F42581E}"/>
              </a:ext>
            </a:extLst>
          </p:cNvPr>
          <p:cNvSpPr>
            <a:spLocks xmlns:a="http://schemas.openxmlformats.org/drawingml/2006/main" noGrp="1"/>
          </p:cNvSpPr>
          <p:nvPr/>
        </p:nvSpPr>
        <p:spPr>
          <a:xfrm xmlns:a="http://schemas.openxmlformats.org/drawingml/2006/main">
            <a:off x="3391509"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CF779A8A-1ADC-407D-865C-BB8D994150C0}"/>
              </a:ext>
            </a:extLst>
          </p:cNvPr>
          <p:cNvSpPr>
            <a:spLocks xmlns:a="http://schemas.openxmlformats.org/drawingml/2006/main" noGrp="1"/>
          </p:cNvSpPr>
          <p:nvPr/>
        </p:nvSpPr>
        <p:spPr>
          <a:xfrm xmlns:a="http://schemas.openxmlformats.org/drawingml/2006/main">
            <a:off x="3464661"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Plain meaning</a:t>
            </a:r>
          </a:p>
        </p:txBody>
      </p:sp>
      <p:sp>
        <p:nvSpPr>
          <p:cNvPr id="9" name="Rectangle 8">
            <a:extLst xmlns:a="http://schemas.openxmlformats.org/drawingml/2006/main">
              <a:ext uri="{FF2B5EF4-FFF2-40B4-BE49-F238E27FC236}">
                <a16:creationId xmlns:a16="http://schemas.microsoft.com/office/drawing/2014/main" id="{87467CD7-205E-45FC-9D3C-702CF1606E65}"/>
              </a:ext>
            </a:extLst>
          </p:cNvPr>
          <p:cNvSpPr>
            <a:spLocks xmlns:a="http://schemas.openxmlformats.org/drawingml/2006/main" noGrp="1"/>
          </p:cNvSpPr>
          <p:nvPr/>
        </p:nvSpPr>
        <p:spPr>
          <a:xfrm xmlns:a="http://schemas.openxmlformats.org/drawingml/2006/main">
            <a:off x="7502194"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12D5641A-7A5E-448B-8A7F-B80482867BF1}"/>
              </a:ext>
            </a:extLst>
          </p:cNvPr>
          <p:cNvSpPr>
            <a:spLocks xmlns:a="http://schemas.openxmlformats.org/drawingml/2006/main" noGrp="1"/>
          </p:cNvSpPr>
          <p:nvPr/>
        </p:nvSpPr>
        <p:spPr>
          <a:xfrm xmlns:a="http://schemas.openxmlformats.org/drawingml/2006/main">
            <a:off x="7575346"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Why it matters here</a:t>
            </a:r>
          </a:p>
        </p:txBody>
      </p:sp>
      <p:sp>
        <p:nvSpPr>
          <p:cNvPr id="11" name="Rectangle 10">
            <a:extLst xmlns:a="http://schemas.openxmlformats.org/drawingml/2006/main">
              <a:ext uri="{FF2B5EF4-FFF2-40B4-BE49-F238E27FC236}">
                <a16:creationId xmlns:a16="http://schemas.microsoft.com/office/drawing/2014/main" id="{60FEFA45-D8D3-4A9C-96A4-DF0C960481D7}"/>
              </a:ext>
            </a:extLst>
          </p:cNvPr>
          <p:cNvSpPr>
            <a:spLocks xmlns:a="http://schemas.openxmlformats.org/drawingml/2006/main" noGrp="1"/>
          </p:cNvSpPr>
          <p:nvPr/>
        </p:nvSpPr>
        <p:spPr>
          <a:xfrm xmlns:a="http://schemas.openxmlformats.org/drawingml/2006/main">
            <a:off x="502920" y="238201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0780A78-0661-4E04-B7B9-70E32540089F}"/>
              </a:ext>
            </a:extLst>
          </p:cNvPr>
          <p:cNvSpPr>
            <a:spLocks xmlns:a="http://schemas.openxmlformats.org/drawingml/2006/main" noGrp="1"/>
          </p:cNvSpPr>
          <p:nvPr/>
        </p:nvSpPr>
        <p:spPr>
          <a:xfrm xmlns:a="http://schemas.openxmlformats.org/drawingml/2006/main">
            <a:off x="576072" y="245516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LMA / GMA</a:t>
            </a:r>
          </a:p>
        </p:txBody>
      </p:sp>
      <p:sp>
        <p:nvSpPr>
          <p:cNvPr id="13" name="Rectangle 12">
            <a:extLst xmlns:a="http://schemas.openxmlformats.org/drawingml/2006/main">
              <a:ext uri="{FF2B5EF4-FFF2-40B4-BE49-F238E27FC236}">
                <a16:creationId xmlns:a16="http://schemas.microsoft.com/office/drawing/2014/main" id="{ED1933A7-9FF4-435B-B5FF-A7C3853C93C5}"/>
              </a:ext>
            </a:extLst>
          </p:cNvPr>
          <p:cNvSpPr>
            <a:spLocks xmlns:a="http://schemas.openxmlformats.org/drawingml/2006/main" noGrp="1"/>
          </p:cNvSpPr>
          <p:nvPr/>
        </p:nvSpPr>
        <p:spPr>
          <a:xfrm xmlns:a="http://schemas.openxmlformats.org/drawingml/2006/main">
            <a:off x="3391509"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61842238-9A3F-4E78-B85C-E0D55061F392}"/>
              </a:ext>
            </a:extLst>
          </p:cNvPr>
          <p:cNvSpPr>
            <a:spLocks xmlns:a="http://schemas.openxmlformats.org/drawingml/2006/main" noGrp="1"/>
          </p:cNvSpPr>
          <p:nvPr/>
        </p:nvSpPr>
        <p:spPr>
          <a:xfrm xmlns:a="http://schemas.openxmlformats.org/drawingml/2006/main">
            <a:off x="3464661"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Local agent in one hospital / global agent coordinating hospitals</a:t>
            </a:r>
          </a:p>
        </p:txBody>
      </p:sp>
      <p:sp>
        <p:nvSpPr>
          <p:cNvPr id="15" name="Rectangle 14">
            <a:extLst xmlns:a="http://schemas.openxmlformats.org/drawingml/2006/main">
              <a:ext uri="{FF2B5EF4-FFF2-40B4-BE49-F238E27FC236}">
                <a16:creationId xmlns:a16="http://schemas.microsoft.com/office/drawing/2014/main" id="{98451E3A-FC4E-40B7-BC28-6148F8CF2167}"/>
              </a:ext>
            </a:extLst>
          </p:cNvPr>
          <p:cNvSpPr>
            <a:spLocks xmlns:a="http://schemas.openxmlformats.org/drawingml/2006/main" noGrp="1"/>
          </p:cNvSpPr>
          <p:nvPr/>
        </p:nvSpPr>
        <p:spPr>
          <a:xfrm xmlns:a="http://schemas.openxmlformats.org/drawingml/2006/main">
            <a:off x="7502194"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7274E3E5-309C-446F-98C9-71A8971D04D0}"/>
              </a:ext>
            </a:extLst>
          </p:cNvPr>
          <p:cNvSpPr>
            <a:spLocks xmlns:a="http://schemas.openxmlformats.org/drawingml/2006/main" noGrp="1"/>
          </p:cNvSpPr>
          <p:nvPr/>
        </p:nvSpPr>
        <p:spPr>
          <a:xfrm xmlns:a="http://schemas.openxmlformats.org/drawingml/2006/main">
            <a:off x="7575346"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Separates patient-level work from approved cross-hospital learning</a:t>
            </a:r>
          </a:p>
        </p:txBody>
      </p:sp>
      <p:sp>
        <p:nvSpPr>
          <p:cNvPr id="17" name="Rectangle 16">
            <a:extLst xmlns:a="http://schemas.openxmlformats.org/drawingml/2006/main">
              <a:ext uri="{FF2B5EF4-FFF2-40B4-BE49-F238E27FC236}">
                <a16:creationId xmlns:a16="http://schemas.microsoft.com/office/drawing/2014/main" id="{845E18DC-73DC-4E75-9B6E-E9FD5FA926E0}"/>
              </a:ext>
            </a:extLst>
          </p:cNvPr>
          <p:cNvSpPr>
            <a:spLocks xmlns:a="http://schemas.openxmlformats.org/drawingml/2006/main" noGrp="1"/>
          </p:cNvSpPr>
          <p:nvPr/>
        </p:nvSpPr>
        <p:spPr>
          <a:xfrm xmlns:a="http://schemas.openxmlformats.org/drawingml/2006/main">
            <a:off x="502920" y="313639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118314E-8CA6-45E6-9DB4-5A0A01FE4EF5}"/>
              </a:ext>
            </a:extLst>
          </p:cNvPr>
          <p:cNvSpPr>
            <a:spLocks xmlns:a="http://schemas.openxmlformats.org/drawingml/2006/main" noGrp="1"/>
          </p:cNvSpPr>
          <p:nvPr/>
        </p:nvSpPr>
        <p:spPr>
          <a:xfrm xmlns:a="http://schemas.openxmlformats.org/drawingml/2006/main">
            <a:off x="576072" y="320954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FHIR / HL7</a:t>
            </a:r>
          </a:p>
        </p:txBody>
      </p:sp>
      <p:sp>
        <p:nvSpPr>
          <p:cNvPr id="19" name="Rectangle 18">
            <a:extLst xmlns:a="http://schemas.openxmlformats.org/drawingml/2006/main">
              <a:ext uri="{FF2B5EF4-FFF2-40B4-BE49-F238E27FC236}">
                <a16:creationId xmlns:a16="http://schemas.microsoft.com/office/drawing/2014/main" id="{0AD4F55D-7290-4A1A-B1AA-1202B3E96581}"/>
              </a:ext>
            </a:extLst>
          </p:cNvPr>
          <p:cNvSpPr>
            <a:spLocks xmlns:a="http://schemas.openxmlformats.org/drawingml/2006/main" noGrp="1"/>
          </p:cNvSpPr>
          <p:nvPr/>
        </p:nvSpPr>
        <p:spPr>
          <a:xfrm xmlns:a="http://schemas.openxmlformats.org/drawingml/2006/main">
            <a:off x="3391509"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579DA9AE-C9EA-4E8B-99E2-9C3D9CA6335A}"/>
              </a:ext>
            </a:extLst>
          </p:cNvPr>
          <p:cNvSpPr>
            <a:spLocks xmlns:a="http://schemas.openxmlformats.org/drawingml/2006/main" noGrp="1"/>
          </p:cNvSpPr>
          <p:nvPr/>
        </p:nvSpPr>
        <p:spPr>
          <a:xfrm xmlns:a="http://schemas.openxmlformats.org/drawingml/2006/main">
            <a:off x="3464661"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Common standards for exchanging health data</a:t>
            </a:r>
          </a:p>
        </p:txBody>
      </p:sp>
      <p:sp>
        <p:nvSpPr>
          <p:cNvPr id="21" name="Rectangle 20">
            <a:extLst xmlns:a="http://schemas.openxmlformats.org/drawingml/2006/main">
              <a:ext uri="{FF2B5EF4-FFF2-40B4-BE49-F238E27FC236}">
                <a16:creationId xmlns:a16="http://schemas.microsoft.com/office/drawing/2014/main" id="{3859F6ED-810F-4C83-86D5-41384E8BEAFA}"/>
              </a:ext>
            </a:extLst>
          </p:cNvPr>
          <p:cNvSpPr>
            <a:spLocks xmlns:a="http://schemas.openxmlformats.org/drawingml/2006/main" noGrp="1"/>
          </p:cNvSpPr>
          <p:nvPr/>
        </p:nvSpPr>
        <p:spPr>
          <a:xfrm xmlns:a="http://schemas.openxmlformats.org/drawingml/2006/main">
            <a:off x="7502194"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ABA3B850-E077-4340-B122-134E8C1E3C94}"/>
              </a:ext>
            </a:extLst>
          </p:cNvPr>
          <p:cNvSpPr>
            <a:spLocks xmlns:a="http://schemas.openxmlformats.org/drawingml/2006/main" noGrp="1"/>
          </p:cNvSpPr>
          <p:nvPr/>
        </p:nvSpPr>
        <p:spPr>
          <a:xfrm xmlns:a="http://schemas.openxmlformats.org/drawingml/2006/main">
            <a:off x="7575346"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Connectors translate different hospital systems into consistent inputs</a:t>
            </a:r>
          </a:p>
        </p:txBody>
      </p:sp>
      <p:sp>
        <p:nvSpPr>
          <p:cNvPr id="23" name="Rectangle 22">
            <a:extLst xmlns:a="http://schemas.openxmlformats.org/drawingml/2006/main">
              <a:ext uri="{FF2B5EF4-FFF2-40B4-BE49-F238E27FC236}">
                <a16:creationId xmlns:a16="http://schemas.microsoft.com/office/drawing/2014/main" id="{80906D7F-DE00-4FB9-B671-BE04D37B5AED}"/>
              </a:ext>
            </a:extLst>
          </p:cNvPr>
          <p:cNvSpPr>
            <a:spLocks xmlns:a="http://schemas.openxmlformats.org/drawingml/2006/main" noGrp="1"/>
          </p:cNvSpPr>
          <p:nvPr/>
        </p:nvSpPr>
        <p:spPr>
          <a:xfrm xmlns:a="http://schemas.openxmlformats.org/drawingml/2006/main">
            <a:off x="502920" y="389077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42AE019-BFA0-4AA7-AF8E-95A18B590175}"/>
              </a:ext>
            </a:extLst>
          </p:cNvPr>
          <p:cNvSpPr>
            <a:spLocks xmlns:a="http://schemas.openxmlformats.org/drawingml/2006/main" noGrp="1"/>
          </p:cNvSpPr>
          <p:nvPr/>
        </p:nvSpPr>
        <p:spPr>
          <a:xfrm xmlns:a="http://schemas.openxmlformats.org/drawingml/2006/main">
            <a:off x="576072" y="396392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HIPAA</a:t>
            </a:r>
          </a:p>
        </p:txBody>
      </p:sp>
      <p:sp>
        <p:nvSpPr>
          <p:cNvPr id="25" name="Rectangle 24">
            <a:extLst xmlns:a="http://schemas.openxmlformats.org/drawingml/2006/main">
              <a:ext uri="{FF2B5EF4-FFF2-40B4-BE49-F238E27FC236}">
                <a16:creationId xmlns:a16="http://schemas.microsoft.com/office/drawing/2014/main" id="{41EAF58D-8638-4C52-B131-4FB895092805}"/>
              </a:ext>
            </a:extLst>
          </p:cNvPr>
          <p:cNvSpPr>
            <a:spLocks xmlns:a="http://schemas.openxmlformats.org/drawingml/2006/main" noGrp="1"/>
          </p:cNvSpPr>
          <p:nvPr/>
        </p:nvSpPr>
        <p:spPr>
          <a:xfrm xmlns:a="http://schemas.openxmlformats.org/drawingml/2006/main">
            <a:off x="3391509"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5CF9B0E1-A2E7-48D6-802D-BFA82A23E450}"/>
              </a:ext>
            </a:extLst>
          </p:cNvPr>
          <p:cNvSpPr>
            <a:spLocks xmlns:a="http://schemas.openxmlformats.org/drawingml/2006/main" noGrp="1"/>
          </p:cNvSpPr>
          <p:nvPr/>
        </p:nvSpPr>
        <p:spPr>
          <a:xfrm xmlns:a="http://schemas.openxmlformats.org/drawingml/2006/main">
            <a:off x="3464661"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U.S. rules for protecting patient health information</a:t>
            </a:r>
          </a:p>
        </p:txBody>
      </p:sp>
      <p:sp>
        <p:nvSpPr>
          <p:cNvPr id="27" name="Rectangle 26">
            <a:extLst xmlns:a="http://schemas.openxmlformats.org/drawingml/2006/main">
              <a:ext uri="{FF2B5EF4-FFF2-40B4-BE49-F238E27FC236}">
                <a16:creationId xmlns:a16="http://schemas.microsoft.com/office/drawing/2014/main" id="{B247C103-7BCD-4BBF-8FED-74868A3C3695}"/>
              </a:ext>
            </a:extLst>
          </p:cNvPr>
          <p:cNvSpPr>
            <a:spLocks xmlns:a="http://schemas.openxmlformats.org/drawingml/2006/main" noGrp="1"/>
          </p:cNvSpPr>
          <p:nvPr/>
        </p:nvSpPr>
        <p:spPr>
          <a:xfrm xmlns:a="http://schemas.openxmlformats.org/drawingml/2006/main">
            <a:off x="7502194"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B7EA3D92-36D0-4F25-8F70-B08D576FB91C}"/>
              </a:ext>
            </a:extLst>
          </p:cNvPr>
          <p:cNvSpPr>
            <a:spLocks xmlns:a="http://schemas.openxmlformats.org/drawingml/2006/main" noGrp="1"/>
          </p:cNvSpPr>
          <p:nvPr/>
        </p:nvSpPr>
        <p:spPr>
          <a:xfrm xmlns:a="http://schemas.openxmlformats.org/drawingml/2006/main">
            <a:off x="7575346"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Guides privacy and security controls; architecture alone is not compliance</a:t>
            </a:r>
          </a:p>
        </p:txBody>
      </p:sp>
      <p:sp>
        <p:nvSpPr>
          <p:cNvPr id="29" name="Rectangle 28">
            <a:extLst xmlns:a="http://schemas.openxmlformats.org/drawingml/2006/main">
              <a:ext uri="{FF2B5EF4-FFF2-40B4-BE49-F238E27FC236}">
                <a16:creationId xmlns:a16="http://schemas.microsoft.com/office/drawing/2014/main" id="{F6C8D755-973E-4DFA-A9BB-4D1561BC8F2D}"/>
              </a:ext>
            </a:extLst>
          </p:cNvPr>
          <p:cNvSpPr>
            <a:spLocks xmlns:a="http://schemas.openxmlformats.org/drawingml/2006/main" noGrp="1"/>
          </p:cNvSpPr>
          <p:nvPr/>
        </p:nvSpPr>
        <p:spPr>
          <a:xfrm xmlns:a="http://schemas.openxmlformats.org/drawingml/2006/main">
            <a:off x="502920" y="464515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0838EB1B-F066-4BCF-8C4F-5B2A81D6B611}"/>
              </a:ext>
            </a:extLst>
          </p:cNvPr>
          <p:cNvSpPr>
            <a:spLocks xmlns:a="http://schemas.openxmlformats.org/drawingml/2006/main" noGrp="1"/>
          </p:cNvSpPr>
          <p:nvPr/>
        </p:nvSpPr>
        <p:spPr>
          <a:xfrm xmlns:a="http://schemas.openxmlformats.org/drawingml/2006/main">
            <a:off x="576072" y="471830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SOC 2</a:t>
            </a:r>
          </a:p>
        </p:txBody>
      </p:sp>
      <p:sp>
        <p:nvSpPr>
          <p:cNvPr id="31" name="Rectangle 30">
            <a:extLst xmlns:a="http://schemas.openxmlformats.org/drawingml/2006/main">
              <a:ext uri="{FF2B5EF4-FFF2-40B4-BE49-F238E27FC236}">
                <a16:creationId xmlns:a16="http://schemas.microsoft.com/office/drawing/2014/main" id="{CB14006E-D9C0-4D92-BA26-C2AE0D7838DF}"/>
              </a:ext>
            </a:extLst>
          </p:cNvPr>
          <p:cNvSpPr>
            <a:spLocks xmlns:a="http://schemas.openxmlformats.org/drawingml/2006/main" noGrp="1"/>
          </p:cNvSpPr>
          <p:nvPr/>
        </p:nvSpPr>
        <p:spPr>
          <a:xfrm xmlns:a="http://schemas.openxmlformats.org/drawingml/2006/main">
            <a:off x="3391509"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7BC6A327-84A3-4C0C-92BA-5BF7E6A77F30}"/>
              </a:ext>
            </a:extLst>
          </p:cNvPr>
          <p:cNvSpPr>
            <a:spLocks xmlns:a="http://schemas.openxmlformats.org/drawingml/2006/main" noGrp="1"/>
          </p:cNvSpPr>
          <p:nvPr/>
        </p:nvSpPr>
        <p:spPr>
          <a:xfrm xmlns:a="http://schemas.openxmlformats.org/drawingml/2006/main">
            <a:off x="3464661"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Independent review of service security and reliability controls</a:t>
            </a:r>
          </a:p>
        </p:txBody>
      </p:sp>
      <p:sp>
        <p:nvSpPr>
          <p:cNvPr id="33" name="Rectangle 32">
            <a:extLst xmlns:a="http://schemas.openxmlformats.org/drawingml/2006/main">
              <a:ext uri="{FF2B5EF4-FFF2-40B4-BE49-F238E27FC236}">
                <a16:creationId xmlns:a16="http://schemas.microsoft.com/office/drawing/2014/main" id="{0C8831F0-7FE8-4CE5-9F5C-AC01B1C74153}"/>
              </a:ext>
            </a:extLst>
          </p:cNvPr>
          <p:cNvSpPr>
            <a:spLocks xmlns:a="http://schemas.openxmlformats.org/drawingml/2006/main" noGrp="1"/>
          </p:cNvSpPr>
          <p:nvPr/>
        </p:nvSpPr>
        <p:spPr>
          <a:xfrm xmlns:a="http://schemas.openxmlformats.org/drawingml/2006/main">
            <a:off x="7502194"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D9BC41C7-12CA-49DD-B21A-2842B470EEA6}"/>
              </a:ext>
            </a:extLst>
          </p:cNvPr>
          <p:cNvSpPr>
            <a:spLocks xmlns:a="http://schemas.openxmlformats.org/drawingml/2006/main" noGrp="1"/>
          </p:cNvSpPr>
          <p:nvPr/>
        </p:nvSpPr>
        <p:spPr>
          <a:xfrm xmlns:a="http://schemas.openxmlformats.org/drawingml/2006/main">
            <a:off x="7575346"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Requires working controls and evidence, not only design documents</a:t>
            </a:r>
          </a:p>
        </p:txBody>
      </p:sp>
      <p:sp>
        <p:nvSpPr>
          <p:cNvPr id="35" name="Rectangle 34">
            <a:extLst xmlns:a="http://schemas.openxmlformats.org/drawingml/2006/main">
              <a:ext uri="{FF2B5EF4-FFF2-40B4-BE49-F238E27FC236}">
                <a16:creationId xmlns:a16="http://schemas.microsoft.com/office/drawing/2014/main" id="{8C08C939-B03B-40D8-A0AC-F9FECE411770}"/>
              </a:ext>
            </a:extLst>
          </p:cNvPr>
          <p:cNvSpPr>
            <a:spLocks xmlns:a="http://schemas.openxmlformats.org/drawingml/2006/main" noGrp="1"/>
          </p:cNvSpPr>
          <p:nvPr/>
        </p:nvSpPr>
        <p:spPr>
          <a:xfrm xmlns:a="http://schemas.openxmlformats.org/drawingml/2006/main">
            <a:off x="502920" y="539953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20428393-C352-48CE-8EE3-95676E46C147}"/>
              </a:ext>
            </a:extLst>
          </p:cNvPr>
          <p:cNvSpPr>
            <a:spLocks xmlns:a="http://schemas.openxmlformats.org/drawingml/2006/main" noGrp="1"/>
          </p:cNvSpPr>
          <p:nvPr/>
        </p:nvSpPr>
        <p:spPr>
          <a:xfrm xmlns:a="http://schemas.openxmlformats.org/drawingml/2006/main">
            <a:off x="576072" y="54726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Small rollout / rollback</a:t>
            </a:r>
          </a:p>
        </p:txBody>
      </p:sp>
      <p:sp>
        <p:nvSpPr>
          <p:cNvPr id="37" name="Rectangle 36">
            <a:extLst xmlns:a="http://schemas.openxmlformats.org/drawingml/2006/main">
              <a:ext uri="{FF2B5EF4-FFF2-40B4-BE49-F238E27FC236}">
                <a16:creationId xmlns:a16="http://schemas.microsoft.com/office/drawing/2014/main" id="{89B7E1E8-B494-4075-9967-EAC444533778}"/>
              </a:ext>
            </a:extLst>
          </p:cNvPr>
          <p:cNvSpPr>
            <a:spLocks xmlns:a="http://schemas.openxmlformats.org/drawingml/2006/main" noGrp="1"/>
          </p:cNvSpPr>
          <p:nvPr/>
        </p:nvSpPr>
        <p:spPr>
          <a:xfrm xmlns:a="http://schemas.openxmlformats.org/drawingml/2006/main">
            <a:off x="3391509"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DDCB4B39-747E-485F-8D7F-1DA41FF4926A}"/>
              </a:ext>
            </a:extLst>
          </p:cNvPr>
          <p:cNvSpPr>
            <a:spLocks xmlns:a="http://schemas.openxmlformats.org/drawingml/2006/main" noGrp="1"/>
          </p:cNvSpPr>
          <p:nvPr/>
        </p:nvSpPr>
        <p:spPr>
          <a:xfrm xmlns:a="http://schemas.openxmlformats.org/drawingml/2006/main">
            <a:off x="3464661"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Try an update at a few sites / return to the earlier safe version</a:t>
            </a:r>
          </a:p>
        </p:txBody>
      </p:sp>
      <p:sp>
        <p:nvSpPr>
          <p:cNvPr id="39" name="Rectangle 38">
            <a:extLst xmlns:a="http://schemas.openxmlformats.org/drawingml/2006/main">
              <a:ext uri="{FF2B5EF4-FFF2-40B4-BE49-F238E27FC236}">
                <a16:creationId xmlns:a16="http://schemas.microsoft.com/office/drawing/2014/main" id="{A146F475-A664-45DE-8E1A-8D68FE14EB33}"/>
              </a:ext>
            </a:extLst>
          </p:cNvPr>
          <p:cNvSpPr>
            <a:spLocks xmlns:a="http://schemas.openxmlformats.org/drawingml/2006/main" noGrp="1"/>
          </p:cNvSpPr>
          <p:nvPr/>
        </p:nvSpPr>
        <p:spPr>
          <a:xfrm xmlns:a="http://schemas.openxmlformats.org/drawingml/2006/main">
            <a:off x="7502194"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AE4A41FF-3F45-423C-AE62-D1955E617499}"/>
              </a:ext>
            </a:extLst>
          </p:cNvPr>
          <p:cNvSpPr>
            <a:spLocks xmlns:a="http://schemas.openxmlformats.org/drawingml/2006/main" noGrp="1"/>
          </p:cNvSpPr>
          <p:nvPr/>
        </p:nvSpPr>
        <p:spPr>
          <a:xfrm xmlns:a="http://schemas.openxmlformats.org/drawingml/2006/main">
            <a:off x="7575346"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Limits harm when a new model or setting behaves badly</a:t>
            </a:r>
          </a:p>
        </p:txBody>
      </p:sp>
      <p:sp>
        <p:nvSpPr>
          <p:cNvPr id="41" name="TextBox 40">
            <a:extLst xmlns:a="http://schemas.openxmlformats.org/drawingml/2006/main">
              <a:ext uri="{FF2B5EF4-FFF2-40B4-BE49-F238E27FC236}">
                <a16:creationId xmlns:a16="http://schemas.microsoft.com/office/drawing/2014/main" id="{E75FBFE2-8640-4A2C-801D-9487E96EEB43}"/>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Project and compliance glossary / 22</a:t>
            </a:r>
          </a:p>
        </p:txBody>
      </p:sp>
    </p:spTree>
    <p:extLst>
      <p:ext uri="{BB962C8B-B14F-4D97-AF65-F5344CB8AC3E}">
        <p14:creationId xmlns:p14="http://schemas.microsoft.com/office/powerpoint/2010/main" val="11341472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2026-08-13T06:46:51.0280000Z</dcterms:created>
  <dcterms:modified xsi:type="dcterms:W3CDTF">2026-08-13T06:46:51.0280000Z</dcterms:modified>
</coreProperties>
</file>