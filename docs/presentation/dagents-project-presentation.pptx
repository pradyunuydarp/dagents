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2"/>
    <p:restoredTop sz="94640"/>
  </p:normalViewPr>
  <p:slideViewPr>
    <p:cSldViewPr snapToGrid="0">
      <p:cViewPr varScale="1">
        <p:scale>
          <a:sx n="116" d="100"/>
          <a:sy n="116" d="100"/>
        </p:scale>
        <p:origin x="4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radyunuydarp/Dagents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173/" TargetMode="Externa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hlinkClick r:id="rId3" tooltip="The Repo"/>
            <a:extLst>
              <a:ext uri="{FF2B5EF4-FFF2-40B4-BE49-F238E27FC236}">
                <a16:creationId xmlns:a16="http://schemas.microsoft.com/office/drawing/2014/main" id="{DBAD7086-21FE-4FD0-95D7-1188A3E82C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15"/>
          </a:solidFill>
          <a:ln w="9525">
            <a:solidFill>
              <a:srgbClr val="111815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684ED2-C417-447E-BC93-3DDECEBC401B}"/>
              </a:ext>
            </a:extLst>
          </p:cNvPr>
          <p:cNvSpPr>
            <a:spLocks noGrp="1"/>
          </p:cNvSpPr>
          <p:nvPr/>
        </p:nvSpPr>
        <p:spPr>
          <a:xfrm>
            <a:off x="666750" y="533400"/>
            <a:ext cx="1619250" cy="24765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DAGENTS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2AADAB-1301-46D6-B41A-E64CF809AE50}"/>
              </a:ext>
            </a:extLst>
          </p:cNvPr>
          <p:cNvSpPr>
            <a:spLocks noGrp="1"/>
          </p:cNvSpPr>
          <p:nvPr/>
        </p:nvSpPr>
        <p:spPr>
          <a:xfrm>
            <a:off x="666750" y="1200150"/>
            <a:ext cx="83820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3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15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</a:t>
            </a:r>
            <a:r>
              <a:rPr sz="315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DAgents</a:t>
            </a:r>
            <a:r>
              <a:rPr sz="315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Framework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35700B-61E4-42B5-88FF-89C9CE76EE4C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72390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C6D2C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6D2CB"/>
                </a:solidFill>
                <a:latin typeface="Aptos"/>
                <a:ea typeface="Aptos"/>
                <a:cs typeface="Aptos"/>
              </a:rPr>
              <a:t>A reusable framework for deploying one computation agent per source, combining their outputs through a global agent, and producing workload plans for real backend systems.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8D4DF1-5B75-4D5B-B480-0169FB7D537F}"/>
              </a:ext>
            </a:extLst>
          </p:cNvPr>
          <p:cNvSpPr>
            <a:spLocks noGrp="1"/>
          </p:cNvSpPr>
          <p:nvPr/>
        </p:nvSpPr>
        <p:spPr>
          <a:xfrm>
            <a:off x="91440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 data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60A53B9-A4E7-484F-8034-98A213935481}"/>
              </a:ext>
            </a:extLst>
          </p:cNvPr>
          <p:cNvSpPr>
            <a:spLocks noGrp="1"/>
          </p:cNvSpPr>
          <p:nvPr/>
        </p:nvSpPr>
        <p:spPr>
          <a:xfrm>
            <a:off x="298704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LMA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66A10A-F573-49D6-877E-CE49EE18CAEE}"/>
              </a:ext>
            </a:extLst>
          </p:cNvPr>
          <p:cNvSpPr>
            <a:spLocks noGrp="1"/>
          </p:cNvSpPr>
          <p:nvPr/>
        </p:nvSpPr>
        <p:spPr>
          <a:xfrm>
            <a:off x="505968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GMA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C63E76E-89CD-4533-B12B-BA23CA95D353}"/>
              </a:ext>
            </a:extLst>
          </p:cNvPr>
          <p:cNvSpPr>
            <a:spLocks noGrp="1"/>
          </p:cNvSpPr>
          <p:nvPr/>
        </p:nvSpPr>
        <p:spPr>
          <a:xfrm>
            <a:off x="713232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Framework services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0B2C03F-8B20-492A-AE4E-3EBDA2782D40}"/>
              </a:ext>
            </a:extLst>
          </p:cNvPr>
          <p:cNvSpPr>
            <a:spLocks noGrp="1"/>
          </p:cNvSpPr>
          <p:nvPr/>
        </p:nvSpPr>
        <p:spPr>
          <a:xfrm>
            <a:off x="9204960" y="4210050"/>
            <a:ext cx="1920240" cy="647700"/>
          </a:xfrm>
          <a:prstGeom prst="roundRect">
            <a:avLst>
              <a:gd name="adj" fmla="val 5882"/>
            </a:avLst>
          </a:prstGeom>
          <a:solidFill>
            <a:srgbClr val="65549A"/>
          </a:solidFill>
          <a:ln w="9525">
            <a:solidFill>
              <a:srgbClr val="65549A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Workloads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E66650-CFE7-4B7A-A510-5BEC7C131A06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94A3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9A"/>
                </a:solidFill>
                <a:latin typeface="Aptos"/>
                <a:ea typeface="Aptos"/>
                <a:cs typeface="Aptos"/>
              </a:rPr>
              <a:t>Dagents / 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63BD50-1495-DE9C-D046-E7C5F535B0B9}"/>
              </a:ext>
            </a:extLst>
          </p:cNvPr>
          <p:cNvSpPr>
            <a:spLocks noGrp="1"/>
          </p:cNvSpPr>
          <p:nvPr/>
        </p:nvSpPr>
        <p:spPr>
          <a:xfrm>
            <a:off x="9525230" y="6044625"/>
            <a:ext cx="3581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2">
                    <a:lumMod val="75000"/>
                  </a:schemeClr>
                </a:solidFill>
              </a:rPr>
              <a:t>Pradyun Devarakonda</a:t>
            </a:r>
          </a:p>
          <a:p>
            <a:r>
              <a:rPr sz="1600" dirty="0" err="1">
                <a:solidFill>
                  <a:schemeClr val="bg2">
                    <a:lumMod val="75000"/>
                  </a:schemeClr>
                </a:solidFill>
              </a:rPr>
              <a:t>Rajanala</a:t>
            </a:r>
            <a:r>
              <a:rPr sz="1600" dirty="0">
                <a:solidFill>
                  <a:schemeClr val="bg2">
                    <a:lumMod val="75000"/>
                  </a:schemeClr>
                </a:solidFill>
              </a:rPr>
              <a:t> Dheeraj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 (Previously)</a:t>
            </a:r>
            <a:endParaRPr sz="16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663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45AB7B7-DB75-496C-AF33-7FDD3DC5DDB8}"/>
              </a:ext>
            </a:extLst>
          </p:cNvPr>
          <p:cNvSpPr>
            <a:spLocks noGrp="1"/>
          </p:cNvSpPr>
          <p:nvPr/>
        </p:nvSpPr>
        <p:spPr>
          <a:xfrm>
            <a:off x="0" y="1016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A0CB6B-1963-477D-B18C-AB79936C089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DEFINITION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EC1414-F0F6-4931-BEC7-D06627529650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Dagents deploys computation agents near data sources, then combines their work globally.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77BF40-0B73-4C09-A35E-0D4ED4DD423D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In the codebase, the per-source agent is called LMA</a:t>
            </a:r>
            <a:r>
              <a:rPr sz="1200">
                <a:solidFill>
                  <a:srgbClr val="5E6B64"/>
                </a:solidFill>
                <a:latin typeface="Aptos"/>
                <a:ea typeface="Aptos"/>
                <a:cs typeface="Aptos"/>
              </a:rPr>
              <a:t> ( Local Monitoring Agent) or the CMA (Constraint Monitoring Agent)</a:t>
            </a: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. The outputs produced by them are combined </a:t>
            </a:r>
            <a:r>
              <a:rPr sz="1200">
                <a:solidFill>
                  <a:srgbClr val="5E6B64"/>
                </a:solidFill>
                <a:latin typeface="Aptos"/>
                <a:ea typeface="Aptos"/>
                <a:cs typeface="Aptos"/>
              </a:rPr>
              <a:t>and computations on the combined data are then done by the GMA ( Global Monitoring Agent).</a:t>
            </a:r>
            <a:endParaRPr sz="1200" b="0">
              <a:solidFill>
                <a:srgbClr val="5E6B6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6465F7-D72B-4FC0-8B6C-84B3DA6B0C7C}"/>
              </a:ext>
            </a:extLst>
          </p:cNvPr>
          <p:cNvSpPr>
            <a:spLocks noGrp="1"/>
          </p:cNvSpPr>
          <p:nvPr/>
        </p:nvSpPr>
        <p:spPr>
          <a:xfrm>
            <a:off x="895350" y="261937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59396F-9F48-4223-9DC1-50C44F9FC983}"/>
              </a:ext>
            </a:extLst>
          </p:cNvPr>
          <p:cNvSpPr>
            <a:spLocks noGrp="1"/>
          </p:cNvSpPr>
          <p:nvPr/>
        </p:nvSpPr>
        <p:spPr>
          <a:xfrm>
            <a:off x="1162050" y="255270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One LMA is attached to each source boundary: tenant, database, service, event stream, or environment.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3DD299-2942-409C-BFC4-E2056759A9B7}"/>
              </a:ext>
            </a:extLst>
          </p:cNvPr>
          <p:cNvSpPr>
            <a:spLocks noGrp="1"/>
          </p:cNvSpPr>
          <p:nvPr/>
        </p:nvSpPr>
        <p:spPr>
          <a:xfrm>
            <a:off x="895350" y="3152775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2482D2-0A91-47D9-A818-77C822FA6B14}"/>
              </a:ext>
            </a:extLst>
          </p:cNvPr>
          <p:cNvSpPr>
            <a:spLocks noGrp="1"/>
          </p:cNvSpPr>
          <p:nvPr/>
        </p:nvSpPr>
        <p:spPr>
          <a:xfrm>
            <a:off x="1162050" y="308610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Each local agent profiles data, partitions work, runs source-level models, and publishes summaries or artifacts.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5AE66C-3EE0-4B2E-9E99-FDA787C86E27}"/>
              </a:ext>
            </a:extLst>
          </p:cNvPr>
          <p:cNvSpPr>
            <a:spLocks noGrp="1"/>
          </p:cNvSpPr>
          <p:nvPr/>
        </p:nvSpPr>
        <p:spPr>
          <a:xfrm>
            <a:off x="895350" y="3686175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83A9C4-A310-4B43-8A33-95A416DEEACF}"/>
              </a:ext>
            </a:extLst>
          </p:cNvPr>
          <p:cNvSpPr>
            <a:spLocks noGrp="1"/>
          </p:cNvSpPr>
          <p:nvPr/>
        </p:nvSpPr>
        <p:spPr>
          <a:xfrm>
            <a:off x="1162050" y="361950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GMA registers local agents and combines their outputs for multi-source computation.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55E17F-99CE-40DB-9406-767DA14F48F5}"/>
              </a:ext>
            </a:extLst>
          </p:cNvPr>
          <p:cNvSpPr>
            <a:spLocks noGrp="1"/>
          </p:cNvSpPr>
          <p:nvPr/>
        </p:nvSpPr>
        <p:spPr>
          <a:xfrm>
            <a:off x="895350" y="4219575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26EEE6-1447-4276-909E-B92E08A9697B}"/>
              </a:ext>
            </a:extLst>
          </p:cNvPr>
          <p:cNvSpPr>
            <a:spLocks noGrp="1"/>
          </p:cNvSpPr>
          <p:nvPr/>
        </p:nvSpPr>
        <p:spPr>
          <a:xfrm>
            <a:off x="1162050" y="415290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Core services turn those plans into workflows, model jobs, and Kubernetes workload manifests.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F5ED820-7FB5-428B-8432-AE58353A927D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CMA / LMA</a:t>
            </a:r>
          </a:p>
          <a:p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 source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4C1672-6BDD-43C0-9DA7-5B38D6D9634F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75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send results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13ADD2C-E510-4357-90C6-78A126127BF2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GMA</a:t>
            </a:r>
          </a:p>
          <a:p>
            <a:pPr algn="ctr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multi-source 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9024E7-A8F2-449F-B740-B0F40BDA2C94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02</a:t>
            </a:r>
          </a:p>
        </p:txBody>
      </p:sp>
    </p:spTree>
    <p:extLst>
      <p:ext uri="{BB962C8B-B14F-4D97-AF65-F5344CB8AC3E}">
        <p14:creationId xmlns:p14="http://schemas.microsoft.com/office/powerpoint/2010/main" val="323325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AFE00EB-5800-06AC-ECB3-4E3DC01E3B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30AEFF-DF27-C098-FF9C-D3EEA5720CD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01 /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3A5707-EF8A-256C-C6A0-216A89842B2A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3A9457-0305-A92C-1B54-F227B0C18C2A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Understand a source before choosing partitions, models, or pipelines.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4E1ECF-CECE-6BF8-2C52-D9912A905E10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6F587B-DAF7-10D3-76C3-5042D1F8BA36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Source profiling: </a:t>
            </a:r>
            <a:r>
              <a:rPr sz="1500">
                <a:solidFill>
                  <a:srgbClr val="15201B"/>
                </a:solidFill>
              </a:rPr>
              <a:t>Turn raw source metadata into a structured DatasetProfile.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A2AB775-5175-1E7F-A890-6A28A7E01617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POSTGRES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641027-0987-C018-E91A-A7370F4A9F2B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PROFILE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7407AE3-CE59-333C-5D50-7EBE2C484283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DATASET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E22077-26F0-E118-29E0-D5A04022BF01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6F18E8-37C5-4322-C946-91118D2C622F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>
                <a:solidFill>
                  <a:srgbClr val="15201B"/>
                </a:solidFill>
              </a:rPr>
              <a:t>"Profile the Postgres orders table before anomaly detection."</a:t>
            </a:r>
          </a:p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Read the schema and source statistics.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Find field types, gaps, and cardinality.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Suggest partitions and suitable model tasks.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>
                <a:solidFill>
                  <a:srgbClr val="B18424"/>
                </a:solidFill>
              </a:rPr>
              <a:t>RESULT</a:t>
            </a:r>
          </a:p>
          <a:p>
            <a:r>
              <a:rPr sz="1300" b="1">
                <a:solidFill>
                  <a:srgbClr val="15201B"/>
                </a:solidFill>
              </a:rPr>
              <a:t>DatasetProfile plus a data-quality summary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540918-90EB-E50C-8D98-AC0A77306E4D}"/>
              </a:ext>
            </a:extLst>
          </p:cNvPr>
          <p:cNvSpPr>
            <a:spLocks noGrp="1"/>
          </p:cNvSpPr>
          <p:nvPr/>
        </p:nvSpPr>
        <p:spPr>
          <a:xfrm>
            <a:off x="1162050" y="5674856"/>
            <a:ext cx="6732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Better model choices start with a clear picture of the data.</a:t>
            </a:r>
          </a:p>
        </p:txBody>
      </p:sp>
    </p:spTree>
    <p:extLst>
      <p:ext uri="{BB962C8B-B14F-4D97-AF65-F5344CB8AC3E}">
        <p14:creationId xmlns:p14="http://schemas.microsoft.com/office/powerpoint/2010/main" val="147270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DD7739F-F727-8DA8-139B-1ACD223B56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A773FB-F30A-CB63-32CD-17D1CBA4300D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02 /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1F2B0F-4699-5653-4147-82E39FB72B42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3B5793-51BB-98ED-F4C4-5D36B037C5B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Turn a workflow description into a checked and ordered execution plan.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193995-A434-6FDB-4463-FAFD379BAE6E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546F79-80EE-3FC1-5BAB-D71762E19494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Pipeline orchestration: </a:t>
            </a:r>
            <a:r>
              <a:rPr sz="1500">
                <a:solidFill>
                  <a:srgbClr val="15201B"/>
                </a:solidFill>
              </a:rPr>
              <a:t>Validate steps and dependencies before runtime execution.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1D4BEDB-080C-071F-2C85-DE05C98449D0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JSON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78823A-7F8E-A559-0732-F3D64921EAB3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COMPILE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75750E3-9B7C-3475-B909-AD626B20DD0F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PIPELINE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A90AC2-D271-05C5-481B-39CF310B3823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02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1389C2-209C-3791-81AD-7E983AB85CF0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>
                <a:solidFill>
                  <a:srgbClr val="15201B"/>
                </a:solidFill>
              </a:rPr>
              <a:t>"Run: load orders, filter paid, profile, then detect anomalies."</a:t>
            </a:r>
          </a:p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Check step IDs and input references.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Reject missing dependencies and cycles.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Produce a safe topological execution order.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>
                <a:solidFill>
                  <a:srgbClr val="B18424"/>
                </a:solidFill>
              </a:rPr>
              <a:t>RESULT</a:t>
            </a:r>
          </a:p>
          <a:p>
            <a:r>
              <a:rPr sz="1300" b="1">
                <a:solidFill>
                  <a:srgbClr val="15201B"/>
                </a:solidFill>
              </a:rPr>
              <a:t>Validated pipeline plan plus execution order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ABFA98-C8CA-396F-967A-35D51DAFDBCB}"/>
              </a:ext>
            </a:extLst>
          </p:cNvPr>
          <p:cNvSpPr>
            <a:spLocks noGrp="1"/>
          </p:cNvSpPr>
          <p:nvPr/>
        </p:nvSpPr>
        <p:spPr>
          <a:xfrm>
            <a:off x="4951730" y="5531534"/>
            <a:ext cx="6732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The runtime receives a valid plan instead of guessing step order.</a:t>
            </a:r>
          </a:p>
        </p:txBody>
      </p:sp>
    </p:spTree>
    <p:extLst>
      <p:ext uri="{BB962C8B-B14F-4D97-AF65-F5344CB8AC3E}">
        <p14:creationId xmlns:p14="http://schemas.microsoft.com/office/powerpoint/2010/main" val="896719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E54A9FE-D206-9492-E8FE-25614D9EFD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20143F-60EC-64F0-2706-C58A71DC4DDC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03 / MODELS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DA7EF5-3774-919E-02DB-9CFC4E229D37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0A7DC1-B2D6-983C-009A-4A47C589597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Select a model from task needs, dataset traits, and available adapters.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FB0A1B-3C0A-DF3B-A212-1D7983B43C77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77BDD9-447D-60E4-9A76-0F11ADED93F6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Model routing: </a:t>
            </a:r>
            <a:r>
              <a:rPr sz="1500">
                <a:solidFill>
                  <a:srgbClr val="15201B"/>
                </a:solidFill>
              </a:rPr>
              <a:t>Centralize model selection and keep fallback choices visible.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2DEE967-B7B5-C147-216D-6CB716007F91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PROFILE +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C473DF-748E-35A6-3A0E-727019E2C81E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ROUTE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B7A69C4-44B2-E591-3BEB-F635B86384AF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8B7990-4FC4-B565-9B39-291F17750F61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9EF583-1B1B-1C03-7667-FB76FE393632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>
                <a:solidFill>
                  <a:srgbClr val="15201B"/>
                </a:solidFill>
              </a:rPr>
              <a:t>"Choose a model for tabular anomaly detection on transaction data."</a:t>
            </a:r>
          </a:p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Match the requested task and dataset profile.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Check registered model capabilities.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Rank candidates and choose a packaging mode.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>
                <a:solidFill>
                  <a:srgbClr val="B18424"/>
                </a:solidFill>
              </a:rPr>
              <a:t>RESULT</a:t>
            </a:r>
          </a:p>
          <a:p>
            <a:r>
              <a:rPr sz="1300" b="1">
                <a:solidFill>
                  <a:srgbClr val="15201B"/>
                </a:solidFill>
              </a:rPr>
              <a:t>Selected model route plus fallback candidates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2F6CB-FA8A-B465-4D8B-C712519A2840}"/>
              </a:ext>
            </a:extLst>
          </p:cNvPr>
          <p:cNvSpPr>
            <a:spLocks noGrp="1"/>
          </p:cNvSpPr>
          <p:nvPr/>
        </p:nvSpPr>
        <p:spPr>
          <a:xfrm>
            <a:off x="1162050" y="5580063"/>
            <a:ext cx="6732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Apps ask for a task; the framework owns the model-choice policy.</a:t>
            </a:r>
          </a:p>
        </p:txBody>
      </p:sp>
    </p:spTree>
    <p:extLst>
      <p:ext uri="{BB962C8B-B14F-4D97-AF65-F5344CB8AC3E}">
        <p14:creationId xmlns:p14="http://schemas.microsoft.com/office/powerpoint/2010/main" val="37589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583850-8734-4A7E-1DA1-E95612821A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E5B7E-675B-A533-E349-AF4F98D60FC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04 / DEPLOY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71DC7-1BD2-3A3C-2B85-216F8822A0B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33D89A-48FA-9DAE-FCD8-957306A15FA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Convert a typed workload request into deployment-ready Kubernetes YAML.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D9328-1E06-C8BA-7936-2182878B91DF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F2F38-1174-B751-7F34-BB877ADD3333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Manifest generation: </a:t>
            </a:r>
            <a:r>
              <a:rPr sz="1500">
                <a:solidFill>
                  <a:srgbClr val="15201B"/>
                </a:solidFill>
              </a:rPr>
              <a:t>Render repeatable deployment material from a WorkloadSpec.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FB8F49-4209-38A2-810C-0A538612DFC4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WORKLOAD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DDE20-AB7E-3110-209F-8F974B11DC07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RENDER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51B492-F405-38C1-BCDA-12EBF5386634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K8S YAML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BUNDLE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676C9-99CC-6284-FC0C-EC78ED1F247E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04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FAC8C-D472-6887-F476-FEF1A6A23789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>
                <a:solidFill>
                  <a:srgbClr val="15201B"/>
                </a:solidFill>
              </a:rPr>
              <a:t>"Deploy lma-orders with two replicas in the dev environment."</a:t>
            </a:r>
          </a:p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Validate image, resources, environment, and ports.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Apply deterministic naming and labels.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Render the required Kubernetes resources.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>
                <a:solidFill>
                  <a:srgbClr val="B18424"/>
                </a:solidFill>
              </a:rPr>
              <a:t>RESULT</a:t>
            </a:r>
          </a:p>
          <a:p>
            <a:r>
              <a:rPr sz="1300" b="1">
                <a:solidFill>
                  <a:srgbClr val="15201B"/>
                </a:solidFill>
              </a:rPr>
              <a:t>KubernetesManifestBundle ready for review or apply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CBA74-FBE8-B672-9480-B90E84FD2C4D}"/>
              </a:ext>
            </a:extLst>
          </p:cNvPr>
          <p:cNvSpPr>
            <a:spLocks noGrp="1"/>
          </p:cNvSpPr>
          <p:nvPr/>
        </p:nvSpPr>
        <p:spPr>
          <a:xfrm>
            <a:off x="1148715" y="5527794"/>
            <a:ext cx="6732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One workload contract can produce consistent deployment files.</a:t>
            </a:r>
          </a:p>
        </p:txBody>
      </p:sp>
    </p:spTree>
    <p:extLst>
      <p:ext uri="{BB962C8B-B14F-4D97-AF65-F5344CB8AC3E}">
        <p14:creationId xmlns:p14="http://schemas.microsoft.com/office/powerpoint/2010/main" val="3985377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583850-8734-4A7E-1DA1-E95612821A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E5B7E-675B-A533-E349-AF4F98D60FC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05 / AGENTS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71DC7-1BD2-3A3C-2B85-216F8822A0B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33D89A-48FA-9DAE-FCD8-957306A15FA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Give the GMA a live catalog of local agents, scopes, and capabilities.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D9328-1E06-C8BA-7936-2182878B91DF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F2F38-1174-B751-7F34-BB877ADD3333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Agent registration and discovery: </a:t>
            </a:r>
            <a:r>
              <a:rPr sz="1500">
                <a:solidFill>
                  <a:srgbClr val="15201B"/>
                </a:solidFill>
              </a:rPr>
              <a:t>Track which LMA can perform each source-level task.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FB8F49-4209-38A2-810C-0A538612DFC4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LMA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METADATA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DDE20-AB7E-3110-209F-8F974B11DC07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REGISTER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51B492-F405-38C1-BCDA-12EBF5386634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FLEET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676C9-99CC-6284-FC0C-EC78ED1F247E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05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FAC8C-D472-6887-F476-FEF1A6A23789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 dirty="0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 dirty="0">
                <a:solidFill>
                  <a:srgbClr val="15201B"/>
                </a:solidFill>
              </a:rPr>
              <a:t>"Register orders for Postgres profiling and forecasting."</a:t>
            </a:r>
          </a:p>
          <a:p>
            <a:pPr>
              <a:spcAft>
                <a:spcPts val="3"/>
              </a:spcAft>
              <a:buNone/>
            </a:pPr>
            <a:r>
              <a:rPr sz="1100" b="1" dirty="0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 dirty="0">
                <a:solidFill>
                  <a:srgbClr val="15201B"/>
                </a:solidFill>
              </a:rPr>
              <a:t>Validate identity, scope, version, and capabilities.</a:t>
            </a:r>
          </a:p>
          <a:p>
            <a:pPr marL="18" indent="-10">
              <a:buChar char="•"/>
            </a:pPr>
            <a:r>
              <a:rPr sz="1300" dirty="0">
                <a:solidFill>
                  <a:srgbClr val="15201B"/>
                </a:solidFill>
              </a:rPr>
              <a:t>Store the current agent registration.</a:t>
            </a:r>
          </a:p>
          <a:p>
            <a:pPr marL="18" indent="-10">
              <a:buChar char="•"/>
            </a:pPr>
            <a:r>
              <a:rPr sz="1300" dirty="0">
                <a:solidFill>
                  <a:srgbClr val="15201B"/>
                </a:solidFill>
              </a:rPr>
              <a:t>Expose the capability through fleet discovery.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 dirty="0">
                <a:solidFill>
                  <a:srgbClr val="B18424"/>
                </a:solidFill>
              </a:rPr>
              <a:t>RESULT</a:t>
            </a:r>
          </a:p>
          <a:p>
            <a:r>
              <a:rPr sz="1300" b="1" dirty="0">
                <a:solidFill>
                  <a:srgbClr val="15201B"/>
                </a:solidFill>
              </a:rPr>
              <a:t>Discoverable LMA registration and capability record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CBA74-FBE8-B672-9480-B90E84FD2C4D}"/>
              </a:ext>
            </a:extLst>
          </p:cNvPr>
          <p:cNvSpPr>
            <a:spLocks noGrp="1"/>
          </p:cNvSpPr>
          <p:nvPr/>
        </p:nvSpPr>
        <p:spPr>
          <a:xfrm>
            <a:off x="1148715" y="5527794"/>
            <a:ext cx="6732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The GMA can route work only after it knows what each LMA can do.</a:t>
            </a:r>
          </a:p>
        </p:txBody>
      </p:sp>
    </p:spTree>
    <p:extLst>
      <p:ext uri="{BB962C8B-B14F-4D97-AF65-F5344CB8AC3E}">
        <p14:creationId xmlns:p14="http://schemas.microsoft.com/office/powerpoint/2010/main" val="3985377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583850-8734-4A7E-1DA1-E95612821A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E5B7E-675B-A533-E349-AF4F98D60FC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06 / LOCAL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71DC7-1BD2-3A3C-2B85-216F8822A0B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33D89A-48FA-9DAE-FCD8-957306A15FA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Run source-scoped work near a tenant, database, service, or event stream.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D9328-1E06-C8BA-7936-2182878B91DF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F2F38-1174-B751-7F34-BB877ADD3333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Local source execution: </a:t>
            </a:r>
            <a:r>
              <a:rPr sz="1500">
                <a:solidFill>
                  <a:srgbClr val="15201B"/>
                </a:solidFill>
              </a:rPr>
              <a:t>Keep each computation inside a clear source boundary.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FB8F49-4209-38A2-810C-0A538612DFC4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TENANT-A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DDE20-AB7E-3110-209F-8F974B11DC07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EXECUTE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51B492-F405-38C1-BCDA-12EBF5386634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676C9-99CC-6284-FC0C-EC78ED1F247E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06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FAC8C-D472-6887-F476-FEF1A6A23789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>
                <a:solidFill>
                  <a:srgbClr val="15201B"/>
                </a:solidFill>
              </a:rPr>
              <a:t>"Run anomaly detection for tenant-a orders."</a:t>
            </a:r>
          </a:p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Resolve the source scope and current bundle.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Profile, partition, and invoke the selected model.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Publish a summary and artifact pointer.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>
                <a:solidFill>
                  <a:srgbClr val="B18424"/>
                </a:solidFill>
              </a:rPr>
              <a:t>RESULT</a:t>
            </a:r>
          </a:p>
          <a:p>
            <a:r>
              <a:rPr sz="1300" b="1">
                <a:solidFill>
                  <a:srgbClr val="15201B"/>
                </a:solidFill>
              </a:rPr>
              <a:t>Source-level run with output metadata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CBA74-FBE8-B672-9480-B90E84FD2C4D}"/>
              </a:ext>
            </a:extLst>
          </p:cNvPr>
          <p:cNvSpPr>
            <a:spLocks noGrp="1"/>
          </p:cNvSpPr>
          <p:nvPr/>
        </p:nvSpPr>
        <p:spPr>
          <a:xfrm>
            <a:off x="1148715" y="5527794"/>
            <a:ext cx="6732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Local work remains isolated, traceable, and close to its data.</a:t>
            </a:r>
          </a:p>
        </p:txBody>
      </p:sp>
    </p:spTree>
    <p:extLst>
      <p:ext uri="{BB962C8B-B14F-4D97-AF65-F5344CB8AC3E}">
        <p14:creationId xmlns:p14="http://schemas.microsoft.com/office/powerpoint/2010/main" val="3985377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583850-8734-4A7E-1DA1-E95612821A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E5B7E-675B-A533-E349-AF4F98D60FC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07 / GLOBAL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71DC7-1BD2-3A3C-2B85-216F8822A0B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33D89A-48FA-9DAE-FCD8-957306A15FA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Combine local results when the question spans several sources or tenants.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D9328-1E06-C8BA-7936-2182878B91DF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F2F38-1174-B751-7F34-BB877ADD3333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Multi-source assimilation: </a:t>
            </a:r>
            <a:r>
              <a:rPr sz="1500">
                <a:solidFill>
                  <a:srgbClr val="15201B"/>
                </a:solidFill>
              </a:rPr>
              <a:t>Use the GMA for aggregate profiling, correlation, and models.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FB8F49-4209-38A2-810C-0A538612DFC4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LMA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DDE20-AB7E-3110-209F-8F974B11DC07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ASSIMILATE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51B492-F405-38C1-BCDA-12EBF5386634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GMA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INSIGHT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676C9-99CC-6284-FC0C-EC78ED1F247E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07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FAC8C-D472-6887-F476-FEF1A6A23789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>
                <a:solidFill>
                  <a:srgbClr val="15201B"/>
                </a:solidFill>
              </a:rPr>
              <a:t>"Combine three sales summaries and find cross-region anomalies."</a:t>
            </a:r>
          </a:p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Collect compatible outputs from registered LMAs.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Normalize and profile the assimilated data.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Run aggregate models or correlation rules.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>
                <a:solidFill>
                  <a:srgbClr val="B18424"/>
                </a:solidFill>
              </a:rPr>
              <a:t>RESULT</a:t>
            </a:r>
          </a:p>
          <a:p>
            <a:r>
              <a:rPr sz="1300" b="1">
                <a:solidFill>
                  <a:srgbClr val="15201B"/>
                </a:solidFill>
              </a:rPr>
              <a:t>Multi-source insight with correlated events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CBA74-FBE8-B672-9480-B90E84FD2C4D}"/>
              </a:ext>
            </a:extLst>
          </p:cNvPr>
          <p:cNvSpPr>
            <a:spLocks noGrp="1"/>
          </p:cNvSpPr>
          <p:nvPr/>
        </p:nvSpPr>
        <p:spPr>
          <a:xfrm>
            <a:off x="1148715" y="5527794"/>
            <a:ext cx="6732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The GMA turns separate local results into one combined view.</a:t>
            </a:r>
          </a:p>
        </p:txBody>
      </p:sp>
    </p:spTree>
    <p:extLst>
      <p:ext uri="{BB962C8B-B14F-4D97-AF65-F5344CB8AC3E}">
        <p14:creationId xmlns:p14="http://schemas.microsoft.com/office/powerpoint/2010/main" val="3985377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583850-8734-4A7E-1DA1-E95612821A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E5B7E-675B-A533-E349-AF4F98D60FC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08 / PLANNING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71DC7-1BD2-3A3C-2B85-216F8822A0B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33D89A-48FA-9DAE-FCD8-957306A15FA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Translate computation intent into a typed plan the runtime can execute.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D9328-1E06-C8BA-7936-2182878B91DF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F2F38-1174-B751-7F34-BB877ADD3333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Workload compilation: </a:t>
            </a:r>
            <a:r>
              <a:rPr sz="1500">
                <a:solidFill>
                  <a:srgbClr val="15201B"/>
                </a:solidFill>
              </a:rPr>
              <a:t>Resolve task, model, resources, partitions, and outputs early.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FB8F49-4209-38A2-810C-0A538612DFC4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JOB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DDE20-AB7E-3110-209F-8F974B11DC07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COMPILE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51B492-F405-38C1-BCDA-12EBF5386634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WORKLOAD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676C9-99CC-6284-FC0C-EC78ED1F247E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08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FAC8C-D472-6887-F476-FEF1A6A23789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>
                <a:solidFill>
                  <a:srgbClr val="15201B"/>
                </a:solidFill>
              </a:rPr>
              <a:t>"Compile this profiling and anomaly-detection job for runtime."</a:t>
            </a:r>
          </a:p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Validate input, task, model, resources, and output.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Resolve model routing and partition strategy.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Emit an explicit execution-ready workload plan.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>
                <a:solidFill>
                  <a:srgbClr val="B18424"/>
                </a:solidFill>
              </a:rPr>
              <a:t>RESULT</a:t>
            </a:r>
          </a:p>
          <a:p>
            <a:r>
              <a:rPr sz="1300" b="1">
                <a:solidFill>
                  <a:srgbClr val="15201B"/>
                </a:solidFill>
              </a:rPr>
              <a:t>Typed WorkloadPlan with no hidden runtime decisions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CBA74-FBE8-B672-9480-B90E84FD2C4D}"/>
              </a:ext>
            </a:extLst>
          </p:cNvPr>
          <p:cNvSpPr>
            <a:spLocks noGrp="1"/>
          </p:cNvSpPr>
          <p:nvPr/>
        </p:nvSpPr>
        <p:spPr>
          <a:xfrm>
            <a:off x="1148715" y="5527794"/>
            <a:ext cx="6732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Compilation makes runtime behavior inspectable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398537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583850-8734-4A7E-1DA1-E95612821A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E5B7E-675B-A533-E349-AF4F98D60FC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09 / CONTRACTS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71DC7-1BD2-3A3C-2B85-216F8822A0B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33D89A-48FA-9DAE-FCD8-957306A15FA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Plan safe extraction and transformation from a typed source contract.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D9328-1E06-C8BA-7936-2182878B91DF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F2F38-1174-B751-7F34-BB877ADD3333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Schema and extraction planning: </a:t>
            </a:r>
            <a:r>
              <a:rPr sz="1500">
                <a:solidFill>
                  <a:srgbClr val="15201B"/>
                </a:solidFill>
              </a:rPr>
              <a:t>Catch missing fields and invalid transforms before data moves.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FB8F49-4209-38A2-810C-0A538612DFC4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SOURCE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DDE20-AB7E-3110-209F-8F974B11DC07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PLAN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51B492-F405-38C1-BCDA-12EBF5386634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EXTRACTION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676C9-99CC-6284-FC0C-EC78ED1F247E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09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FAC8C-D472-6887-F476-FEF1A6A23789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>
                <a:solidFill>
                  <a:srgbClr val="15201B"/>
                </a:solidFill>
              </a:rPr>
              <a:t>"Extract order_id, amount, region, and created_at from Postgres."</a:t>
            </a:r>
          </a:p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Validate fields, types, and required values.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Plan projections, renames, and transforms.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Return the expected output schema and checks.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>
                <a:solidFill>
                  <a:srgbClr val="B18424"/>
                </a:solidFill>
              </a:rPr>
              <a:t>RESULT</a:t>
            </a:r>
          </a:p>
          <a:p>
            <a:r>
              <a:rPr sz="1300" b="1">
                <a:solidFill>
                  <a:srgbClr val="15201B"/>
                </a:solidFill>
              </a:rPr>
              <a:t>ExtractionPlan plus output schema and validation report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CBA74-FBE8-B672-9480-B90E84FD2C4D}"/>
              </a:ext>
            </a:extLst>
          </p:cNvPr>
          <p:cNvSpPr>
            <a:spLocks noGrp="1"/>
          </p:cNvSpPr>
          <p:nvPr/>
        </p:nvSpPr>
        <p:spPr>
          <a:xfrm>
            <a:off x="1148715" y="5527794"/>
            <a:ext cx="6732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A shared data contract removes repeated defensive checks.</a:t>
            </a:r>
          </a:p>
        </p:txBody>
      </p:sp>
    </p:spTree>
    <p:extLst>
      <p:ext uri="{BB962C8B-B14F-4D97-AF65-F5344CB8AC3E}">
        <p14:creationId xmlns:p14="http://schemas.microsoft.com/office/powerpoint/2010/main" val="398537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583850-8734-4A7E-1DA1-E95612821A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E5B7E-675B-A533-E349-AF4F98D60FC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10 / 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71DC7-1BD2-3A3C-2B85-216F8822A0B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33D89A-48FA-9DAE-FCD8-957306A15FA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Coordinate dataset preparation, training, evaluation, and saved artifacts.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D9328-1E06-C8BA-7936-2182878B91DF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F2F38-1174-B751-7F34-BB877ADD3333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Model training and inference: </a:t>
            </a:r>
            <a:r>
              <a:rPr sz="1500">
                <a:solidFill>
                  <a:srgbClr val="15201B"/>
                </a:solidFill>
              </a:rPr>
              <a:t>Run the model lifecycle through one service boundary.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FB8F49-4209-38A2-810C-0A538612DFC4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PROFILED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DDE20-AB7E-3110-209F-8F974B11DC07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TRAIN + TEST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51B492-F405-38C1-BCDA-12EBF5386634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676C9-99CC-6284-FC0C-EC78ED1F247E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10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FAC8C-D472-6887-F476-FEF1A6A23789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>
                <a:solidFill>
                  <a:srgbClr val="15201B"/>
                </a:solidFill>
              </a:rPr>
              <a:t>"Train and evaluate an autoencoder on profiled transaction records."</a:t>
            </a:r>
          </a:p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Load and preprocess the selected dataset.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Train with validation or cross-validation.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Persist metrics, status, and the model artifact.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>
                <a:solidFill>
                  <a:srgbClr val="B18424"/>
                </a:solidFill>
              </a:rPr>
              <a:t>RESULT</a:t>
            </a:r>
          </a:p>
          <a:p>
            <a:r>
              <a:rPr sz="1300" b="1">
                <a:solidFill>
                  <a:srgbClr val="15201B"/>
                </a:solidFill>
              </a:rPr>
              <a:t>Model artifact, evaluation metrics, and run status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CBA74-FBE8-B672-9480-B90E84FD2C4D}"/>
              </a:ext>
            </a:extLst>
          </p:cNvPr>
          <p:cNvSpPr>
            <a:spLocks noGrp="1"/>
          </p:cNvSpPr>
          <p:nvPr/>
        </p:nvSpPr>
        <p:spPr>
          <a:xfrm>
            <a:off x="1148715" y="5527794"/>
            <a:ext cx="6732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DAgents coordinates the lifecycle while Python handles numerical work.</a:t>
            </a:r>
          </a:p>
        </p:txBody>
      </p:sp>
    </p:spTree>
    <p:extLst>
      <p:ext uri="{BB962C8B-B14F-4D97-AF65-F5344CB8AC3E}">
        <p14:creationId xmlns:p14="http://schemas.microsoft.com/office/powerpoint/2010/main" val="3985377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583850-8734-4A7E-1DA1-E95612821A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E5B7E-675B-A533-E349-AF4F98D60FC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11 / REUSE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71DC7-1BD2-3A3C-2B85-216F8822A0B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33D89A-48FA-9DAE-FCD8-957306A15FA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Register common JSON steps once and reuse them across products and runs.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D9328-1E06-C8BA-7936-2182878B91DF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F2F38-1174-B751-7F34-BB877ADD3333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Reusable pipeline steps: </a:t>
            </a:r>
            <a:r>
              <a:rPr sz="1500">
                <a:solidFill>
                  <a:srgbClr val="15201B"/>
                </a:solidFill>
              </a:rPr>
              <a:t>Compose filtering, projection, profiling, and model execution.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FB8F49-4209-38A2-810C-0A538612DFC4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JSON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STEPS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DDE20-AB7E-3110-209F-8F974B11DC07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REGISTER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51B492-F405-38C1-BCDA-12EBF5386634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REUSABLE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676C9-99CC-6284-FC0C-EC78ED1F247E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11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FAC8C-D472-6887-F476-FEF1A6A23789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>
                <a:solidFill>
                  <a:srgbClr val="15201B"/>
                </a:solidFill>
              </a:rPr>
              <a:t>"Build: filter, project, profile, then run a model job."</a:t>
            </a:r>
          </a:p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Resolve built-in step implementations.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Check compatible inputs and outputs.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Register the named pipeline and run it on JSON.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>
                <a:solidFill>
                  <a:srgbClr val="B18424"/>
                </a:solidFill>
              </a:rPr>
              <a:t>RESULT</a:t>
            </a:r>
          </a:p>
          <a:p>
            <a:r>
              <a:rPr sz="1300" b="1">
                <a:solidFill>
                  <a:srgbClr val="15201B"/>
                </a:solidFill>
              </a:rPr>
              <a:t>Reusable pipeline with inspectable run history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CBA74-FBE8-B672-9480-B90E84FD2C4D}"/>
              </a:ext>
            </a:extLst>
          </p:cNvPr>
          <p:cNvSpPr>
            <a:spLocks noGrp="1"/>
          </p:cNvSpPr>
          <p:nvPr/>
        </p:nvSpPr>
        <p:spPr>
          <a:xfrm>
            <a:off x="1148715" y="5527794"/>
            <a:ext cx="6732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Products share workflow behavior without copying orchestration code.</a:t>
            </a:r>
          </a:p>
        </p:txBody>
      </p:sp>
    </p:spTree>
    <p:extLst>
      <p:ext uri="{BB962C8B-B14F-4D97-AF65-F5344CB8AC3E}">
        <p14:creationId xmlns:p14="http://schemas.microsoft.com/office/powerpoint/2010/main" val="3985377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583850-8734-4A7E-1DA1-E95612821A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E5B7E-675B-A533-E349-AF4F98D60FC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12 / TRACE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71DC7-1BD2-3A3C-2B85-216F8822A0B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33D89A-48FA-9DAE-FCD8-957306A15FA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Keep execution status, summaries, and artifact locations easy to inspect.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D9328-1E06-C8BA-7936-2182878B91DF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F2F38-1174-B751-7F34-BB877ADD3333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Run tracking and artifact publishing: </a:t>
            </a:r>
            <a:r>
              <a:rPr sz="1500">
                <a:solidFill>
                  <a:srgbClr val="15201B"/>
                </a:solidFill>
              </a:rPr>
              <a:t>Make every computation auditable after it leaves the caller.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FB8F49-4209-38A2-810C-0A538612DFC4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DDE20-AB7E-3110-209F-8F974B11DC07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TRACK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51B492-F405-38C1-BCDA-12EBF5386634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 +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676C9-99CC-6284-FC0C-EC78ED1F247E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12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FAC8C-D472-6887-F476-FEF1A6A23789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>
                <a:solidFill>
                  <a:srgbClr val="15201B"/>
                </a:solidFill>
              </a:rPr>
              <a:t>"Show the status and artifacts for run-204."</a:t>
            </a:r>
          </a:p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Create a stable run identifier.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Record state transitions and summary metadata.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Publish artifact pointers for later inspection.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>
                <a:solidFill>
                  <a:srgbClr val="B18424"/>
                </a:solidFill>
              </a:rPr>
              <a:t>RESULT</a:t>
            </a:r>
          </a:p>
          <a:p>
            <a:r>
              <a:rPr sz="1300" b="1">
                <a:solidFill>
                  <a:srgbClr val="15201B"/>
                </a:solidFill>
              </a:rPr>
              <a:t>Auditable run record with status and artifacts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CBA74-FBE8-B672-9480-B90E84FD2C4D}"/>
              </a:ext>
            </a:extLst>
          </p:cNvPr>
          <p:cNvSpPr>
            <a:spLocks noGrp="1"/>
          </p:cNvSpPr>
          <p:nvPr/>
        </p:nvSpPr>
        <p:spPr>
          <a:xfrm>
            <a:off x="1148715" y="5527794"/>
            <a:ext cx="6732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Every run leaves evidence that another service can inspect.</a:t>
            </a:r>
          </a:p>
        </p:txBody>
      </p:sp>
    </p:spTree>
    <p:extLst>
      <p:ext uri="{BB962C8B-B14F-4D97-AF65-F5344CB8AC3E}">
        <p14:creationId xmlns:p14="http://schemas.microsoft.com/office/powerpoint/2010/main" val="3985377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583850-8734-4A7E-1DA1-E95612821A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E5B7E-675B-A533-E349-AF4F98D60FC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13 / OPS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71DC7-1BD2-3A3C-2B85-216F8822A0B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33D89A-48FA-9DAE-FCD8-957306A15FA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Connect typed plans to service discovery and deployable workloads.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D9328-1E06-C8BA-7936-2182878B91DF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F2F38-1174-B751-7F34-BB877ADD3333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Deployment and service operations: </a:t>
            </a:r>
            <a:r>
              <a:rPr sz="1500">
                <a:solidFill>
                  <a:srgbClr val="15201B"/>
                </a:solidFill>
              </a:rPr>
              <a:t>Inspect topology and generate deployment material for services.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FB8F49-4209-38A2-810C-0A538612DFC4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DDE20-AB7E-3110-209F-8F974B11DC07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COMPILE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51B492-F405-38C1-BCDA-12EBF5386634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DEPLOY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BUNDLE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676C9-99CC-6284-FC0C-EC78ED1F247E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13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FAC8C-D472-6887-F476-FEF1A6A23789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>
                <a:solidFill>
                  <a:srgbClr val="15201B"/>
                </a:solidFill>
              </a:rPr>
              <a:t>"Prepare LMA, GMA, and pipeline-service for deployment."</a:t>
            </a:r>
          </a:p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Read the service catalog and runtime topology.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Compile workload settings and environment values.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Return manifests for the required services.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>
                <a:solidFill>
                  <a:srgbClr val="B18424"/>
                </a:solidFill>
              </a:rPr>
              <a:t>RESULT</a:t>
            </a:r>
          </a:p>
          <a:p>
            <a:r>
              <a:rPr sz="1300" b="1">
                <a:solidFill>
                  <a:srgbClr val="15201B"/>
                </a:solidFill>
              </a:rPr>
              <a:t>Deployable manifest bundle plus topology information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CBA74-FBE8-B672-9480-B90E84FD2C4D}"/>
              </a:ext>
            </a:extLst>
          </p:cNvPr>
          <p:cNvSpPr>
            <a:spLocks noGrp="1"/>
          </p:cNvSpPr>
          <p:nvPr/>
        </p:nvSpPr>
        <p:spPr>
          <a:xfrm>
            <a:off x="1148715" y="5527794"/>
            <a:ext cx="6732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The framework links typed plans to the services that run them.</a:t>
            </a:r>
          </a:p>
        </p:txBody>
      </p:sp>
    </p:spTree>
    <p:extLst>
      <p:ext uri="{BB962C8B-B14F-4D97-AF65-F5344CB8AC3E}">
        <p14:creationId xmlns:p14="http://schemas.microsoft.com/office/powerpoint/2010/main" val="3985377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583850-8734-4A7E-1DA1-E95612821A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E5B7E-675B-A533-E349-AF4F98D60FC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14 / APPS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71DC7-1BD2-3A3C-2B85-216F8822A0B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33D89A-48FA-9DAE-FCD8-957306A15FA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Let a product backend consume DAgents without importing its internals.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D9328-1E06-C8BA-7936-2182878B91DF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F2F38-1174-B751-7F34-BB877ADD3333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Consumer app integration: </a:t>
            </a:r>
            <a:r>
              <a:rPr sz="1500">
                <a:solidFill>
                  <a:srgbClr val="15201B"/>
                </a:solidFill>
              </a:rPr>
              <a:t>Use stable APIs and contracts from any backend stack.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FB8F49-4209-38A2-810C-0A538612DFC4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DDE20-AB7E-3110-209F-8F974B11DC07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CALL API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51B492-F405-38C1-BCDA-12EBF5386634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 +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676C9-99CC-6284-FC0C-EC78ED1F247E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FAC8C-D472-6887-F476-FEF1A6A23789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>
                <a:solidFill>
                  <a:srgbClr val="15201B"/>
                </a:solidFill>
              </a:rPr>
              <a:t>"Add DAgents planning to NL2SQL without moving domain logic."</a:t>
            </a:r>
          </a:p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Call REST, gRPC, or the internal process boundary.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Send shared source, model, pipeline, or workload contracts.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Consume plans, run status, SQL, or trace output.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>
                <a:solidFill>
                  <a:srgbClr val="B18424"/>
                </a:solidFill>
              </a:rPr>
              <a:t>RESULT</a:t>
            </a:r>
          </a:p>
          <a:p>
            <a:r>
              <a:rPr sz="1300" b="1">
                <a:solidFill>
                  <a:srgbClr val="15201B"/>
                </a:solidFill>
              </a:rPr>
              <a:t>A stable integration with a visible DAgents trace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CBA74-FBE8-B672-9480-B90E84FD2C4D}"/>
              </a:ext>
            </a:extLst>
          </p:cNvPr>
          <p:cNvSpPr>
            <a:spLocks noGrp="1"/>
          </p:cNvSpPr>
          <p:nvPr/>
        </p:nvSpPr>
        <p:spPr>
          <a:xfrm>
            <a:off x="1148715" y="5527794"/>
            <a:ext cx="6732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The product keeps its domain logic while DAgents supplies computation services.</a:t>
            </a:r>
          </a:p>
        </p:txBody>
      </p:sp>
    </p:spTree>
    <p:extLst>
      <p:ext uri="{BB962C8B-B14F-4D97-AF65-F5344CB8AC3E}">
        <p14:creationId xmlns:p14="http://schemas.microsoft.com/office/powerpoint/2010/main" val="3985377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583850-8734-4A7E-1DA1-E95612821A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9E5B7E-675B-A533-E349-AF4F98D60FC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15 / EXTEND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071DC7-1BD2-3A3C-2B85-216F8822A0B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Some tasks you can do...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33D89A-48FA-9DAE-FCD8-957306A15FA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Add new infrastructure behind contracts without changing the framework core.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3D9328-1E06-C8BA-7936-2182878B91DF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BF2F38-1174-B751-7F34-BB877ADD3333}"/>
              </a:ext>
            </a:extLst>
          </p:cNvPr>
          <p:cNvSpPr>
            <a:spLocks noGrp="1"/>
          </p:cNvSpPr>
          <p:nvPr/>
        </p:nvSpPr>
        <p:spPr>
          <a:xfrm>
            <a:off x="1162050" y="2381250"/>
            <a:ext cx="69723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r>
              <a:rPr sz="1500" b="1">
                <a:solidFill>
                  <a:srgbClr val="15201B"/>
                </a:solidFill>
              </a:rPr>
              <a:t>New adapters and integrations: </a:t>
            </a:r>
            <a:r>
              <a:rPr sz="1500">
                <a:solidFill>
                  <a:srgbClr val="15201B"/>
                </a:solidFill>
              </a:rPr>
              <a:t>Grow from local demos into cloud and broker-backed deployments.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AFB8F49-4209-38A2-810C-0A538612DFC4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 / INPUT  ↓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ADAPTER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EDDE20-AB7E-3110-209F-8F974B11DC07}"/>
              </a:ext>
            </a:extLst>
          </p:cNvPr>
          <p:cNvSpPr>
            <a:spLocks noGrp="1"/>
          </p:cNvSpPr>
          <p:nvPr/>
        </p:nvSpPr>
        <p:spPr>
          <a:xfrm>
            <a:off x="9048750" y="3543300"/>
            <a:ext cx="1333500" cy="342900"/>
          </a:xfrm>
          <a:prstGeom prst="rect">
            <a:avLst/>
          </a:prstGeom>
          <a:solidFill>
            <a:srgbClr val="C8C0B2"/>
          </a:solidFill>
          <a:ln w="9525">
            <a:solidFill>
              <a:srgbClr val="C8C0B2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900" b="1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 / PLUG IN  ↓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A51B492-F405-38C1-BCDA-12EBF5386634}"/>
              </a:ext>
            </a:extLst>
          </p:cNvPr>
          <p:cNvSpPr>
            <a:spLocks noGrp="1"/>
          </p:cNvSpPr>
          <p:nvPr/>
        </p:nvSpPr>
        <p:spPr>
          <a:xfrm>
            <a:off x="8667750" y="4229100"/>
            <a:ext cx="2095500" cy="704850"/>
          </a:xfrm>
          <a:prstGeom prst="roundRect">
            <a:avLst>
              <a:gd name="adj" fmla="val 5405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 / RESULT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NEW</a:t>
            </a:r>
          </a:p>
          <a:p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D676C9-99CC-6284-FC0C-EC78ED1F247E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Task 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0FAC8C-D472-6887-F476-FEF1A6A23789}"/>
              </a:ext>
            </a:extLst>
          </p:cNvPr>
          <p:cNvSpPr>
            <a:spLocks noGrp="1"/>
          </p:cNvSpPr>
          <p:nvPr/>
        </p:nvSpPr>
        <p:spPr>
          <a:xfrm>
            <a:off x="895350" y="2997200"/>
            <a:ext cx="7239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E6F4E"/>
                </a:solidFill>
              </a:rPr>
              <a:t>TRY IT</a:t>
            </a:r>
          </a:p>
          <a:p>
            <a:pPr>
              <a:spcAft>
                <a:spcPts val="10"/>
              </a:spcAft>
              <a:buNone/>
            </a:pPr>
            <a:r>
              <a:rPr sz="1400" i="1">
                <a:solidFill>
                  <a:srgbClr val="15201B"/>
                </a:solidFill>
              </a:rPr>
              <a:t>"Add an S3 source adapter and a broker-backed run publisher."</a:t>
            </a:r>
          </a:p>
          <a:p>
            <a:pPr>
              <a:spcAft>
                <a:spcPts val="3"/>
              </a:spcAft>
              <a:buNone/>
            </a:pPr>
            <a:r>
              <a:rPr sz="1100" b="1">
                <a:solidFill>
                  <a:srgbClr val="2D5B7C"/>
                </a:solidFill>
              </a:rPr>
              <a:t>WHAT DAGENTS DOES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Implement the existing adapter contract.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Register the new source or publisher capability.</a:t>
            </a:r>
          </a:p>
          <a:p>
            <a:pPr marL="18" indent="-10">
              <a:buChar char="•"/>
            </a:pPr>
            <a:r>
              <a:rPr sz="1300">
                <a:solidFill>
                  <a:srgbClr val="15201B"/>
                </a:solidFill>
              </a:rPr>
              <a:t>Verify conformance and deploy independently.</a:t>
            </a:r>
          </a:p>
          <a:p>
            <a:pPr>
              <a:spcBef>
                <a:spcPts val="8"/>
              </a:spcBef>
              <a:spcAft>
                <a:spcPts val="3"/>
              </a:spcAft>
              <a:buNone/>
            </a:pPr>
            <a:r>
              <a:rPr sz="1100" b="1">
                <a:solidFill>
                  <a:srgbClr val="B18424"/>
                </a:solidFill>
              </a:rPr>
              <a:t>RESULT</a:t>
            </a:r>
          </a:p>
          <a:p>
            <a:r>
              <a:rPr sz="1300" b="1">
                <a:solidFill>
                  <a:srgbClr val="15201B"/>
                </a:solidFill>
              </a:rPr>
              <a:t>Portable capability with no domain-layer rewrite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4CBA74-FBE8-B672-9480-B90E84FD2C4D}"/>
              </a:ext>
            </a:extLst>
          </p:cNvPr>
          <p:cNvSpPr>
            <a:spLocks noGrp="1"/>
          </p:cNvSpPr>
          <p:nvPr/>
        </p:nvSpPr>
        <p:spPr>
          <a:xfrm>
            <a:off x="1148715" y="5527794"/>
            <a:ext cx="67322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F4E"/>
                </a:solidFill>
              </a:rPr>
              <a:t>WHY IT MATTERS  </a:t>
            </a:r>
            <a:r>
              <a:rPr sz="1300">
                <a:solidFill>
                  <a:srgbClr val="15201B"/>
                </a:solidFill>
              </a:rPr>
              <a:t>The same contracts can grow into GCP, AWS, Supabase, and broker integrations.</a:t>
            </a:r>
          </a:p>
        </p:txBody>
      </p:sp>
    </p:spTree>
    <p:extLst>
      <p:ext uri="{BB962C8B-B14F-4D97-AF65-F5344CB8AC3E}">
        <p14:creationId xmlns:p14="http://schemas.microsoft.com/office/powerpoint/2010/main" val="3985377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D55E98F-5E53-45A3-B710-C479446F57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6EC36A-0FD9-442A-B7A1-A8DE348F1301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BD3491-C736-49FA-8A7C-16BB18027A76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Non-technical view: local computation first, combined computation second.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D92106-81F4-40BC-9FDA-053D81E4CB4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The framework sits between consumer apps, data sources, operators, and the runtime where workloads are deployed.</a:t>
            </a:r>
          </a:p>
        </p:txBody>
      </p:sp>
      <p:pic>
        <p:nvPicPr>
          <p:cNvPr id="13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2897757"/>
            <a:ext cx="10668000" cy="23197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C064B4-2A25-420C-912E-01DBA415A964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03</a:t>
            </a:r>
          </a:p>
        </p:txBody>
      </p:sp>
    </p:spTree>
    <p:extLst>
      <p:ext uri="{BB962C8B-B14F-4D97-AF65-F5344CB8AC3E}">
        <p14:creationId xmlns:p14="http://schemas.microsoft.com/office/powerpoint/2010/main" val="1796313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F479A346-CD14-411A-AFB6-6934DCA382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129DDB-6D69-4CA7-A898-3289B0DC064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FRAMEWORK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7BB917-2BF2-4DEC-9B37-1BA2E428C27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Dagents is not one product backend. It is a reusable service framework.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704B30-3E55-43AC-B117-A3BC57094B3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Consumer apps plug into it when they need agent orchestration, ML workflow services, or workload generation.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3081A4-6899-453F-BDDB-D3AF6CA62CF7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2076450" cy="14287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3E67488-16FF-4721-B16B-EED624647858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2076450" cy="361950"/>
          </a:xfrm>
          <a:prstGeom prst="roundRect">
            <a:avLst>
              <a:gd name="adj" fmla="val 10526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service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A21E9-90FD-423B-94CD-5AE2604AE6C4}"/>
              </a:ext>
            </a:extLst>
          </p:cNvPr>
          <p:cNvSpPr>
            <a:spLocks noGrp="1"/>
          </p:cNvSpPr>
          <p:nvPr/>
        </p:nvSpPr>
        <p:spPr>
          <a:xfrm>
            <a:off x="819150" y="2895600"/>
            <a:ext cx="17716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Catalog, topology, workload compilation, and Kubernetes manifest generation.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AEBE119-5A68-4F66-9ECE-171920DB925C}"/>
              </a:ext>
            </a:extLst>
          </p:cNvPr>
          <p:cNvSpPr>
            <a:spLocks noGrp="1"/>
          </p:cNvSpPr>
          <p:nvPr/>
        </p:nvSpPr>
        <p:spPr>
          <a:xfrm>
            <a:off x="2971800" y="2381250"/>
            <a:ext cx="2076450" cy="14287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92C0DF7-A365-4208-97B7-95B9C2846808}"/>
              </a:ext>
            </a:extLst>
          </p:cNvPr>
          <p:cNvSpPr>
            <a:spLocks noGrp="1"/>
          </p:cNvSpPr>
          <p:nvPr/>
        </p:nvSpPr>
        <p:spPr>
          <a:xfrm>
            <a:off x="2971800" y="2381250"/>
            <a:ext cx="2076450" cy="361950"/>
          </a:xfrm>
          <a:prstGeom prst="roundRect">
            <a:avLst>
              <a:gd name="adj" fmla="val 10526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Pipeline service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66C7E8-D30E-4F8F-A2A3-A470D4067A7E}"/>
              </a:ext>
            </a:extLst>
          </p:cNvPr>
          <p:cNvSpPr>
            <a:spLocks noGrp="1"/>
          </p:cNvSpPr>
          <p:nvPr/>
        </p:nvSpPr>
        <p:spPr>
          <a:xfrm>
            <a:off x="3124200" y="2895600"/>
            <a:ext cx="17716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Register JSON workflows, validate them, and run them against payloads.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2E24A4-0141-4B37-8928-691636878792}"/>
              </a:ext>
            </a:extLst>
          </p:cNvPr>
          <p:cNvSpPr>
            <a:spLocks noGrp="1"/>
          </p:cNvSpPr>
          <p:nvPr/>
        </p:nvSpPr>
        <p:spPr>
          <a:xfrm>
            <a:off x="5276850" y="2381250"/>
            <a:ext cx="2076450" cy="14287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7327AB3-C9C1-4F2A-A6D0-10D7A4A645FF}"/>
              </a:ext>
            </a:extLst>
          </p:cNvPr>
          <p:cNvSpPr>
            <a:spLocks noGrp="1"/>
          </p:cNvSpPr>
          <p:nvPr/>
        </p:nvSpPr>
        <p:spPr>
          <a:xfrm>
            <a:off x="5276850" y="2381250"/>
            <a:ext cx="2076450" cy="361950"/>
          </a:xfrm>
          <a:prstGeom prst="roundRect">
            <a:avLst>
              <a:gd name="adj" fmla="val 10526"/>
            </a:avLst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 service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D56E01-AE91-43A1-8163-B51B0EF3698D}"/>
              </a:ext>
            </a:extLst>
          </p:cNvPr>
          <p:cNvSpPr>
            <a:spLocks noGrp="1"/>
          </p:cNvSpPr>
          <p:nvPr/>
        </p:nvSpPr>
        <p:spPr>
          <a:xfrm>
            <a:off x="5429250" y="2895600"/>
            <a:ext cx="17716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Python-first training, checks, benchmark data, and reusable ML jobs.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F730831-E735-4AF3-8B89-EC1D8BA5E7F2}"/>
              </a:ext>
            </a:extLst>
          </p:cNvPr>
          <p:cNvSpPr>
            <a:spLocks noGrp="1"/>
          </p:cNvSpPr>
          <p:nvPr/>
        </p:nvSpPr>
        <p:spPr>
          <a:xfrm>
            <a:off x="7581900" y="2381250"/>
            <a:ext cx="1771650" cy="14287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84B2B6C-E9FC-4DAE-AEEF-1C30741DD9A8}"/>
              </a:ext>
            </a:extLst>
          </p:cNvPr>
          <p:cNvSpPr>
            <a:spLocks noGrp="1"/>
          </p:cNvSpPr>
          <p:nvPr/>
        </p:nvSpPr>
        <p:spPr>
          <a:xfrm>
            <a:off x="7581900" y="2381250"/>
            <a:ext cx="1771650" cy="361950"/>
          </a:xfrm>
          <a:prstGeom prst="roundRect">
            <a:avLst>
              <a:gd name="adj" fmla="val 10526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LMA / CMA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AE6955-92C1-481D-8741-E1B4ACD11D07}"/>
              </a:ext>
            </a:extLst>
          </p:cNvPr>
          <p:cNvSpPr>
            <a:spLocks noGrp="1"/>
          </p:cNvSpPr>
          <p:nvPr/>
        </p:nvSpPr>
        <p:spPr>
          <a:xfrm>
            <a:off x="7734300" y="2895600"/>
            <a:ext cx="14668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Source-scoped dataset profiling and local model execution.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7DFFB37-32AB-426D-936F-2F09D6103545}"/>
              </a:ext>
            </a:extLst>
          </p:cNvPr>
          <p:cNvSpPr>
            <a:spLocks noGrp="1"/>
          </p:cNvSpPr>
          <p:nvPr/>
        </p:nvSpPr>
        <p:spPr>
          <a:xfrm>
            <a:off x="9582150" y="2381250"/>
            <a:ext cx="1771650" cy="14287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7216B4A-3BF2-4504-852C-8A99711EC0E0}"/>
              </a:ext>
            </a:extLst>
          </p:cNvPr>
          <p:cNvSpPr>
            <a:spLocks noGrp="1"/>
          </p:cNvSpPr>
          <p:nvPr/>
        </p:nvSpPr>
        <p:spPr>
          <a:xfrm>
            <a:off x="9582150" y="2381250"/>
            <a:ext cx="1771650" cy="361950"/>
          </a:xfrm>
          <a:prstGeom prst="roundRect">
            <a:avLst>
              <a:gd name="adj" fmla="val 10526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GMA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5BB77E-A396-45E8-81E6-0554EE3EAA7C}"/>
              </a:ext>
            </a:extLst>
          </p:cNvPr>
          <p:cNvSpPr>
            <a:spLocks noGrp="1"/>
          </p:cNvSpPr>
          <p:nvPr/>
        </p:nvSpPr>
        <p:spPr>
          <a:xfrm>
            <a:off x="9734550" y="2895600"/>
            <a:ext cx="14668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Agent registration, aggregation, dispatch tracking, and multi-source profiles.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02936F-D2E1-4B65-BA8E-7DDEA9BF7168}"/>
              </a:ext>
            </a:extLst>
          </p:cNvPr>
          <p:cNvSpPr>
            <a:spLocks noGrp="1"/>
          </p:cNvSpPr>
          <p:nvPr/>
        </p:nvSpPr>
        <p:spPr>
          <a:xfrm>
            <a:off x="1257300" y="4524375"/>
            <a:ext cx="9620250" cy="742950"/>
          </a:xfrm>
          <a:prstGeom prst="rect">
            <a:avLst/>
          </a:prstGeom>
          <a:solidFill>
            <a:srgbClr val="ECE6D9"/>
          </a:solidFill>
          <a:ln w="9525">
            <a:solidFill>
              <a:srgbClr val="D5CDBF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important idea: backend teams call stable service APIs instead of rebuilding source profiling, pipeline orchestration, model routing, and manifest generation in every app.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D41F84D-20B4-45ED-993A-A1BBBB1ECECB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04</a:t>
            </a:r>
          </a:p>
        </p:txBody>
      </p:sp>
    </p:spTree>
    <p:extLst>
      <p:ext uri="{BB962C8B-B14F-4D97-AF65-F5344CB8AC3E}">
        <p14:creationId xmlns:p14="http://schemas.microsoft.com/office/powerpoint/2010/main" val="1579118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0E53F3A-15C4-4E87-B1FC-FD206D4F9D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784829-7899-4AD9-909A-707E198CB695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SOFTWARE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A7AFF5-32B7-4744-9598-EC73A05D2890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High-level software view: runtime services outside, functional planners inside.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0B3257-4C1E-4555-8FD9-857EDB8DB616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The purple block is the OCaml functional programming layer. Services call it through dagentsc.</a:t>
            </a:r>
          </a:p>
        </p:txBody>
      </p:sp>
      <p:pic>
        <p:nvPicPr>
          <p:cNvPr id="13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936730"/>
            <a:ext cx="11049000" cy="34131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9A9093-40E4-42D4-AA15-CBE19544F380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05</a:t>
            </a:r>
          </a:p>
        </p:txBody>
      </p:sp>
    </p:spTree>
    <p:extLst>
      <p:ext uri="{BB962C8B-B14F-4D97-AF65-F5344CB8AC3E}">
        <p14:creationId xmlns:p14="http://schemas.microsoft.com/office/powerpoint/2010/main" val="738132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75A3DA2-D556-4E9F-91B7-D6E98684AC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499DF2-FCC1-4C0D-B6C3-8D26D6DA0349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DB5323-C24B-4B64-AC06-B7AB03317866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A backend integrates by calling Dagents APIs at the points where it needs planning or execution.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80D7D7-1E72-4CDC-97DB-6A27824932E2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The system is useful because integration is service-based, not a codebase fork.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B38F37C-CA19-450E-83E1-68B4D7EE92B5}"/>
              </a:ext>
            </a:extLst>
          </p:cNvPr>
          <p:cNvSpPr>
            <a:spLocks noGrp="1"/>
          </p:cNvSpPr>
          <p:nvPr/>
        </p:nvSpPr>
        <p:spPr>
          <a:xfrm>
            <a:off x="838199" y="2381250"/>
            <a:ext cx="4781549" cy="298323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021B73-AF66-4D04-9B04-901E29C4A84B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1619250" cy="24765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Architectural points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0AD8FF-B5BE-40E2-9BE7-EE88558A771B}"/>
              </a:ext>
            </a:extLst>
          </p:cNvPr>
          <p:cNvSpPr>
            <a:spLocks noGrp="1"/>
          </p:cNvSpPr>
          <p:nvPr/>
        </p:nvSpPr>
        <p:spPr>
          <a:xfrm>
            <a:off x="1104900" y="3209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07987A-B56D-4CAB-87E6-1E0F9AA1AD2E}"/>
              </a:ext>
            </a:extLst>
          </p:cNvPr>
          <p:cNvSpPr>
            <a:spLocks noGrp="1"/>
          </p:cNvSpPr>
          <p:nvPr/>
        </p:nvSpPr>
        <p:spPr>
          <a:xfrm>
            <a:off x="1371600" y="3143250"/>
            <a:ext cx="3829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LMA owns local/source execution.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970ED0-7214-4148-993C-589B94E1E878}"/>
              </a:ext>
            </a:extLst>
          </p:cNvPr>
          <p:cNvSpPr>
            <a:spLocks noGrp="1"/>
          </p:cNvSpPr>
          <p:nvPr/>
        </p:nvSpPr>
        <p:spPr>
          <a:xfrm>
            <a:off x="1104900" y="3590925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59A94E-BDAF-4349-9E35-8EDA1387F48B}"/>
              </a:ext>
            </a:extLst>
          </p:cNvPr>
          <p:cNvSpPr>
            <a:spLocks noGrp="1"/>
          </p:cNvSpPr>
          <p:nvPr/>
        </p:nvSpPr>
        <p:spPr>
          <a:xfrm>
            <a:off x="1371600" y="3524250"/>
            <a:ext cx="3829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GMA owns aggregate coordination.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222E76-4CD8-4375-A0A8-B4EB044CD57F}"/>
              </a:ext>
            </a:extLst>
          </p:cNvPr>
          <p:cNvSpPr>
            <a:spLocks noGrp="1"/>
          </p:cNvSpPr>
          <p:nvPr/>
        </p:nvSpPr>
        <p:spPr>
          <a:xfrm>
            <a:off x="1104900" y="3971925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3F7745-48CF-4841-90CC-1BC77F91DA9A}"/>
              </a:ext>
            </a:extLst>
          </p:cNvPr>
          <p:cNvSpPr>
            <a:spLocks noGrp="1"/>
          </p:cNvSpPr>
          <p:nvPr/>
        </p:nvSpPr>
        <p:spPr>
          <a:xfrm>
            <a:off x="1371600" y="3905250"/>
            <a:ext cx="3829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Core service is the deployment facade.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D1DA1D-22FB-4072-A703-AD779A3186BF}"/>
              </a:ext>
            </a:extLst>
          </p:cNvPr>
          <p:cNvSpPr>
            <a:spLocks noGrp="1"/>
          </p:cNvSpPr>
          <p:nvPr/>
        </p:nvSpPr>
        <p:spPr>
          <a:xfrm>
            <a:off x="1104900" y="4352925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625A61-DE13-4920-B9EA-827D2F453746}"/>
              </a:ext>
            </a:extLst>
          </p:cNvPr>
          <p:cNvSpPr>
            <a:spLocks noGrp="1"/>
          </p:cNvSpPr>
          <p:nvPr/>
        </p:nvSpPr>
        <p:spPr>
          <a:xfrm>
            <a:off x="1371600" y="4286250"/>
            <a:ext cx="3829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Pipeline service executes reusable workflows.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CDCC3-7393-45CB-952E-72B84B82F995}"/>
              </a:ext>
            </a:extLst>
          </p:cNvPr>
          <p:cNvSpPr>
            <a:spLocks noGrp="1"/>
          </p:cNvSpPr>
          <p:nvPr/>
        </p:nvSpPr>
        <p:spPr>
          <a:xfrm>
            <a:off x="1104900" y="4733925"/>
            <a:ext cx="114300" cy="114300"/>
          </a:xfrm>
          <a:prstGeom prst="rect">
            <a:avLst/>
          </a:prstGeom>
          <a:solidFill>
            <a:srgbClr val="65549A"/>
          </a:solidFill>
          <a:ln w="9525">
            <a:solidFill>
              <a:srgbClr val="6554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B43EA8-80F7-47A0-805C-5022B663BA3A}"/>
              </a:ext>
            </a:extLst>
          </p:cNvPr>
          <p:cNvSpPr>
            <a:spLocks noGrp="1"/>
          </p:cNvSpPr>
          <p:nvPr/>
        </p:nvSpPr>
        <p:spPr>
          <a:xfrm>
            <a:off x="1371600" y="4667250"/>
            <a:ext cx="3829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OCaml planners keep validation deterministic.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0D3268C-0224-4B60-8575-A2A9AB2F2262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4781550" cy="298323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17BC61-526C-45B6-8A21-333443FDA752}"/>
              </a:ext>
            </a:extLst>
          </p:cNvPr>
          <p:cNvSpPr>
            <a:spLocks noGrp="1"/>
          </p:cNvSpPr>
          <p:nvPr/>
        </p:nvSpPr>
        <p:spPr>
          <a:xfrm>
            <a:off x="6800850" y="2609850"/>
            <a:ext cx="1619250" cy="24765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to integrate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050FD5-9609-4BFB-83D9-76AFC17A8479}"/>
              </a:ext>
            </a:extLst>
          </p:cNvPr>
          <p:cNvSpPr>
            <a:spLocks noGrp="1"/>
          </p:cNvSpPr>
          <p:nvPr/>
        </p:nvSpPr>
        <p:spPr>
          <a:xfrm>
            <a:off x="6838950" y="32099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FD4261-2113-4CA3-BE09-F1AFE802ECD5}"/>
              </a:ext>
            </a:extLst>
          </p:cNvPr>
          <p:cNvSpPr>
            <a:spLocks noGrp="1"/>
          </p:cNvSpPr>
          <p:nvPr/>
        </p:nvSpPr>
        <p:spPr>
          <a:xfrm>
            <a:off x="7105650" y="3143250"/>
            <a:ext cx="3829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Call /api/v1/services or /topology to discover framework services.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8F2A6D-5A4D-43A0-861B-49BD8F5933F6}"/>
              </a:ext>
            </a:extLst>
          </p:cNvPr>
          <p:cNvSpPr>
            <a:spLocks noGrp="1"/>
          </p:cNvSpPr>
          <p:nvPr/>
        </p:nvSpPr>
        <p:spPr>
          <a:xfrm>
            <a:off x="6838950" y="3661411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3D6CB6-2C24-46AF-9815-0E7959C07FD1}"/>
              </a:ext>
            </a:extLst>
          </p:cNvPr>
          <p:cNvSpPr>
            <a:spLocks noGrp="1"/>
          </p:cNvSpPr>
          <p:nvPr/>
        </p:nvSpPr>
        <p:spPr>
          <a:xfrm>
            <a:off x="7105650" y="3594736"/>
            <a:ext cx="3829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Register a source or pipeline definition.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9F7E2D-C45A-482F-849D-8F4B3FEDE3DD}"/>
              </a:ext>
            </a:extLst>
          </p:cNvPr>
          <p:cNvSpPr>
            <a:spLocks noGrp="1"/>
          </p:cNvSpPr>
          <p:nvPr/>
        </p:nvSpPr>
        <p:spPr>
          <a:xfrm>
            <a:off x="6838950" y="3899536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B085DD-CC02-4AA8-9D70-AA3F18EE7EF1}"/>
              </a:ext>
            </a:extLst>
          </p:cNvPr>
          <p:cNvSpPr>
            <a:spLocks noGrp="1"/>
          </p:cNvSpPr>
          <p:nvPr/>
        </p:nvSpPr>
        <p:spPr>
          <a:xfrm>
            <a:off x="7105650" y="3832860"/>
            <a:ext cx="38290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Use LMA/GMA /datasets:profile for local or aggregate profiles.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E86058-5659-4C0A-9E7C-6CA0B10E88CA}"/>
              </a:ext>
            </a:extLst>
          </p:cNvPr>
          <p:cNvSpPr>
            <a:spLocks noGrp="1"/>
          </p:cNvSpPr>
          <p:nvPr/>
        </p:nvSpPr>
        <p:spPr>
          <a:xfrm>
            <a:off x="6838950" y="4404361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9114A7-518F-42DD-A217-D230FF0EAE02}"/>
              </a:ext>
            </a:extLst>
          </p:cNvPr>
          <p:cNvSpPr>
            <a:spLocks noGrp="1"/>
          </p:cNvSpPr>
          <p:nvPr/>
        </p:nvSpPr>
        <p:spPr>
          <a:xfrm>
            <a:off x="7105650" y="4337686"/>
            <a:ext cx="3829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Use /workloads:compile to turn app components into deployable manifests.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7C635E-9B06-45C9-8428-F8121BC82A2E}"/>
              </a:ext>
            </a:extLst>
          </p:cNvPr>
          <p:cNvSpPr>
            <a:spLocks noGrp="1"/>
          </p:cNvSpPr>
          <p:nvPr/>
        </p:nvSpPr>
        <p:spPr>
          <a:xfrm>
            <a:off x="6838950" y="4842510"/>
            <a:ext cx="114300" cy="114300"/>
          </a:xfrm>
          <a:prstGeom prst="rect">
            <a:avLst/>
          </a:prstGeom>
          <a:solidFill>
            <a:srgbClr val="65549A"/>
          </a:solidFill>
          <a:ln w="9525">
            <a:solidFill>
              <a:srgbClr val="6554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D598FE1-EB70-4CB5-A7FC-365A6F3FB72F}"/>
              </a:ext>
            </a:extLst>
          </p:cNvPr>
          <p:cNvSpPr>
            <a:spLocks noGrp="1"/>
          </p:cNvSpPr>
          <p:nvPr/>
        </p:nvSpPr>
        <p:spPr>
          <a:xfrm>
            <a:off x="7105650" y="4775835"/>
            <a:ext cx="38290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Read returned plans and traces in your own backend/UI.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EC3D9F-17BE-4661-BFB1-903BEBAA4C76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06</a:t>
            </a:r>
          </a:p>
        </p:txBody>
      </p:sp>
    </p:spTree>
    <p:extLst>
      <p:ext uri="{BB962C8B-B14F-4D97-AF65-F5344CB8AC3E}">
        <p14:creationId xmlns:p14="http://schemas.microsoft.com/office/powerpoint/2010/main" val="837721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29E42F-3B3B-4342-938E-9A564B40F8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365101-CC75-4FF6-B64A-7BF4D23D6BC3}"/>
              </a:ext>
            </a:extLst>
          </p:cNvPr>
          <p:cNvSpPr>
            <a:spLocks noGrp="1"/>
          </p:cNvSpPr>
          <p:nvPr/>
        </p:nvSpPr>
        <p:spPr>
          <a:xfrm>
            <a:off x="502920" y="29260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ARCHITECTURE TRADEOFFS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F85F26-06B0-4D01-8BFF-8957957A1350}"/>
              </a:ext>
            </a:extLst>
          </p:cNvPr>
          <p:cNvSpPr>
            <a:spLocks noGrp="1"/>
          </p:cNvSpPr>
          <p:nvPr/>
        </p:nvSpPr>
        <p:spPr>
          <a:xfrm>
            <a:off x="502920" y="566928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23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Why Dagents is split this way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3F627-4279-4352-8F54-7BD3B91D1BCB}"/>
              </a:ext>
            </a:extLst>
          </p:cNvPr>
          <p:cNvSpPr>
            <a:spLocks noGrp="1"/>
          </p:cNvSpPr>
          <p:nvPr/>
        </p:nvSpPr>
        <p:spPr>
          <a:xfrm>
            <a:off x="521207" y="1024128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framework is intentionally polyglot: each layer owns a clear responsibility.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305AE-6786-4BE2-BB5F-E03FD6831A16}"/>
              </a:ext>
            </a:extLst>
          </p:cNvPr>
          <p:cNvSpPr>
            <a:spLocks noGrp="1"/>
          </p:cNvSpPr>
          <p:nvPr/>
        </p:nvSpPr>
        <p:spPr>
          <a:xfrm>
            <a:off x="10561320" y="634593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/ 06A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AB6F1D-F879-4B0C-9EB9-483AF89850EE}"/>
              </a:ext>
            </a:extLst>
          </p:cNvPr>
          <p:cNvSpPr>
            <a:spLocks noGrp="1"/>
          </p:cNvSpPr>
          <p:nvPr/>
        </p:nvSpPr>
        <p:spPr>
          <a:xfrm>
            <a:off x="594360" y="1572768"/>
            <a:ext cx="4983480" cy="1298448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41C0C9-7858-4451-9179-5EDA10B218CB}"/>
              </a:ext>
            </a:extLst>
          </p:cNvPr>
          <p:cNvSpPr>
            <a:spLocks noGrp="1"/>
          </p:cNvSpPr>
          <p:nvPr/>
        </p:nvSpPr>
        <p:spPr>
          <a:xfrm>
            <a:off x="594360" y="1572768"/>
            <a:ext cx="73152" cy="1298448"/>
          </a:xfrm>
          <a:prstGeom prst="rect">
            <a:avLst/>
          </a:prstGeom>
          <a:solidFill>
            <a:srgbClr val="635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FC6F1D-28A7-4D33-A1B9-3104A4D23282}"/>
              </a:ext>
            </a:extLst>
          </p:cNvPr>
          <p:cNvSpPr>
            <a:spLocks noGrp="1"/>
          </p:cNvSpPr>
          <p:nvPr/>
        </p:nvSpPr>
        <p:spPr>
          <a:xfrm>
            <a:off x="758952" y="1700784"/>
            <a:ext cx="465429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OCaml for plans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0B8539-0D44-414F-BBE6-1E2222C3D4B0}"/>
              </a:ext>
            </a:extLst>
          </p:cNvPr>
          <p:cNvSpPr>
            <a:spLocks noGrp="1"/>
          </p:cNvSpPr>
          <p:nvPr/>
        </p:nvSpPr>
        <p:spPr>
          <a:xfrm>
            <a:off x="758952" y="2011680"/>
            <a:ext cx="4663440" cy="786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Best for closed choices: source kinds, step kinds, model families.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Pure functions make validation repeatable and easy to test.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33B75E9-06B1-4857-8B32-8A2DF8970F23}"/>
              </a:ext>
            </a:extLst>
          </p:cNvPr>
          <p:cNvSpPr>
            <a:spLocks noGrp="1"/>
          </p:cNvSpPr>
          <p:nvPr/>
        </p:nvSpPr>
        <p:spPr>
          <a:xfrm>
            <a:off x="6355080" y="1572768"/>
            <a:ext cx="4983480" cy="1298448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A121F3-6E03-4DA5-9333-E0252BDC8F4D}"/>
              </a:ext>
            </a:extLst>
          </p:cNvPr>
          <p:cNvSpPr>
            <a:spLocks noGrp="1"/>
          </p:cNvSpPr>
          <p:nvPr/>
        </p:nvSpPr>
        <p:spPr>
          <a:xfrm>
            <a:off x="6355080" y="1572768"/>
            <a:ext cx="73152" cy="1298448"/>
          </a:xfrm>
          <a:prstGeom prst="rect">
            <a:avLst/>
          </a:prstGeom>
          <a:solidFill>
            <a:srgbClr val="2E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D8D7A4-F850-4EBC-8B10-8252E4A792E1}"/>
              </a:ext>
            </a:extLst>
          </p:cNvPr>
          <p:cNvSpPr>
            <a:spLocks noGrp="1"/>
          </p:cNvSpPr>
          <p:nvPr/>
        </p:nvSpPr>
        <p:spPr>
          <a:xfrm>
            <a:off x="6519672" y="1700784"/>
            <a:ext cx="465429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Python for runtime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0612A7-2383-4DDF-8318-8456F7008784}"/>
              </a:ext>
            </a:extLst>
          </p:cNvPr>
          <p:cNvSpPr>
            <a:spLocks noGrp="1"/>
          </p:cNvSpPr>
          <p:nvPr/>
        </p:nvSpPr>
        <p:spPr>
          <a:xfrm>
            <a:off x="6519672" y="2011680"/>
            <a:ext cx="4663440" cy="786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Best for FastAPI, ML libraries, source adapters, and quick experiments.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Training and inference stay close to the Python ecosystem.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042CFA4-B25A-4007-A90C-4C0F5A728C7A}"/>
              </a:ext>
            </a:extLst>
          </p:cNvPr>
          <p:cNvSpPr>
            <a:spLocks noGrp="1"/>
          </p:cNvSpPr>
          <p:nvPr/>
        </p:nvSpPr>
        <p:spPr>
          <a:xfrm>
            <a:off x="594360" y="3310128"/>
            <a:ext cx="4983480" cy="1298448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0D8B5B-B9C2-4A04-BC2D-707777C06CAA}"/>
              </a:ext>
            </a:extLst>
          </p:cNvPr>
          <p:cNvSpPr>
            <a:spLocks noGrp="1"/>
          </p:cNvSpPr>
          <p:nvPr/>
        </p:nvSpPr>
        <p:spPr>
          <a:xfrm>
            <a:off x="594360" y="3310128"/>
            <a:ext cx="73152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B6232B-5126-47FF-BD15-E101DBDFBC62}"/>
              </a:ext>
            </a:extLst>
          </p:cNvPr>
          <p:cNvSpPr>
            <a:spLocks noGrp="1"/>
          </p:cNvSpPr>
          <p:nvPr/>
        </p:nvSpPr>
        <p:spPr>
          <a:xfrm>
            <a:off x="758952" y="3438144"/>
            <a:ext cx="465429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Java / Spring for control APIs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B88586-4E1B-4495-9E3C-5943E4CA34AE}"/>
              </a:ext>
            </a:extLst>
          </p:cNvPr>
          <p:cNvSpPr>
            <a:spLocks noGrp="1"/>
          </p:cNvSpPr>
          <p:nvPr/>
        </p:nvSpPr>
        <p:spPr>
          <a:xfrm>
            <a:off x="758952" y="3749039"/>
            <a:ext cx="4663440" cy="786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Best for typed controllers, validation, configuration, and backend integration.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It provides stable orchestration entrypoints without owning ML execution.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3A65356-070B-4781-BDA7-6B9DEDC6F506}"/>
              </a:ext>
            </a:extLst>
          </p:cNvPr>
          <p:cNvSpPr>
            <a:spLocks noGrp="1"/>
          </p:cNvSpPr>
          <p:nvPr/>
        </p:nvSpPr>
        <p:spPr>
          <a:xfrm>
            <a:off x="6355080" y="3310128"/>
            <a:ext cx="4983480" cy="1298448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9D7974D-142B-478E-9A92-88113A8F165D}"/>
              </a:ext>
            </a:extLst>
          </p:cNvPr>
          <p:cNvSpPr>
            <a:spLocks noGrp="1"/>
          </p:cNvSpPr>
          <p:nvPr/>
        </p:nvSpPr>
        <p:spPr>
          <a:xfrm>
            <a:off x="6355080" y="3310128"/>
            <a:ext cx="73152" cy="129844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132DCF-0556-4A61-B791-8BDBEF2A315E}"/>
              </a:ext>
            </a:extLst>
          </p:cNvPr>
          <p:cNvSpPr>
            <a:spLocks noGrp="1"/>
          </p:cNvSpPr>
          <p:nvPr/>
        </p:nvSpPr>
        <p:spPr>
          <a:xfrm>
            <a:off x="6519672" y="3438144"/>
            <a:ext cx="465429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Service boundaries between layers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2B0FA-2D2D-43D6-A339-CD8A4D6A7040}"/>
              </a:ext>
            </a:extLst>
          </p:cNvPr>
          <p:cNvSpPr>
            <a:spLocks noGrp="1"/>
          </p:cNvSpPr>
          <p:nvPr/>
        </p:nvSpPr>
        <p:spPr>
          <a:xfrm>
            <a:off x="6519672" y="3749039"/>
            <a:ext cx="4663440" cy="786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Spring and Python services call dagentsc through JSON process contracts.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Consumer backends use stable REST or gRPC APIs; failures stay isolated.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DD68DD0-D911-4C6C-B2C5-A6E1EBF0CFF3}"/>
              </a:ext>
            </a:extLst>
          </p:cNvPr>
          <p:cNvSpPr>
            <a:spLocks noGrp="1"/>
          </p:cNvSpPr>
          <p:nvPr/>
        </p:nvSpPr>
        <p:spPr>
          <a:xfrm>
            <a:off x="594360" y="5074920"/>
            <a:ext cx="107442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3D4396-587C-4B97-A99E-831E72F9321E}"/>
              </a:ext>
            </a:extLst>
          </p:cNvPr>
          <p:cNvSpPr>
            <a:spLocks noGrp="1"/>
          </p:cNvSpPr>
          <p:nvPr/>
        </p:nvSpPr>
        <p:spPr>
          <a:xfrm>
            <a:off x="594360" y="5074920"/>
            <a:ext cx="73152" cy="594360"/>
          </a:xfrm>
          <a:prstGeom prst="rect">
            <a:avLst/>
          </a:prstGeom>
          <a:solidFill>
            <a:srgbClr val="152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1DFD31-7A86-4AB5-B2C5-E2BCCCC08907}"/>
              </a:ext>
            </a:extLst>
          </p:cNvPr>
          <p:cNvSpPr>
            <a:spLocks noGrp="1"/>
          </p:cNvSpPr>
          <p:nvPr/>
        </p:nvSpPr>
        <p:spPr>
          <a:xfrm>
            <a:off x="758952" y="5202936"/>
            <a:ext cx="1041501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5E4A08-A76B-421E-95EA-3E80768785FA}"/>
              </a:ext>
            </a:extLst>
          </p:cNvPr>
          <p:cNvSpPr>
            <a:spLocks noGrp="1"/>
          </p:cNvSpPr>
          <p:nvPr/>
        </p:nvSpPr>
        <p:spPr>
          <a:xfrm>
            <a:off x="758952" y="5219700"/>
            <a:ext cx="10424160" cy="45605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  <a:defRPr sz="1425" i="1">
                <a:solidFill>
                  <a:srgbClr val="15201B"/>
                </a:solidFill>
              </a:defRPr>
            </a:pPr>
            <a:r>
              <a:rPr sz="1425" i="1">
                <a:solidFill>
                  <a:srgbClr val="15201B"/>
                </a:solidFill>
                <a:latin typeface="Aptos"/>
                <a:ea typeface="Aptos"/>
                <a:cs typeface="Aptos"/>
              </a:rPr>
              <a:t>“DAgents is not OCaml-first, Python-first, or Java-first. OCaml makes plans precise, Python executes data and models, and Java exposes stable control and integration APIs.”</a:t>
            </a:r>
          </a:p>
        </p:txBody>
      </p:sp>
    </p:spTree>
    <p:extLst>
      <p:ext uri="{BB962C8B-B14F-4D97-AF65-F5344CB8AC3E}">
        <p14:creationId xmlns:p14="http://schemas.microsoft.com/office/powerpoint/2010/main" val="1243821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A913A39-146D-4835-9300-2119C66846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15"/>
          </a:solidFill>
          <a:ln w="9525">
            <a:solidFill>
              <a:srgbClr val="11181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61A1D0-CA28-4F72-AF94-A63153D216A5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 API SCOPE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A22EC3-C495-4547-9AF9-743021049E1A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Core service scope includes workload compilation.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0B2686-6495-4905-B9A7-A1CB4BF6A9BE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C6D2C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CB"/>
                </a:solidFill>
                <a:latin typeface="Aptos"/>
                <a:ea typeface="Aptos"/>
                <a:cs typeface="Aptos"/>
              </a:rPr>
              <a:t>The current FastAPI route shows the intended service contract.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C3E6AE-B5FB-413C-9A1A-538C5EABA6EF}"/>
              </a:ext>
            </a:extLst>
          </p:cNvPr>
          <p:cNvSpPr>
            <a:spLocks noGrp="1"/>
          </p:cNvSpPr>
          <p:nvPr/>
        </p:nvSpPr>
        <p:spPr>
          <a:xfrm>
            <a:off x="876300" y="2362200"/>
            <a:ext cx="5143500" cy="2400300"/>
          </a:xfrm>
          <a:prstGeom prst="roundRect">
            <a:avLst>
              <a:gd name="adj" fmla="val 2381"/>
            </a:avLst>
          </a:prstGeom>
          <a:solidFill>
            <a:srgbClr val="14211D"/>
          </a:solidFill>
          <a:ln w="9525">
            <a:solidFill>
              <a:srgbClr val="32443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BDDFA0-3E6E-421C-9163-9F3EC9CDD174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48006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9EB5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EB5A6"/>
                </a:solidFill>
                <a:latin typeface="Aptos"/>
                <a:ea typeface="Aptos"/>
                <a:cs typeface="Aptos"/>
              </a:rPr>
              <a:t>current API example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C25361-C2F3-433A-B930-0C57F578D4C1}"/>
              </a:ext>
            </a:extLst>
          </p:cNvPr>
          <p:cNvSpPr>
            <a:spLocks noGrp="1"/>
          </p:cNvSpPr>
          <p:nvPr/>
        </p:nvSpPr>
        <p:spPr>
          <a:xfrm>
            <a:off x="1047750" y="2762250"/>
            <a:ext cx="4800600" cy="1885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@router.post("/workloads:compile", response_model=WorkloadPlanResponse)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def compile_workloads(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    request: WorkloadCompileRequest,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    service: ManifestService = Depends(get_manifest_service),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) -&gt; WorkloadPlanResponse: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    return service.compile(request)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4B92E36-FDB2-4B78-9EC7-4A9D9935B8ED}"/>
              </a:ext>
            </a:extLst>
          </p:cNvPr>
          <p:cNvSpPr>
            <a:spLocks noGrp="1"/>
          </p:cNvSpPr>
          <p:nvPr/>
        </p:nvSpPr>
        <p:spPr>
          <a:xfrm>
            <a:off x="6515100" y="2362200"/>
            <a:ext cx="4762500" cy="2400300"/>
          </a:xfrm>
          <a:prstGeom prst="roundRect">
            <a:avLst>
              <a:gd name="adj" fmla="val 2381"/>
            </a:avLst>
          </a:prstGeom>
          <a:solidFill>
            <a:srgbClr val="14211D"/>
          </a:solidFill>
          <a:ln w="9525">
            <a:solidFill>
              <a:srgbClr val="32443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803ADE-1D1D-4D4C-B44F-F25F013B7905}"/>
              </a:ext>
            </a:extLst>
          </p:cNvPr>
          <p:cNvSpPr>
            <a:spLocks noGrp="1"/>
          </p:cNvSpPr>
          <p:nvPr/>
        </p:nvSpPr>
        <p:spPr>
          <a:xfrm>
            <a:off x="6686550" y="2495550"/>
            <a:ext cx="44196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9EB5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EB5A6"/>
                </a:solidFill>
                <a:latin typeface="Aptos"/>
                <a:ea typeface="Aptos"/>
                <a:cs typeface="Aptos"/>
              </a:rPr>
              <a:t>consumer call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B90011-932B-408E-84A3-9336FC1B4372}"/>
              </a:ext>
            </a:extLst>
          </p:cNvPr>
          <p:cNvSpPr>
            <a:spLocks noGrp="1"/>
          </p:cNvSpPr>
          <p:nvPr/>
        </p:nvSpPr>
        <p:spPr>
          <a:xfrm>
            <a:off x="6686550" y="2762250"/>
            <a:ext cx="4419600" cy="1885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curl -X POST http://127.0.0.1:8040/api/v1/workloads:compile \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  -H "Content-Type: application/json" \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  -d @docs/demo/inputs/core-workload-compile.json</a:t>
            </a:r>
          </a:p>
          <a:p>
            <a:endParaRPr sz="1050" b="0">
              <a:solidFill>
                <a:srgbClr val="DCE9E0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# returns a stored workload plan plus Kubernetes YAML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# for Deployment, Service, and ConfigMap resources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C47C2B-FAD6-4853-A81E-5F279320344C}"/>
              </a:ext>
            </a:extLst>
          </p:cNvPr>
          <p:cNvSpPr>
            <a:spLocks noGrp="1"/>
          </p:cNvSpPr>
          <p:nvPr/>
        </p:nvSpPr>
        <p:spPr>
          <a:xfrm>
            <a:off x="1428750" y="5219700"/>
            <a:ext cx="9334500" cy="476250"/>
          </a:xfrm>
          <a:prstGeom prst="rect">
            <a:avLst/>
          </a:prstGeom>
          <a:solidFill>
            <a:srgbClr val="24342D"/>
          </a:solidFill>
          <a:ln w="9525">
            <a:solidFill>
              <a:srgbClr val="43584D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same pattern exists across the framework: register a workflow, validate a source, profile a dataset, route a model, or compile a workload.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8A4CB4-7E0E-4442-9C8E-3D627D0BAA27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94A3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9A"/>
                </a:solidFill>
                <a:latin typeface="Aptos"/>
                <a:ea typeface="Aptos"/>
                <a:cs typeface="Aptos"/>
              </a:rPr>
              <a:t>Dagents / 07</a:t>
            </a:r>
          </a:p>
        </p:txBody>
      </p:sp>
    </p:spTree>
    <p:extLst>
      <p:ext uri="{BB962C8B-B14F-4D97-AF65-F5344CB8AC3E}">
        <p14:creationId xmlns:p14="http://schemas.microsoft.com/office/powerpoint/2010/main" val="1681801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B4A132-98B3-45AF-8019-A130D52DD2F1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WORK IN PROGRESS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8468C9-4CA3-40F9-9648-4E7A792BE08D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Current implementation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2B2B23-F13E-44C5-B3AC-F8A1048D2E0F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51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repository contains working slices across agents, services, planners, deployment, and documentation. These boundaries are still being hardened.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84AB7E8-16C0-4E93-9768-5A3CA55A662E}"/>
              </a:ext>
            </a:extLst>
          </p:cNvPr>
          <p:cNvSpPr>
            <a:spLocks noGrp="1"/>
          </p:cNvSpPr>
          <p:nvPr/>
        </p:nvSpPr>
        <p:spPr>
          <a:xfrm>
            <a:off x="594360" y="1828800"/>
            <a:ext cx="3337560" cy="123444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6F5BC-C807-4285-9458-59B552EC5607}"/>
              </a:ext>
            </a:extLst>
          </p:cNvPr>
          <p:cNvSpPr>
            <a:spLocks noGrp="1"/>
          </p:cNvSpPr>
          <p:nvPr/>
        </p:nvSpPr>
        <p:spPr>
          <a:xfrm>
            <a:off x="758952" y="19751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Agents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CE4A25-41D6-4743-9ECE-2BAF20B1514C}"/>
              </a:ext>
            </a:extLst>
          </p:cNvPr>
          <p:cNvSpPr>
            <a:spLocks noGrp="1"/>
          </p:cNvSpPr>
          <p:nvPr/>
        </p:nvSpPr>
        <p:spPr>
          <a:xfrm>
            <a:off x="758952" y="235915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Current: source and aggregate APIs with in-memory state. Next: durable state and broker messaging.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C12E667-3183-4AA2-B810-A551A3AB63FB}"/>
              </a:ext>
            </a:extLst>
          </p:cNvPr>
          <p:cNvSpPr>
            <a:spLocks noGrp="1"/>
          </p:cNvSpPr>
          <p:nvPr/>
        </p:nvSpPr>
        <p:spPr>
          <a:xfrm>
            <a:off x="4297680" y="1828800"/>
            <a:ext cx="3337560" cy="123444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A513CA-76BD-4034-8AFC-86968C24D0EC}"/>
              </a:ext>
            </a:extLst>
          </p:cNvPr>
          <p:cNvSpPr>
            <a:spLocks noGrp="1"/>
          </p:cNvSpPr>
          <p:nvPr/>
        </p:nvSpPr>
        <p:spPr>
          <a:xfrm>
            <a:off x="4462272" y="19751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8DE82E-3E32-4391-BB7F-396886BD1421}"/>
              </a:ext>
            </a:extLst>
          </p:cNvPr>
          <p:cNvSpPr>
            <a:spLocks noGrp="1"/>
          </p:cNvSpPr>
          <p:nvPr/>
        </p:nvSpPr>
        <p:spPr>
          <a:xfrm>
            <a:off x="4462272" y="235915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Current: core, pipeline, and model APIs. Next: hardened contracts, authentication, and operations.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2710008-1B0D-4B6B-BDD6-FBA47652FF6C}"/>
              </a:ext>
            </a:extLst>
          </p:cNvPr>
          <p:cNvSpPr>
            <a:spLocks noGrp="1"/>
          </p:cNvSpPr>
          <p:nvPr/>
        </p:nvSpPr>
        <p:spPr>
          <a:xfrm>
            <a:off x="8001000" y="1828800"/>
            <a:ext cx="3337560" cy="123444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0AB21A-1080-46D5-8F13-B247EADDF51B}"/>
              </a:ext>
            </a:extLst>
          </p:cNvPr>
          <p:cNvSpPr>
            <a:spLocks noGrp="1"/>
          </p:cNvSpPr>
          <p:nvPr/>
        </p:nvSpPr>
        <p:spPr>
          <a:xfrm>
            <a:off x="8165592" y="197510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Functional planners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C3C73F-F42D-4B88-93F4-326CA8F5D3E1}"/>
              </a:ext>
            </a:extLst>
          </p:cNvPr>
          <p:cNvSpPr>
            <a:spLocks noGrp="1"/>
          </p:cNvSpPr>
          <p:nvPr/>
        </p:nvSpPr>
        <p:spPr>
          <a:xfrm>
            <a:off x="8165592" y="2359152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Current: typed OCaml planners behind dagentsc. Next: wider contracts and service packaging.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3ADBD51-825E-476D-888A-1378EA744217}"/>
              </a:ext>
            </a:extLst>
          </p:cNvPr>
          <p:cNvSpPr>
            <a:spLocks noGrp="1"/>
          </p:cNvSpPr>
          <p:nvPr/>
        </p:nvSpPr>
        <p:spPr>
          <a:xfrm>
            <a:off x="594360" y="3520440"/>
            <a:ext cx="3337560" cy="123444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1B3FDD-3ECC-4A63-BFD7-566A1FF333E1}"/>
              </a:ext>
            </a:extLst>
          </p:cNvPr>
          <p:cNvSpPr>
            <a:spLocks noGrp="1"/>
          </p:cNvSpPr>
          <p:nvPr/>
        </p:nvSpPr>
        <p:spPr>
          <a:xfrm>
            <a:off x="758952" y="36667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Consumer validation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4C51B2-21D6-491A-8627-F873B2117F80}"/>
              </a:ext>
            </a:extLst>
          </p:cNvPr>
          <p:cNvSpPr>
            <a:spLocks noGrp="1"/>
          </p:cNvSpPr>
          <p:nvPr/>
        </p:nvSpPr>
        <p:spPr>
          <a:xfrm>
            <a:off x="758952" y="4050791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Current: one demo validates the consumer boundary. Next: Watchdog and Datalytics adapters.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5E6E397-5D3B-44A2-B15D-80A498AE1171}"/>
              </a:ext>
            </a:extLst>
          </p:cNvPr>
          <p:cNvSpPr>
            <a:spLocks noGrp="1"/>
          </p:cNvSpPr>
          <p:nvPr/>
        </p:nvSpPr>
        <p:spPr>
          <a:xfrm>
            <a:off x="4297680" y="352044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6974FE-C2CD-40FD-8E5B-3BD0056DE2D7}"/>
              </a:ext>
            </a:extLst>
          </p:cNvPr>
          <p:cNvSpPr>
            <a:spLocks noGrp="1"/>
          </p:cNvSpPr>
          <p:nvPr/>
        </p:nvSpPr>
        <p:spPr>
          <a:xfrm>
            <a:off x="4462272" y="36667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80C309-BD56-46A6-BFA0-3EDDE9A709AC}"/>
              </a:ext>
            </a:extLst>
          </p:cNvPr>
          <p:cNvSpPr>
            <a:spLocks noGrp="1"/>
          </p:cNvSpPr>
          <p:nvPr/>
        </p:nvSpPr>
        <p:spPr>
          <a:xfrm>
            <a:off x="4462272" y="4050791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Current: Docker Compose and demo scripts. Next: Kubernetes apply and CI/CD.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A4B27D2-1269-4905-8F9A-37DB61E5497E}"/>
              </a:ext>
            </a:extLst>
          </p:cNvPr>
          <p:cNvSpPr>
            <a:spLocks noGrp="1"/>
          </p:cNvSpPr>
          <p:nvPr/>
        </p:nvSpPr>
        <p:spPr>
          <a:xfrm>
            <a:off x="8001000" y="352044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98BD04-D098-4623-9527-F020F789AC4E}"/>
              </a:ext>
            </a:extLst>
          </p:cNvPr>
          <p:cNvSpPr>
            <a:spLocks noGrp="1"/>
          </p:cNvSpPr>
          <p:nvPr/>
        </p:nvSpPr>
        <p:spPr>
          <a:xfrm>
            <a:off x="8165592" y="36667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Documentation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D76902-292D-4082-B660-62EB7A53E00D}"/>
              </a:ext>
            </a:extLst>
          </p:cNvPr>
          <p:cNvSpPr>
            <a:spLocks noGrp="1"/>
          </p:cNvSpPr>
          <p:nvPr/>
        </p:nvSpPr>
        <p:spPr>
          <a:xfrm>
            <a:off x="8165592" y="4050791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Current: architecture, reports, debug notes, and demo output. Next: operator guides.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8F64E8-E5BD-4398-A13C-1D4B86FA764D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Implementation scope, not a production-readiness claim</a:t>
            </a:r>
          </a:p>
        </p:txBody>
      </p:sp>
    </p:spTree>
    <p:extLst>
      <p:ext uri="{BB962C8B-B14F-4D97-AF65-F5344CB8AC3E}">
        <p14:creationId xmlns:p14="http://schemas.microsoft.com/office/powerpoint/2010/main" val="884000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2175A8-C42F-4DDC-84CE-DE51EEA6233F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SCOPE 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01A3ED-979C-4927-9AA8-CD750E9F7D87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Current framework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7259A-89ED-4D6B-A240-98251C381A44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This map separates the current implementation boundaries from extension points for future consumer backends.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11155680" cy="4617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9ADE14-BDDC-4123-916A-A04271039D9B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PlantUML: docs/presentation/puml/dagents_capability_map.puml</a:t>
            </a:r>
          </a:p>
        </p:txBody>
      </p:sp>
    </p:spTree>
    <p:extLst>
      <p:ext uri="{BB962C8B-B14F-4D97-AF65-F5344CB8AC3E}">
        <p14:creationId xmlns:p14="http://schemas.microsoft.com/office/powerpoint/2010/main" val="1882896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AGENT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Agent control plane: current work in progress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current implementation establishes the local-versus-global boundary with in-memory control flows.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noGrp="1"/>
          </p:cNvSpPr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noGrp="1"/>
          </p:cNvSpPr>
          <p:nvPr/>
        </p:nvSpPr>
        <p:spPr>
          <a:xfrm>
            <a:off x="850392" y="20208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noGrp="1"/>
          </p:cNvSpPr>
          <p:nvPr/>
        </p:nvSpPr>
        <p:spPr>
          <a:xfrm>
            <a:off x="85039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GMA records LMA identity, scope, version, and capabilities.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noGrp="1"/>
          </p:cNvSpPr>
          <p:nvPr/>
        </p:nvSpPr>
        <p:spPr>
          <a:xfrm>
            <a:off x="315468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noGrp="1"/>
          </p:cNvSpPr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noGrp="1"/>
          </p:cNvSpPr>
          <p:nvPr/>
        </p:nvSpPr>
        <p:spPr>
          <a:xfrm>
            <a:off x="3639312" y="20208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noGrp="1"/>
          </p:cNvSpPr>
          <p:nvPr/>
        </p:nvSpPr>
        <p:spPr>
          <a:xfrm>
            <a:off x="363931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LMA profiles source records; GMA profiles assimilated records.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noGrp="1"/>
          </p:cNvSpPr>
          <p:nvPr/>
        </p:nvSpPr>
        <p:spPr>
          <a:xfrm>
            <a:off x="594360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noGrp="1"/>
          </p:cNvSpPr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noGrp="1"/>
          </p:cNvSpPr>
          <p:nvPr/>
        </p:nvSpPr>
        <p:spPr>
          <a:xfrm>
            <a:off x="6428231" y="20208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Run models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noGrp="1"/>
          </p:cNvSpPr>
          <p:nvPr/>
        </p:nvSpPr>
        <p:spPr>
          <a:xfrm>
            <a:off x="642823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Both agents can accept model-job requests and produce run metadata.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noGrp="1"/>
          </p:cNvSpPr>
          <p:nvPr/>
        </p:nvSpPr>
        <p:spPr>
          <a:xfrm>
            <a:off x="873252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noGrp="1"/>
          </p:cNvSpPr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noGrp="1"/>
          </p:cNvSpPr>
          <p:nvPr/>
        </p:nvSpPr>
        <p:spPr>
          <a:xfrm>
            <a:off x="9217151" y="20208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Sync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noGrp="1"/>
          </p:cNvSpPr>
          <p:nvPr/>
        </p:nvSpPr>
        <p:spPr>
          <a:xfrm>
            <a:off x="921715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GMA can plan desired deployments and receive LMA heartbeat/sync state.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This is the first control-plane slice. Persistent state, broker-backed dispatch, and production telemetry remain work in progress.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Current agent API scope: LMA + GMA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4E8989-E57F-4626-85F5-D8BB0621247D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SERVICE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5C766-C07D-40C3-8F6C-307209C139EF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Service suite: current integration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B5261-56CE-4F96-91CB-9740E59EC576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Each service owns a narrow job; contracts and operational hardening remain work in progress.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1805F-EF62-40CE-BCC7-2EA7A166CF07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2852928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D3499-D0BC-4ABC-A3C7-D355723F9CAF}"/>
              </a:ext>
            </a:extLst>
          </p:cNvPr>
          <p:cNvSpPr>
            <a:spLocks noGrp="1"/>
          </p:cNvSpPr>
          <p:nvPr/>
        </p:nvSpPr>
        <p:spPr>
          <a:xfrm>
            <a:off x="621792" y="176479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68C4C9-3A06-4D8E-9457-27812CB3FD93}"/>
              </a:ext>
            </a:extLst>
          </p:cNvPr>
          <p:cNvSpPr>
            <a:spLocks noGrp="1"/>
          </p:cNvSpPr>
          <p:nvPr/>
        </p:nvSpPr>
        <p:spPr>
          <a:xfrm>
            <a:off x="3401568" y="1691640"/>
            <a:ext cx="4059935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EDBD8-A00D-4F14-B5B3-60D7F12E8467}"/>
              </a:ext>
            </a:extLst>
          </p:cNvPr>
          <p:cNvSpPr>
            <a:spLocks noGrp="1"/>
          </p:cNvSpPr>
          <p:nvPr/>
        </p:nvSpPr>
        <p:spPr>
          <a:xfrm>
            <a:off x="3474720" y="17647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E3E1CA-6083-4A33-8D95-CA2C3D0D0CAE}"/>
              </a:ext>
            </a:extLst>
          </p:cNvPr>
          <p:cNvSpPr>
            <a:spLocks noGrp="1"/>
          </p:cNvSpPr>
          <p:nvPr/>
        </p:nvSpPr>
        <p:spPr>
          <a:xfrm>
            <a:off x="7461504" y="1691640"/>
            <a:ext cx="4059935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9FA0D1-4AF6-4EE6-BCBF-ED4B4BA258E3}"/>
              </a:ext>
            </a:extLst>
          </p:cNvPr>
          <p:cNvSpPr>
            <a:spLocks noGrp="1"/>
          </p:cNvSpPr>
          <p:nvPr/>
        </p:nvSpPr>
        <p:spPr>
          <a:xfrm>
            <a:off x="7534656" y="17647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Next hardening step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44D66-81C0-4F26-A06F-E69907D2A2C4}"/>
              </a:ext>
            </a:extLst>
          </p:cNvPr>
          <p:cNvSpPr>
            <a:spLocks noGrp="1"/>
          </p:cNvSpPr>
          <p:nvPr/>
        </p:nvSpPr>
        <p:spPr>
          <a:xfrm>
            <a:off x="548640" y="240030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E5DD4A-EB51-4AD5-A0CA-86FC255DDF91}"/>
              </a:ext>
            </a:extLst>
          </p:cNvPr>
          <p:cNvSpPr>
            <a:spLocks noGrp="1"/>
          </p:cNvSpPr>
          <p:nvPr/>
        </p:nvSpPr>
        <p:spPr>
          <a:xfrm>
            <a:off x="621792" y="247345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core-service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848C07-0190-44A9-94C2-153602F25B14}"/>
              </a:ext>
            </a:extLst>
          </p:cNvPr>
          <p:cNvSpPr>
            <a:spLocks noGrp="1"/>
          </p:cNvSpPr>
          <p:nvPr/>
        </p:nvSpPr>
        <p:spPr>
          <a:xfrm>
            <a:off x="3401568" y="240030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5CCE3-CCB8-45CB-9D13-41B0F49DB43B}"/>
              </a:ext>
            </a:extLst>
          </p:cNvPr>
          <p:cNvSpPr>
            <a:spLocks noGrp="1"/>
          </p:cNvSpPr>
          <p:nvPr/>
        </p:nvSpPr>
        <p:spPr>
          <a:xfrm>
            <a:off x="3474720" y="247345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Catalog, topology, workload compile, Kubernetes YAML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DD7280-F293-4742-A23C-F4BA857B98C4}"/>
              </a:ext>
            </a:extLst>
          </p:cNvPr>
          <p:cNvSpPr>
            <a:spLocks noGrp="1"/>
          </p:cNvSpPr>
          <p:nvPr/>
        </p:nvSpPr>
        <p:spPr>
          <a:xfrm>
            <a:off x="7461504" y="240030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7D715B-A37D-41DE-8799-5723E13FBB3B}"/>
              </a:ext>
            </a:extLst>
          </p:cNvPr>
          <p:cNvSpPr>
            <a:spLocks noGrp="1"/>
          </p:cNvSpPr>
          <p:nvPr/>
        </p:nvSpPr>
        <p:spPr>
          <a:xfrm>
            <a:off x="7534656" y="247345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Auth, durable plans, deployment apply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6B42DB-0925-4B13-9BDF-D84C345503F4}"/>
              </a:ext>
            </a:extLst>
          </p:cNvPr>
          <p:cNvSpPr>
            <a:spLocks noGrp="1"/>
          </p:cNvSpPr>
          <p:nvPr/>
        </p:nvSpPr>
        <p:spPr>
          <a:xfrm>
            <a:off x="548640" y="310896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76EFD7-E340-4FB2-BC76-B94625762EF7}"/>
              </a:ext>
            </a:extLst>
          </p:cNvPr>
          <p:cNvSpPr>
            <a:spLocks noGrp="1"/>
          </p:cNvSpPr>
          <p:nvPr/>
        </p:nvSpPr>
        <p:spPr>
          <a:xfrm>
            <a:off x="621792" y="318211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pipeline-service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769EAF-01DB-4FB3-A301-3E373765833F}"/>
              </a:ext>
            </a:extLst>
          </p:cNvPr>
          <p:cNvSpPr>
            <a:spLocks noGrp="1"/>
          </p:cNvSpPr>
          <p:nvPr/>
        </p:nvSpPr>
        <p:spPr>
          <a:xfrm>
            <a:off x="3401568" y="310896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E32270-6044-458E-9EA3-F00CDCD3710F}"/>
              </a:ext>
            </a:extLst>
          </p:cNvPr>
          <p:cNvSpPr>
            <a:spLocks noGrp="1"/>
          </p:cNvSpPr>
          <p:nvPr/>
        </p:nvSpPr>
        <p:spPr>
          <a:xfrm>
            <a:off x="3474720" y="318211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Registers JSON workflows and runs ordered steps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7CC1B5-E443-4F95-95D5-DB135876C29E}"/>
              </a:ext>
            </a:extLst>
          </p:cNvPr>
          <p:cNvSpPr>
            <a:spLocks noGrp="1"/>
          </p:cNvSpPr>
          <p:nvPr/>
        </p:nvSpPr>
        <p:spPr>
          <a:xfrm>
            <a:off x="7461504" y="310896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8D1C9-37AF-4BEA-91FB-A63BEF14D797}"/>
              </a:ext>
            </a:extLst>
          </p:cNvPr>
          <p:cNvSpPr>
            <a:spLocks noGrp="1"/>
          </p:cNvSpPr>
          <p:nvPr/>
        </p:nvSpPr>
        <p:spPr>
          <a:xfrm>
            <a:off x="7534656" y="318211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Persistence, retries, scheduling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5F381D-1153-47FA-A0BB-109C5DD96653}"/>
              </a:ext>
            </a:extLst>
          </p:cNvPr>
          <p:cNvSpPr>
            <a:spLocks noGrp="1"/>
          </p:cNvSpPr>
          <p:nvPr/>
        </p:nvSpPr>
        <p:spPr>
          <a:xfrm>
            <a:off x="548640" y="381762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AF97B7-0EC7-492E-8216-12B43368AEDD}"/>
              </a:ext>
            </a:extLst>
          </p:cNvPr>
          <p:cNvSpPr>
            <a:spLocks noGrp="1"/>
          </p:cNvSpPr>
          <p:nvPr/>
        </p:nvSpPr>
        <p:spPr>
          <a:xfrm>
            <a:off x="621792" y="389077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model-service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E449BD-0545-4D14-92B0-C0C03BBAFF33}"/>
              </a:ext>
            </a:extLst>
          </p:cNvPr>
          <p:cNvSpPr>
            <a:spLocks noGrp="1"/>
          </p:cNvSpPr>
          <p:nvPr/>
        </p:nvSpPr>
        <p:spPr>
          <a:xfrm>
            <a:off x="3401568" y="381762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8A814C-2F17-404B-A854-B3C72CE13365}"/>
              </a:ext>
            </a:extLst>
          </p:cNvPr>
          <p:cNvSpPr>
            <a:spLocks noGrp="1"/>
          </p:cNvSpPr>
          <p:nvPr/>
        </p:nvSpPr>
        <p:spPr>
          <a:xfrm>
            <a:off x="3474720" y="389077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Dataset catalog, training jobs, model-job visibility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1C8B34-EAA6-4DE3-B12F-AA600A1B12A1}"/>
              </a:ext>
            </a:extLst>
          </p:cNvPr>
          <p:cNvSpPr>
            <a:spLocks noGrp="1"/>
          </p:cNvSpPr>
          <p:nvPr/>
        </p:nvSpPr>
        <p:spPr>
          <a:xfrm>
            <a:off x="7461504" y="381762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CB038B-9458-4F3C-B60D-C76CC950198B}"/>
              </a:ext>
            </a:extLst>
          </p:cNvPr>
          <p:cNvSpPr>
            <a:spLocks noGrp="1"/>
          </p:cNvSpPr>
          <p:nvPr/>
        </p:nvSpPr>
        <p:spPr>
          <a:xfrm>
            <a:off x="7534656" y="389077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Artifact registry and worker queues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BFFB0F-F26A-4B25-BDDE-4A02E13B10D4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F68200-F02A-4EF6-8662-A4CB7975F2EB}"/>
              </a:ext>
            </a:extLst>
          </p:cNvPr>
          <p:cNvSpPr>
            <a:spLocks noGrp="1"/>
          </p:cNvSpPr>
          <p:nvPr/>
        </p:nvSpPr>
        <p:spPr>
          <a:xfrm>
            <a:off x="621792" y="459943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LMA / GMA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033B15-3D32-4139-9093-C3EC0D52C72B}"/>
              </a:ext>
            </a:extLst>
          </p:cNvPr>
          <p:cNvSpPr>
            <a:spLocks noGrp="1"/>
          </p:cNvSpPr>
          <p:nvPr/>
        </p:nvSpPr>
        <p:spPr>
          <a:xfrm>
            <a:off x="3401568" y="452628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B4A3BF-0609-4D48-BB1C-CAAF8C3117CD}"/>
              </a:ext>
            </a:extLst>
          </p:cNvPr>
          <p:cNvSpPr>
            <a:spLocks noGrp="1"/>
          </p:cNvSpPr>
          <p:nvPr/>
        </p:nvSpPr>
        <p:spPr>
          <a:xfrm>
            <a:off x="3474720" y="459943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Source-level and aggregate agent computation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367BC6-3FF2-4B63-8123-85C14F4AE04D}"/>
              </a:ext>
            </a:extLst>
          </p:cNvPr>
          <p:cNvSpPr>
            <a:spLocks noGrp="1"/>
          </p:cNvSpPr>
          <p:nvPr/>
        </p:nvSpPr>
        <p:spPr>
          <a:xfrm>
            <a:off x="7461504" y="452628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117802-2B97-47AE-A1C3-A536E4CCB58D}"/>
              </a:ext>
            </a:extLst>
          </p:cNvPr>
          <p:cNvSpPr>
            <a:spLocks noGrp="1"/>
          </p:cNvSpPr>
          <p:nvPr/>
        </p:nvSpPr>
        <p:spPr>
          <a:xfrm>
            <a:off x="7534656" y="459943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Broker dispatch and durable state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6EFD778-B6C6-47AA-84F1-9B01BBEC5F74}"/>
              </a:ext>
            </a:extLst>
          </p:cNvPr>
          <p:cNvSpPr>
            <a:spLocks noGrp="1"/>
          </p:cNvSpPr>
          <p:nvPr/>
        </p:nvSpPr>
        <p:spPr>
          <a:xfrm>
            <a:off x="548640" y="523494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1FE5C2-7C69-4B76-AFAD-6C3053287881}"/>
              </a:ext>
            </a:extLst>
          </p:cNvPr>
          <p:cNvSpPr>
            <a:spLocks noGrp="1"/>
          </p:cNvSpPr>
          <p:nvPr/>
        </p:nvSpPr>
        <p:spPr>
          <a:xfrm>
            <a:off x="621792" y="530809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dagentsc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A16C5C-A3F7-4D95-919C-C36CB3FC5A8D}"/>
              </a:ext>
            </a:extLst>
          </p:cNvPr>
          <p:cNvSpPr>
            <a:spLocks noGrp="1"/>
          </p:cNvSpPr>
          <p:nvPr/>
        </p:nvSpPr>
        <p:spPr>
          <a:xfrm>
            <a:off x="3401568" y="523494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9917C-CB0F-42EF-A94E-9F39FAF1E497}"/>
              </a:ext>
            </a:extLst>
          </p:cNvPr>
          <p:cNvSpPr>
            <a:spLocks noGrp="1"/>
          </p:cNvSpPr>
          <p:nvPr/>
        </p:nvSpPr>
        <p:spPr>
          <a:xfrm>
            <a:off x="3474720" y="53080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OCaml process boundary for deterministic planning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1E8843-AA41-4085-AB1E-55C106CB7396}"/>
              </a:ext>
            </a:extLst>
          </p:cNvPr>
          <p:cNvSpPr>
            <a:spLocks noGrp="1"/>
          </p:cNvSpPr>
          <p:nvPr/>
        </p:nvSpPr>
        <p:spPr>
          <a:xfrm>
            <a:off x="7461504" y="523494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852803-0465-4E91-BB33-E4EA6A463B73}"/>
              </a:ext>
            </a:extLst>
          </p:cNvPr>
          <p:cNvSpPr>
            <a:spLocks noGrp="1"/>
          </p:cNvSpPr>
          <p:nvPr/>
        </p:nvSpPr>
        <p:spPr>
          <a:xfrm>
            <a:off x="7534656" y="53080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Versioned contracts and packaging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5CA374-23DB-499D-BD95-A09CAB022F8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Integration stays API-based while the contracts mature</a:t>
            </a:r>
          </a:p>
        </p:txBody>
      </p:sp>
    </p:spTree>
    <p:extLst>
      <p:ext uri="{BB962C8B-B14F-4D97-AF65-F5344CB8AC3E}">
        <p14:creationId xmlns:p14="http://schemas.microsoft.com/office/powerpoint/2010/main" val="2019090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D0897-00AD-4965-8CE2-0C3E3BDAA89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POTENTIAL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EF4B8-D416-44CC-8F0F-CD690DE62B0E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Where this project can grow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5C6F23-B794-41CB-9828-0309755B56BA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can become the shared agent layer for data-heavy applications.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185A7CA-8862-4A59-84A7-D6796384C0A0}"/>
              </a:ext>
            </a:extLst>
          </p:cNvPr>
          <p:cNvSpPr>
            <a:spLocks noGrp="1"/>
          </p:cNvSpPr>
          <p:nvPr/>
        </p:nvSpPr>
        <p:spPr>
          <a:xfrm>
            <a:off x="777240" y="1737360"/>
            <a:ext cx="4892040" cy="114300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A6ABA7-B17F-4F9D-95AC-A9AD1840DA5F}"/>
              </a:ext>
            </a:extLst>
          </p:cNvPr>
          <p:cNvSpPr>
            <a:spLocks noGrp="1"/>
          </p:cNvSpPr>
          <p:nvPr/>
        </p:nvSpPr>
        <p:spPr>
          <a:xfrm>
            <a:off x="941832" y="18836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Reusable agent layer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C6DE5-10AC-4D7B-A902-BE1A4B95FA97}"/>
              </a:ext>
            </a:extLst>
          </p:cNvPr>
          <p:cNvSpPr>
            <a:spLocks noGrp="1"/>
          </p:cNvSpPr>
          <p:nvPr/>
        </p:nvSpPr>
        <p:spPr>
          <a:xfrm>
            <a:off x="94183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Apps can reuse LMA/GMA behavior instead of writing one-off orchestration code.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B689BD0-DEBE-4890-84C2-52C9C0F87691}"/>
              </a:ext>
            </a:extLst>
          </p:cNvPr>
          <p:cNvSpPr>
            <a:spLocks noGrp="1"/>
          </p:cNvSpPr>
          <p:nvPr/>
        </p:nvSpPr>
        <p:spPr>
          <a:xfrm>
            <a:off x="6217920" y="1737360"/>
            <a:ext cx="4892040" cy="114300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22423-3633-4CFF-9783-DEDD0DB789E8}"/>
              </a:ext>
            </a:extLst>
          </p:cNvPr>
          <p:cNvSpPr>
            <a:spLocks noGrp="1"/>
          </p:cNvSpPr>
          <p:nvPr/>
        </p:nvSpPr>
        <p:spPr>
          <a:xfrm>
            <a:off x="6382512" y="18836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Traceable decisions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7BA40-A629-4F2C-9946-C9AFDE739862}"/>
              </a:ext>
            </a:extLst>
          </p:cNvPr>
          <p:cNvSpPr>
            <a:spLocks noGrp="1"/>
          </p:cNvSpPr>
          <p:nvPr/>
        </p:nvSpPr>
        <p:spPr>
          <a:xfrm>
            <a:off x="6382512" y="226771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Every request can show checks, plans, routes, and service calls.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5CF9E1F-B30B-4AF0-BFE2-3E3E214ECC1C}"/>
              </a:ext>
            </a:extLst>
          </p:cNvPr>
          <p:cNvSpPr>
            <a:spLocks noGrp="1"/>
          </p:cNvSpPr>
          <p:nvPr/>
        </p:nvSpPr>
        <p:spPr>
          <a:xfrm>
            <a:off x="777240" y="3383280"/>
            <a:ext cx="4892040" cy="114300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C606A-7A36-4A56-AE5F-ED90CCBB9865}"/>
              </a:ext>
            </a:extLst>
          </p:cNvPr>
          <p:cNvSpPr>
            <a:spLocks noGrp="1"/>
          </p:cNvSpPr>
          <p:nvPr/>
        </p:nvSpPr>
        <p:spPr>
          <a:xfrm>
            <a:off x="941832" y="35295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Deployment bridge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2DE3C6-7B14-47CE-984B-4FEA66D42DD9}"/>
              </a:ext>
            </a:extLst>
          </p:cNvPr>
          <p:cNvSpPr>
            <a:spLocks noGrp="1"/>
          </p:cNvSpPr>
          <p:nvPr/>
        </p:nvSpPr>
        <p:spPr>
          <a:xfrm>
            <a:off x="94183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Typed workload specs can become Docker, Kubernetes, or cloud deployment artifacts.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2068F01-5A1E-4CA8-BAC8-5916EBED6DE1}"/>
              </a:ext>
            </a:extLst>
          </p:cNvPr>
          <p:cNvSpPr>
            <a:spLocks noGrp="1"/>
          </p:cNvSpPr>
          <p:nvPr/>
        </p:nvSpPr>
        <p:spPr>
          <a:xfrm>
            <a:off x="6217920" y="3383280"/>
            <a:ext cx="4892040" cy="114300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F3519E-A7D4-4C26-97BE-CCD863D217C3}"/>
              </a:ext>
            </a:extLst>
          </p:cNvPr>
          <p:cNvSpPr>
            <a:spLocks noGrp="1"/>
          </p:cNvSpPr>
          <p:nvPr/>
        </p:nvSpPr>
        <p:spPr>
          <a:xfrm>
            <a:off x="6382512" y="35295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Safer AI workflows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48AC81-5D4F-4221-91E2-2B61032AA866}"/>
              </a:ext>
            </a:extLst>
          </p:cNvPr>
          <p:cNvSpPr>
            <a:spLocks noGrp="1"/>
          </p:cNvSpPr>
          <p:nvPr/>
        </p:nvSpPr>
        <p:spPr>
          <a:xfrm>
            <a:off x="6382512" y="3913632"/>
            <a:ext cx="45720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Policy checks can run before data access, model calls, and generated actions.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89CDBE-DBE1-4102-896D-D470C23C8EA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Potential: shared infra for future consumers</a:t>
            </a:r>
          </a:p>
        </p:txBody>
      </p:sp>
    </p:spTree>
    <p:extLst>
      <p:ext uri="{BB962C8B-B14F-4D97-AF65-F5344CB8AC3E}">
        <p14:creationId xmlns:p14="http://schemas.microsoft.com/office/powerpoint/2010/main" val="1152305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9AF9D45-96E0-4AEF-9343-56C453755A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15"/>
          </a:solidFill>
          <a:ln w="9525">
            <a:solidFill>
              <a:srgbClr val="11181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C1EEFE-ACB5-4C94-912B-00F796A8147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PYTHON / RUNTIME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C3BC69-EE4D-4BE2-890A-092AE334069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Python: why we chose it and what it does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C719FD-4485-47FE-A43C-3CD9AE1BA90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C6D2C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CB"/>
                </a:solidFill>
                <a:latin typeface="Aptos"/>
                <a:ea typeface="Aptos"/>
                <a:cs typeface="Aptos"/>
              </a:rPr>
              <a:t>Python runs the parts of DAgents that talk to data, services, files, models, and external systems.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3C4E7-E9CD-4E69-92C0-EECD3896A080}"/>
              </a:ext>
            </a:extLst>
          </p:cNvPr>
          <p:cNvSpPr>
            <a:spLocks noGrp="1"/>
          </p:cNvSpPr>
          <p:nvPr/>
        </p:nvSpPr>
        <p:spPr>
          <a:xfrm>
            <a:off x="952500" y="26384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3902B9-E4CE-4821-981E-4E47B53ADEA6}"/>
              </a:ext>
            </a:extLst>
          </p:cNvPr>
          <p:cNvSpPr>
            <a:spLocks noGrp="1"/>
          </p:cNvSpPr>
          <p:nvPr/>
        </p:nvSpPr>
        <p:spPr>
          <a:xfrm>
            <a:off x="1219200" y="25717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we chose it: FastAPI makes APIs quick to build, Pydantic checks JSON requests, and PyTorch and data libraries support ML work.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CF0192-1C67-496C-8489-AB52E986B7F0}"/>
              </a:ext>
            </a:extLst>
          </p:cNvPr>
          <p:cNvSpPr>
            <a:spLocks noGrp="1"/>
          </p:cNvSpPr>
          <p:nvPr/>
        </p:nvSpPr>
        <p:spPr>
          <a:xfrm>
            <a:off x="952500" y="3171825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945A9F-8AF4-453E-954A-FCD0A39EE192}"/>
              </a:ext>
            </a:extLst>
          </p:cNvPr>
          <p:cNvSpPr>
            <a:spLocks noGrp="1"/>
          </p:cNvSpPr>
          <p:nvPr/>
        </p:nvSpPr>
        <p:spPr>
          <a:xfrm>
            <a:off x="1219200" y="31051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does: Python runs LMA and GMA APIs, pipeline execution, model training and inference, source adapters, and the core service.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9F904-8290-4D6A-96BC-893EEC488B66}"/>
              </a:ext>
            </a:extLst>
          </p:cNvPr>
          <p:cNvSpPr>
            <a:spLocks noGrp="1"/>
          </p:cNvSpPr>
          <p:nvPr/>
        </p:nvSpPr>
        <p:spPr>
          <a:xfrm>
            <a:off x="952500" y="3705225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81728D-6165-4585-BF27-8B33FCF7ED21}"/>
              </a:ext>
            </a:extLst>
          </p:cNvPr>
          <p:cNvSpPr>
            <a:spLocks noGrp="1"/>
          </p:cNvSpPr>
          <p:nvPr/>
        </p:nvSpPr>
        <p:spPr>
          <a:xfrm>
            <a:off x="1219200" y="36385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it is used: A request enters a Python service. The service performs I/O or ML work and calls dagentsc when it needs a typed plan.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473A43-257C-44D7-9BC5-2FFE6C647DCC}"/>
              </a:ext>
            </a:extLst>
          </p:cNvPr>
          <p:cNvSpPr>
            <a:spLocks noGrp="1"/>
          </p:cNvSpPr>
          <p:nvPr/>
        </p:nvSpPr>
        <p:spPr>
          <a:xfrm>
            <a:off x="952500" y="4238625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6F567E-A363-4F76-A48A-2F859DCD5446}"/>
              </a:ext>
            </a:extLst>
          </p:cNvPr>
          <p:cNvSpPr>
            <a:spLocks noGrp="1"/>
          </p:cNvSpPr>
          <p:nvPr/>
        </p:nvSpPr>
        <p:spPr>
          <a:xfrm>
            <a:off x="1219200" y="41719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stays outside: Deterministic compiler rules stay in OCaml. Spring provides a separate control API and integration surface.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43DD60D-D05A-4E1A-99BC-C7AE20FC6A88}"/>
              </a:ext>
            </a:extLst>
          </p:cNvPr>
          <p:cNvSpPr>
            <a:spLocks noGrp="1"/>
          </p:cNvSpPr>
          <p:nvPr/>
        </p:nvSpPr>
        <p:spPr>
          <a:xfrm>
            <a:off x="8858250" y="2552700"/>
            <a:ext cx="2286000" cy="2000250"/>
          </a:xfrm>
          <a:prstGeom prst="roundRect">
            <a:avLst>
              <a:gd name="adj" fmla="val 1905"/>
            </a:avLst>
          </a:prstGeom>
          <a:solidFill>
            <a:srgbClr val="E9E1FA"/>
          </a:solidFill>
          <a:ln w="9525">
            <a:solidFill>
              <a:srgbClr val="AFA4C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Python's job</a:t>
            </a:r>
          </a:p>
          <a:p>
            <a:endParaRPr sz="1400" b="0">
              <a:solidFill>
                <a:srgbClr val="15201B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APIs + I/O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pipelines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ML execution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state</a:t>
            </a:r>
          </a:p>
          <a:p>
            <a:pPr algn="ctr">
              <a:buNone/>
            </a:pPr>
            <a:endParaRPr sz="1200" b="0">
              <a:solidFill>
                <a:srgbClr val="15201B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FastAPI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PyTorch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FF7CA3-247B-4DB8-9383-3012CB33590F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94A3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9A"/>
                </a:solidFill>
                <a:latin typeface="Aptos"/>
                <a:ea typeface="Aptos"/>
                <a:cs typeface="Aptos"/>
              </a:rPr>
              <a:t>DAgents / Python layer</a:t>
            </a:r>
          </a:p>
        </p:txBody>
      </p:sp>
    </p:spTree>
    <p:extLst>
      <p:ext uri="{BB962C8B-B14F-4D97-AF65-F5344CB8AC3E}">
        <p14:creationId xmlns:p14="http://schemas.microsoft.com/office/powerpoint/2010/main" val="8402373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4E8989-E57F-4626-85F5-D8BB0621247D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PYTHON MODULES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5C766-C07D-40C3-8F6C-307209C139EF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Python services execute the framework's live workloads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B5261-56CE-4F96-91CB-9740E59EC576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Each service owns an API or runtime concern; shared contracts keep them connected.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1805F-EF62-40CE-BCC7-2EA7A166CF07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2852928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D3499-D0BC-4ABC-A3C7-D355723F9CAF}"/>
              </a:ext>
            </a:extLst>
          </p:cNvPr>
          <p:cNvSpPr>
            <a:spLocks noGrp="1"/>
          </p:cNvSpPr>
          <p:nvPr/>
        </p:nvSpPr>
        <p:spPr>
          <a:xfrm>
            <a:off x="621792" y="176479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68C4C9-3A06-4D8E-9457-27812CB3FD93}"/>
              </a:ext>
            </a:extLst>
          </p:cNvPr>
          <p:cNvSpPr>
            <a:spLocks noGrp="1"/>
          </p:cNvSpPr>
          <p:nvPr/>
        </p:nvSpPr>
        <p:spPr>
          <a:xfrm>
            <a:off x="3401568" y="1691640"/>
            <a:ext cx="4059935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EDBD8-A00D-4F14-B5B3-60D7F12E8467}"/>
              </a:ext>
            </a:extLst>
          </p:cNvPr>
          <p:cNvSpPr>
            <a:spLocks noGrp="1"/>
          </p:cNvSpPr>
          <p:nvPr/>
        </p:nvSpPr>
        <p:spPr>
          <a:xfrm>
            <a:off x="3474720" y="17647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What it owns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E3E1CA-6083-4A33-8D95-CA2C3D0D0CAE}"/>
              </a:ext>
            </a:extLst>
          </p:cNvPr>
          <p:cNvSpPr>
            <a:spLocks noGrp="1"/>
          </p:cNvSpPr>
          <p:nvPr/>
        </p:nvSpPr>
        <p:spPr>
          <a:xfrm>
            <a:off x="7461504" y="1691640"/>
            <a:ext cx="4059935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9FA0D1-4AF6-4EE6-BCBF-ED4B4BA258E3}"/>
              </a:ext>
            </a:extLst>
          </p:cNvPr>
          <p:cNvSpPr>
            <a:spLocks noGrp="1"/>
          </p:cNvSpPr>
          <p:nvPr/>
        </p:nvSpPr>
        <p:spPr>
          <a:xfrm>
            <a:off x="7534656" y="17647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Why Python fits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44D66-81C0-4F26-A06F-E69907D2A2C4}"/>
              </a:ext>
            </a:extLst>
          </p:cNvPr>
          <p:cNvSpPr>
            <a:spLocks noGrp="1"/>
          </p:cNvSpPr>
          <p:nvPr/>
        </p:nvSpPr>
        <p:spPr>
          <a:xfrm>
            <a:off x="548640" y="240030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E5DD4A-EB51-4AD5-A0CA-86FC255DDF91}"/>
              </a:ext>
            </a:extLst>
          </p:cNvPr>
          <p:cNvSpPr>
            <a:spLocks noGrp="1"/>
          </p:cNvSpPr>
          <p:nvPr/>
        </p:nvSpPr>
        <p:spPr>
          <a:xfrm>
            <a:off x="621792" y="247345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LMA / GMA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848C07-0190-44A9-94C2-153602F25B14}"/>
              </a:ext>
            </a:extLst>
          </p:cNvPr>
          <p:cNvSpPr>
            <a:spLocks noGrp="1"/>
          </p:cNvSpPr>
          <p:nvPr/>
        </p:nvSpPr>
        <p:spPr>
          <a:xfrm>
            <a:off x="3401568" y="240030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5CCE3-CCB8-45CB-9D13-41B0F49DB43B}"/>
              </a:ext>
            </a:extLst>
          </p:cNvPr>
          <p:cNvSpPr>
            <a:spLocks noGrp="1"/>
          </p:cNvSpPr>
          <p:nvPr/>
        </p:nvSpPr>
        <p:spPr>
          <a:xfrm>
            <a:off x="3474720" y="247345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Source and aggregate agent APIs, runs, state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DD7280-F293-4742-A23C-F4BA857B98C4}"/>
              </a:ext>
            </a:extLst>
          </p:cNvPr>
          <p:cNvSpPr>
            <a:spLocks noGrp="1"/>
          </p:cNvSpPr>
          <p:nvPr/>
        </p:nvSpPr>
        <p:spPr>
          <a:xfrm>
            <a:off x="7461504" y="240030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7D715B-A37D-41DE-8799-5723E13FBB3B}"/>
              </a:ext>
            </a:extLst>
          </p:cNvPr>
          <p:cNvSpPr>
            <a:spLocks noGrp="1"/>
          </p:cNvSpPr>
          <p:nvPr/>
        </p:nvSpPr>
        <p:spPr>
          <a:xfrm>
            <a:off x="7534656" y="247345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Fast local and global orchestration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6B42DB-0925-4B13-9BDF-D84C345503F4}"/>
              </a:ext>
            </a:extLst>
          </p:cNvPr>
          <p:cNvSpPr>
            <a:spLocks noGrp="1"/>
          </p:cNvSpPr>
          <p:nvPr/>
        </p:nvSpPr>
        <p:spPr>
          <a:xfrm>
            <a:off x="548640" y="310896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76EFD7-E340-4FB2-BC76-B94625762EF7}"/>
              </a:ext>
            </a:extLst>
          </p:cNvPr>
          <p:cNvSpPr>
            <a:spLocks noGrp="1"/>
          </p:cNvSpPr>
          <p:nvPr/>
        </p:nvSpPr>
        <p:spPr>
          <a:xfrm>
            <a:off x="621792" y="318211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core-service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769EAF-01DB-4FB3-A301-3E373765833F}"/>
              </a:ext>
            </a:extLst>
          </p:cNvPr>
          <p:cNvSpPr>
            <a:spLocks noGrp="1"/>
          </p:cNvSpPr>
          <p:nvPr/>
        </p:nvSpPr>
        <p:spPr>
          <a:xfrm>
            <a:off x="3401568" y="310896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E32270-6044-458E-9EA3-F00CDCD3710F}"/>
              </a:ext>
            </a:extLst>
          </p:cNvPr>
          <p:cNvSpPr>
            <a:spLocks noGrp="1"/>
          </p:cNvSpPr>
          <p:nvPr/>
        </p:nvSpPr>
        <p:spPr>
          <a:xfrm>
            <a:off x="3474720" y="318211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Catalog, topology, workload facade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7CC1B5-E443-4F95-95D5-DB135876C29E}"/>
              </a:ext>
            </a:extLst>
          </p:cNvPr>
          <p:cNvSpPr>
            <a:spLocks noGrp="1"/>
          </p:cNvSpPr>
          <p:nvPr/>
        </p:nvSpPr>
        <p:spPr>
          <a:xfrm>
            <a:off x="7461504" y="310896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8D1C9-37AF-4BEA-91FB-A63BEF14D797}"/>
              </a:ext>
            </a:extLst>
          </p:cNvPr>
          <p:cNvSpPr>
            <a:spLocks noGrp="1"/>
          </p:cNvSpPr>
          <p:nvPr/>
        </p:nvSpPr>
        <p:spPr>
          <a:xfrm>
            <a:off x="7534656" y="318211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HTTP integration and deployment I/O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5F381D-1153-47FA-A0BB-109C5DD96653}"/>
              </a:ext>
            </a:extLst>
          </p:cNvPr>
          <p:cNvSpPr>
            <a:spLocks noGrp="1"/>
          </p:cNvSpPr>
          <p:nvPr/>
        </p:nvSpPr>
        <p:spPr>
          <a:xfrm>
            <a:off x="548640" y="381762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AF97B7-0EC7-492E-8216-12B43368AEDD}"/>
              </a:ext>
            </a:extLst>
          </p:cNvPr>
          <p:cNvSpPr>
            <a:spLocks noGrp="1"/>
          </p:cNvSpPr>
          <p:nvPr/>
        </p:nvSpPr>
        <p:spPr>
          <a:xfrm>
            <a:off x="621792" y="389077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pipeline-service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E449BD-0545-4D14-92B0-C0C03BBAFF33}"/>
              </a:ext>
            </a:extLst>
          </p:cNvPr>
          <p:cNvSpPr>
            <a:spLocks noGrp="1"/>
          </p:cNvSpPr>
          <p:nvPr/>
        </p:nvSpPr>
        <p:spPr>
          <a:xfrm>
            <a:off x="3401568" y="381762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8A814C-2F17-404B-A854-B3C72CE13365}"/>
              </a:ext>
            </a:extLst>
          </p:cNvPr>
          <p:cNvSpPr>
            <a:spLocks noGrp="1"/>
          </p:cNvSpPr>
          <p:nvPr/>
        </p:nvSpPr>
        <p:spPr>
          <a:xfrm>
            <a:off x="3474720" y="389077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Workflow registry and stateful runs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1C8B34-EAA6-4DE3-B12F-AA600A1B12A1}"/>
              </a:ext>
            </a:extLst>
          </p:cNvPr>
          <p:cNvSpPr>
            <a:spLocks noGrp="1"/>
          </p:cNvSpPr>
          <p:nvPr/>
        </p:nvSpPr>
        <p:spPr>
          <a:xfrm>
            <a:off x="7461504" y="381762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CB038B-9458-4F3C-B60D-C76CC950198B}"/>
              </a:ext>
            </a:extLst>
          </p:cNvPr>
          <p:cNvSpPr>
            <a:spLocks noGrp="1"/>
          </p:cNvSpPr>
          <p:nvPr/>
        </p:nvSpPr>
        <p:spPr>
          <a:xfrm>
            <a:off x="7534656" y="389077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Flexible JSON execution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BFFB0F-F26A-4B25-BDDE-4A02E13B10D4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F68200-F02A-4EF6-8662-A4CB7975F2EB}"/>
              </a:ext>
            </a:extLst>
          </p:cNvPr>
          <p:cNvSpPr>
            <a:spLocks noGrp="1"/>
          </p:cNvSpPr>
          <p:nvPr/>
        </p:nvSpPr>
        <p:spPr>
          <a:xfrm>
            <a:off x="621792" y="459943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model-service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033B15-3D32-4139-9093-C3EC0D52C72B}"/>
              </a:ext>
            </a:extLst>
          </p:cNvPr>
          <p:cNvSpPr>
            <a:spLocks noGrp="1"/>
          </p:cNvSpPr>
          <p:nvPr/>
        </p:nvSpPr>
        <p:spPr>
          <a:xfrm>
            <a:off x="3401568" y="452628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B4A3BF-0609-4D48-BB1C-CAAF8C3117CD}"/>
              </a:ext>
            </a:extLst>
          </p:cNvPr>
          <p:cNvSpPr>
            <a:spLocks noGrp="1"/>
          </p:cNvSpPr>
          <p:nvPr/>
        </p:nvSpPr>
        <p:spPr>
          <a:xfrm>
            <a:off x="3474720" y="459943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Preprocessing, training, evaluation, artifacts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367BC6-3FF2-4B63-8123-85C14F4AE04D}"/>
              </a:ext>
            </a:extLst>
          </p:cNvPr>
          <p:cNvSpPr>
            <a:spLocks noGrp="1"/>
          </p:cNvSpPr>
          <p:nvPr/>
        </p:nvSpPr>
        <p:spPr>
          <a:xfrm>
            <a:off x="7461504" y="452628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117802-2B97-47AE-A1C3-A536E4CCB58D}"/>
              </a:ext>
            </a:extLst>
          </p:cNvPr>
          <p:cNvSpPr>
            <a:spLocks noGrp="1"/>
          </p:cNvSpPr>
          <p:nvPr/>
        </p:nvSpPr>
        <p:spPr>
          <a:xfrm>
            <a:off x="7534656" y="459943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PyTorch and data libraries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6EFD778-B6C6-47AA-84F1-9B01BBEC5F74}"/>
              </a:ext>
            </a:extLst>
          </p:cNvPr>
          <p:cNvSpPr>
            <a:spLocks noGrp="1"/>
          </p:cNvSpPr>
          <p:nvPr/>
        </p:nvSpPr>
        <p:spPr>
          <a:xfrm>
            <a:off x="548640" y="523494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1FE5C2-7C69-4B76-AFAD-6C3053287881}"/>
              </a:ext>
            </a:extLst>
          </p:cNvPr>
          <p:cNvSpPr>
            <a:spLocks noGrp="1"/>
          </p:cNvSpPr>
          <p:nvPr/>
        </p:nvSpPr>
        <p:spPr>
          <a:xfrm>
            <a:off x="621792" y="530809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NL2SQL backend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A16C5C-A3F7-4D95-919C-C36CB3FC5A8D}"/>
              </a:ext>
            </a:extLst>
          </p:cNvPr>
          <p:cNvSpPr>
            <a:spLocks noGrp="1"/>
          </p:cNvSpPr>
          <p:nvPr/>
        </p:nvSpPr>
        <p:spPr>
          <a:xfrm>
            <a:off x="3401568" y="523494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9917C-CB0F-42EF-A94E-9F39FAF1E497}"/>
              </a:ext>
            </a:extLst>
          </p:cNvPr>
          <p:cNvSpPr>
            <a:spLocks noGrp="1"/>
          </p:cNvSpPr>
          <p:nvPr/>
        </p:nvSpPr>
        <p:spPr>
          <a:xfrm>
            <a:off x="3474720" y="53080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Schema, model adapters, DAgents trace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1E8843-AA41-4085-AB1E-55C106CB7396}"/>
              </a:ext>
            </a:extLst>
          </p:cNvPr>
          <p:cNvSpPr>
            <a:spLocks noGrp="1"/>
          </p:cNvSpPr>
          <p:nvPr/>
        </p:nvSpPr>
        <p:spPr>
          <a:xfrm>
            <a:off x="7461504" y="523494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852803-0465-4E91-BB33-E4EA6A463B73}"/>
              </a:ext>
            </a:extLst>
          </p:cNvPr>
          <p:cNvSpPr>
            <a:spLocks noGrp="1"/>
          </p:cNvSpPr>
          <p:nvPr/>
        </p:nvSpPr>
        <p:spPr>
          <a:xfrm>
            <a:off x="7534656" y="53080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Consumer-specific orchestration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5CA374-23DB-499D-BD95-A09CAB022F8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/ Python modules</a:t>
            </a:r>
          </a:p>
        </p:txBody>
      </p:sp>
    </p:spTree>
    <p:extLst>
      <p:ext uri="{BB962C8B-B14F-4D97-AF65-F5344CB8AC3E}">
        <p14:creationId xmlns:p14="http://schemas.microsoft.com/office/powerpoint/2010/main" val="2019090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PYTHON REQUEST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Python turns valid requests into runtime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runtime layer coordinates side effects while typed planner boundaries stay explicit.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noGrp="1"/>
          </p:cNvSpPr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noGrp="1"/>
          </p:cNvSpPr>
          <p:nvPr/>
        </p:nvSpPr>
        <p:spPr>
          <a:xfrm>
            <a:off x="85039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RECEIVE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noGrp="1"/>
          </p:cNvSpPr>
          <p:nvPr/>
        </p:nvSpPr>
        <p:spPr>
          <a:xfrm>
            <a:off x="85039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FastAPI parses and validates a Pydantic request.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noGrp="1"/>
          </p:cNvSpPr>
          <p:nvPr/>
        </p:nvSpPr>
        <p:spPr>
          <a:xfrm>
            <a:off x="315468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noGrp="1"/>
          </p:cNvSpPr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noGrp="1"/>
          </p:cNvSpPr>
          <p:nvPr/>
        </p:nvSpPr>
        <p:spPr>
          <a:xfrm>
            <a:off x="363931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noGrp="1"/>
          </p:cNvSpPr>
          <p:nvPr/>
        </p:nvSpPr>
        <p:spPr>
          <a:xfrm>
            <a:off x="363931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service calls dagentsc or another typed planning boundary.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noGrp="1"/>
          </p:cNvSpPr>
          <p:nvPr/>
        </p:nvSpPr>
        <p:spPr>
          <a:xfrm>
            <a:off x="594360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noGrp="1"/>
          </p:cNvSpPr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noGrp="1"/>
          </p:cNvSpPr>
          <p:nvPr/>
        </p:nvSpPr>
        <p:spPr>
          <a:xfrm>
            <a:off x="642823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EXECUTE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noGrp="1"/>
          </p:cNvSpPr>
          <p:nvPr/>
        </p:nvSpPr>
        <p:spPr>
          <a:xfrm>
            <a:off x="642823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It reads data and runs an agent, pipeline, or model action.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noGrp="1"/>
          </p:cNvSpPr>
          <p:nvPr/>
        </p:nvSpPr>
        <p:spPr>
          <a:xfrm>
            <a:off x="873252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noGrp="1"/>
          </p:cNvSpPr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noGrp="1"/>
          </p:cNvSpPr>
          <p:nvPr/>
        </p:nvSpPr>
        <p:spPr>
          <a:xfrm>
            <a:off x="921715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RETURN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noGrp="1"/>
          </p:cNvSpPr>
          <p:nvPr/>
        </p:nvSpPr>
        <p:spPr>
          <a:xfrm>
            <a:off x="921715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It stores status and returns output with an execution trace.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Python is the live execution layer; planning remains deterministic and replaceable.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Python flow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4F4BEC-8591-4FDA-B68B-712868AE2F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45F1AD-0231-4989-B7DA-FC71E83C67D4}"/>
              </a:ext>
            </a:extLst>
          </p:cNvPr>
          <p:cNvSpPr>
            <a:spLocks noGrp="1"/>
          </p:cNvSpPr>
          <p:nvPr/>
        </p:nvSpPr>
        <p:spPr>
          <a:xfrm>
            <a:off x="502920" y="29260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PYTHON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C313A-C75B-4C16-AA9A-A629382812A2}"/>
              </a:ext>
            </a:extLst>
          </p:cNvPr>
          <p:cNvSpPr>
            <a:spLocks noGrp="1"/>
          </p:cNvSpPr>
          <p:nvPr/>
        </p:nvSpPr>
        <p:spPr>
          <a:xfrm>
            <a:off x="502920" y="566928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23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Pytest checks Python runtime behavior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E0EDEA-843F-4DDD-A6AB-202D9CC65941}"/>
              </a:ext>
            </a:extLst>
          </p:cNvPr>
          <p:cNvSpPr>
            <a:spLocks noGrp="1"/>
          </p:cNvSpPr>
          <p:nvPr/>
        </p:nvSpPr>
        <p:spPr>
          <a:xfrm>
            <a:off x="521207" y="1024128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FastAPI clients and dependency boundaries keep most tests quick and focused.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0F601-C62F-4A9B-8651-F70F0C3155D9}"/>
              </a:ext>
            </a:extLst>
          </p:cNvPr>
          <p:cNvSpPr>
            <a:spLocks noGrp="1"/>
          </p:cNvSpPr>
          <p:nvPr/>
        </p:nvSpPr>
        <p:spPr>
          <a:xfrm>
            <a:off x="10561320" y="6345936"/>
            <a:ext cx="1051560" cy="243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/ Python verification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B1536C-936D-4086-B81A-373F409C3BBE}"/>
              </a:ext>
            </a:extLst>
          </p:cNvPr>
          <p:cNvSpPr>
            <a:spLocks noGrp="1"/>
          </p:cNvSpPr>
          <p:nvPr/>
        </p:nvSpPr>
        <p:spPr>
          <a:xfrm>
            <a:off x="594360" y="1508760"/>
            <a:ext cx="3246120" cy="713232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465CA-951A-4170-90BC-E8A8083AB6B9}"/>
              </a:ext>
            </a:extLst>
          </p:cNvPr>
          <p:cNvSpPr>
            <a:spLocks noGrp="1"/>
          </p:cNvSpPr>
          <p:nvPr/>
        </p:nvSpPr>
        <p:spPr>
          <a:xfrm>
            <a:off x="758952" y="1636776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1. Typed fixtures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2E6BC8-1EBF-41E7-B200-7686D49E2A72}"/>
              </a:ext>
            </a:extLst>
          </p:cNvPr>
          <p:cNvSpPr>
            <a:spLocks noGrp="1"/>
          </p:cNvSpPr>
          <p:nvPr/>
        </p:nvSpPr>
        <p:spPr>
          <a:xfrm>
            <a:off x="758952" y="1947672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Datasets, sources, workloads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43B39921-3B73-418F-BB2C-5D01BE50E3C0}"/>
              </a:ext>
            </a:extLst>
          </p:cNvPr>
          <p:cNvSpPr>
            <a:spLocks noGrp="1"/>
          </p:cNvSpPr>
          <p:nvPr/>
        </p:nvSpPr>
        <p:spPr>
          <a:xfrm>
            <a:off x="2221992" y="2258568"/>
            <a:ext cx="0" cy="210312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6F7EB2-1C5C-4C98-BFCB-A991742DC2D4}"/>
              </a:ext>
            </a:extLst>
          </p:cNvPr>
          <p:cNvSpPr>
            <a:spLocks noGrp="1"/>
          </p:cNvSpPr>
          <p:nvPr/>
        </p:nvSpPr>
        <p:spPr>
          <a:xfrm>
            <a:off x="594360" y="2478024"/>
            <a:ext cx="3246120" cy="713232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77D726-5277-4805-9789-186D2213920A}"/>
              </a:ext>
            </a:extLst>
          </p:cNvPr>
          <p:cNvSpPr>
            <a:spLocks noGrp="1"/>
          </p:cNvSpPr>
          <p:nvPr/>
        </p:nvSpPr>
        <p:spPr>
          <a:xfrm>
            <a:off x="758952" y="2606040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2. Pytest starts app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BCAF8B-CC90-44C7-BA16-5E3BC4133BC2}"/>
              </a:ext>
            </a:extLst>
          </p:cNvPr>
          <p:cNvSpPr>
            <a:spLocks noGrp="1"/>
          </p:cNvSpPr>
          <p:nvPr/>
        </p:nvSpPr>
        <p:spPr>
          <a:xfrm>
            <a:off x="758952" y="2916936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FastAPI test clients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0C1E1C3C-7E0A-4EBF-AA48-D617D8CE1106}"/>
              </a:ext>
            </a:extLst>
          </p:cNvPr>
          <p:cNvSpPr>
            <a:spLocks noGrp="1"/>
          </p:cNvSpPr>
          <p:nvPr/>
        </p:nvSpPr>
        <p:spPr>
          <a:xfrm>
            <a:off x="2221992" y="3227832"/>
            <a:ext cx="0" cy="210312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2692106-F0CC-4D06-BE3C-B1464DED83C9}"/>
              </a:ext>
            </a:extLst>
          </p:cNvPr>
          <p:cNvSpPr>
            <a:spLocks noGrp="1"/>
          </p:cNvSpPr>
          <p:nvPr/>
        </p:nvSpPr>
        <p:spPr>
          <a:xfrm>
            <a:off x="594360" y="3447288"/>
            <a:ext cx="3246120" cy="713232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B71E9C-AFDD-4796-9992-2F51FC5626FA}"/>
              </a:ext>
            </a:extLst>
          </p:cNvPr>
          <p:cNvSpPr>
            <a:spLocks noGrp="1"/>
          </p:cNvSpPr>
          <p:nvPr/>
        </p:nvSpPr>
        <p:spPr>
          <a:xfrm>
            <a:off x="758952" y="3575304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3. Service flow runs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BF6BA9-AEEF-43C2-B33D-7F64939FECF7}"/>
              </a:ext>
            </a:extLst>
          </p:cNvPr>
          <p:cNvSpPr>
            <a:spLocks noGrp="1"/>
          </p:cNvSpPr>
          <p:nvPr/>
        </p:nvSpPr>
        <p:spPr>
          <a:xfrm>
            <a:off x="758952" y="3886200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Repositories and adapters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FAE5679B-3E0F-497D-ADFD-9763822C8AC4}"/>
              </a:ext>
            </a:extLst>
          </p:cNvPr>
          <p:cNvSpPr>
            <a:spLocks noGrp="1"/>
          </p:cNvSpPr>
          <p:nvPr/>
        </p:nvSpPr>
        <p:spPr>
          <a:xfrm>
            <a:off x="2221992" y="4197096"/>
            <a:ext cx="0" cy="210312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5815946-215F-4599-A173-50DE25AF1BE4}"/>
              </a:ext>
            </a:extLst>
          </p:cNvPr>
          <p:cNvSpPr>
            <a:spLocks noGrp="1"/>
          </p:cNvSpPr>
          <p:nvPr/>
        </p:nvSpPr>
        <p:spPr>
          <a:xfrm>
            <a:off x="594360" y="4416552"/>
            <a:ext cx="3246120" cy="713232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DDC752-B222-4888-8CDF-5275B6B0CEF9}"/>
              </a:ext>
            </a:extLst>
          </p:cNvPr>
          <p:cNvSpPr>
            <a:spLocks noGrp="1"/>
          </p:cNvSpPr>
          <p:nvPr/>
        </p:nvSpPr>
        <p:spPr>
          <a:xfrm>
            <a:off x="758952" y="4544568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4. Integration checked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9D3A4E-C404-441A-8FDB-E4495ADEFB2B}"/>
              </a:ext>
            </a:extLst>
          </p:cNvPr>
          <p:cNvSpPr>
            <a:spLocks noGrp="1"/>
          </p:cNvSpPr>
          <p:nvPr/>
        </p:nvSpPr>
        <p:spPr>
          <a:xfrm>
            <a:off x="758952" y="4855464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PostgreSQL or Docker when needed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C63A73-CDDC-4B61-ABAE-07C788E69C86}"/>
              </a:ext>
            </a:extLst>
          </p:cNvPr>
          <p:cNvSpPr>
            <a:spLocks noGrp="1"/>
          </p:cNvSpPr>
          <p:nvPr/>
        </p:nvSpPr>
        <p:spPr>
          <a:xfrm>
            <a:off x="4434840" y="144475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WHAT WE VERIFY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A1E464-8D1F-440D-9112-3789C6CE066D}"/>
              </a:ext>
            </a:extLst>
          </p:cNvPr>
          <p:cNvSpPr>
            <a:spLocks noGrp="1"/>
          </p:cNvSpPr>
          <p:nvPr/>
        </p:nvSpPr>
        <p:spPr>
          <a:xfrm>
            <a:off x="4480560" y="1856231"/>
            <a:ext cx="379476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LMA and GMA control flow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Manifest endpoints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Pipeline step ordering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Model preprocessing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NL2SQL model and trace behavior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PostgreSQL adapters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dagentsc process calls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007686B-DBC9-46B9-A676-1D91A587A96D}"/>
              </a:ext>
            </a:extLst>
          </p:cNvPr>
          <p:cNvSpPr>
            <a:spLocks noGrp="1"/>
          </p:cNvSpPr>
          <p:nvPr/>
        </p:nvSpPr>
        <p:spPr>
          <a:xfrm>
            <a:off x="8503920" y="1554480"/>
            <a:ext cx="2697480" cy="19202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5D221E-CBB9-4AB2-9140-F37823E641DD}"/>
              </a:ext>
            </a:extLst>
          </p:cNvPr>
          <p:cNvSpPr>
            <a:spLocks noGrp="1"/>
          </p:cNvSpPr>
          <p:nvPr/>
        </p:nvSpPr>
        <p:spPr>
          <a:xfrm>
            <a:off x="8650224" y="1691639"/>
            <a:ext cx="240487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pytest -q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pytest dagents/tests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pytest services/core-service/tests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pytest services/nl2sql-demo/tests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1B236E9-5841-458A-AFFF-6E20263C974E}"/>
              </a:ext>
            </a:extLst>
          </p:cNvPr>
          <p:cNvSpPr>
            <a:spLocks noGrp="1"/>
          </p:cNvSpPr>
          <p:nvPr/>
        </p:nvSpPr>
        <p:spPr>
          <a:xfrm>
            <a:off x="4434840" y="4892040"/>
            <a:ext cx="67665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A9777D-0F4C-4E6D-87FB-12FE898A265B}"/>
              </a:ext>
            </a:extLst>
          </p:cNvPr>
          <p:cNvSpPr>
            <a:spLocks noGrp="1"/>
          </p:cNvSpPr>
          <p:nvPr/>
        </p:nvSpPr>
        <p:spPr>
          <a:xfrm>
            <a:off x="4434840" y="4892040"/>
            <a:ext cx="73152" cy="777240"/>
          </a:xfrm>
          <a:prstGeom prst="rect">
            <a:avLst/>
          </a:prstGeom>
          <a:solidFill>
            <a:srgbClr val="2E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4B101F-B5C2-4F1D-918D-31894D869325}"/>
              </a:ext>
            </a:extLst>
          </p:cNvPr>
          <p:cNvSpPr>
            <a:spLocks noGrp="1"/>
          </p:cNvSpPr>
          <p:nvPr/>
        </p:nvSpPr>
        <p:spPr>
          <a:xfrm>
            <a:off x="4599431" y="5020055"/>
            <a:ext cx="64373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Two kinds of confidence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A4B293-CAD7-4785-A7A4-0F0512948356}"/>
              </a:ext>
            </a:extLst>
          </p:cNvPr>
          <p:cNvSpPr>
            <a:spLocks noGrp="1"/>
          </p:cNvSpPr>
          <p:nvPr/>
        </p:nvSpPr>
        <p:spPr>
          <a:xfrm>
            <a:off x="4599431" y="5330952"/>
            <a:ext cx="6446520" cy="265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Python tests prove API and runtime behavior. OCaml tests prove deterministic planner behavior.</a:t>
            </a:r>
          </a:p>
        </p:txBody>
      </p:sp>
    </p:spTree>
    <p:extLst>
      <p:ext uri="{BB962C8B-B14F-4D97-AF65-F5344CB8AC3E}">
        <p14:creationId xmlns:p14="http://schemas.microsoft.com/office/powerpoint/2010/main" val="784997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9AF9D45-96E0-4AEF-9343-56C453755A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15"/>
          </a:solidFill>
          <a:ln w="9525">
            <a:solidFill>
              <a:srgbClr val="11181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C1EEFE-ACB5-4C94-912B-00F796A8147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JAVA / SPRING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C3BC69-EE4D-4BE2-890A-092AE334069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Java / Spring: control APIs and integration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C719FD-4485-47FE-A43C-3CD9AE1BA90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C6D2C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CB"/>
                </a:solidFill>
                <a:latin typeface="Aptos"/>
                <a:ea typeface="Aptos"/>
                <a:cs typeface="Aptos"/>
              </a:rPr>
              <a:t>Java provides a strongly typed service layer for control APIs, validation, configuration, and backend integration.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3C4E7-E9CD-4E69-92C0-EECD3896A080}"/>
              </a:ext>
            </a:extLst>
          </p:cNvPr>
          <p:cNvSpPr>
            <a:spLocks noGrp="1"/>
          </p:cNvSpPr>
          <p:nvPr/>
        </p:nvSpPr>
        <p:spPr>
          <a:xfrm>
            <a:off x="952500" y="26384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3902B9-E4CE-4821-981E-4E47B53ADEA6}"/>
              </a:ext>
            </a:extLst>
          </p:cNvPr>
          <p:cNvSpPr>
            <a:spLocks noGrp="1"/>
          </p:cNvSpPr>
          <p:nvPr/>
        </p:nvSpPr>
        <p:spPr>
          <a:xfrm>
            <a:off x="1219200" y="25717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we chose it: Spring Boot provides mature controllers, dependency injection, configuration, validation, testing, and integration tools.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CF0192-1C67-496C-8489-AB52E986B7F0}"/>
              </a:ext>
            </a:extLst>
          </p:cNvPr>
          <p:cNvSpPr>
            <a:spLocks noGrp="1"/>
          </p:cNvSpPr>
          <p:nvPr/>
        </p:nvSpPr>
        <p:spPr>
          <a:xfrm>
            <a:off x="952500" y="3171825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945A9F-8AF4-453E-954A-FCD0A39EE192}"/>
              </a:ext>
            </a:extLst>
          </p:cNvPr>
          <p:cNvSpPr>
            <a:spLocks noGrp="1"/>
          </p:cNvSpPr>
          <p:nvPr/>
        </p:nvSpPr>
        <p:spPr>
          <a:xfrm>
            <a:off x="1219200" y="31051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does: Java exposes agent registration, heartbeat, source, deployment, telemetry, catalog, topology, and workload APIs.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9F904-8290-4D6A-96BC-893EEC488B66}"/>
              </a:ext>
            </a:extLst>
          </p:cNvPr>
          <p:cNvSpPr>
            <a:spLocks noGrp="1"/>
          </p:cNvSpPr>
          <p:nvPr/>
        </p:nvSpPr>
        <p:spPr>
          <a:xfrm>
            <a:off x="952500" y="3705225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81728D-6165-4585-BF27-8B33FCF7ED21}"/>
              </a:ext>
            </a:extLst>
          </p:cNvPr>
          <p:cNvSpPr>
            <a:spLocks noGrp="1"/>
          </p:cNvSpPr>
          <p:nvPr/>
        </p:nvSpPr>
        <p:spPr>
          <a:xfrm>
            <a:off x="1219200" y="36385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it is used: Controllers receive requests, application services run the use case, repositories keep state, and gateways call dagentsc.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473A43-257C-44D7-9BC5-2FFE6C647DCC}"/>
              </a:ext>
            </a:extLst>
          </p:cNvPr>
          <p:cNvSpPr>
            <a:spLocks noGrp="1"/>
          </p:cNvSpPr>
          <p:nvPr/>
        </p:nvSpPr>
        <p:spPr>
          <a:xfrm>
            <a:off x="952500" y="4238625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6F567E-A363-4F76-A48A-2F859DCD5446}"/>
              </a:ext>
            </a:extLst>
          </p:cNvPr>
          <p:cNvSpPr>
            <a:spLocks noGrp="1"/>
          </p:cNvSpPr>
          <p:nvPr/>
        </p:nvSpPr>
        <p:spPr>
          <a:xfrm>
            <a:off x="1219200" y="41719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stays outside: Java does not train ML models or replace OCaml planners. Python handles ML; OCaml handles deterministic planning.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43DD60D-D05A-4E1A-99BC-C7AE20FC6A88}"/>
              </a:ext>
            </a:extLst>
          </p:cNvPr>
          <p:cNvSpPr>
            <a:spLocks noGrp="1"/>
          </p:cNvSpPr>
          <p:nvPr/>
        </p:nvSpPr>
        <p:spPr>
          <a:xfrm>
            <a:off x="8858250" y="2552700"/>
            <a:ext cx="2286000" cy="2000250"/>
          </a:xfrm>
          <a:prstGeom prst="roundRect">
            <a:avLst>
              <a:gd name="adj" fmla="val 1905"/>
            </a:avLst>
          </a:prstGeom>
          <a:solidFill>
            <a:srgbClr val="E9E1FA"/>
          </a:solidFill>
          <a:ln w="9525">
            <a:solidFill>
              <a:srgbClr val="AFA4C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Java's job</a:t>
            </a:r>
          </a:p>
          <a:p>
            <a:endParaRPr sz="1400" b="0">
              <a:solidFill>
                <a:srgbClr val="15201B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validate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coordinate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control APIs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integration</a:t>
            </a:r>
          </a:p>
          <a:p>
            <a:pPr algn="ctr">
              <a:buNone/>
            </a:pPr>
            <a:endParaRPr sz="1200" b="0">
              <a:solidFill>
                <a:srgbClr val="15201B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Spring Boot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Java 21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FF7CA3-247B-4DB8-9383-3012CB33590F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94A3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9A"/>
                </a:solidFill>
                <a:latin typeface="Aptos"/>
                <a:ea typeface="Aptos"/>
                <a:cs typeface="Aptos"/>
              </a:rPr>
              <a:t>DAgents / Java layer</a:t>
            </a:r>
          </a:p>
        </p:txBody>
      </p:sp>
    </p:spTree>
    <p:extLst>
      <p:ext uri="{BB962C8B-B14F-4D97-AF65-F5344CB8AC3E}">
        <p14:creationId xmlns:p14="http://schemas.microsoft.com/office/powerpoint/2010/main" val="8402373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4E8989-E57F-4626-85F5-D8BB0621247D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JAVA MODULES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5C766-C07D-40C3-8F6C-307209C139EF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Spring services provide a second runtime surface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B5261-56CE-4F96-91CB-9740E59EC576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Controllers stay thin while application services and gateways own coordination.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1805F-EF62-40CE-BCC7-2EA7A166CF07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2852928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D3499-D0BC-4ABC-A3C7-D355723F9CAF}"/>
              </a:ext>
            </a:extLst>
          </p:cNvPr>
          <p:cNvSpPr>
            <a:spLocks noGrp="1"/>
          </p:cNvSpPr>
          <p:nvPr/>
        </p:nvSpPr>
        <p:spPr>
          <a:xfrm>
            <a:off x="621792" y="176479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68C4C9-3A06-4D8E-9457-27812CB3FD93}"/>
              </a:ext>
            </a:extLst>
          </p:cNvPr>
          <p:cNvSpPr>
            <a:spLocks noGrp="1"/>
          </p:cNvSpPr>
          <p:nvPr/>
        </p:nvSpPr>
        <p:spPr>
          <a:xfrm>
            <a:off x="3401568" y="1691640"/>
            <a:ext cx="4059935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EDBD8-A00D-4F14-B5B3-60D7F12E8467}"/>
              </a:ext>
            </a:extLst>
          </p:cNvPr>
          <p:cNvSpPr>
            <a:spLocks noGrp="1"/>
          </p:cNvSpPr>
          <p:nvPr/>
        </p:nvSpPr>
        <p:spPr>
          <a:xfrm>
            <a:off x="3474720" y="17647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What it owns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E3E1CA-6083-4A33-8D95-CA2C3D0D0CAE}"/>
              </a:ext>
            </a:extLst>
          </p:cNvPr>
          <p:cNvSpPr>
            <a:spLocks noGrp="1"/>
          </p:cNvSpPr>
          <p:nvPr/>
        </p:nvSpPr>
        <p:spPr>
          <a:xfrm>
            <a:off x="7461504" y="1691640"/>
            <a:ext cx="4059935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9FA0D1-4AF6-4EE6-BCBF-ED4B4BA258E3}"/>
              </a:ext>
            </a:extLst>
          </p:cNvPr>
          <p:cNvSpPr>
            <a:spLocks noGrp="1"/>
          </p:cNvSpPr>
          <p:nvPr/>
        </p:nvSpPr>
        <p:spPr>
          <a:xfrm>
            <a:off x="7534656" y="17647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44D66-81C0-4F26-A06F-E69907D2A2C4}"/>
              </a:ext>
            </a:extLst>
          </p:cNvPr>
          <p:cNvSpPr>
            <a:spLocks noGrp="1"/>
          </p:cNvSpPr>
          <p:nvPr/>
        </p:nvSpPr>
        <p:spPr>
          <a:xfrm>
            <a:off x="548640" y="240030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E5DD4A-EB51-4AD5-A0CA-86FC255DDF91}"/>
              </a:ext>
            </a:extLst>
          </p:cNvPr>
          <p:cNvSpPr>
            <a:spLocks noGrp="1"/>
          </p:cNvSpPr>
          <p:nvPr/>
        </p:nvSpPr>
        <p:spPr>
          <a:xfrm>
            <a:off x="621792" y="247345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spring-common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848C07-0190-44A9-94C2-153602F25B14}"/>
              </a:ext>
            </a:extLst>
          </p:cNvPr>
          <p:cNvSpPr>
            <a:spLocks noGrp="1"/>
          </p:cNvSpPr>
          <p:nvPr/>
        </p:nvSpPr>
        <p:spPr>
          <a:xfrm>
            <a:off x="3401568" y="240030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5CCE3-CCB8-45CB-9D13-41B0F49DB43B}"/>
              </a:ext>
            </a:extLst>
          </p:cNvPr>
          <p:cNvSpPr>
            <a:spLocks noGrp="1"/>
          </p:cNvSpPr>
          <p:nvPr/>
        </p:nvSpPr>
        <p:spPr>
          <a:xfrm>
            <a:off x="3474720" y="247345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Shared request and response records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DD7280-F293-4742-A23C-F4BA857B98C4}"/>
              </a:ext>
            </a:extLst>
          </p:cNvPr>
          <p:cNvSpPr>
            <a:spLocks noGrp="1"/>
          </p:cNvSpPr>
          <p:nvPr/>
        </p:nvSpPr>
        <p:spPr>
          <a:xfrm>
            <a:off x="7461504" y="240030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7D715B-A37D-41DE-8799-5723E13FBB3B}"/>
              </a:ext>
            </a:extLst>
          </p:cNvPr>
          <p:cNvSpPr>
            <a:spLocks noGrp="1"/>
          </p:cNvSpPr>
          <p:nvPr/>
        </p:nvSpPr>
        <p:spPr>
          <a:xfrm>
            <a:off x="7534656" y="247345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Keeps service contracts aligned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6B42DB-0925-4B13-9BDF-D84C345503F4}"/>
              </a:ext>
            </a:extLst>
          </p:cNvPr>
          <p:cNvSpPr>
            <a:spLocks noGrp="1"/>
          </p:cNvSpPr>
          <p:nvPr/>
        </p:nvSpPr>
        <p:spPr>
          <a:xfrm>
            <a:off x="548640" y="310896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76EFD7-E340-4FB2-BC76-B94625762EF7}"/>
              </a:ext>
            </a:extLst>
          </p:cNvPr>
          <p:cNvSpPr>
            <a:spLocks noGrp="1"/>
          </p:cNvSpPr>
          <p:nvPr/>
        </p:nvSpPr>
        <p:spPr>
          <a:xfrm>
            <a:off x="621792" y="318211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control API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769EAF-01DB-4FB3-A301-3E373765833F}"/>
              </a:ext>
            </a:extLst>
          </p:cNvPr>
          <p:cNvSpPr>
            <a:spLocks noGrp="1"/>
          </p:cNvSpPr>
          <p:nvPr/>
        </p:nvSpPr>
        <p:spPr>
          <a:xfrm>
            <a:off x="3401568" y="310896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E32270-6044-458E-9EA3-F00CDCD3710F}"/>
              </a:ext>
            </a:extLst>
          </p:cNvPr>
          <p:cNvSpPr>
            <a:spLocks noGrp="1"/>
          </p:cNvSpPr>
          <p:nvPr/>
        </p:nvSpPr>
        <p:spPr>
          <a:xfrm>
            <a:off x="3474720" y="318211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Registration, heartbeat, source, deployment, telemetry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7CC1B5-E443-4F95-95D5-DB135876C29E}"/>
              </a:ext>
            </a:extLst>
          </p:cNvPr>
          <p:cNvSpPr>
            <a:spLocks noGrp="1"/>
          </p:cNvSpPr>
          <p:nvPr/>
        </p:nvSpPr>
        <p:spPr>
          <a:xfrm>
            <a:off x="7461504" y="310896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8D1C9-37AF-4BEA-91FB-A63BEF14D797}"/>
              </a:ext>
            </a:extLst>
          </p:cNvPr>
          <p:cNvSpPr>
            <a:spLocks noGrp="1"/>
          </p:cNvSpPr>
          <p:nvPr/>
        </p:nvSpPr>
        <p:spPr>
          <a:xfrm>
            <a:off x="7534656" y="318211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Stable orchestration entrypoints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5F381D-1153-47FA-A0BB-109C5DD96653}"/>
              </a:ext>
            </a:extLst>
          </p:cNvPr>
          <p:cNvSpPr>
            <a:spLocks noGrp="1"/>
          </p:cNvSpPr>
          <p:nvPr/>
        </p:nvSpPr>
        <p:spPr>
          <a:xfrm>
            <a:off x="548640" y="381762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AF97B7-0EC7-492E-8216-12B43368AEDD}"/>
              </a:ext>
            </a:extLst>
          </p:cNvPr>
          <p:cNvSpPr>
            <a:spLocks noGrp="1"/>
          </p:cNvSpPr>
          <p:nvPr/>
        </p:nvSpPr>
        <p:spPr>
          <a:xfrm>
            <a:off x="621792" y="389077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control application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E449BD-0545-4D14-92B0-C0C03BBAFF33}"/>
              </a:ext>
            </a:extLst>
          </p:cNvPr>
          <p:cNvSpPr>
            <a:spLocks noGrp="1"/>
          </p:cNvSpPr>
          <p:nvPr/>
        </p:nvSpPr>
        <p:spPr>
          <a:xfrm>
            <a:off x="3401568" y="381762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8A814C-2F17-404B-A854-B3C72CE13365}"/>
              </a:ext>
            </a:extLst>
          </p:cNvPr>
          <p:cNvSpPr>
            <a:spLocks noGrp="1"/>
          </p:cNvSpPr>
          <p:nvPr/>
        </p:nvSpPr>
        <p:spPr>
          <a:xfrm>
            <a:off x="3474720" y="389077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Coordination and in-memory repositories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1C8B34-EAA6-4DE3-B12F-AA600A1B12A1}"/>
              </a:ext>
            </a:extLst>
          </p:cNvPr>
          <p:cNvSpPr>
            <a:spLocks noGrp="1"/>
          </p:cNvSpPr>
          <p:nvPr/>
        </p:nvSpPr>
        <p:spPr>
          <a:xfrm>
            <a:off x="7461504" y="381762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CB038B-9458-4F3C-B60D-C76CC950198B}"/>
              </a:ext>
            </a:extLst>
          </p:cNvPr>
          <p:cNvSpPr>
            <a:spLocks noGrp="1"/>
          </p:cNvSpPr>
          <p:nvPr/>
        </p:nvSpPr>
        <p:spPr>
          <a:xfrm>
            <a:off x="7534656" y="389077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Separates HTTP from state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BFFB0F-F26A-4B25-BDDE-4A02E13B10D4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F68200-F02A-4EF6-8662-A4CB7975F2EB}"/>
              </a:ext>
            </a:extLst>
          </p:cNvPr>
          <p:cNvSpPr>
            <a:spLocks noGrp="1"/>
          </p:cNvSpPr>
          <p:nvPr/>
        </p:nvSpPr>
        <p:spPr>
          <a:xfrm>
            <a:off x="621792" y="459943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core API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033B15-3D32-4139-9093-C3EC0D52C72B}"/>
              </a:ext>
            </a:extLst>
          </p:cNvPr>
          <p:cNvSpPr>
            <a:spLocks noGrp="1"/>
          </p:cNvSpPr>
          <p:nvPr/>
        </p:nvSpPr>
        <p:spPr>
          <a:xfrm>
            <a:off x="3401568" y="452628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B4A3BF-0609-4D48-BB1C-CAAF8C3117CD}"/>
              </a:ext>
            </a:extLst>
          </p:cNvPr>
          <p:cNvSpPr>
            <a:spLocks noGrp="1"/>
          </p:cNvSpPr>
          <p:nvPr/>
        </p:nvSpPr>
        <p:spPr>
          <a:xfrm>
            <a:off x="3474720" y="459943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Catalog, topology, workload compile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367BC6-3FF2-4B63-8123-85C14F4AE04D}"/>
              </a:ext>
            </a:extLst>
          </p:cNvPr>
          <p:cNvSpPr>
            <a:spLocks noGrp="1"/>
          </p:cNvSpPr>
          <p:nvPr/>
        </p:nvSpPr>
        <p:spPr>
          <a:xfrm>
            <a:off x="7461504" y="452628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117802-2B97-47AE-A1C3-A536E4CCB58D}"/>
              </a:ext>
            </a:extLst>
          </p:cNvPr>
          <p:cNvSpPr>
            <a:spLocks noGrp="1"/>
          </p:cNvSpPr>
          <p:nvPr/>
        </p:nvSpPr>
        <p:spPr>
          <a:xfrm>
            <a:off x="7534656" y="459943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Deployment-facing facade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6EFD778-B6C6-47AA-84F1-9B01BBEC5F74}"/>
              </a:ext>
            </a:extLst>
          </p:cNvPr>
          <p:cNvSpPr>
            <a:spLocks noGrp="1"/>
          </p:cNvSpPr>
          <p:nvPr/>
        </p:nvSpPr>
        <p:spPr>
          <a:xfrm>
            <a:off x="548640" y="523494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1FE5C2-7C69-4B76-AFAD-6C3053287881}"/>
              </a:ext>
            </a:extLst>
          </p:cNvPr>
          <p:cNvSpPr>
            <a:spLocks noGrp="1"/>
          </p:cNvSpPr>
          <p:nvPr/>
        </p:nvSpPr>
        <p:spPr>
          <a:xfrm>
            <a:off x="621792" y="530809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compiler gateway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A16C5C-A3F7-4D95-919C-C36CB3FC5A8D}"/>
              </a:ext>
            </a:extLst>
          </p:cNvPr>
          <p:cNvSpPr>
            <a:spLocks noGrp="1"/>
          </p:cNvSpPr>
          <p:nvPr/>
        </p:nvSpPr>
        <p:spPr>
          <a:xfrm>
            <a:off x="3401568" y="523494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9917C-CB0F-42EF-A94E-9F39FAF1E497}"/>
              </a:ext>
            </a:extLst>
          </p:cNvPr>
          <p:cNvSpPr>
            <a:spLocks noGrp="1"/>
          </p:cNvSpPr>
          <p:nvPr/>
        </p:nvSpPr>
        <p:spPr>
          <a:xfrm>
            <a:off x="3474720" y="53080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dagentsc process call and Java fallback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1E8843-AA41-4085-AB1E-55C106CB7396}"/>
              </a:ext>
            </a:extLst>
          </p:cNvPr>
          <p:cNvSpPr>
            <a:spLocks noGrp="1"/>
          </p:cNvSpPr>
          <p:nvPr/>
        </p:nvSpPr>
        <p:spPr>
          <a:xfrm>
            <a:off x="7461504" y="523494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852803-0465-4E91-BB33-E4EA6A463B73}"/>
              </a:ext>
            </a:extLst>
          </p:cNvPr>
          <p:cNvSpPr>
            <a:spLocks noGrp="1"/>
          </p:cNvSpPr>
          <p:nvPr/>
        </p:nvSpPr>
        <p:spPr>
          <a:xfrm>
            <a:off x="7534656" y="53080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Typed planner without direct FFI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5CA374-23DB-499D-BD95-A09CAB022F8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/ Java modules</a:t>
            </a:r>
          </a:p>
        </p:txBody>
      </p:sp>
    </p:spTree>
    <p:extLst>
      <p:ext uri="{BB962C8B-B14F-4D97-AF65-F5344CB8AC3E}">
        <p14:creationId xmlns:p14="http://schemas.microsoft.com/office/powerpoint/2010/main" val="2019090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JAVA REQUEST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Spring keeps request boundaries clear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control layer keeps transport, coordination, state, and compilation separate.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noGrp="1"/>
          </p:cNvSpPr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noGrp="1"/>
          </p:cNvSpPr>
          <p:nvPr/>
        </p:nvSpPr>
        <p:spPr>
          <a:xfrm>
            <a:off x="85039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RECEIVE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noGrp="1"/>
          </p:cNvSpPr>
          <p:nvPr/>
        </p:nvSpPr>
        <p:spPr>
          <a:xfrm>
            <a:off x="85039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 Spring controller validates the incoming request.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noGrp="1"/>
          </p:cNvSpPr>
          <p:nvPr/>
        </p:nvSpPr>
        <p:spPr>
          <a:xfrm>
            <a:off x="315468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noGrp="1"/>
          </p:cNvSpPr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noGrp="1"/>
          </p:cNvSpPr>
          <p:nvPr/>
        </p:nvSpPr>
        <p:spPr>
          <a:xfrm>
            <a:off x="363931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COORDINATE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noGrp="1"/>
          </p:cNvSpPr>
          <p:nvPr/>
        </p:nvSpPr>
        <p:spPr>
          <a:xfrm>
            <a:off x="363931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An application service selects and runs the use case.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noGrp="1"/>
          </p:cNvSpPr>
          <p:nvPr/>
        </p:nvSpPr>
        <p:spPr>
          <a:xfrm>
            <a:off x="594360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noGrp="1"/>
          </p:cNvSpPr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noGrp="1"/>
          </p:cNvSpPr>
          <p:nvPr/>
        </p:nvSpPr>
        <p:spPr>
          <a:xfrm>
            <a:off x="642823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PERSIST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noGrp="1"/>
          </p:cNvSpPr>
          <p:nvPr/>
        </p:nvSpPr>
        <p:spPr>
          <a:xfrm>
            <a:off x="642823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Repositories update agents, sources, deployments, or runs.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noGrp="1"/>
          </p:cNvSpPr>
          <p:nvPr/>
        </p:nvSpPr>
        <p:spPr>
          <a:xfrm>
            <a:off x="873252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noGrp="1"/>
          </p:cNvSpPr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noGrp="1"/>
          </p:cNvSpPr>
          <p:nvPr/>
        </p:nvSpPr>
        <p:spPr>
          <a:xfrm>
            <a:off x="921715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COMPILE + RETURN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noGrp="1"/>
          </p:cNvSpPr>
          <p:nvPr/>
        </p:nvSpPr>
        <p:spPr>
          <a:xfrm>
            <a:off x="921715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OCaml gateway or Java fallback produces the response.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Spring adds an enterprise integration surface without moving ML execution into Java.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Java flow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4F4BEC-8591-4FDA-B68B-712868AE2F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45F1AD-0231-4989-B7DA-FC71E83C67D4}"/>
              </a:ext>
            </a:extLst>
          </p:cNvPr>
          <p:cNvSpPr>
            <a:spLocks noGrp="1"/>
          </p:cNvSpPr>
          <p:nvPr/>
        </p:nvSpPr>
        <p:spPr>
          <a:xfrm>
            <a:off x="502920" y="29260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JAVA TESTING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C313A-C75B-4C16-AA9A-A629382812A2}"/>
              </a:ext>
            </a:extLst>
          </p:cNvPr>
          <p:cNvSpPr>
            <a:spLocks noGrp="1"/>
          </p:cNvSpPr>
          <p:nvPr/>
        </p:nvSpPr>
        <p:spPr>
          <a:xfrm>
            <a:off x="502920" y="566928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23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JUnit and MockMvc verify Spring services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E0EDEA-843F-4DDD-A6AB-202D9CC65941}"/>
              </a:ext>
            </a:extLst>
          </p:cNvPr>
          <p:cNvSpPr>
            <a:spLocks noGrp="1"/>
          </p:cNvSpPr>
          <p:nvPr/>
        </p:nvSpPr>
        <p:spPr>
          <a:xfrm>
            <a:off x="521207" y="1024128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Maven runs controller, application, repository, and compiler-gateway tests together.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0F601-C62F-4A9B-8651-F70F0C3155D9}"/>
              </a:ext>
            </a:extLst>
          </p:cNvPr>
          <p:cNvSpPr>
            <a:spLocks noGrp="1"/>
          </p:cNvSpPr>
          <p:nvPr/>
        </p:nvSpPr>
        <p:spPr>
          <a:xfrm>
            <a:off x="10561320" y="6345936"/>
            <a:ext cx="1051560" cy="243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/ Java verification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B1536C-936D-4086-B81A-373F409C3BBE}"/>
              </a:ext>
            </a:extLst>
          </p:cNvPr>
          <p:cNvSpPr>
            <a:spLocks noGrp="1"/>
          </p:cNvSpPr>
          <p:nvPr/>
        </p:nvSpPr>
        <p:spPr>
          <a:xfrm>
            <a:off x="594360" y="1508760"/>
            <a:ext cx="3246120" cy="713232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465CA-951A-4170-90BC-E8A8083AB6B9}"/>
              </a:ext>
            </a:extLst>
          </p:cNvPr>
          <p:cNvSpPr>
            <a:spLocks noGrp="1"/>
          </p:cNvSpPr>
          <p:nvPr/>
        </p:nvSpPr>
        <p:spPr>
          <a:xfrm>
            <a:off x="758952" y="1636776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1. Request fixture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2E6BC8-1EBF-41E7-B200-7686D49E2A72}"/>
              </a:ext>
            </a:extLst>
          </p:cNvPr>
          <p:cNvSpPr>
            <a:spLocks noGrp="1"/>
          </p:cNvSpPr>
          <p:nvPr/>
        </p:nvSpPr>
        <p:spPr>
          <a:xfrm>
            <a:off x="758952" y="1947672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Typed Java records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43B39921-3B73-418F-BB2C-5D01BE50E3C0}"/>
              </a:ext>
            </a:extLst>
          </p:cNvPr>
          <p:cNvSpPr>
            <a:spLocks noGrp="1"/>
          </p:cNvSpPr>
          <p:nvPr/>
        </p:nvSpPr>
        <p:spPr>
          <a:xfrm>
            <a:off x="2221992" y="2258568"/>
            <a:ext cx="0" cy="210312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6F7EB2-1C5C-4C98-BFCB-A991742DC2D4}"/>
              </a:ext>
            </a:extLst>
          </p:cNvPr>
          <p:cNvSpPr>
            <a:spLocks noGrp="1"/>
          </p:cNvSpPr>
          <p:nvPr/>
        </p:nvSpPr>
        <p:spPr>
          <a:xfrm>
            <a:off x="594360" y="2478024"/>
            <a:ext cx="3246120" cy="713232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77D726-5277-4805-9789-186D2213920A}"/>
              </a:ext>
            </a:extLst>
          </p:cNvPr>
          <p:cNvSpPr>
            <a:spLocks noGrp="1"/>
          </p:cNvSpPr>
          <p:nvPr/>
        </p:nvSpPr>
        <p:spPr>
          <a:xfrm>
            <a:off x="758952" y="2606040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2. MockMvc calls API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BCAF8B-CC90-44C7-BA16-5E3BC4133BC2}"/>
              </a:ext>
            </a:extLst>
          </p:cNvPr>
          <p:cNvSpPr>
            <a:spLocks noGrp="1"/>
          </p:cNvSpPr>
          <p:nvPr/>
        </p:nvSpPr>
        <p:spPr>
          <a:xfrm>
            <a:off x="758952" y="2916936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Validation and status codes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0C1E1C3C-7E0A-4EBF-AA48-D617D8CE1106}"/>
              </a:ext>
            </a:extLst>
          </p:cNvPr>
          <p:cNvSpPr>
            <a:spLocks noGrp="1"/>
          </p:cNvSpPr>
          <p:nvPr/>
        </p:nvSpPr>
        <p:spPr>
          <a:xfrm>
            <a:off x="2221992" y="3227832"/>
            <a:ext cx="0" cy="210312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2692106-F0CC-4D06-BE3C-B1464DED83C9}"/>
              </a:ext>
            </a:extLst>
          </p:cNvPr>
          <p:cNvSpPr>
            <a:spLocks noGrp="1"/>
          </p:cNvSpPr>
          <p:nvPr/>
        </p:nvSpPr>
        <p:spPr>
          <a:xfrm>
            <a:off x="594360" y="3447288"/>
            <a:ext cx="3246120" cy="713232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B71E9C-AFDD-4796-9992-2F51FC5626FA}"/>
              </a:ext>
            </a:extLst>
          </p:cNvPr>
          <p:cNvSpPr>
            <a:spLocks noGrp="1"/>
          </p:cNvSpPr>
          <p:nvPr/>
        </p:nvSpPr>
        <p:spPr>
          <a:xfrm>
            <a:off x="758952" y="3575304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3. Service runs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BF6BA9-AEEF-43C2-B33D-7F64939FECF7}"/>
              </a:ext>
            </a:extLst>
          </p:cNvPr>
          <p:cNvSpPr>
            <a:spLocks noGrp="1"/>
          </p:cNvSpPr>
          <p:nvPr/>
        </p:nvSpPr>
        <p:spPr>
          <a:xfrm>
            <a:off x="758952" y="3886200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Use cases and repositories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FAE5679B-3E0F-497D-ADFD-9763822C8AC4}"/>
              </a:ext>
            </a:extLst>
          </p:cNvPr>
          <p:cNvSpPr>
            <a:spLocks noGrp="1"/>
          </p:cNvSpPr>
          <p:nvPr/>
        </p:nvSpPr>
        <p:spPr>
          <a:xfrm>
            <a:off x="2221992" y="4197096"/>
            <a:ext cx="0" cy="210312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5815946-215F-4599-A173-50DE25AF1BE4}"/>
              </a:ext>
            </a:extLst>
          </p:cNvPr>
          <p:cNvSpPr>
            <a:spLocks noGrp="1"/>
          </p:cNvSpPr>
          <p:nvPr/>
        </p:nvSpPr>
        <p:spPr>
          <a:xfrm>
            <a:off x="594360" y="4416552"/>
            <a:ext cx="3246120" cy="713232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DDC752-B222-4888-8CDF-5275B6B0CEF9}"/>
              </a:ext>
            </a:extLst>
          </p:cNvPr>
          <p:cNvSpPr>
            <a:spLocks noGrp="1"/>
          </p:cNvSpPr>
          <p:nvPr/>
        </p:nvSpPr>
        <p:spPr>
          <a:xfrm>
            <a:off x="758952" y="4544568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4. Compiler checked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9D3A4E-C404-441A-8FDB-E4495ADEFB2B}"/>
              </a:ext>
            </a:extLst>
          </p:cNvPr>
          <p:cNvSpPr>
            <a:spLocks noGrp="1"/>
          </p:cNvSpPr>
          <p:nvPr/>
        </p:nvSpPr>
        <p:spPr>
          <a:xfrm>
            <a:off x="758952" y="4855464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Process call and fallback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C63A73-CDDC-4B61-ABAE-07C788E69C86}"/>
              </a:ext>
            </a:extLst>
          </p:cNvPr>
          <p:cNvSpPr>
            <a:spLocks noGrp="1"/>
          </p:cNvSpPr>
          <p:nvPr/>
        </p:nvSpPr>
        <p:spPr>
          <a:xfrm>
            <a:off x="4434840" y="144475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WHAT WE VERIFY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A1E464-8D1F-440D-9112-3789C6CE066D}"/>
              </a:ext>
            </a:extLst>
          </p:cNvPr>
          <p:cNvSpPr>
            <a:spLocks noGrp="1"/>
          </p:cNvSpPr>
          <p:nvPr/>
        </p:nvSpPr>
        <p:spPr>
          <a:xfrm>
            <a:off x="4480560" y="1856231"/>
            <a:ext cx="379476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Controller validation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Agent registration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Heartbeat and source catalog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Deployment planning and sync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Core catalog and topology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Java manifest compiler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Process gateway fallback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007686B-DBC9-46B9-A676-1D91A587A96D}"/>
              </a:ext>
            </a:extLst>
          </p:cNvPr>
          <p:cNvSpPr>
            <a:spLocks noGrp="1"/>
          </p:cNvSpPr>
          <p:nvPr/>
        </p:nvSpPr>
        <p:spPr>
          <a:xfrm>
            <a:off x="8503920" y="1554480"/>
            <a:ext cx="2697480" cy="19202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5D221E-CBB9-4AB2-9140-F37823E641DD}"/>
              </a:ext>
            </a:extLst>
          </p:cNvPr>
          <p:cNvSpPr>
            <a:spLocks noGrp="1"/>
          </p:cNvSpPr>
          <p:nvPr/>
        </p:nvSpPr>
        <p:spPr>
          <a:xfrm>
            <a:off x="8650224" y="1691639"/>
            <a:ext cx="240487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cd services/spring-services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mvn test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mvn package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1B236E9-5841-458A-AFFF-6E20263C974E}"/>
              </a:ext>
            </a:extLst>
          </p:cNvPr>
          <p:cNvSpPr>
            <a:spLocks noGrp="1"/>
          </p:cNvSpPr>
          <p:nvPr/>
        </p:nvSpPr>
        <p:spPr>
          <a:xfrm>
            <a:off x="4434840" y="4892040"/>
            <a:ext cx="67665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A9777D-0F4C-4E6D-87FB-12FE898A265B}"/>
              </a:ext>
            </a:extLst>
          </p:cNvPr>
          <p:cNvSpPr>
            <a:spLocks noGrp="1"/>
          </p:cNvSpPr>
          <p:nvPr/>
        </p:nvSpPr>
        <p:spPr>
          <a:xfrm>
            <a:off x="4434840" y="4892040"/>
            <a:ext cx="73152" cy="777240"/>
          </a:xfrm>
          <a:prstGeom prst="rect">
            <a:avLst/>
          </a:prstGeom>
          <a:solidFill>
            <a:srgbClr val="2E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4B101F-B5C2-4F1D-918D-31894D869325}"/>
              </a:ext>
            </a:extLst>
          </p:cNvPr>
          <p:cNvSpPr>
            <a:spLocks noGrp="1"/>
          </p:cNvSpPr>
          <p:nvPr/>
        </p:nvSpPr>
        <p:spPr>
          <a:xfrm>
            <a:off x="4599431" y="5020055"/>
            <a:ext cx="64373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Why the fallback is tested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A4B293-CAD7-4785-A7A4-0F0512948356}"/>
              </a:ext>
            </a:extLst>
          </p:cNvPr>
          <p:cNvSpPr>
            <a:spLocks noGrp="1"/>
          </p:cNvSpPr>
          <p:nvPr/>
        </p:nvSpPr>
        <p:spPr>
          <a:xfrm>
            <a:off x="4599431" y="5330952"/>
            <a:ext cx="6446520" cy="265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service can still return a valid manifest plan when the OCaml executable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7849971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9AF9D45-96E0-4AEF-9343-56C453755A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15"/>
          </a:solidFill>
          <a:ln w="9525">
            <a:solidFill>
              <a:srgbClr val="11181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C1EEFE-ACB5-4C94-912B-00F796A8147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OCAML / PLANNING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C3BC69-EE4D-4BE2-890A-092AE334069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OCaml: why we chose it and what it does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C719FD-4485-47FE-A43C-3CD9AE1BA90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C6D2C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CB"/>
                </a:solidFill>
                <a:latin typeface="Aptos"/>
                <a:ea typeface="Aptos"/>
                <a:cs typeface="Aptos"/>
              </a:rPr>
              <a:t>OCaml handles small planning kernels where invalid states should be rejected before runtime work begins.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3C4E7-E9CD-4E69-92C0-EECD3896A080}"/>
              </a:ext>
            </a:extLst>
          </p:cNvPr>
          <p:cNvSpPr>
            <a:spLocks noGrp="1"/>
          </p:cNvSpPr>
          <p:nvPr/>
        </p:nvSpPr>
        <p:spPr>
          <a:xfrm>
            <a:off x="952500" y="26384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3902B9-E4CE-4821-981E-4E47B53ADEA6}"/>
              </a:ext>
            </a:extLst>
          </p:cNvPr>
          <p:cNvSpPr>
            <a:spLocks noGrp="1"/>
          </p:cNvSpPr>
          <p:nvPr/>
        </p:nvSpPr>
        <p:spPr>
          <a:xfrm>
            <a:off x="1219200" y="25717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we chose it: Variant types, pattern matching, immutable data, and pure functions make rules explicit and easy to test.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CF0192-1C67-496C-8489-AB52E986B7F0}"/>
              </a:ext>
            </a:extLst>
          </p:cNvPr>
          <p:cNvSpPr>
            <a:spLocks noGrp="1"/>
          </p:cNvSpPr>
          <p:nvPr/>
        </p:nvSpPr>
        <p:spPr>
          <a:xfrm>
            <a:off x="952500" y="3171825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945A9F-8AF4-453E-954A-FCD0A39EE192}"/>
              </a:ext>
            </a:extLst>
          </p:cNvPr>
          <p:cNvSpPr>
            <a:spLocks noGrp="1"/>
          </p:cNvSpPr>
          <p:nvPr/>
        </p:nvSpPr>
        <p:spPr>
          <a:xfrm>
            <a:off x="1219200" y="31051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does: OCaml validates source schemas, compiles pipeline DAGs, routes model choices, plans workloads, and renders manifests.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9F904-8290-4D6A-96BC-893EEC488B66}"/>
              </a:ext>
            </a:extLst>
          </p:cNvPr>
          <p:cNvSpPr>
            <a:spLocks noGrp="1"/>
          </p:cNvSpPr>
          <p:nvPr/>
        </p:nvSpPr>
        <p:spPr>
          <a:xfrm>
            <a:off x="952500" y="3705225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81728D-6165-4585-BF27-8B33FCF7ED21}"/>
              </a:ext>
            </a:extLst>
          </p:cNvPr>
          <p:cNvSpPr>
            <a:spLocks noGrp="1"/>
          </p:cNvSpPr>
          <p:nvPr/>
        </p:nvSpPr>
        <p:spPr>
          <a:xfrm>
            <a:off x="1219200" y="36385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it is used: Services send JSON to dagentsc and receive a validation report, execution plan, model route, or manifest bundle.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473A43-257C-44D7-9BC5-2FFE6C647DCC}"/>
              </a:ext>
            </a:extLst>
          </p:cNvPr>
          <p:cNvSpPr>
            <a:spLocks noGrp="1"/>
          </p:cNvSpPr>
          <p:nvPr/>
        </p:nvSpPr>
        <p:spPr>
          <a:xfrm>
            <a:off x="952500" y="4238625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6F567E-A363-4F76-A48A-2F859DCD5446}"/>
              </a:ext>
            </a:extLst>
          </p:cNvPr>
          <p:cNvSpPr>
            <a:spLocks noGrp="1"/>
          </p:cNvSpPr>
          <p:nvPr/>
        </p:nvSpPr>
        <p:spPr>
          <a:xfrm>
            <a:off x="1219200" y="41719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stays outside: OCaml is not the API server, database layer, or ML runtime. It plans and validates; Python and Java run services.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43DD60D-D05A-4E1A-99BC-C7AE20FC6A88}"/>
              </a:ext>
            </a:extLst>
          </p:cNvPr>
          <p:cNvSpPr>
            <a:spLocks noGrp="1"/>
          </p:cNvSpPr>
          <p:nvPr/>
        </p:nvSpPr>
        <p:spPr>
          <a:xfrm>
            <a:off x="8858250" y="2552700"/>
            <a:ext cx="2286000" cy="2000250"/>
          </a:xfrm>
          <a:prstGeom prst="roundRect">
            <a:avLst>
              <a:gd name="adj" fmla="val 1905"/>
            </a:avLst>
          </a:prstGeom>
          <a:solidFill>
            <a:srgbClr val="E9E1FA"/>
          </a:solidFill>
          <a:ln w="9525">
            <a:solidFill>
              <a:srgbClr val="AFA4C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OCaml's job</a:t>
            </a:r>
          </a:p>
          <a:p>
            <a:endParaRPr sz="1400" b="0">
              <a:solidFill>
                <a:srgbClr val="15201B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typed input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validate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compile plans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route models</a:t>
            </a:r>
          </a:p>
          <a:p>
            <a:pPr algn="ctr">
              <a:buNone/>
            </a:pPr>
            <a:r>
              <a:t>manifests</a:t>
            </a:r>
            <a:endParaRPr sz="1200" b="0">
              <a:solidFill>
                <a:srgbClr val="15201B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endParaRPr sz="1200" b="0">
              <a:solidFill>
                <a:srgbClr val="15201B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dagentsc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Dune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FF7CA3-247B-4DB8-9383-3012CB33590F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94A3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9A"/>
                </a:solidFill>
                <a:latin typeface="Aptos"/>
                <a:ea typeface="Aptos"/>
                <a:cs typeface="Aptos"/>
              </a:rPr>
              <a:t>DAgents / OCaml layer</a:t>
            </a:r>
          </a:p>
        </p:txBody>
      </p:sp>
    </p:spTree>
    <p:extLst>
      <p:ext uri="{BB962C8B-B14F-4D97-AF65-F5344CB8AC3E}">
        <p14:creationId xmlns:p14="http://schemas.microsoft.com/office/powerpoint/2010/main" val="8402373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78D617A-50C9-4520-9997-A51B40DF850C}"/>
              </a:ext>
            </a:extLst>
          </p:cNvPr>
          <p:cNvSpPr>
            <a:spLocks noGrp="1"/>
          </p:cNvSpPr>
          <p:nvPr/>
        </p:nvSpPr>
        <p:spPr>
          <a:xfrm>
            <a:off x="0" y="1905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C01A78-3C33-4729-9FDA-8AAD2EDE54A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HIGHLIGHTED LAYER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B4EDFC-5D23-46F2-BCED-D153A9FDB0FE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In the high-level architecture, the OCaml modules are the purple planning layer.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82700C-7D87-4399-85AE-8889629507C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They are called by services when a request needs deterministic validation or planning.</a:t>
            </a:r>
          </a:p>
        </p:txBody>
      </p:sp>
      <p:pic>
        <p:nvPicPr>
          <p:cNvPr id="24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86200" y="2428991"/>
            <a:ext cx="8139438" cy="25143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6494BB-6231-404E-AE6D-E743C0D29DC7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1619250" cy="247650"/>
          </a:xfrm>
          <a:prstGeom prst="rect">
            <a:avLst/>
          </a:prstGeom>
          <a:solidFill>
            <a:srgbClr val="65549A"/>
          </a:solidFill>
          <a:ln w="9525">
            <a:solidFill>
              <a:srgbClr val="65549A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OCaml modules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36ACB0-A21C-4BC8-80C3-F0E628BE7E23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9107BB-6817-4204-A4F5-85973EC17B5B}"/>
              </a:ext>
            </a:extLst>
          </p:cNvPr>
          <p:cNvSpPr>
            <a:spLocks noGrp="1"/>
          </p:cNvSpPr>
          <p:nvPr/>
        </p:nvSpPr>
        <p:spPr>
          <a:xfrm>
            <a:off x="1143000" y="3028950"/>
            <a:ext cx="2590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common_ir gives one typed language for all planners.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77C083-D567-417E-A82D-7D30CC277FD5}"/>
              </a:ext>
            </a:extLst>
          </p:cNvPr>
          <p:cNvSpPr>
            <a:spLocks noGrp="1"/>
          </p:cNvSpPr>
          <p:nvPr/>
        </p:nvSpPr>
        <p:spPr>
          <a:xfrm>
            <a:off x="876300" y="3571875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46587F-0F88-4100-878B-D141FC1E3A03}"/>
              </a:ext>
            </a:extLst>
          </p:cNvPr>
          <p:cNvSpPr>
            <a:spLocks noGrp="1"/>
          </p:cNvSpPr>
          <p:nvPr/>
        </p:nvSpPr>
        <p:spPr>
          <a:xfrm>
            <a:off x="1143000" y="3505200"/>
            <a:ext cx="2590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dataset_compiler checks sources and schema work.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A78A0C-4C7E-485D-87FD-0D39310C00F0}"/>
              </a:ext>
            </a:extLst>
          </p:cNvPr>
          <p:cNvSpPr>
            <a:spLocks noGrp="1"/>
          </p:cNvSpPr>
          <p:nvPr/>
        </p:nvSpPr>
        <p:spPr>
          <a:xfrm>
            <a:off x="876300" y="3995420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0AD159-64A9-44FC-9B64-E10C925F9B6E}"/>
              </a:ext>
            </a:extLst>
          </p:cNvPr>
          <p:cNvSpPr>
            <a:spLocks noGrp="1"/>
          </p:cNvSpPr>
          <p:nvPr/>
        </p:nvSpPr>
        <p:spPr>
          <a:xfrm>
            <a:off x="1143000" y="3928745"/>
            <a:ext cx="2590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pipeline_compiler validates workflow graphs.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0933EA-AB4F-498F-9EBD-B4531A8535BD}"/>
              </a:ext>
            </a:extLst>
          </p:cNvPr>
          <p:cNvSpPr>
            <a:spLocks noGrp="1"/>
          </p:cNvSpPr>
          <p:nvPr/>
        </p:nvSpPr>
        <p:spPr>
          <a:xfrm>
            <a:off x="876300" y="4449762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AC8C3B-55EB-433D-A15A-46E0E2181CD6}"/>
              </a:ext>
            </a:extLst>
          </p:cNvPr>
          <p:cNvSpPr>
            <a:spLocks noGrp="1"/>
          </p:cNvSpPr>
          <p:nvPr/>
        </p:nvSpPr>
        <p:spPr>
          <a:xfrm>
            <a:off x="1143000" y="4383087"/>
            <a:ext cx="2590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model_router standardizes model selection policy.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166A0F-B1CE-425D-8BEA-C758457CF539}"/>
              </a:ext>
            </a:extLst>
          </p:cNvPr>
          <p:cNvSpPr>
            <a:spLocks noGrp="1"/>
          </p:cNvSpPr>
          <p:nvPr/>
        </p:nvSpPr>
        <p:spPr>
          <a:xfrm>
            <a:off x="876300" y="4938713"/>
            <a:ext cx="114300" cy="114300"/>
          </a:xfrm>
          <a:prstGeom prst="rect">
            <a:avLst/>
          </a:prstGeom>
          <a:solidFill>
            <a:srgbClr val="65549A"/>
          </a:solidFill>
          <a:ln w="9525">
            <a:solidFill>
              <a:srgbClr val="6554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40DDFC-FB1D-4BFD-AFF1-6560208D43FB}"/>
              </a:ext>
            </a:extLst>
          </p:cNvPr>
          <p:cNvSpPr>
            <a:spLocks noGrp="1"/>
          </p:cNvSpPr>
          <p:nvPr/>
        </p:nvSpPr>
        <p:spPr>
          <a:xfrm>
            <a:off x="1143000" y="4872038"/>
            <a:ext cx="2590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manifest_compiler renders Kubernetes workload plans.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6AC8D9-9C49-4D49-AC2E-72F502D707DC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11</a:t>
            </a:r>
          </a:p>
        </p:txBody>
      </p:sp>
    </p:spTree>
    <p:extLst>
      <p:ext uri="{BB962C8B-B14F-4D97-AF65-F5344CB8AC3E}">
        <p14:creationId xmlns:p14="http://schemas.microsoft.com/office/powerpoint/2010/main" val="17915237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6B89B64-26FB-4643-885F-A63A6A8B5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A3CA9-B594-4BBC-90C0-DB23FFB0E717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LOW-LEVEL OCAML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6131D6-FD4D-4DE4-8E2D-49E6CB3F7EF7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The OCaml layer is a compiler stack over shared typed contracts.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E9513D-70FF-47B5-8034-BB5F95F96006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The diagram shows how services enter through dagentsc and leave with reports, plans, routes, or manifests.</a:t>
            </a:r>
          </a:p>
        </p:txBody>
      </p:sp>
      <p:pic>
        <p:nvPicPr>
          <p:cNvPr id="21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8542" y="2247900"/>
            <a:ext cx="6315365" cy="36671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E4EE85-DECA-4E8C-BE8E-0411787AF2B0}"/>
              </a:ext>
            </a:extLst>
          </p:cNvPr>
          <p:cNvSpPr>
            <a:spLocks noGrp="1"/>
          </p:cNvSpPr>
          <p:nvPr/>
        </p:nvSpPr>
        <p:spPr>
          <a:xfrm>
            <a:off x="8048625" y="2590800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A9A5B6-CDF7-465A-9545-75E55D0D8A54}"/>
              </a:ext>
            </a:extLst>
          </p:cNvPr>
          <p:cNvSpPr>
            <a:spLocks noGrp="1"/>
          </p:cNvSpPr>
          <p:nvPr/>
        </p:nvSpPr>
        <p:spPr>
          <a:xfrm>
            <a:off x="8315325" y="2524125"/>
            <a:ext cx="27336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common_ir owns the domain shapes and JSON codecs.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8CFC1C-AE1B-464C-9EFE-E740783CA075}"/>
              </a:ext>
            </a:extLst>
          </p:cNvPr>
          <p:cNvSpPr>
            <a:spLocks noGrp="1"/>
          </p:cNvSpPr>
          <p:nvPr/>
        </p:nvSpPr>
        <p:spPr>
          <a:xfrm>
            <a:off x="8048625" y="3143250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93257A-45C3-4C02-BA4B-00D8E69B94D7}"/>
              </a:ext>
            </a:extLst>
          </p:cNvPr>
          <p:cNvSpPr>
            <a:spLocks noGrp="1"/>
          </p:cNvSpPr>
          <p:nvPr/>
        </p:nvSpPr>
        <p:spPr>
          <a:xfrm>
            <a:off x="8315325" y="3076575"/>
            <a:ext cx="27336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Each compiler module is a pure planning kernel.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E492F6-7039-4BB0-AF38-B246221B1E0E}"/>
              </a:ext>
            </a:extLst>
          </p:cNvPr>
          <p:cNvSpPr>
            <a:spLocks noGrp="1"/>
          </p:cNvSpPr>
          <p:nvPr/>
        </p:nvSpPr>
        <p:spPr>
          <a:xfrm>
            <a:off x="8048625" y="3695700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6DA0D6-68FB-4540-A070-9D610C7069F3}"/>
              </a:ext>
            </a:extLst>
          </p:cNvPr>
          <p:cNvSpPr>
            <a:spLocks noGrp="1"/>
          </p:cNvSpPr>
          <p:nvPr/>
        </p:nvSpPr>
        <p:spPr>
          <a:xfrm>
            <a:off x="8315325" y="3629025"/>
            <a:ext cx="27336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Outputs are explicit artifacts that runtime services can execute.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903E28-5606-4C92-BC33-55B8743FA3EA}"/>
              </a:ext>
            </a:extLst>
          </p:cNvPr>
          <p:cNvSpPr>
            <a:spLocks noGrp="1"/>
          </p:cNvSpPr>
          <p:nvPr/>
        </p:nvSpPr>
        <p:spPr>
          <a:xfrm>
            <a:off x="8048625" y="4248150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F4DCC62-A6ED-4267-972F-9DC2398EDE9A}"/>
              </a:ext>
            </a:extLst>
          </p:cNvPr>
          <p:cNvSpPr>
            <a:spLocks noGrp="1"/>
          </p:cNvSpPr>
          <p:nvPr/>
        </p:nvSpPr>
        <p:spPr>
          <a:xfrm>
            <a:off x="8315325" y="4181475"/>
            <a:ext cx="2733675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Invalid inputs fail before the runtime does expensive work.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70C0DD-4427-4F60-A156-66382D44B130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12</a:t>
            </a:r>
          </a:p>
        </p:txBody>
      </p:sp>
    </p:spTree>
    <p:extLst>
      <p:ext uri="{BB962C8B-B14F-4D97-AF65-F5344CB8AC3E}">
        <p14:creationId xmlns:p14="http://schemas.microsoft.com/office/powerpoint/2010/main" val="9291670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46123D-B3F9-419E-98DB-E97CADE72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FDA220-1B42-4C7D-BC4F-E62C02825735}"/>
              </a:ext>
            </a:extLst>
          </p:cNvPr>
          <p:cNvSpPr>
            <a:spLocks noGrp="1"/>
          </p:cNvSpPr>
          <p:nvPr/>
        </p:nvSpPr>
        <p:spPr>
          <a:xfrm>
            <a:off x="502920" y="29260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LOW-LEVEL OCAML ROLES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8327F-6740-454A-9752-12EA395D9CB9}"/>
              </a:ext>
            </a:extLst>
          </p:cNvPr>
          <p:cNvSpPr>
            <a:spLocks noGrp="1"/>
          </p:cNvSpPr>
          <p:nvPr/>
        </p:nvSpPr>
        <p:spPr>
          <a:xfrm>
            <a:off x="502920" y="566928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23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What each planner module does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9C3EED-62E2-4DB9-A61E-DC69D3E55B07}"/>
              </a:ext>
            </a:extLst>
          </p:cNvPr>
          <p:cNvSpPr>
            <a:spLocks noGrp="1"/>
          </p:cNvSpPr>
          <p:nvPr/>
        </p:nvSpPr>
        <p:spPr>
          <a:xfrm>
            <a:off x="521207" y="1024128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Each module has a narrow contract: typed input in, explicit artifact out.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578A4-FE46-417F-BF1F-BD30F5EEA6F5}"/>
              </a:ext>
            </a:extLst>
          </p:cNvPr>
          <p:cNvSpPr>
            <a:spLocks noGrp="1"/>
          </p:cNvSpPr>
          <p:nvPr/>
        </p:nvSpPr>
        <p:spPr>
          <a:xfrm>
            <a:off x="10561320" y="634593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/ 12A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0DDC6D-B37C-46B1-96B3-83638932F756}"/>
              </a:ext>
            </a:extLst>
          </p:cNvPr>
          <p:cNvSpPr>
            <a:spLocks noGrp="1"/>
          </p:cNvSpPr>
          <p:nvPr/>
        </p:nvSpPr>
        <p:spPr>
          <a:xfrm>
            <a:off x="475488" y="1417320"/>
            <a:ext cx="1417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919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Module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B7B8E8-31F4-455F-BA97-5FB7A84339C1}"/>
              </a:ext>
            </a:extLst>
          </p:cNvPr>
          <p:cNvSpPr>
            <a:spLocks noGrp="1"/>
          </p:cNvSpPr>
          <p:nvPr/>
        </p:nvSpPr>
        <p:spPr>
          <a:xfrm>
            <a:off x="2148840" y="141732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919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Input it understands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6CB5A7-3531-43CE-A569-AB025BC609D1}"/>
              </a:ext>
            </a:extLst>
          </p:cNvPr>
          <p:cNvSpPr>
            <a:spLocks noGrp="1"/>
          </p:cNvSpPr>
          <p:nvPr/>
        </p:nvSpPr>
        <p:spPr>
          <a:xfrm>
            <a:off x="4800600" y="1417320"/>
            <a:ext cx="23317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919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Output it returns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BDA2D7-E8DE-42C2-A08F-837723A4E498}"/>
              </a:ext>
            </a:extLst>
          </p:cNvPr>
          <p:cNvSpPr>
            <a:spLocks noGrp="1"/>
          </p:cNvSpPr>
          <p:nvPr/>
        </p:nvSpPr>
        <p:spPr>
          <a:xfrm>
            <a:off x="7452360" y="1417320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919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Used when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7C63BC5-DB08-41B9-B8E1-41C09AA9B84D}"/>
              </a:ext>
            </a:extLst>
          </p:cNvPr>
          <p:cNvSpPr>
            <a:spLocks noGrp="1"/>
          </p:cNvSpPr>
          <p:nvPr/>
        </p:nvSpPr>
        <p:spPr>
          <a:xfrm>
            <a:off x="384048" y="1709928"/>
            <a:ext cx="10972800" cy="621792"/>
          </a:xfrm>
          <a:prstGeom prst="roundRect">
            <a:avLst/>
          </a:prstGeom>
          <a:solidFill>
            <a:srgbClr val="E9E1FA"/>
          </a:solidFill>
          <a:ln w="889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AB1947-B5E0-4DB4-B3D2-083F86927DDC}"/>
              </a:ext>
            </a:extLst>
          </p:cNvPr>
          <p:cNvSpPr>
            <a:spLocks noGrp="1"/>
          </p:cNvSpPr>
          <p:nvPr/>
        </p:nvSpPr>
        <p:spPr>
          <a:xfrm>
            <a:off x="475488" y="1783080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dagentsc.ml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5F679C-5990-4B10-8332-412A85CC9C7C}"/>
              </a:ext>
            </a:extLst>
          </p:cNvPr>
          <p:cNvSpPr>
            <a:spLocks noGrp="1"/>
          </p:cNvSpPr>
          <p:nvPr/>
        </p:nvSpPr>
        <p:spPr>
          <a:xfrm>
            <a:off x="2148840" y="1783080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CLI args + JSON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C81C18-826E-4B3C-A6C4-0C97D49EED2E}"/>
              </a:ext>
            </a:extLst>
          </p:cNvPr>
          <p:cNvSpPr>
            <a:spLocks noGrp="1"/>
          </p:cNvSpPr>
          <p:nvPr/>
        </p:nvSpPr>
        <p:spPr>
          <a:xfrm>
            <a:off x="4800600" y="1783080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JSON report, plan, route, or YAML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4CB932-4871-4E8F-81C1-089FD106C862}"/>
              </a:ext>
            </a:extLst>
          </p:cNvPr>
          <p:cNvSpPr>
            <a:spLocks noGrp="1"/>
          </p:cNvSpPr>
          <p:nvPr/>
        </p:nvSpPr>
        <p:spPr>
          <a:xfrm>
            <a:off x="7452360" y="1783080"/>
            <a:ext cx="36118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Python/Java services need a planner call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E2F8724-196F-45E6-931D-2755A96D6365}"/>
              </a:ext>
            </a:extLst>
          </p:cNvPr>
          <p:cNvSpPr>
            <a:spLocks noGrp="1"/>
          </p:cNvSpPr>
          <p:nvPr/>
        </p:nvSpPr>
        <p:spPr>
          <a:xfrm>
            <a:off x="384048" y="2423160"/>
            <a:ext cx="10972800" cy="621792"/>
          </a:xfrm>
          <a:prstGeom prst="roundRect">
            <a:avLst/>
          </a:prstGeom>
          <a:solidFill>
            <a:srgbClr val="DCE7F1"/>
          </a:solidFill>
          <a:ln w="889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EE76B0-7001-4E01-9956-97D550CBAECF}"/>
              </a:ext>
            </a:extLst>
          </p:cNvPr>
          <p:cNvSpPr>
            <a:spLocks noGrp="1"/>
          </p:cNvSpPr>
          <p:nvPr/>
        </p:nvSpPr>
        <p:spPr>
          <a:xfrm>
            <a:off x="475488" y="2496312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15201B"/>
                </a:solidFill>
                <a:latin typeface="Aptos"/>
                <a:ea typeface="Aptos"/>
                <a:cs typeface="Aptos"/>
              </a:rPr>
              <a:t>common_ir + json_codec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E2EEC8-25C6-4640-9ABD-86FD420CE385}"/>
              </a:ext>
            </a:extLst>
          </p:cNvPr>
          <p:cNvSpPr>
            <a:spLocks noGrp="1"/>
          </p:cNvSpPr>
          <p:nvPr/>
        </p:nvSpPr>
        <p:spPr>
          <a:xfrm>
            <a:off x="2148840" y="2496312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Source, pipeline, profile, workload JSON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A659B5-3B89-49AC-8F40-6233A1847DD2}"/>
              </a:ext>
            </a:extLst>
          </p:cNvPr>
          <p:cNvSpPr>
            <a:spLocks noGrp="1"/>
          </p:cNvSpPr>
          <p:nvPr/>
        </p:nvSpPr>
        <p:spPr>
          <a:xfrm>
            <a:off x="4800600" y="2496312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Typed records and variants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1BAD77-1F8D-4DF3-9046-A8EB57F4561A}"/>
              </a:ext>
            </a:extLst>
          </p:cNvPr>
          <p:cNvSpPr>
            <a:spLocks noGrp="1"/>
          </p:cNvSpPr>
          <p:nvPr/>
        </p:nvSpPr>
        <p:spPr>
          <a:xfrm>
            <a:off x="7452360" y="2496312"/>
            <a:ext cx="36118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Every planner needs the same domain language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D97A39A-88C5-4176-A0C8-BA1947617A13}"/>
              </a:ext>
            </a:extLst>
          </p:cNvPr>
          <p:cNvSpPr>
            <a:spLocks noGrp="1"/>
          </p:cNvSpPr>
          <p:nvPr/>
        </p:nvSpPr>
        <p:spPr>
          <a:xfrm>
            <a:off x="384048" y="3136391"/>
            <a:ext cx="10972800" cy="621792"/>
          </a:xfrm>
          <a:prstGeom prst="roundRect">
            <a:avLst/>
          </a:prstGeom>
          <a:solidFill>
            <a:srgbClr val="DCEBE1"/>
          </a:solidFill>
          <a:ln w="889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29318F-0928-4140-9AEF-4A28C961FC5F}"/>
              </a:ext>
            </a:extLst>
          </p:cNvPr>
          <p:cNvSpPr>
            <a:spLocks noGrp="1"/>
          </p:cNvSpPr>
          <p:nvPr/>
        </p:nvSpPr>
        <p:spPr>
          <a:xfrm>
            <a:off x="475488" y="3209544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15201B"/>
                </a:solidFill>
                <a:latin typeface="Aptos"/>
                <a:ea typeface="Aptos"/>
                <a:cs typeface="Aptos"/>
              </a:rPr>
              <a:t>dataset_compiler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E49AE0-A7CF-4109-8352-9C6BCA0A0C69}"/>
              </a:ext>
            </a:extLst>
          </p:cNvPr>
          <p:cNvSpPr>
            <a:spLocks noGrp="1"/>
          </p:cNvSpPr>
          <p:nvPr/>
        </p:nvSpPr>
        <p:spPr>
          <a:xfrm>
            <a:off x="2148840" y="3209544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Sources, records, schema rules, transforms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B99C38-C7D7-4468-8E93-FDFF76866970}"/>
              </a:ext>
            </a:extLst>
          </p:cNvPr>
          <p:cNvSpPr>
            <a:spLocks noGrp="1"/>
          </p:cNvSpPr>
          <p:nvPr/>
        </p:nvSpPr>
        <p:spPr>
          <a:xfrm>
            <a:off x="4800600" y="3209544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Profiles, extraction plans, quality reports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CDF7C4-2BA0-4F8B-90F0-57DDF3CDF436}"/>
              </a:ext>
            </a:extLst>
          </p:cNvPr>
          <p:cNvSpPr>
            <a:spLocks noGrp="1"/>
          </p:cNvSpPr>
          <p:nvPr/>
        </p:nvSpPr>
        <p:spPr>
          <a:xfrm>
            <a:off x="7452360" y="3209544"/>
            <a:ext cx="36118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Before LMA/GMA/model/pipeline data work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BCF0EDB-42C6-4608-AD4E-406880AACD7C}"/>
              </a:ext>
            </a:extLst>
          </p:cNvPr>
          <p:cNvSpPr>
            <a:spLocks noGrp="1"/>
          </p:cNvSpPr>
          <p:nvPr/>
        </p:nvSpPr>
        <p:spPr>
          <a:xfrm>
            <a:off x="384048" y="3849624"/>
            <a:ext cx="10972800" cy="621792"/>
          </a:xfrm>
          <a:prstGeom prst="roundRect">
            <a:avLst/>
          </a:prstGeom>
          <a:solidFill>
            <a:srgbClr val="F4E8D0"/>
          </a:solidFill>
          <a:ln w="889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6EA0D1-0CB0-444D-8FA7-61A829803AFA}"/>
              </a:ext>
            </a:extLst>
          </p:cNvPr>
          <p:cNvSpPr>
            <a:spLocks noGrp="1"/>
          </p:cNvSpPr>
          <p:nvPr/>
        </p:nvSpPr>
        <p:spPr>
          <a:xfrm>
            <a:off x="475488" y="3922776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15201B"/>
                </a:solidFill>
                <a:latin typeface="Aptos"/>
                <a:ea typeface="Aptos"/>
                <a:cs typeface="Aptos"/>
              </a:rPr>
              <a:t>pipeline_compiler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E7DE78-CC23-4A17-A4CF-826FFA0C7C7C}"/>
              </a:ext>
            </a:extLst>
          </p:cNvPr>
          <p:cNvSpPr>
            <a:spLocks noGrp="1"/>
          </p:cNvSpPr>
          <p:nvPr/>
        </p:nvSpPr>
        <p:spPr>
          <a:xfrm>
            <a:off x="2148840" y="3922776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Workflow DAG with dependencies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ABC604-8B56-417D-B81F-64F79495CA7B}"/>
              </a:ext>
            </a:extLst>
          </p:cNvPr>
          <p:cNvSpPr>
            <a:spLocks noGrp="1"/>
          </p:cNvSpPr>
          <p:nvPr/>
        </p:nvSpPr>
        <p:spPr>
          <a:xfrm>
            <a:off x="4800600" y="3922776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Ordered steps or validation failure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C54E58-0FEF-41DD-814F-6DDCBF3C7099}"/>
              </a:ext>
            </a:extLst>
          </p:cNvPr>
          <p:cNvSpPr>
            <a:spLocks noGrp="1"/>
          </p:cNvSpPr>
          <p:nvPr/>
        </p:nvSpPr>
        <p:spPr>
          <a:xfrm>
            <a:off x="7452360" y="3922776"/>
            <a:ext cx="36118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Before pipeline registration or execution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2C05787-72CB-4D9F-8E6B-11DA8BFA3CC7}"/>
              </a:ext>
            </a:extLst>
          </p:cNvPr>
          <p:cNvSpPr>
            <a:spLocks noGrp="1"/>
          </p:cNvSpPr>
          <p:nvPr/>
        </p:nvSpPr>
        <p:spPr>
          <a:xfrm>
            <a:off x="384048" y="4562856"/>
            <a:ext cx="10972800" cy="621792"/>
          </a:xfrm>
          <a:prstGeom prst="roundRect">
            <a:avLst/>
          </a:prstGeom>
          <a:solidFill>
            <a:srgbClr val="F3DCD3"/>
          </a:solidFill>
          <a:ln w="889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888B96-2221-44AA-B0D3-1AD1F4B26081}"/>
              </a:ext>
            </a:extLst>
          </p:cNvPr>
          <p:cNvSpPr>
            <a:spLocks noGrp="1"/>
          </p:cNvSpPr>
          <p:nvPr/>
        </p:nvSpPr>
        <p:spPr>
          <a:xfrm>
            <a:off x="475488" y="4636008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15201B"/>
                </a:solidFill>
                <a:latin typeface="Aptos"/>
                <a:ea typeface="Aptos"/>
                <a:cs typeface="Aptos"/>
              </a:rPr>
              <a:t>model_router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99FD00D-EE6F-4A3C-8763-47E22C90C2BD}"/>
              </a:ext>
            </a:extLst>
          </p:cNvPr>
          <p:cNvSpPr>
            <a:spLocks noGrp="1"/>
          </p:cNvSpPr>
          <p:nvPr/>
        </p:nvSpPr>
        <p:spPr>
          <a:xfrm>
            <a:off x="2148840" y="4636008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Dataset profile + task type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1C0443-3B21-46D0-97D2-FF0EC497567E}"/>
              </a:ext>
            </a:extLst>
          </p:cNvPr>
          <p:cNvSpPr>
            <a:spLocks noGrp="1"/>
          </p:cNvSpPr>
          <p:nvPr/>
        </p:nvSpPr>
        <p:spPr>
          <a:xfrm>
            <a:off x="4800600" y="4636008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Candidate models + packaging mode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C35190-DFFE-450F-A46F-36532A882B55}"/>
              </a:ext>
            </a:extLst>
          </p:cNvPr>
          <p:cNvSpPr>
            <a:spLocks noGrp="1"/>
          </p:cNvSpPr>
          <p:nvPr/>
        </p:nvSpPr>
        <p:spPr>
          <a:xfrm>
            <a:off x="7452360" y="4636008"/>
            <a:ext cx="36118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Before model job selection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B0B65D9-3213-4156-82B0-C9FA319D7622}"/>
              </a:ext>
            </a:extLst>
          </p:cNvPr>
          <p:cNvSpPr>
            <a:spLocks noGrp="1"/>
          </p:cNvSpPr>
          <p:nvPr/>
        </p:nvSpPr>
        <p:spPr>
          <a:xfrm>
            <a:off x="384048" y="5276088"/>
            <a:ext cx="10972800" cy="62179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75E5CA-F315-42EF-932D-9B8538DAB5EC}"/>
              </a:ext>
            </a:extLst>
          </p:cNvPr>
          <p:cNvSpPr>
            <a:spLocks noGrp="1"/>
          </p:cNvSpPr>
          <p:nvPr/>
        </p:nvSpPr>
        <p:spPr>
          <a:xfrm>
            <a:off x="475488" y="5349240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15201B"/>
                </a:solidFill>
                <a:latin typeface="Aptos"/>
                <a:ea typeface="Aptos"/>
                <a:cs typeface="Aptos"/>
              </a:rPr>
              <a:t>manifest_compiler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4BFC65-D5F8-415F-8768-C17BD39713EC}"/>
              </a:ext>
            </a:extLst>
          </p:cNvPr>
          <p:cNvSpPr>
            <a:spLocks noGrp="1"/>
          </p:cNvSpPr>
          <p:nvPr/>
        </p:nvSpPr>
        <p:spPr>
          <a:xfrm>
            <a:off x="2148840" y="5349240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Workload spec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22B686-65E5-4FD3-8EFB-00009961E0C2}"/>
              </a:ext>
            </a:extLst>
          </p:cNvPr>
          <p:cNvSpPr>
            <a:spLocks noGrp="1"/>
          </p:cNvSpPr>
          <p:nvPr/>
        </p:nvSpPr>
        <p:spPr>
          <a:xfrm>
            <a:off x="4800600" y="5349240"/>
            <a:ext cx="23317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Kubernetes YAML bundle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8DEBDF-423A-46EB-8597-DA50927D3DBD}"/>
              </a:ext>
            </a:extLst>
          </p:cNvPr>
          <p:cNvSpPr>
            <a:spLocks noGrp="1"/>
          </p:cNvSpPr>
          <p:nvPr/>
        </p:nvSpPr>
        <p:spPr>
          <a:xfrm>
            <a:off x="7452360" y="5349240"/>
            <a:ext cx="36118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840">
                <a:solidFill>
                  <a:srgbClr val="53635B"/>
                </a:solidFill>
                <a:latin typeface="Aptos"/>
                <a:ea typeface="Aptos"/>
                <a:cs typeface="Aptos"/>
              </a:rPr>
              <a:t>Core-service workload compilation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0B39BCC-0374-43E4-8DD1-C5DFA3843512}"/>
              </a:ext>
            </a:extLst>
          </p:cNvPr>
          <p:cNvSpPr>
            <a:spLocks noGrp="1"/>
          </p:cNvSpPr>
          <p:nvPr/>
        </p:nvSpPr>
        <p:spPr>
          <a:xfrm>
            <a:off x="579120" y="5921897"/>
            <a:ext cx="10424160" cy="438912"/>
          </a:xfrm>
          <a:prstGeom prst="roundRect">
            <a:avLst>
              <a:gd name="adj" fmla="val 39257"/>
            </a:avLst>
          </a:prstGeom>
          <a:solidFill>
            <a:srgbClr val="FFFFFF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B43EC9-54B8-4DE8-8184-8DFB28A131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75716" y="6048192"/>
            <a:ext cx="10424160" cy="1597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buNone/>
            </a:pPr>
            <a:r>
              <a:rPr sz="1019" dirty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These are not long-running ML services. They are deterministic planning kernels that runtime services call when needed.</a:t>
            </a:r>
          </a:p>
        </p:txBody>
      </p:sp>
    </p:spTree>
    <p:extLst>
      <p:ext uri="{BB962C8B-B14F-4D97-AF65-F5344CB8AC3E}">
        <p14:creationId xmlns:p14="http://schemas.microsoft.com/office/powerpoint/2010/main" val="17305642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4F4BEC-8591-4FDA-B68B-712868AE2F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45F1AD-0231-4989-B7DA-FC71E83C67D4}"/>
              </a:ext>
            </a:extLst>
          </p:cNvPr>
          <p:cNvSpPr>
            <a:spLocks noGrp="1"/>
          </p:cNvSpPr>
          <p:nvPr/>
        </p:nvSpPr>
        <p:spPr>
          <a:xfrm>
            <a:off x="502920" y="29260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TESTING + VERIFICATION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C313A-C75B-4C16-AA9A-A629382812A2}"/>
              </a:ext>
            </a:extLst>
          </p:cNvPr>
          <p:cNvSpPr>
            <a:spLocks noGrp="1"/>
          </p:cNvSpPr>
          <p:nvPr/>
        </p:nvSpPr>
        <p:spPr>
          <a:xfrm>
            <a:off x="502920" y="566928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23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Dune runs the OCaml workspace 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E0EDEA-843F-4DDD-A6AB-202D9CC65941}"/>
              </a:ext>
            </a:extLst>
          </p:cNvPr>
          <p:cNvSpPr>
            <a:spLocks noGrp="1"/>
          </p:cNvSpPr>
          <p:nvPr/>
        </p:nvSpPr>
        <p:spPr>
          <a:xfrm>
            <a:off x="521207" y="1024128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Dune is the OCaml build and test tool: it compiles libraries, builds dagentsc, and runs test executables.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0F601-C62F-4A9B-8651-F70F0C3155D9}"/>
              </a:ext>
            </a:extLst>
          </p:cNvPr>
          <p:cNvSpPr>
            <a:spLocks noGrp="1"/>
          </p:cNvSpPr>
          <p:nvPr/>
        </p:nvSpPr>
        <p:spPr>
          <a:xfrm>
            <a:off x="10561320" y="634593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/ 12B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B1536C-936D-4086-B81A-373F409C3BBE}"/>
              </a:ext>
            </a:extLst>
          </p:cNvPr>
          <p:cNvSpPr>
            <a:spLocks noGrp="1"/>
          </p:cNvSpPr>
          <p:nvPr/>
        </p:nvSpPr>
        <p:spPr>
          <a:xfrm>
            <a:off x="594360" y="1508760"/>
            <a:ext cx="3246120" cy="713232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465CA-951A-4170-90BC-E8A8083AB6B9}"/>
              </a:ext>
            </a:extLst>
          </p:cNvPr>
          <p:cNvSpPr>
            <a:spLocks noGrp="1"/>
          </p:cNvSpPr>
          <p:nvPr/>
        </p:nvSpPr>
        <p:spPr>
          <a:xfrm>
            <a:off x="758952" y="1636776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Typed test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2E6BC8-1EBF-41E7-B200-7686D49E2A72}"/>
              </a:ext>
            </a:extLst>
          </p:cNvPr>
          <p:cNvSpPr>
            <a:spLocks noGrp="1"/>
          </p:cNvSpPr>
          <p:nvPr/>
        </p:nvSpPr>
        <p:spPr>
          <a:xfrm>
            <a:off x="758952" y="1947672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records, sources, pipelines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43B39921-3B73-418F-BB2C-5D01BE50E3C0}"/>
              </a:ext>
            </a:extLst>
          </p:cNvPr>
          <p:cNvSpPr>
            <a:spLocks noGrp="1"/>
          </p:cNvSpPr>
          <p:nvPr/>
        </p:nvSpPr>
        <p:spPr>
          <a:xfrm>
            <a:off x="2221992" y="2258568"/>
            <a:ext cx="0" cy="210312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6F7EB2-1C5C-4C98-BFCB-A991742DC2D4}"/>
              </a:ext>
            </a:extLst>
          </p:cNvPr>
          <p:cNvSpPr>
            <a:spLocks noGrp="1"/>
          </p:cNvSpPr>
          <p:nvPr/>
        </p:nvSpPr>
        <p:spPr>
          <a:xfrm>
            <a:off x="594360" y="2478024"/>
            <a:ext cx="3246120" cy="713232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77D726-5277-4805-9789-186D2213920A}"/>
              </a:ext>
            </a:extLst>
          </p:cNvPr>
          <p:cNvSpPr>
            <a:spLocks noGrp="1"/>
          </p:cNvSpPr>
          <p:nvPr/>
        </p:nvSpPr>
        <p:spPr>
          <a:xfrm>
            <a:off x="758952" y="2606040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Dune builds modules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BCAF8B-CC90-44C7-BA16-5E3BC4133BC2}"/>
              </a:ext>
            </a:extLst>
          </p:cNvPr>
          <p:cNvSpPr>
            <a:spLocks noGrp="1"/>
          </p:cNvSpPr>
          <p:nvPr/>
        </p:nvSpPr>
        <p:spPr>
          <a:xfrm>
            <a:off x="758952" y="2916936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common_ir + compilers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0C1E1C3C-7E0A-4EBF-AA48-D617D8CE1106}"/>
              </a:ext>
            </a:extLst>
          </p:cNvPr>
          <p:cNvSpPr>
            <a:spLocks noGrp="1"/>
          </p:cNvSpPr>
          <p:nvPr/>
        </p:nvSpPr>
        <p:spPr>
          <a:xfrm>
            <a:off x="2221992" y="3227832"/>
            <a:ext cx="0" cy="210312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2692106-F0CC-4D06-BE3C-B1464DED83C9}"/>
              </a:ext>
            </a:extLst>
          </p:cNvPr>
          <p:cNvSpPr>
            <a:spLocks noGrp="1"/>
          </p:cNvSpPr>
          <p:nvPr/>
        </p:nvSpPr>
        <p:spPr>
          <a:xfrm>
            <a:off x="594360" y="3447288"/>
            <a:ext cx="3246120" cy="713232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B71E9C-AFDD-4796-9992-2F51FC5626FA}"/>
              </a:ext>
            </a:extLst>
          </p:cNvPr>
          <p:cNvSpPr>
            <a:spLocks noGrp="1"/>
          </p:cNvSpPr>
          <p:nvPr/>
        </p:nvSpPr>
        <p:spPr>
          <a:xfrm>
            <a:off x="758952" y="3575304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Test executable runs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BF6BA9-AEEF-43C2-B33D-7F64939FECF7}"/>
              </a:ext>
            </a:extLst>
          </p:cNvPr>
          <p:cNvSpPr>
            <a:spLocks noGrp="1"/>
          </p:cNvSpPr>
          <p:nvPr/>
        </p:nvSpPr>
        <p:spPr>
          <a:xfrm>
            <a:off x="758952" y="3886200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assertions fail fast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FAE5679B-3E0F-497D-ADFD-9763822C8AC4}"/>
              </a:ext>
            </a:extLst>
          </p:cNvPr>
          <p:cNvSpPr>
            <a:spLocks noGrp="1"/>
          </p:cNvSpPr>
          <p:nvPr/>
        </p:nvSpPr>
        <p:spPr>
          <a:xfrm>
            <a:off x="2221992" y="4197096"/>
            <a:ext cx="0" cy="210312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5815946-215F-4599-A173-50DE25AF1BE4}"/>
              </a:ext>
            </a:extLst>
          </p:cNvPr>
          <p:cNvSpPr>
            <a:spLocks noGrp="1"/>
          </p:cNvSpPr>
          <p:nvPr/>
        </p:nvSpPr>
        <p:spPr>
          <a:xfrm>
            <a:off x="594360" y="4416552"/>
            <a:ext cx="3246120" cy="713232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DDC752-B222-4888-8CDF-5275B6B0CEF9}"/>
              </a:ext>
            </a:extLst>
          </p:cNvPr>
          <p:cNvSpPr>
            <a:spLocks noGrp="1"/>
          </p:cNvSpPr>
          <p:nvPr/>
        </p:nvSpPr>
        <p:spPr>
          <a:xfrm>
            <a:off x="758952" y="4544568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CLI build checked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9D3A4E-C404-441A-8FDB-E4495ADEFB2B}"/>
              </a:ext>
            </a:extLst>
          </p:cNvPr>
          <p:cNvSpPr>
            <a:spLocks noGrp="1"/>
          </p:cNvSpPr>
          <p:nvPr/>
        </p:nvSpPr>
        <p:spPr>
          <a:xfrm>
            <a:off x="758952" y="4855464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dagentsc.exe for services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C63A73-CDDC-4B61-ABAE-07C788E69C86}"/>
              </a:ext>
            </a:extLst>
          </p:cNvPr>
          <p:cNvSpPr>
            <a:spLocks noGrp="1"/>
          </p:cNvSpPr>
          <p:nvPr/>
        </p:nvSpPr>
        <p:spPr>
          <a:xfrm>
            <a:off x="4434840" y="144475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What the tests cover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A1E464-8D1F-440D-9112-3789C6CE066D}"/>
              </a:ext>
            </a:extLst>
          </p:cNvPr>
          <p:cNvSpPr>
            <a:spLocks noGrp="1"/>
          </p:cNvSpPr>
          <p:nvPr/>
        </p:nvSpPr>
        <p:spPr>
          <a:xfrm>
            <a:off x="4480560" y="1856231"/>
            <a:ext cx="379476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• source validation + invalid source rejection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• time-window and hash partition planning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• schema contracts and quality reports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• record transforms and output schema checks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• pipeline duplicate, missing dependency, and cycle checks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• model routing and packaging modes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• manifest rendering and JSON codec round trips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007686B-DBC9-46B9-A676-1D91A587A96D}"/>
              </a:ext>
            </a:extLst>
          </p:cNvPr>
          <p:cNvSpPr>
            <a:spLocks noGrp="1"/>
          </p:cNvSpPr>
          <p:nvPr/>
        </p:nvSpPr>
        <p:spPr>
          <a:xfrm>
            <a:off x="8503920" y="1554480"/>
            <a:ext cx="2697480" cy="19202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5D221E-CBB9-4AB2-9140-F37823E641DD}"/>
              </a:ext>
            </a:extLst>
          </p:cNvPr>
          <p:cNvSpPr>
            <a:spLocks noGrp="1"/>
          </p:cNvSpPr>
          <p:nvPr/>
        </p:nvSpPr>
        <p:spPr>
          <a:xfrm>
            <a:off x="8650224" y="1691639"/>
            <a:ext cx="240487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cd bindings/ocaml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opam exec -- dune test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endParaRPr sz="919">
              <a:solidFill>
                <a:srgbClr val="ECEFF4"/>
              </a:solidFill>
              <a:latin typeface="Cascadia Mono"/>
              <a:ea typeface="Cascadia Mono"/>
              <a:cs typeface="Cascadia Mono"/>
            </a:endParaRP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opam exec -- dune build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./bin/dagentsc.exe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1B236E9-5841-458A-AFFF-6E20263C974E}"/>
              </a:ext>
            </a:extLst>
          </p:cNvPr>
          <p:cNvSpPr>
            <a:spLocks noGrp="1"/>
          </p:cNvSpPr>
          <p:nvPr/>
        </p:nvSpPr>
        <p:spPr>
          <a:xfrm>
            <a:off x="4434840" y="4892040"/>
            <a:ext cx="67665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A9777D-0F4C-4E6D-87FB-12FE898A265B}"/>
              </a:ext>
            </a:extLst>
          </p:cNvPr>
          <p:cNvSpPr>
            <a:spLocks noGrp="1"/>
          </p:cNvSpPr>
          <p:nvPr/>
        </p:nvSpPr>
        <p:spPr>
          <a:xfrm>
            <a:off x="4434840" y="4892040"/>
            <a:ext cx="73152" cy="777240"/>
          </a:xfrm>
          <a:prstGeom prst="rect">
            <a:avLst/>
          </a:prstGeom>
          <a:solidFill>
            <a:srgbClr val="2E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4B101F-B5C2-4F1D-918D-31894D869325}"/>
              </a:ext>
            </a:extLst>
          </p:cNvPr>
          <p:cNvSpPr>
            <a:spLocks noGrp="1"/>
          </p:cNvSpPr>
          <p:nvPr/>
        </p:nvSpPr>
        <p:spPr>
          <a:xfrm>
            <a:off x="4599431" y="5020055"/>
            <a:ext cx="64373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Why this matters for the presentation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A4B293-CAD7-4785-A7A4-0F0512948356}"/>
              </a:ext>
            </a:extLst>
          </p:cNvPr>
          <p:cNvSpPr>
            <a:spLocks noGrp="1"/>
          </p:cNvSpPr>
          <p:nvPr/>
        </p:nvSpPr>
        <p:spPr>
          <a:xfrm>
            <a:off x="4599431" y="5330952"/>
            <a:ext cx="6446520" cy="265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Most OCaml tests do not need Docker, databases, or GPUs because the modules are pure planners. That makes the functional layer easy to prove live.</a:t>
            </a:r>
          </a:p>
        </p:txBody>
      </p:sp>
    </p:spTree>
    <p:extLst>
      <p:ext uri="{BB962C8B-B14F-4D97-AF65-F5344CB8AC3E}">
        <p14:creationId xmlns:p14="http://schemas.microsoft.com/office/powerpoint/2010/main" val="7849971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64A5219-3916-445B-B6DA-28BCC5DF22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07193C-6B62-4C6C-90D4-8653D253DEB9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WHEN IT RUNS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BB89F4-0119-4897-9002-FC6112A0E1D8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The OCaml modules are not project ML APIs. They are planner calls used before and during runtime.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BD47D2-0F98-46DD-8F6A-F5B1002BE6B4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They can run before the app starts as a build artifact, and during app requests when a service needs a plan.</a:t>
            </a:r>
          </a:p>
        </p:txBody>
      </p:sp>
      <p:pic>
        <p:nvPicPr>
          <p:cNvPr id="21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97769" y="2190750"/>
            <a:ext cx="3900488" cy="3714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01C3B15-6186-4242-B8CA-2F8179630AA8}"/>
              </a:ext>
            </a:extLst>
          </p:cNvPr>
          <p:cNvSpPr>
            <a:spLocks noGrp="1"/>
          </p:cNvSpPr>
          <p:nvPr/>
        </p:nvSpPr>
        <p:spPr>
          <a:xfrm>
            <a:off x="5953125" y="2400300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687B4E-2D81-45C4-8544-0004FC96EBBE}"/>
              </a:ext>
            </a:extLst>
          </p:cNvPr>
          <p:cNvSpPr>
            <a:spLocks noGrp="1"/>
          </p:cNvSpPr>
          <p:nvPr/>
        </p:nvSpPr>
        <p:spPr>
          <a:xfrm>
            <a:off x="6219825" y="2333625"/>
            <a:ext cx="46863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Before running: Dockerfiles and scripts build dagentsc with dune.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0AF45B-3585-4489-9607-B839E626AED7}"/>
              </a:ext>
            </a:extLst>
          </p:cNvPr>
          <p:cNvSpPr>
            <a:spLocks noGrp="1"/>
          </p:cNvSpPr>
          <p:nvPr/>
        </p:nvSpPr>
        <p:spPr>
          <a:xfrm>
            <a:off x="5953125" y="3105150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489B60-ABCE-4BDB-9E72-FB71FADC6759}"/>
              </a:ext>
            </a:extLst>
          </p:cNvPr>
          <p:cNvSpPr>
            <a:spLocks noGrp="1"/>
          </p:cNvSpPr>
          <p:nvPr/>
        </p:nvSpPr>
        <p:spPr>
          <a:xfrm>
            <a:off x="6219825" y="3038475"/>
            <a:ext cx="46863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At startup: services receive DAGENTSC_BIN and service URLs.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2D2AB2-D0DA-4238-AD9F-6D243E38BCC7}"/>
              </a:ext>
            </a:extLst>
          </p:cNvPr>
          <p:cNvSpPr>
            <a:spLocks noGrp="1"/>
          </p:cNvSpPr>
          <p:nvPr/>
        </p:nvSpPr>
        <p:spPr>
          <a:xfrm>
            <a:off x="5953125" y="3810000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C3E043-FB86-4F5A-B76C-06805E5DABF5}"/>
              </a:ext>
            </a:extLst>
          </p:cNvPr>
          <p:cNvSpPr>
            <a:spLocks noGrp="1"/>
          </p:cNvSpPr>
          <p:nvPr/>
        </p:nvSpPr>
        <p:spPr>
          <a:xfrm>
            <a:off x="6219825" y="3743325"/>
            <a:ext cx="46863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During requests: services invoke dagentsc for validation, routing, DAG planning, or manifest rendering.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AC827-3DEE-42A3-8C9F-B6437A678CA1}"/>
              </a:ext>
            </a:extLst>
          </p:cNvPr>
          <p:cNvSpPr>
            <a:spLocks noGrp="1"/>
          </p:cNvSpPr>
          <p:nvPr/>
        </p:nvSpPr>
        <p:spPr>
          <a:xfrm>
            <a:off x="5953125" y="4514850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92DEB4-9B0D-4A5F-BF06-86A9D77F2283}"/>
              </a:ext>
            </a:extLst>
          </p:cNvPr>
          <p:cNvSpPr>
            <a:spLocks noGrp="1"/>
          </p:cNvSpPr>
          <p:nvPr/>
        </p:nvSpPr>
        <p:spPr>
          <a:xfrm>
            <a:off x="6219825" y="4448175"/>
            <a:ext cx="46863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Runtime work still belongs to Python/Spring: reading data, training models, serving APIs, and storing results.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726BD3-AAD5-43C2-A31F-0FDA25688FE2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13</a:t>
            </a:r>
          </a:p>
        </p:txBody>
      </p:sp>
    </p:spTree>
    <p:extLst>
      <p:ext uri="{BB962C8B-B14F-4D97-AF65-F5344CB8AC3E}">
        <p14:creationId xmlns:p14="http://schemas.microsoft.com/office/powerpoint/2010/main" val="962011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3983AC-4FFD-4C61-B08D-BD31F49346ED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FUTURE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198D90-F319-4493-8E9D-A05F3D8D0580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Cloud and backend integrations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B141B7-813A-4C37-8DE6-81E737F86AA7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framework is service-based, so it can connect to cloud services without changing the core agent model.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10469880" cy="4343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DCED8B-941D-493C-9D1F-BCF9B3A33F89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Examples: GCP, AWS, Supabase, Azure</a:t>
            </a:r>
          </a:p>
        </p:txBody>
      </p:sp>
    </p:spTree>
    <p:extLst>
      <p:ext uri="{BB962C8B-B14F-4D97-AF65-F5344CB8AC3E}">
        <p14:creationId xmlns:p14="http://schemas.microsoft.com/office/powerpoint/2010/main" val="12583388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3B1FCF-11DB-4F32-AD20-447908F7497F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FUTURE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59F37-D7B5-41F7-AA5E-7E9F0BEE25E3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Concrete integration backlog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12193-37DA-408F-BAE3-72CA18285F09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These are practical next steps after the current local/demo stack.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A852453-DAB0-4BB6-BEC9-8B84F470D86C}"/>
              </a:ext>
            </a:extLst>
          </p:cNvPr>
          <p:cNvSpPr>
            <a:spLocks noGrp="1"/>
          </p:cNvSpPr>
          <p:nvPr/>
        </p:nvSpPr>
        <p:spPr>
          <a:xfrm>
            <a:off x="594360" y="1664208"/>
            <a:ext cx="3337560" cy="114300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3B2E77-6842-435E-BADB-638F8B82AC6D}"/>
              </a:ext>
            </a:extLst>
          </p:cNvPr>
          <p:cNvSpPr>
            <a:spLocks noGrp="1"/>
          </p:cNvSpPr>
          <p:nvPr/>
        </p:nvSpPr>
        <p:spPr>
          <a:xfrm>
            <a:off x="758952" y="1810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GCP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2C558-33A7-4FE7-897C-BD83B8055640}"/>
              </a:ext>
            </a:extLst>
          </p:cNvPr>
          <p:cNvSpPr>
            <a:spLocks noGrp="1"/>
          </p:cNvSpPr>
          <p:nvPr/>
        </p:nvSpPr>
        <p:spPr>
          <a:xfrm>
            <a:off x="758952" y="2194560"/>
            <a:ext cx="3017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GKE for workloads, Cloud SQL for sources, GCS for artifacts, Pub/Sub for events.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D03DA5E-6345-4EC9-BF98-412A20B51238}"/>
              </a:ext>
            </a:extLst>
          </p:cNvPr>
          <p:cNvSpPr>
            <a:spLocks noGrp="1"/>
          </p:cNvSpPr>
          <p:nvPr/>
        </p:nvSpPr>
        <p:spPr>
          <a:xfrm>
            <a:off x="4297680" y="1664208"/>
            <a:ext cx="3337560" cy="114300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9DF0E-4158-4750-9BAE-A63BE5FE4DB0}"/>
              </a:ext>
            </a:extLst>
          </p:cNvPr>
          <p:cNvSpPr>
            <a:spLocks noGrp="1"/>
          </p:cNvSpPr>
          <p:nvPr/>
        </p:nvSpPr>
        <p:spPr>
          <a:xfrm>
            <a:off x="4462272" y="1810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28DB5F-75D5-4CE4-9956-CCD425D22569}"/>
              </a:ext>
            </a:extLst>
          </p:cNvPr>
          <p:cNvSpPr>
            <a:spLocks noGrp="1"/>
          </p:cNvSpPr>
          <p:nvPr/>
        </p:nvSpPr>
        <p:spPr>
          <a:xfrm>
            <a:off x="4462272" y="2194560"/>
            <a:ext cx="3017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EKS for workloads, S3 for artifacts, RDS for sources, SQS/EventBridge for messaging.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69AFD4D-4A31-4AAB-AC7A-988B0919CD13}"/>
              </a:ext>
            </a:extLst>
          </p:cNvPr>
          <p:cNvSpPr>
            <a:spLocks noGrp="1"/>
          </p:cNvSpPr>
          <p:nvPr/>
        </p:nvSpPr>
        <p:spPr>
          <a:xfrm>
            <a:off x="8001000" y="1664208"/>
            <a:ext cx="3337560" cy="114300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F23394-4E8C-41D3-8B6A-93C30AAA0826}"/>
              </a:ext>
            </a:extLst>
          </p:cNvPr>
          <p:cNvSpPr>
            <a:spLocks noGrp="1"/>
          </p:cNvSpPr>
          <p:nvPr/>
        </p:nvSpPr>
        <p:spPr>
          <a:xfrm>
            <a:off x="8165592" y="18105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Supabase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85DD35-3736-4622-BF9E-D9A4B2462CDC}"/>
              </a:ext>
            </a:extLst>
          </p:cNvPr>
          <p:cNvSpPr>
            <a:spLocks noGrp="1"/>
          </p:cNvSpPr>
          <p:nvPr/>
        </p:nvSpPr>
        <p:spPr>
          <a:xfrm>
            <a:off x="8165592" y="2194560"/>
            <a:ext cx="3017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Postgres and Auth for quick product integrations; Edge Functions for lightweight hooks.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B22E694-94BE-4D76-8CFE-66FD2D545384}"/>
              </a:ext>
            </a:extLst>
          </p:cNvPr>
          <p:cNvSpPr>
            <a:spLocks noGrp="1"/>
          </p:cNvSpPr>
          <p:nvPr/>
        </p:nvSpPr>
        <p:spPr>
          <a:xfrm>
            <a:off x="594360" y="3264408"/>
            <a:ext cx="3337560" cy="114300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E771F0-DB9F-45A4-A30B-36B27FD112B1}"/>
              </a:ext>
            </a:extLst>
          </p:cNvPr>
          <p:cNvSpPr>
            <a:spLocks noGrp="1"/>
          </p:cNvSpPr>
          <p:nvPr/>
        </p:nvSpPr>
        <p:spPr>
          <a:xfrm>
            <a:off x="758952" y="34107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932052-C4B5-4818-9DD5-97C888007095}"/>
              </a:ext>
            </a:extLst>
          </p:cNvPr>
          <p:cNvSpPr>
            <a:spLocks noGrp="1"/>
          </p:cNvSpPr>
          <p:nvPr/>
        </p:nvSpPr>
        <p:spPr>
          <a:xfrm>
            <a:off x="758952" y="3794760"/>
            <a:ext cx="3017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OpenTelemetry traces, run metrics, model-job metrics, and audit logs.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1C6F84F-9615-47EA-A3AE-D2D06039FC6D}"/>
              </a:ext>
            </a:extLst>
          </p:cNvPr>
          <p:cNvSpPr>
            <a:spLocks noGrp="1"/>
          </p:cNvSpPr>
          <p:nvPr/>
        </p:nvSpPr>
        <p:spPr>
          <a:xfrm>
            <a:off x="4297680" y="3264408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00D3C9-AC40-4D3C-B80D-75F9D49EA661}"/>
              </a:ext>
            </a:extLst>
          </p:cNvPr>
          <p:cNvSpPr>
            <a:spLocks noGrp="1"/>
          </p:cNvSpPr>
          <p:nvPr/>
        </p:nvSpPr>
        <p:spPr>
          <a:xfrm>
            <a:off x="4462272" y="34107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Secrets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C074BA-C95D-4135-9D71-69FCD54E6D06}"/>
              </a:ext>
            </a:extLst>
          </p:cNvPr>
          <p:cNvSpPr>
            <a:spLocks noGrp="1"/>
          </p:cNvSpPr>
          <p:nvPr/>
        </p:nvSpPr>
        <p:spPr>
          <a:xfrm>
            <a:off x="4462272" y="3794760"/>
            <a:ext cx="3017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Vault/KMS/IAM integration so source credentials are never hard-coded.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3FC2E7F-A2B8-417E-85BE-2EF23F3BC9A3}"/>
              </a:ext>
            </a:extLst>
          </p:cNvPr>
          <p:cNvSpPr>
            <a:spLocks noGrp="1"/>
          </p:cNvSpPr>
          <p:nvPr/>
        </p:nvSpPr>
        <p:spPr>
          <a:xfrm>
            <a:off x="8001000" y="3264408"/>
            <a:ext cx="33375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ED3F99-C401-4EC9-A45D-54922BDB103D}"/>
              </a:ext>
            </a:extLst>
          </p:cNvPr>
          <p:cNvSpPr>
            <a:spLocks noGrp="1"/>
          </p:cNvSpPr>
          <p:nvPr/>
        </p:nvSpPr>
        <p:spPr>
          <a:xfrm>
            <a:off x="8165592" y="34107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191FDB-96DC-4873-8D57-0122C0FBB19E}"/>
              </a:ext>
            </a:extLst>
          </p:cNvPr>
          <p:cNvSpPr>
            <a:spLocks noGrp="1"/>
          </p:cNvSpPr>
          <p:nvPr/>
        </p:nvSpPr>
        <p:spPr>
          <a:xfrm>
            <a:off x="8165592" y="3794760"/>
            <a:ext cx="3017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Move in-memory registries to Postgres or a managed store.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3736AF-76DD-4681-BE76-6809D9E9E47B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Future integrations should keep the same LMA/GMA contracts</a:t>
            </a:r>
          </a:p>
        </p:txBody>
      </p:sp>
    </p:spTree>
    <p:extLst>
      <p:ext uri="{BB962C8B-B14F-4D97-AF65-F5344CB8AC3E}">
        <p14:creationId xmlns:p14="http://schemas.microsoft.com/office/powerpoint/2010/main" val="6825806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D648CF-CF55-43A3-BA43-EB8791CF677F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FUTURE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CB496F-1310-475C-A519-C8BA8F24DD53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Ethical firewalls for AI-era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AC7B1-6DBE-4302-9E28-BB63F1715338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 GRAILS-style layer can be treated as a policy firewall around agent actions.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423318-1869-493B-A37C-9D8807C2FB93}"/>
              </a:ext>
            </a:extLst>
          </p:cNvPr>
          <p:cNvSpPr>
            <a:spLocks noGrp="1"/>
          </p:cNvSpPr>
          <p:nvPr/>
        </p:nvSpPr>
        <p:spPr>
          <a:xfrm>
            <a:off x="731520" y="1691640"/>
            <a:ext cx="3291840" cy="205740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090CC2-FE5E-4144-BAB1-0D654DEF05B0}"/>
              </a:ext>
            </a:extLst>
          </p:cNvPr>
          <p:cNvSpPr>
            <a:spLocks noGrp="1"/>
          </p:cNvSpPr>
          <p:nvPr/>
        </p:nvSpPr>
        <p:spPr>
          <a:xfrm>
            <a:off x="896112" y="183794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What it checks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2B981C-D1C5-43B3-ACBD-9791320C0E2A}"/>
              </a:ext>
            </a:extLst>
          </p:cNvPr>
          <p:cNvSpPr>
            <a:spLocks noGrp="1"/>
          </p:cNvSpPr>
          <p:nvPr/>
        </p:nvSpPr>
        <p:spPr>
          <a:xfrm>
            <a:off x="896112" y="2221992"/>
            <a:ext cx="2971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Should this request access this data? Should this model be called? Should this output be released?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8914DE6-27C2-4D94-B667-557896AC0B67}"/>
              </a:ext>
            </a:extLst>
          </p:cNvPr>
          <p:cNvSpPr>
            <a:spLocks noGrp="1"/>
          </p:cNvSpPr>
          <p:nvPr/>
        </p:nvSpPr>
        <p:spPr>
          <a:xfrm>
            <a:off x="4434840" y="1691640"/>
            <a:ext cx="3291840" cy="205740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CB7709-14E5-4061-8DC5-0E6C77010337}"/>
              </a:ext>
            </a:extLst>
          </p:cNvPr>
          <p:cNvSpPr>
            <a:spLocks noGrp="1"/>
          </p:cNvSpPr>
          <p:nvPr/>
        </p:nvSpPr>
        <p:spPr>
          <a:xfrm>
            <a:off x="4599431" y="183794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Where it runs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E9E10-F8E5-4106-95F5-F683B86639AB}"/>
              </a:ext>
            </a:extLst>
          </p:cNvPr>
          <p:cNvSpPr>
            <a:spLocks noGrp="1"/>
          </p:cNvSpPr>
          <p:nvPr/>
        </p:nvSpPr>
        <p:spPr>
          <a:xfrm>
            <a:off x="4599431" y="2221992"/>
            <a:ext cx="2971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Before source extraction, before model routing, before workload deployment, and before returning generated output.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B04290-7355-4C3D-A11F-9C147701D543}"/>
              </a:ext>
            </a:extLst>
          </p:cNvPr>
          <p:cNvSpPr>
            <a:spLocks noGrp="1"/>
          </p:cNvSpPr>
          <p:nvPr/>
        </p:nvSpPr>
        <p:spPr>
          <a:xfrm>
            <a:off x="8138160" y="1691640"/>
            <a:ext cx="3291840" cy="205740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90F19C-CA8E-4655-950F-AAC22240870F}"/>
              </a:ext>
            </a:extLst>
          </p:cNvPr>
          <p:cNvSpPr>
            <a:spLocks noGrp="1"/>
          </p:cNvSpPr>
          <p:nvPr/>
        </p:nvSpPr>
        <p:spPr>
          <a:xfrm>
            <a:off x="8302752" y="183794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What it records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4295D3-D8DF-4565-A41A-39801B37A06F}"/>
              </a:ext>
            </a:extLst>
          </p:cNvPr>
          <p:cNvSpPr>
            <a:spLocks noGrp="1"/>
          </p:cNvSpPr>
          <p:nvPr/>
        </p:nvSpPr>
        <p:spPr>
          <a:xfrm>
            <a:off x="8302752" y="2221992"/>
            <a:ext cx="2971800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policy decision, reason, request id, agent id, data scope, and final action.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F717F3-1A00-49A6-B673-1840A77E5987}"/>
              </a:ext>
            </a:extLst>
          </p:cNvPr>
          <p:cNvSpPr>
            <a:spLocks noGrp="1"/>
          </p:cNvSpPr>
          <p:nvPr/>
        </p:nvSpPr>
        <p:spPr>
          <a:xfrm>
            <a:off x="868680" y="42519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6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This would make Dagents useful not only for computation, but also for responsible control of computation.</a:t>
            </a:r>
          </a:p>
          <a:p>
            <a:pPr>
              <a:buNone/>
              <a:defRPr sz="16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The idea fits the LMA/GMA model because local and global decisions can have different policy rules.</a:t>
            </a:r>
          </a:p>
        </p:txBody>
      </p:sp>
    </p:spTree>
    <p:extLst>
      <p:ext uri="{BB962C8B-B14F-4D97-AF65-F5344CB8AC3E}">
        <p14:creationId xmlns:p14="http://schemas.microsoft.com/office/powerpoint/2010/main" val="11568938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7E5CF1-98C4-4911-B38D-6AA56AF788E2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FUTURE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E58C3-5BDC-4C3C-B532-C7CC9AF86624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Where a GRAILS-style guardrail fits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D804F-184A-4B26-AE37-2DC084922224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guardrail should be a first-class service boundary, not a UI-only warning.</a:t>
            </a:r>
          </a:p>
        </p:txBody>
      </p:sp>
      <p:pic>
        <p:nvPicPr>
          <p:cNvPr id="1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" y="1828799"/>
            <a:ext cx="11351230" cy="2279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3F0D00-FA69-4E8E-AF3F-40ED69AECF31}"/>
              </a:ext>
            </a:extLst>
          </p:cNvPr>
          <p:cNvSpPr>
            <a:spLocks noGrp="1"/>
          </p:cNvSpPr>
          <p:nvPr/>
        </p:nvSpPr>
        <p:spPr>
          <a:xfrm>
            <a:off x="777240" y="452628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6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Policy can stop a run, narrow the data scope, or require human review.</a:t>
            </a:r>
          </a:p>
          <a:p>
            <a:pPr>
              <a:buNone/>
              <a:defRPr sz="16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Audit logs should connect policy decisions with Dagents run ids and deployment plans.</a:t>
            </a:r>
          </a:p>
          <a:p>
            <a:pPr>
              <a:buNone/>
              <a:defRPr sz="16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This can support college research around ethical firewalls while staying practical for backend teams.</a:t>
            </a:r>
          </a:p>
        </p:txBody>
      </p:sp>
    </p:spTree>
    <p:extLst>
      <p:ext uri="{BB962C8B-B14F-4D97-AF65-F5344CB8AC3E}">
        <p14:creationId xmlns:p14="http://schemas.microsoft.com/office/powerpoint/2010/main" val="10427329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616C7F-5DE1-4780-8723-F2B4F47C5526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A26162-FC55-4072-9ED2-CB330866CB78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Next build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87E13-600F-4E88-BC5E-106AEBF65EB7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path forward is incremental: harden the current stack, then add cloud and policy boundaries.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383E6C-1657-4B5B-8879-7FC0AEC261AE}"/>
              </a:ext>
            </a:extLst>
          </p:cNvPr>
          <p:cNvSpPr>
            <a:spLocks noGrp="1"/>
          </p:cNvSpPr>
          <p:nvPr/>
        </p:nvSpPr>
        <p:spPr>
          <a:xfrm>
            <a:off x="594360" y="1691640"/>
            <a:ext cx="2852928" cy="6781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815377-4277-4F34-B2E8-94C36D9C4436}"/>
              </a:ext>
            </a:extLst>
          </p:cNvPr>
          <p:cNvSpPr>
            <a:spLocks noGrp="1"/>
          </p:cNvSpPr>
          <p:nvPr/>
        </p:nvSpPr>
        <p:spPr>
          <a:xfrm>
            <a:off x="667512" y="176479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Phase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3170B6-5F27-4C0A-8103-AABE975610F3}"/>
              </a:ext>
            </a:extLst>
          </p:cNvPr>
          <p:cNvSpPr>
            <a:spLocks noGrp="1"/>
          </p:cNvSpPr>
          <p:nvPr/>
        </p:nvSpPr>
        <p:spPr>
          <a:xfrm>
            <a:off x="3447288" y="1691640"/>
            <a:ext cx="4059935" cy="6781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474AA2-CC5C-4831-A728-17A703311F53}"/>
              </a:ext>
            </a:extLst>
          </p:cNvPr>
          <p:cNvSpPr>
            <a:spLocks noGrp="1"/>
          </p:cNvSpPr>
          <p:nvPr/>
        </p:nvSpPr>
        <p:spPr>
          <a:xfrm>
            <a:off x="3520440" y="176479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Goal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6EF320-5BD6-4E93-BE04-B66DC0DBE514}"/>
              </a:ext>
            </a:extLst>
          </p:cNvPr>
          <p:cNvSpPr>
            <a:spLocks noGrp="1"/>
          </p:cNvSpPr>
          <p:nvPr/>
        </p:nvSpPr>
        <p:spPr>
          <a:xfrm>
            <a:off x="7507224" y="1691640"/>
            <a:ext cx="4059935" cy="6781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5EAA19-880D-4305-B631-18BEDD802D77}"/>
              </a:ext>
            </a:extLst>
          </p:cNvPr>
          <p:cNvSpPr>
            <a:spLocks noGrp="1"/>
          </p:cNvSpPr>
          <p:nvPr/>
        </p:nvSpPr>
        <p:spPr>
          <a:xfrm>
            <a:off x="7580376" y="176479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D077EF-7B73-4A48-BF93-BE2FF98AD55C}"/>
              </a:ext>
            </a:extLst>
          </p:cNvPr>
          <p:cNvSpPr>
            <a:spLocks noGrp="1"/>
          </p:cNvSpPr>
          <p:nvPr/>
        </p:nvSpPr>
        <p:spPr>
          <a:xfrm>
            <a:off x="594360" y="236982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30F56B-65E8-4B4D-AE87-7B800F1570AE}"/>
              </a:ext>
            </a:extLst>
          </p:cNvPr>
          <p:cNvSpPr>
            <a:spLocks noGrp="1"/>
          </p:cNvSpPr>
          <p:nvPr/>
        </p:nvSpPr>
        <p:spPr>
          <a:xfrm>
            <a:off x="667512" y="244297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1. Stabilize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A7A60E-3308-46B9-8ED0-A94A1248497E}"/>
              </a:ext>
            </a:extLst>
          </p:cNvPr>
          <p:cNvSpPr>
            <a:spLocks noGrp="1"/>
          </p:cNvSpPr>
          <p:nvPr/>
        </p:nvSpPr>
        <p:spPr>
          <a:xfrm>
            <a:off x="3447288" y="236982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E2E768-B155-4108-A917-81CEC8DEFE13}"/>
              </a:ext>
            </a:extLst>
          </p:cNvPr>
          <p:cNvSpPr>
            <a:spLocks noGrp="1"/>
          </p:cNvSpPr>
          <p:nvPr/>
        </p:nvSpPr>
        <p:spPr>
          <a:xfrm>
            <a:off x="3520440" y="244297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Persist registrations and runs; improve error reporting.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5302B5-AEFF-4AC3-A299-F08E8F36F866}"/>
              </a:ext>
            </a:extLst>
          </p:cNvPr>
          <p:cNvSpPr>
            <a:spLocks noGrp="1"/>
          </p:cNvSpPr>
          <p:nvPr/>
        </p:nvSpPr>
        <p:spPr>
          <a:xfrm>
            <a:off x="7507224" y="236982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7A7815-5F24-4450-95EC-DD6BE8725C25}"/>
              </a:ext>
            </a:extLst>
          </p:cNvPr>
          <p:cNvSpPr>
            <a:spLocks noGrp="1"/>
          </p:cNvSpPr>
          <p:nvPr/>
        </p:nvSpPr>
        <p:spPr>
          <a:xfrm>
            <a:off x="7580376" y="244297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Reliable local demo and repeatable tests.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E41A3F-8B3A-42AB-AA96-2BA4DC29AD3B}"/>
              </a:ext>
            </a:extLst>
          </p:cNvPr>
          <p:cNvSpPr>
            <a:spLocks noGrp="1"/>
          </p:cNvSpPr>
          <p:nvPr/>
        </p:nvSpPr>
        <p:spPr>
          <a:xfrm>
            <a:off x="594360" y="304800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4F5F03-3944-44F7-B5E4-9E1086F02AB1}"/>
              </a:ext>
            </a:extLst>
          </p:cNvPr>
          <p:cNvSpPr>
            <a:spLocks noGrp="1"/>
          </p:cNvSpPr>
          <p:nvPr/>
        </p:nvSpPr>
        <p:spPr>
          <a:xfrm>
            <a:off x="667512" y="312115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2. Deploy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AA2085-00F1-42F1-853E-7AC03F183B23}"/>
              </a:ext>
            </a:extLst>
          </p:cNvPr>
          <p:cNvSpPr>
            <a:spLocks noGrp="1"/>
          </p:cNvSpPr>
          <p:nvPr/>
        </p:nvSpPr>
        <p:spPr>
          <a:xfrm>
            <a:off x="3447288" y="304800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66ED5F-A66B-4934-ABC4-E83734BE467F}"/>
              </a:ext>
            </a:extLst>
          </p:cNvPr>
          <p:cNvSpPr>
            <a:spLocks noGrp="1"/>
          </p:cNvSpPr>
          <p:nvPr/>
        </p:nvSpPr>
        <p:spPr>
          <a:xfrm>
            <a:off x="3520440" y="312115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Move workloads from Compose to Kubernetes.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EC5B3F9-6E5F-47E9-85B6-FB13ED306D04}"/>
              </a:ext>
            </a:extLst>
          </p:cNvPr>
          <p:cNvSpPr>
            <a:spLocks noGrp="1"/>
          </p:cNvSpPr>
          <p:nvPr/>
        </p:nvSpPr>
        <p:spPr>
          <a:xfrm>
            <a:off x="7507224" y="304800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212C95-D024-49DF-A483-9058E582E581}"/>
              </a:ext>
            </a:extLst>
          </p:cNvPr>
          <p:cNvSpPr>
            <a:spLocks noGrp="1"/>
          </p:cNvSpPr>
          <p:nvPr/>
        </p:nvSpPr>
        <p:spPr>
          <a:xfrm>
            <a:off x="7580376" y="312115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Core-service manifests applied to a real cluster.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6FE044-3348-4E4C-85FC-0F05D67F7015}"/>
              </a:ext>
            </a:extLst>
          </p:cNvPr>
          <p:cNvSpPr>
            <a:spLocks noGrp="1"/>
          </p:cNvSpPr>
          <p:nvPr/>
        </p:nvSpPr>
        <p:spPr>
          <a:xfrm>
            <a:off x="594360" y="372618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C3BAFB-5BF5-4B01-8498-D3546837CBE9}"/>
              </a:ext>
            </a:extLst>
          </p:cNvPr>
          <p:cNvSpPr>
            <a:spLocks noGrp="1"/>
          </p:cNvSpPr>
          <p:nvPr/>
        </p:nvSpPr>
        <p:spPr>
          <a:xfrm>
            <a:off x="667512" y="379933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3. Integrate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D6D3CF-7424-4D18-9890-24D763128CDA}"/>
              </a:ext>
            </a:extLst>
          </p:cNvPr>
          <p:cNvSpPr>
            <a:spLocks noGrp="1"/>
          </p:cNvSpPr>
          <p:nvPr/>
        </p:nvSpPr>
        <p:spPr>
          <a:xfrm>
            <a:off x="3447288" y="372618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7CA9F4-FF5F-4C24-A036-12A0C3216696}"/>
              </a:ext>
            </a:extLst>
          </p:cNvPr>
          <p:cNvSpPr>
            <a:spLocks noGrp="1"/>
          </p:cNvSpPr>
          <p:nvPr/>
        </p:nvSpPr>
        <p:spPr>
          <a:xfrm>
            <a:off x="3520440" y="379933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Connect GCP/AWS/Supabase data and auth services.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E31BD2-C02C-48F0-A0FE-5BBBB95B0C51}"/>
              </a:ext>
            </a:extLst>
          </p:cNvPr>
          <p:cNvSpPr>
            <a:spLocks noGrp="1"/>
          </p:cNvSpPr>
          <p:nvPr/>
        </p:nvSpPr>
        <p:spPr>
          <a:xfrm>
            <a:off x="7507224" y="372618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121A96-7DBE-4B73-92D8-36238161F7A4}"/>
              </a:ext>
            </a:extLst>
          </p:cNvPr>
          <p:cNvSpPr>
            <a:spLocks noGrp="1"/>
          </p:cNvSpPr>
          <p:nvPr/>
        </p:nvSpPr>
        <p:spPr>
          <a:xfrm>
            <a:off x="7580376" y="379933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Reusable adapters and secret handling.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FC2832-250A-4D49-8EBF-4722A2F7531D}"/>
              </a:ext>
            </a:extLst>
          </p:cNvPr>
          <p:cNvSpPr>
            <a:spLocks noGrp="1"/>
          </p:cNvSpPr>
          <p:nvPr/>
        </p:nvSpPr>
        <p:spPr>
          <a:xfrm>
            <a:off x="594360" y="440436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E1A0B1-652A-4252-85BC-BD3E5B3D5858}"/>
              </a:ext>
            </a:extLst>
          </p:cNvPr>
          <p:cNvSpPr>
            <a:spLocks noGrp="1"/>
          </p:cNvSpPr>
          <p:nvPr/>
        </p:nvSpPr>
        <p:spPr>
          <a:xfrm>
            <a:off x="667512" y="447751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4. Govern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4D9192-44C0-4A4A-AFE8-E45CE995A1D6}"/>
              </a:ext>
            </a:extLst>
          </p:cNvPr>
          <p:cNvSpPr>
            <a:spLocks noGrp="1"/>
          </p:cNvSpPr>
          <p:nvPr/>
        </p:nvSpPr>
        <p:spPr>
          <a:xfrm>
            <a:off x="3447288" y="440436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0C880F6-2B6F-4633-8D56-D150FD6C1945}"/>
              </a:ext>
            </a:extLst>
          </p:cNvPr>
          <p:cNvSpPr>
            <a:spLocks noGrp="1"/>
          </p:cNvSpPr>
          <p:nvPr/>
        </p:nvSpPr>
        <p:spPr>
          <a:xfrm>
            <a:off x="3520440" y="447751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Add GRAILS-style policy checks and audit logs.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40F8CA7-3636-4591-A377-3CB024DBE12B}"/>
              </a:ext>
            </a:extLst>
          </p:cNvPr>
          <p:cNvSpPr>
            <a:spLocks noGrp="1"/>
          </p:cNvSpPr>
          <p:nvPr/>
        </p:nvSpPr>
        <p:spPr>
          <a:xfrm>
            <a:off x="7507224" y="440436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8A6AC6-8C69-48F4-9C9E-8763D385948D}"/>
              </a:ext>
            </a:extLst>
          </p:cNvPr>
          <p:cNvSpPr>
            <a:spLocks noGrp="1"/>
          </p:cNvSpPr>
          <p:nvPr/>
        </p:nvSpPr>
        <p:spPr>
          <a:xfrm>
            <a:off x="7580376" y="447751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Ethical firewall for data, models, and outputs.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7DBE89-C515-4B02-83EF-50CDFCD86217}"/>
              </a:ext>
            </a:extLst>
          </p:cNvPr>
          <p:cNvSpPr>
            <a:spLocks noGrp="1"/>
          </p:cNvSpPr>
          <p:nvPr/>
        </p:nvSpPr>
        <p:spPr>
          <a:xfrm>
            <a:off x="594360" y="5082540"/>
            <a:ext cx="2852928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D674F3-FB7C-44A9-A53F-62A858865527}"/>
              </a:ext>
            </a:extLst>
          </p:cNvPr>
          <p:cNvSpPr>
            <a:spLocks noGrp="1"/>
          </p:cNvSpPr>
          <p:nvPr/>
        </p:nvSpPr>
        <p:spPr>
          <a:xfrm>
            <a:off x="667512" y="5155692"/>
            <a:ext cx="2706624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5. Scale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DED86A-8DF5-4D99-B9D6-C41B6D36E250}"/>
              </a:ext>
            </a:extLst>
          </p:cNvPr>
          <p:cNvSpPr>
            <a:spLocks noGrp="1"/>
          </p:cNvSpPr>
          <p:nvPr/>
        </p:nvSpPr>
        <p:spPr>
          <a:xfrm>
            <a:off x="3447288" y="508254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4DD496-AB69-4A09-920B-2DFCCCC582F8}"/>
              </a:ext>
            </a:extLst>
          </p:cNvPr>
          <p:cNvSpPr>
            <a:spLocks noGrp="1"/>
          </p:cNvSpPr>
          <p:nvPr/>
        </p:nvSpPr>
        <p:spPr>
          <a:xfrm>
            <a:off x="3520440" y="515569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Broker-backed messaging and distributed agent execution.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B578E8A-A664-4A81-A466-F2903CA08D64}"/>
              </a:ext>
            </a:extLst>
          </p:cNvPr>
          <p:cNvSpPr>
            <a:spLocks noGrp="1"/>
          </p:cNvSpPr>
          <p:nvPr/>
        </p:nvSpPr>
        <p:spPr>
          <a:xfrm>
            <a:off x="7507224" y="5082540"/>
            <a:ext cx="4059935" cy="6781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2767822-8C6A-4AA1-9B75-C58DF72BBE26}"/>
              </a:ext>
            </a:extLst>
          </p:cNvPr>
          <p:cNvSpPr>
            <a:spLocks noGrp="1"/>
          </p:cNvSpPr>
          <p:nvPr/>
        </p:nvSpPr>
        <p:spPr>
          <a:xfrm>
            <a:off x="7580376" y="5155692"/>
            <a:ext cx="3913631" cy="56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Production-ready multi-source computation.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1D0300A-8102-422A-B87C-10ACE4D3BDF4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Future work: move from demo stack to production platform</a:t>
            </a:r>
          </a:p>
        </p:txBody>
      </p:sp>
    </p:spTree>
    <p:extLst>
      <p:ext uri="{BB962C8B-B14F-4D97-AF65-F5344CB8AC3E}">
        <p14:creationId xmlns:p14="http://schemas.microsoft.com/office/powerpoint/2010/main" val="17056520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BB9CCDB-CDB6-46D2-AAB1-924DC0F3ED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15"/>
          </a:solidFill>
          <a:ln w="9525">
            <a:solidFill>
              <a:srgbClr val="11181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BB2566-7613-48BE-B8F4-6418A62A4686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F9FC07-4330-4143-B79D-8612B56C5543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Dagents gives consumer backends reusable agent orchestration plus deterministic planning.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CA9760-6385-4CDB-B187-EBB7C065B31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C6D2C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CB"/>
                </a:solidFill>
                <a:latin typeface="Aptos"/>
                <a:ea typeface="Aptos"/>
                <a:cs typeface="Aptos"/>
              </a:rPr>
              <a:t>The project story is simple: compute locally, combine globally, plan with typed functional modules, and deploy through services.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B072AB-1C19-4895-B0A7-4060EE04F0E8}"/>
              </a:ext>
            </a:extLst>
          </p:cNvPr>
          <p:cNvSpPr>
            <a:spLocks noGrp="1"/>
          </p:cNvSpPr>
          <p:nvPr/>
        </p:nvSpPr>
        <p:spPr>
          <a:xfrm>
            <a:off x="1238250" y="269557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0D9345-3D90-4ADB-8B0E-AC4618397D62}"/>
              </a:ext>
            </a:extLst>
          </p:cNvPr>
          <p:cNvSpPr>
            <a:spLocks noGrp="1"/>
          </p:cNvSpPr>
          <p:nvPr/>
        </p:nvSpPr>
        <p:spPr>
          <a:xfrm>
            <a:off x="1504950" y="26289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CMA / LMA per source keeps local computation close to the data.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E22953-DC38-4E78-9226-CFA14AEE5151}"/>
              </a:ext>
            </a:extLst>
          </p:cNvPr>
          <p:cNvSpPr>
            <a:spLocks noGrp="1"/>
          </p:cNvSpPr>
          <p:nvPr/>
        </p:nvSpPr>
        <p:spPr>
          <a:xfrm>
            <a:off x="1238250" y="3190875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01BC90-F2F2-4805-BA8E-271EFB531396}"/>
              </a:ext>
            </a:extLst>
          </p:cNvPr>
          <p:cNvSpPr>
            <a:spLocks noGrp="1"/>
          </p:cNvSpPr>
          <p:nvPr/>
        </p:nvSpPr>
        <p:spPr>
          <a:xfrm>
            <a:off x="1504950" y="31242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GMA combines many local outputs into multi-source computation.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C595F4-C3FC-4AC3-9C61-8E944966915E}"/>
              </a:ext>
            </a:extLst>
          </p:cNvPr>
          <p:cNvSpPr>
            <a:spLocks noGrp="1"/>
          </p:cNvSpPr>
          <p:nvPr/>
        </p:nvSpPr>
        <p:spPr>
          <a:xfrm>
            <a:off x="1238250" y="3686175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788CBF-F21E-4EBF-9914-76AC84C9ADCD}"/>
              </a:ext>
            </a:extLst>
          </p:cNvPr>
          <p:cNvSpPr>
            <a:spLocks noGrp="1"/>
          </p:cNvSpPr>
          <p:nvPr/>
        </p:nvSpPr>
        <p:spPr>
          <a:xfrm>
            <a:off x="1504950" y="36195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Framework services expose catalog, pipeline, model, agent, and workload APIs.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1B8C96-263A-43AE-AA7B-D08F672A8504}"/>
              </a:ext>
            </a:extLst>
          </p:cNvPr>
          <p:cNvSpPr>
            <a:spLocks noGrp="1"/>
          </p:cNvSpPr>
          <p:nvPr/>
        </p:nvSpPr>
        <p:spPr>
          <a:xfrm>
            <a:off x="1238250" y="4181475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9351B7-7389-422E-BC6A-7BB16FE694F4}"/>
              </a:ext>
            </a:extLst>
          </p:cNvPr>
          <p:cNvSpPr>
            <a:spLocks noGrp="1"/>
          </p:cNvSpPr>
          <p:nvPr/>
        </p:nvSpPr>
        <p:spPr>
          <a:xfrm>
            <a:off x="1504950" y="41148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OCaml planners make validation and planning predictable.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051E74-2CCC-4F86-A1EB-E60028ACCA68}"/>
              </a:ext>
            </a:extLst>
          </p:cNvPr>
          <p:cNvSpPr>
            <a:spLocks noGrp="1"/>
          </p:cNvSpPr>
          <p:nvPr/>
        </p:nvSpPr>
        <p:spPr>
          <a:xfrm>
            <a:off x="1238250" y="4676775"/>
            <a:ext cx="114300" cy="114300"/>
          </a:xfrm>
          <a:prstGeom prst="rect">
            <a:avLst/>
          </a:prstGeom>
          <a:solidFill>
            <a:srgbClr val="65549A"/>
          </a:solidFill>
          <a:ln w="9525">
            <a:solidFill>
              <a:srgbClr val="65549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346266-EA9B-4C5E-A665-4242A6261EA6}"/>
              </a:ext>
            </a:extLst>
          </p:cNvPr>
          <p:cNvSpPr>
            <a:spLocks noGrp="1"/>
          </p:cNvSpPr>
          <p:nvPr/>
        </p:nvSpPr>
        <p:spPr>
          <a:xfrm>
            <a:off x="1504950" y="4610100"/>
            <a:ext cx="7924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NL2SQL proves a real app can plug into the framework without becoming the framework.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813CCE-EE3F-4E16-87AA-303D37C09902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94A3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9A"/>
                </a:solidFill>
                <a:latin typeface="Aptos"/>
                <a:ea typeface="Aptos"/>
                <a:cs typeface="Aptos"/>
              </a:rPr>
              <a:t>Dagents / 16</a:t>
            </a:r>
          </a:p>
        </p:txBody>
      </p:sp>
    </p:spTree>
    <p:extLst>
      <p:ext uri="{BB962C8B-B14F-4D97-AF65-F5344CB8AC3E}">
        <p14:creationId xmlns:p14="http://schemas.microsoft.com/office/powerpoint/2010/main" val="24842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96439-98A2-4D1C-8706-4DE501384847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36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5D972-3762-4977-A67E-26481A65BEFE}"/>
              </a:ext>
            </a:extLst>
          </p:cNvPr>
          <p:cNvSpPr>
            <a:spLocks noGrp="1"/>
          </p:cNvSpPr>
          <p:nvPr/>
        </p:nvSpPr>
        <p:spPr>
          <a:xfrm>
            <a:off x="713232" y="278892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NL2SQL demo and TypeScript UI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9739A8-4A05-4ED2-A2A8-D27B836C7B89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Architecture, integration flow, frontend layer, and demo runbook</a:t>
            </a:r>
          </a:p>
        </p:txBody>
      </p:sp>
    </p:spTree>
    <p:extLst>
      <p:ext uri="{BB962C8B-B14F-4D97-AF65-F5344CB8AC3E}">
        <p14:creationId xmlns:p14="http://schemas.microsoft.com/office/powerpoint/2010/main" val="7587369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98B48FC-9270-4076-9A92-5F325507F4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D29095-B911-4C0F-9706-953925DACA1B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NL2SQL INTEGRATION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7563A6-3EEA-4EA1-93BF-427934C4E52E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The demo app plugs into Dagents through a thin backend orchestration layer.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EEC8F3-CC9A-4702-9695-E73DE7355E6A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The app still owns the UI and SQL generation. Dagents owns traceable planning, validation, service checks, and workload compilation.</a:t>
            </a:r>
          </a:p>
        </p:txBody>
      </p:sp>
      <p:pic>
        <p:nvPicPr>
          <p:cNvPr id="13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66800" y="2144596"/>
            <a:ext cx="10001250" cy="39023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4E16F4-365B-4351-B147-372A06CF9F1D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08</a:t>
            </a:r>
          </a:p>
        </p:txBody>
      </p:sp>
    </p:spTree>
    <p:extLst>
      <p:ext uri="{BB962C8B-B14F-4D97-AF65-F5344CB8AC3E}">
        <p14:creationId xmlns:p14="http://schemas.microsoft.com/office/powerpoint/2010/main" val="4218894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E6CB4F0-11B9-4E9B-AAD6-6D4BC08A8A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0B9B43-F962-4E4B-954E-89158AF7DEFF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 WIRING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6A04E3-2917-45F5-8308-00D749BF1C96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NL2SQL calls Dagents while handling a normal /generate request.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B6A905-DEE8-4F5B-AAFA-BED707E19BBF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The trace returned to the UI is built from actual planner and service calls.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2414BE-AB6C-4973-836D-0EEC728EA381}"/>
              </a:ext>
            </a:extLst>
          </p:cNvPr>
          <p:cNvSpPr>
            <a:spLocks noGrp="1"/>
          </p:cNvSpPr>
          <p:nvPr/>
        </p:nvSpPr>
        <p:spPr>
          <a:xfrm>
            <a:off x="723900" y="2400300"/>
            <a:ext cx="6096000" cy="2952750"/>
          </a:xfrm>
          <a:prstGeom prst="roundRect">
            <a:avLst>
              <a:gd name="adj" fmla="val 1935"/>
            </a:avLst>
          </a:prstGeom>
          <a:solidFill>
            <a:srgbClr val="14211D"/>
          </a:solidFill>
          <a:ln w="9525">
            <a:solidFill>
              <a:srgbClr val="32443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5C7550-5B80-4EAE-AAC1-5DA884A6752C}"/>
              </a:ext>
            </a:extLst>
          </p:cNvPr>
          <p:cNvSpPr>
            <a:spLocks noGrp="1"/>
          </p:cNvSpPr>
          <p:nvPr/>
        </p:nvSpPr>
        <p:spPr>
          <a:xfrm>
            <a:off x="895350" y="2533650"/>
            <a:ext cx="57531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9EB5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EB5A6"/>
                </a:solidFill>
                <a:latin typeface="Aptos"/>
                <a:ea typeface="Aptos"/>
                <a:cs typeface="Aptos"/>
              </a:rPr>
              <a:t>services/nl2sql-demo/backend/app/services/dagents_orchestrator.py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90AC8F-5363-49BD-9277-09CE7DE41F39}"/>
              </a:ext>
            </a:extLst>
          </p:cNvPr>
          <p:cNvSpPr>
            <a:spLocks noGrp="1"/>
          </p:cNvSpPr>
          <p:nvPr/>
        </p:nvSpPr>
        <p:spPr>
          <a:xfrm>
            <a:off x="895350" y="2800350"/>
            <a:ext cx="5753100" cy="243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self._append_trace(trace, "Dagents SourceSpec validation",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    lambda: validate_dataset_source(inline_source))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self._append_trace(trace, "Dagents extraction planning",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    lambda: compile_dataset_extraction(inline_source))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self._append_trace(trace, "Dagents pipeline DAG planning",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    lambda: self._pipeline_plan_payload())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self._append_trace(trace, "core-service workload compile",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    lambda: self._compile_demo_workload())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87A338-84E3-442F-8D0F-84EADC5B266E}"/>
              </a:ext>
            </a:extLst>
          </p:cNvPr>
          <p:cNvSpPr>
            <a:spLocks noGrp="1"/>
          </p:cNvSpPr>
          <p:nvPr/>
        </p:nvSpPr>
        <p:spPr>
          <a:xfrm>
            <a:off x="7334250" y="26384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9A0C13-0867-4234-9514-476EAA8346B5}"/>
              </a:ext>
            </a:extLst>
          </p:cNvPr>
          <p:cNvSpPr>
            <a:spLocks noGrp="1"/>
          </p:cNvSpPr>
          <p:nvPr/>
        </p:nvSpPr>
        <p:spPr>
          <a:xfrm>
            <a:off x="7600950" y="2571750"/>
            <a:ext cx="34004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schema is converted into records for validation and profiling.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7F6531-D112-4DF9-A8C4-654356490148}"/>
              </a:ext>
            </a:extLst>
          </p:cNvPr>
          <p:cNvSpPr>
            <a:spLocks noGrp="1"/>
          </p:cNvSpPr>
          <p:nvPr/>
        </p:nvSpPr>
        <p:spPr>
          <a:xfrm>
            <a:off x="7334250" y="3152775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DB52C6-D780-48D3-811C-03DEDD4C3C81}"/>
              </a:ext>
            </a:extLst>
          </p:cNvPr>
          <p:cNvSpPr>
            <a:spLocks noGrp="1"/>
          </p:cNvSpPr>
          <p:nvPr/>
        </p:nvSpPr>
        <p:spPr>
          <a:xfrm>
            <a:off x="7600950" y="3086100"/>
            <a:ext cx="34004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dagentsc plans the schema and pipeline parts through JSON.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DD37D0-7258-4C08-B12F-D23D4E2D65F9}"/>
              </a:ext>
            </a:extLst>
          </p:cNvPr>
          <p:cNvSpPr>
            <a:spLocks noGrp="1"/>
          </p:cNvSpPr>
          <p:nvPr/>
        </p:nvSpPr>
        <p:spPr>
          <a:xfrm>
            <a:off x="7334250" y="3667125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212C6D-AA98-45B2-9B92-9AE712067DE9}"/>
              </a:ext>
            </a:extLst>
          </p:cNvPr>
          <p:cNvSpPr>
            <a:spLocks noGrp="1"/>
          </p:cNvSpPr>
          <p:nvPr/>
        </p:nvSpPr>
        <p:spPr>
          <a:xfrm>
            <a:off x="7600950" y="3600450"/>
            <a:ext cx="34004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Core, pipeline, model, LMA, and GMA services are touched in the trace.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E9661B-3B66-407F-8C44-532C5AF0C19D}"/>
              </a:ext>
            </a:extLst>
          </p:cNvPr>
          <p:cNvSpPr>
            <a:spLocks noGrp="1"/>
          </p:cNvSpPr>
          <p:nvPr/>
        </p:nvSpPr>
        <p:spPr>
          <a:xfrm>
            <a:off x="7334250" y="4181475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04FB9A-2574-4D56-88A5-78048FF4B3C9}"/>
              </a:ext>
            </a:extLst>
          </p:cNvPr>
          <p:cNvSpPr>
            <a:spLocks noGrp="1"/>
          </p:cNvSpPr>
          <p:nvPr/>
        </p:nvSpPr>
        <p:spPr>
          <a:xfrm>
            <a:off x="7600950" y="4114800"/>
            <a:ext cx="34004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SQL model adapter remains app-specific.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4FC366-77FA-4D7F-A96C-FD7325F91FAC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09</a:t>
            </a:r>
          </a:p>
        </p:txBody>
      </p:sp>
    </p:spTree>
    <p:extLst>
      <p:ext uri="{BB962C8B-B14F-4D97-AF65-F5344CB8AC3E}">
        <p14:creationId xmlns:p14="http://schemas.microsoft.com/office/powerpoint/2010/main" val="9956683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8CC9D4-11BD-42AF-95E4-A2AC407D5A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F7F9B8-3006-423E-AB42-7FC5DAD8E025}"/>
              </a:ext>
            </a:extLst>
          </p:cNvPr>
          <p:cNvSpPr>
            <a:spLocks noGrp="1"/>
          </p:cNvSpPr>
          <p:nvPr/>
        </p:nvSpPr>
        <p:spPr>
          <a:xfrm>
            <a:off x="502920" y="29260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MODEL ADAPTERS + APIS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03B38-E80A-4CB6-BF41-49184B32FB53}"/>
              </a:ext>
            </a:extLst>
          </p:cNvPr>
          <p:cNvSpPr>
            <a:spLocks noGrp="1"/>
          </p:cNvSpPr>
          <p:nvPr/>
        </p:nvSpPr>
        <p:spPr>
          <a:xfrm>
            <a:off x="502920" y="566928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23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NL2SQL uses app adapters plus Dagents service calls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D297AB-455D-48FE-AF19-E65BB4086E62}"/>
              </a:ext>
            </a:extLst>
          </p:cNvPr>
          <p:cNvSpPr>
            <a:spLocks noGrp="1"/>
          </p:cNvSpPr>
          <p:nvPr/>
        </p:nvSpPr>
        <p:spPr>
          <a:xfrm>
            <a:off x="521207" y="1024128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app owns SQL generation; Dagents owns traceable planning, validation, and orchestration.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37E00-BC54-4710-A3BA-39E1BF4E67DB}"/>
              </a:ext>
            </a:extLst>
          </p:cNvPr>
          <p:cNvSpPr>
            <a:spLocks noGrp="1"/>
          </p:cNvSpPr>
          <p:nvPr/>
        </p:nvSpPr>
        <p:spPr>
          <a:xfrm>
            <a:off x="10561320" y="6345936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/ 08A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3DF633-17C7-4064-9827-38FEE682291D}"/>
              </a:ext>
            </a:extLst>
          </p:cNvPr>
          <p:cNvSpPr>
            <a:spLocks noGrp="1"/>
          </p:cNvSpPr>
          <p:nvPr/>
        </p:nvSpPr>
        <p:spPr>
          <a:xfrm>
            <a:off x="594360" y="1417320"/>
            <a:ext cx="2148840" cy="1024128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AD68B5-6726-46C5-A8DD-6BE4FBB7CD99}"/>
              </a:ext>
            </a:extLst>
          </p:cNvPr>
          <p:cNvSpPr>
            <a:spLocks noGrp="1"/>
          </p:cNvSpPr>
          <p:nvPr/>
        </p:nvSpPr>
        <p:spPr>
          <a:xfrm>
            <a:off x="758952" y="1545336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/api/v1/models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61A9B5-922E-4453-83DB-B4345995B05B}"/>
              </a:ext>
            </a:extLst>
          </p:cNvPr>
          <p:cNvSpPr>
            <a:spLocks noGrp="1"/>
          </p:cNvSpPr>
          <p:nvPr/>
        </p:nvSpPr>
        <p:spPr>
          <a:xfrm>
            <a:off x="758952" y="1856232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list adapters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4B8DEBE0-AFBF-45A9-BEE0-735607BFDAA0}"/>
              </a:ext>
            </a:extLst>
          </p:cNvPr>
          <p:cNvSpPr>
            <a:spLocks noGrp="1"/>
          </p:cNvSpPr>
          <p:nvPr/>
        </p:nvSpPr>
        <p:spPr>
          <a:xfrm>
            <a:off x="2770632" y="1920240"/>
            <a:ext cx="548640" cy="0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1A13C16-57EC-40B0-8CD7-ABAD4A35D966}"/>
              </a:ext>
            </a:extLst>
          </p:cNvPr>
          <p:cNvSpPr>
            <a:spLocks noGrp="1"/>
          </p:cNvSpPr>
          <p:nvPr/>
        </p:nvSpPr>
        <p:spPr>
          <a:xfrm>
            <a:off x="3429000" y="1417320"/>
            <a:ext cx="2148840" cy="1024128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42C220-124C-446E-9099-8223E457B225}"/>
              </a:ext>
            </a:extLst>
          </p:cNvPr>
          <p:cNvSpPr>
            <a:spLocks noGrp="1"/>
          </p:cNvSpPr>
          <p:nvPr/>
        </p:nvSpPr>
        <p:spPr>
          <a:xfrm>
            <a:off x="3593592" y="1545336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/api/v1/generate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3F8EBB-7DFA-43F5-8C74-52A99B7AD2B4}"/>
              </a:ext>
            </a:extLst>
          </p:cNvPr>
          <p:cNvSpPr>
            <a:spLocks noGrp="1"/>
          </p:cNvSpPr>
          <p:nvPr/>
        </p:nvSpPr>
        <p:spPr>
          <a:xfrm>
            <a:off x="3593592" y="1856232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schema + question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C900B50C-CF3C-493C-B27C-2A82DCC3ED32}"/>
              </a:ext>
            </a:extLst>
          </p:cNvPr>
          <p:cNvSpPr>
            <a:spLocks noGrp="1"/>
          </p:cNvSpPr>
          <p:nvPr/>
        </p:nvSpPr>
        <p:spPr>
          <a:xfrm>
            <a:off x="5605272" y="1920240"/>
            <a:ext cx="640080" cy="0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0AC0F25-3B75-4CB0-8820-43274AD1B7B2}"/>
              </a:ext>
            </a:extLst>
          </p:cNvPr>
          <p:cNvSpPr>
            <a:spLocks noGrp="1"/>
          </p:cNvSpPr>
          <p:nvPr/>
        </p:nvSpPr>
        <p:spPr>
          <a:xfrm>
            <a:off x="6355080" y="1417320"/>
            <a:ext cx="2148840" cy="1024128"/>
          </a:xfrm>
          <a:prstGeom prst="roundRect">
            <a:avLst/>
          </a:prstGeom>
          <a:solidFill>
            <a:srgbClr val="F3DCD3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4491AA-7932-4665-9ED1-63A9E6A542D6}"/>
              </a:ext>
            </a:extLst>
          </p:cNvPr>
          <p:cNvSpPr>
            <a:spLocks noGrp="1"/>
          </p:cNvSpPr>
          <p:nvPr/>
        </p:nvSpPr>
        <p:spPr>
          <a:xfrm>
            <a:off x="6519672" y="1545336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adapter selected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5CD609-8D94-459D-B983-BDCF9F846DD0}"/>
              </a:ext>
            </a:extLst>
          </p:cNvPr>
          <p:cNvSpPr>
            <a:spLocks noGrp="1"/>
          </p:cNvSpPr>
          <p:nvPr/>
        </p:nvSpPr>
        <p:spPr>
          <a:xfrm>
            <a:off x="6519672" y="1856232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CodeT5 / CodeQwen / fallback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0DEE2DE5-E78E-43ED-B64E-20F5C893909F}"/>
              </a:ext>
            </a:extLst>
          </p:cNvPr>
          <p:cNvSpPr>
            <a:spLocks noGrp="1"/>
          </p:cNvSpPr>
          <p:nvPr/>
        </p:nvSpPr>
        <p:spPr>
          <a:xfrm>
            <a:off x="8531352" y="1920240"/>
            <a:ext cx="548640" cy="0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22410E5-01D1-409F-AB44-8CA67E5C2692}"/>
              </a:ext>
            </a:extLst>
          </p:cNvPr>
          <p:cNvSpPr>
            <a:spLocks noGrp="1"/>
          </p:cNvSpPr>
          <p:nvPr/>
        </p:nvSpPr>
        <p:spPr>
          <a:xfrm>
            <a:off x="9189720" y="1417320"/>
            <a:ext cx="2148840" cy="1024128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8F4F40-D5B4-425C-A13D-38A6CE393992}"/>
              </a:ext>
            </a:extLst>
          </p:cNvPr>
          <p:cNvSpPr>
            <a:spLocks noGrp="1"/>
          </p:cNvSpPr>
          <p:nvPr/>
        </p:nvSpPr>
        <p:spPr>
          <a:xfrm>
            <a:off x="9354312" y="1545336"/>
            <a:ext cx="181965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SQL + trace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2D68C3-2425-4683-BB3B-73C4520C1FB6}"/>
              </a:ext>
            </a:extLst>
          </p:cNvPr>
          <p:cNvSpPr>
            <a:spLocks noGrp="1"/>
          </p:cNvSpPr>
          <p:nvPr/>
        </p:nvSpPr>
        <p:spPr>
          <a:xfrm>
            <a:off x="9354312" y="1856232"/>
            <a:ext cx="182880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prompt, DDL, fallback detail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87C15C-C298-4718-B218-A3ACBBE7B5BB}"/>
              </a:ext>
            </a:extLst>
          </p:cNvPr>
          <p:cNvSpPr>
            <a:spLocks noGrp="1"/>
          </p:cNvSpPr>
          <p:nvPr/>
        </p:nvSpPr>
        <p:spPr>
          <a:xfrm>
            <a:off x="658368" y="2788920"/>
            <a:ext cx="20574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Adapter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B62498-2C65-4AB0-886E-B277E66C3908}"/>
              </a:ext>
            </a:extLst>
          </p:cNvPr>
          <p:cNvSpPr>
            <a:spLocks noGrp="1"/>
          </p:cNvSpPr>
          <p:nvPr/>
        </p:nvSpPr>
        <p:spPr>
          <a:xfrm>
            <a:off x="2971800" y="278892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What it loads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971FB5-4EF7-4B3B-AA7C-75FD71E26F36}"/>
              </a:ext>
            </a:extLst>
          </p:cNvPr>
          <p:cNvSpPr>
            <a:spLocks noGrp="1"/>
          </p:cNvSpPr>
          <p:nvPr/>
        </p:nvSpPr>
        <p:spPr>
          <a:xfrm>
            <a:off x="6446520" y="2788920"/>
            <a:ext cx="45262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0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Demo behavior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83CF578-654E-4583-85BD-ED41B0CEBDE7}"/>
              </a:ext>
            </a:extLst>
          </p:cNvPr>
          <p:cNvSpPr>
            <a:spLocks noGrp="1"/>
          </p:cNvSpPr>
          <p:nvPr/>
        </p:nvSpPr>
        <p:spPr>
          <a:xfrm>
            <a:off x="566928" y="3063240"/>
            <a:ext cx="1083564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98FAD5-FCC1-4B9A-B8AF-C2C4CDF92A13}"/>
              </a:ext>
            </a:extLst>
          </p:cNvPr>
          <p:cNvSpPr>
            <a:spLocks noGrp="1"/>
          </p:cNvSpPr>
          <p:nvPr/>
        </p:nvSpPr>
        <p:spPr>
          <a:xfrm>
            <a:off x="658368" y="3127248"/>
            <a:ext cx="20574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50">
                <a:solidFill>
                  <a:srgbClr val="15201B"/>
                </a:solidFill>
                <a:latin typeface="Aptos"/>
                <a:ea typeface="Aptos"/>
                <a:cs typeface="Aptos"/>
              </a:rPr>
              <a:t>CodeT5 seq2seq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D63E04-35A3-4568-B3B3-83EC42A3158A}"/>
              </a:ext>
            </a:extLst>
          </p:cNvPr>
          <p:cNvSpPr>
            <a:spLocks noGrp="1"/>
          </p:cNvSpPr>
          <p:nvPr/>
        </p:nvSpPr>
        <p:spPr>
          <a:xfrm>
            <a:off x="2971800" y="3127248"/>
            <a:ext cx="31546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50">
                <a:solidFill>
                  <a:srgbClr val="53635B"/>
                </a:solidFill>
                <a:latin typeface="Aptos"/>
                <a:ea typeface="Aptos"/>
                <a:cs typeface="Aptos"/>
              </a:rPr>
              <a:t>Zip artifact with config and weights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0E156A-1F8C-443A-B289-707DF7F54BB9}"/>
              </a:ext>
            </a:extLst>
          </p:cNvPr>
          <p:cNvSpPr>
            <a:spLocks noGrp="1"/>
          </p:cNvSpPr>
          <p:nvPr/>
        </p:nvSpPr>
        <p:spPr>
          <a:xfrm>
            <a:off x="6446520" y="3127248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50">
                <a:solidFill>
                  <a:srgbClr val="53635B"/>
                </a:solidFill>
                <a:latin typeface="Aptos"/>
                <a:ea typeface="Aptos"/>
                <a:cs typeface="Aptos"/>
              </a:rPr>
              <a:t>Uses question/context DDL prompt for compact text-to-SQL inference.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6157752-27E9-4F11-B2C3-EF84B07D17B3}"/>
              </a:ext>
            </a:extLst>
          </p:cNvPr>
          <p:cNvSpPr>
            <a:spLocks noGrp="1"/>
          </p:cNvSpPr>
          <p:nvPr/>
        </p:nvSpPr>
        <p:spPr>
          <a:xfrm>
            <a:off x="566928" y="3849624"/>
            <a:ext cx="10835640" cy="694944"/>
          </a:xfrm>
          <a:prstGeom prst="roundRect">
            <a:avLst/>
          </a:prstGeom>
          <a:solidFill>
            <a:srgbClr val="FAF7F1"/>
          </a:solidFill>
          <a:ln w="1016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51A80A-0720-4EED-AF09-8869F3147396}"/>
              </a:ext>
            </a:extLst>
          </p:cNvPr>
          <p:cNvSpPr>
            <a:spLocks noGrp="1"/>
          </p:cNvSpPr>
          <p:nvPr/>
        </p:nvSpPr>
        <p:spPr>
          <a:xfrm>
            <a:off x="658368" y="3913632"/>
            <a:ext cx="20574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50">
                <a:solidFill>
                  <a:srgbClr val="15201B"/>
                </a:solidFill>
                <a:latin typeface="Aptos"/>
                <a:ea typeface="Aptos"/>
                <a:cs typeface="Aptos"/>
              </a:rPr>
              <a:t>CodeQwen LoRA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668CC0-55CA-4585-95A3-47329C5B56DB}"/>
              </a:ext>
            </a:extLst>
          </p:cNvPr>
          <p:cNvSpPr>
            <a:spLocks noGrp="1"/>
          </p:cNvSpPr>
          <p:nvPr/>
        </p:nvSpPr>
        <p:spPr>
          <a:xfrm>
            <a:off x="2971800" y="3913632"/>
            <a:ext cx="31546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50">
                <a:solidFill>
                  <a:srgbClr val="53635B"/>
                </a:solidFill>
                <a:latin typeface="Aptos"/>
                <a:ea typeface="Aptos"/>
                <a:cs typeface="Aptos"/>
              </a:rPr>
              <a:t>PEFT adapter over CodeQwen chat model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468BFA-9254-4A69-8212-5F012C0C0A34}"/>
              </a:ext>
            </a:extLst>
          </p:cNvPr>
          <p:cNvSpPr>
            <a:spLocks noGrp="1"/>
          </p:cNvSpPr>
          <p:nvPr/>
        </p:nvSpPr>
        <p:spPr>
          <a:xfrm>
            <a:off x="6446520" y="3913632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50">
                <a:solidFill>
                  <a:srgbClr val="53635B"/>
                </a:solidFill>
                <a:latin typeface="Aptos"/>
                <a:ea typeface="Aptos"/>
                <a:cs typeface="Aptos"/>
              </a:rPr>
              <a:t>Uses system + user chat prompt; needs heavier runtime resources.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B7F6F1C-BB15-4D7A-BC33-89DBD363CB77}"/>
              </a:ext>
            </a:extLst>
          </p:cNvPr>
          <p:cNvSpPr>
            <a:spLocks noGrp="1"/>
          </p:cNvSpPr>
          <p:nvPr/>
        </p:nvSpPr>
        <p:spPr>
          <a:xfrm>
            <a:off x="566928" y="4636008"/>
            <a:ext cx="10835640" cy="69494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392911-7DC1-4138-94AB-DFB3A285FAE2}"/>
              </a:ext>
            </a:extLst>
          </p:cNvPr>
          <p:cNvSpPr>
            <a:spLocks noGrp="1"/>
          </p:cNvSpPr>
          <p:nvPr/>
        </p:nvSpPr>
        <p:spPr>
          <a:xfrm>
            <a:off x="658368" y="4700016"/>
            <a:ext cx="20574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50">
                <a:solidFill>
                  <a:srgbClr val="15201B"/>
                </a:solidFill>
                <a:latin typeface="Aptos"/>
                <a:ea typeface="Aptos"/>
                <a:cs typeface="Aptos"/>
              </a:rPr>
              <a:t>heuristic_demo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C016A0-E37E-4426-88A6-96D4C26F56CA}"/>
              </a:ext>
            </a:extLst>
          </p:cNvPr>
          <p:cNvSpPr>
            <a:spLocks noGrp="1"/>
          </p:cNvSpPr>
          <p:nvPr/>
        </p:nvSpPr>
        <p:spPr>
          <a:xfrm>
            <a:off x="2971800" y="4700016"/>
            <a:ext cx="31546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50">
                <a:solidFill>
                  <a:srgbClr val="53635B"/>
                </a:solidFill>
                <a:latin typeface="Aptos"/>
                <a:ea typeface="Aptos"/>
                <a:cs typeface="Aptos"/>
              </a:rPr>
              <a:t>No model artifact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3A0E62-6B7E-4A72-A3A5-42B5553856B4}"/>
              </a:ext>
            </a:extLst>
          </p:cNvPr>
          <p:cNvSpPr>
            <a:spLocks noGrp="1"/>
          </p:cNvSpPr>
          <p:nvPr/>
        </p:nvSpPr>
        <p:spPr>
          <a:xfrm>
            <a:off x="6446520" y="4700016"/>
            <a:ext cx="452628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50">
                <a:solidFill>
                  <a:srgbClr val="53635B"/>
                </a:solidFill>
                <a:latin typeface="Aptos"/>
                <a:ea typeface="Aptos"/>
                <a:cs typeface="Aptos"/>
              </a:rPr>
              <a:t>Deterministic fallback; response includes fallback_detail for clarity.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B6B35BA-0F79-45AE-9A14-F9A3C8FE771F}"/>
              </a:ext>
            </a:extLst>
          </p:cNvPr>
          <p:cNvSpPr>
            <a:spLocks noGrp="1"/>
          </p:cNvSpPr>
          <p:nvPr/>
        </p:nvSpPr>
        <p:spPr>
          <a:xfrm>
            <a:off x="594360" y="5532120"/>
            <a:ext cx="107442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46EA92D-DA86-4221-874F-44BBB592CE3B}"/>
              </a:ext>
            </a:extLst>
          </p:cNvPr>
          <p:cNvSpPr>
            <a:spLocks noGrp="1"/>
          </p:cNvSpPr>
          <p:nvPr/>
        </p:nvSpPr>
        <p:spPr>
          <a:xfrm>
            <a:off x="594360" y="5532120"/>
            <a:ext cx="73152" cy="502920"/>
          </a:xfrm>
          <a:prstGeom prst="rect">
            <a:avLst/>
          </a:prstGeom>
          <a:solidFill>
            <a:srgbClr val="2E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8F1E65-87BE-4215-98D8-6A2E7D62CD63}"/>
              </a:ext>
            </a:extLst>
          </p:cNvPr>
          <p:cNvSpPr>
            <a:spLocks noGrp="1"/>
          </p:cNvSpPr>
          <p:nvPr/>
        </p:nvSpPr>
        <p:spPr>
          <a:xfrm>
            <a:off x="758952" y="5660136"/>
            <a:ext cx="1041501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 APIs touched during generation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41C4D8E-9D74-4259-AF7B-36339AFACE21}"/>
              </a:ext>
            </a:extLst>
          </p:cNvPr>
          <p:cNvSpPr>
            <a:spLocks noGrp="1"/>
          </p:cNvSpPr>
          <p:nvPr/>
        </p:nvSpPr>
        <p:spPr>
          <a:xfrm>
            <a:off x="758952" y="5971031"/>
            <a:ext cx="1042416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core /services + /topology + /workloads:compile   |   pipeline /pipelines + /runs   |   LMA/GMA /datasets:profile + /model-jobs   |   GMA registration + heartbeat</a:t>
            </a:r>
          </a:p>
        </p:txBody>
      </p:sp>
    </p:spTree>
    <p:extLst>
      <p:ext uri="{BB962C8B-B14F-4D97-AF65-F5344CB8AC3E}">
        <p14:creationId xmlns:p14="http://schemas.microsoft.com/office/powerpoint/2010/main" val="11869895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C6A233-153A-472F-8B55-A70996B79D9D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NL2SQL APPENDIX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9FA049-D94B-414A-B8B3-965EC706E349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NL2SQL integration: current demo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61152-D18E-4957-9BAC-ABC7EFE219ED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demo exercises the current planning and service path around SQL generation.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E1907CE-DD72-449A-9D8D-5E6CD6532DAE}"/>
              </a:ext>
            </a:extLst>
          </p:cNvPr>
          <p:cNvSpPr>
            <a:spLocks noGrp="1"/>
          </p:cNvSpPr>
          <p:nvPr/>
        </p:nvSpPr>
        <p:spPr>
          <a:xfrm>
            <a:off x="640080" y="1737360"/>
            <a:ext cx="3383280" cy="1417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DF162-75A3-4856-86B8-2E9F5AD95060}"/>
              </a:ext>
            </a:extLst>
          </p:cNvPr>
          <p:cNvSpPr>
            <a:spLocks noGrp="1"/>
          </p:cNvSpPr>
          <p:nvPr/>
        </p:nvSpPr>
        <p:spPr>
          <a:xfrm>
            <a:off x="804671" y="188366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Dagents trace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417251-7162-49FC-A37B-8FF6150E6BF0}"/>
              </a:ext>
            </a:extLst>
          </p:cNvPr>
          <p:cNvSpPr>
            <a:spLocks noGrp="1"/>
          </p:cNvSpPr>
          <p:nvPr/>
        </p:nvSpPr>
        <p:spPr>
          <a:xfrm>
            <a:off x="804671" y="2267712"/>
            <a:ext cx="3063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backend returns planner checks, service calls, LMA/GMA actions, and workload compilation evidence.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ADC817-1411-4F5E-9150-082AB38CBBDA}"/>
              </a:ext>
            </a:extLst>
          </p:cNvPr>
          <p:cNvSpPr>
            <a:spLocks noGrp="1"/>
          </p:cNvSpPr>
          <p:nvPr/>
        </p:nvSpPr>
        <p:spPr>
          <a:xfrm>
            <a:off x="4389120" y="1737360"/>
            <a:ext cx="3383280" cy="1417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3506EE-480D-4703-BE93-BD0AB4F4C041}"/>
              </a:ext>
            </a:extLst>
          </p:cNvPr>
          <p:cNvSpPr>
            <a:spLocks noGrp="1"/>
          </p:cNvSpPr>
          <p:nvPr/>
        </p:nvSpPr>
        <p:spPr>
          <a:xfrm>
            <a:off x="4553712" y="188366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Model adapter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B619F5-2A3E-46A5-86F4-BAA7DB029FBE}"/>
              </a:ext>
            </a:extLst>
          </p:cNvPr>
          <p:cNvSpPr>
            <a:spLocks noGrp="1"/>
          </p:cNvSpPr>
          <p:nvPr/>
        </p:nvSpPr>
        <p:spPr>
          <a:xfrm>
            <a:off x="4553712" y="2267712"/>
            <a:ext cx="3063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CodeT5 model artifacts are discovered from models/*.zip and loaded by the adapter when dependencies are present.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CC73768-E762-40B9-9837-CE1E3C717EC1}"/>
              </a:ext>
            </a:extLst>
          </p:cNvPr>
          <p:cNvSpPr>
            <a:spLocks noGrp="1"/>
          </p:cNvSpPr>
          <p:nvPr/>
        </p:nvSpPr>
        <p:spPr>
          <a:xfrm>
            <a:off x="8138160" y="1737360"/>
            <a:ext cx="3383280" cy="1417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C2F881-4646-4C51-8A99-9F5D019AA6EF}"/>
              </a:ext>
            </a:extLst>
          </p:cNvPr>
          <p:cNvSpPr>
            <a:spLocks noGrp="1"/>
          </p:cNvSpPr>
          <p:nvPr/>
        </p:nvSpPr>
        <p:spPr>
          <a:xfrm>
            <a:off x="8302752" y="188366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Demo scripts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523FD4-8FCC-4AF8-9AAB-041EFD615716}"/>
              </a:ext>
            </a:extLst>
          </p:cNvPr>
          <p:cNvSpPr>
            <a:spLocks noGrp="1"/>
          </p:cNvSpPr>
          <p:nvPr/>
        </p:nvSpPr>
        <p:spPr>
          <a:xfrm>
            <a:off x="8302752" y="2267712"/>
            <a:ext cx="3063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run_compose_demo.sh, probe_api.sh, and stop_compose_demo.sh make the presentation path repeatable.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ED9C9A-2908-4BF2-8954-86E9DE3B1B73}"/>
              </a:ext>
            </a:extLst>
          </p:cNvPr>
          <p:cNvSpPr>
            <a:spLocks noGrp="1"/>
          </p:cNvSpPr>
          <p:nvPr/>
        </p:nvSpPr>
        <p:spPr>
          <a:xfrm>
            <a:off x="868680" y="370332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6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The current probe checks 22 DAgents trace steps.</a:t>
            </a:r>
          </a:p>
          <a:p>
            <a:pPr>
              <a:buNone/>
              <a:defRPr sz="16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The model adapter can use the packaged artifact when dependencies are available.</a:t>
            </a:r>
          </a:p>
          <a:p>
            <a:pPr>
              <a:buNone/>
              <a:defRPr sz="16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The deterministic fallback remains available for low-resource machines.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50B6D7-F052-4230-9D0C-F8B0CCDAA72D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Current demo evidence: docs/demo/expected/nl2sql-generate.json</a:t>
            </a:r>
          </a:p>
        </p:txBody>
      </p:sp>
    </p:spTree>
    <p:extLst>
      <p:ext uri="{BB962C8B-B14F-4D97-AF65-F5344CB8AC3E}">
        <p14:creationId xmlns:p14="http://schemas.microsoft.com/office/powerpoint/2010/main" val="9379670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E9399A-7B66-4D64-8F10-FF881C89C9AC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8DDA25-45FD-417A-BEF3-963A20642B75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What happens during /generate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C22DD-2543-4541-8AB5-B2B5C3E1F1A9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app request becomes a traceable sequence of planner calls, service calls, and model generation.</a:t>
            </a:r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00200"/>
            <a:ext cx="11064240" cy="39776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E48864-8B27-4FD5-8A5C-68BC0F517B8E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PlantUML: docs/presentation/puml/dagents_request_flow.puml</a:t>
            </a:r>
          </a:p>
        </p:txBody>
      </p:sp>
    </p:spTree>
    <p:extLst>
      <p:ext uri="{BB962C8B-B14F-4D97-AF65-F5344CB8AC3E}">
        <p14:creationId xmlns:p14="http://schemas.microsoft.com/office/powerpoint/2010/main" val="3717154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9AF9D45-96E0-4AEF-9343-56C453755A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15"/>
          </a:solidFill>
          <a:ln w="9525">
            <a:solidFill>
              <a:srgbClr val="11181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C1EEFE-ACB5-4C94-912B-00F796A8147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TYPESCRIPT / UI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C3BC69-EE4D-4BE2-890A-092AE334069D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TypeScript / React: the NL2SQL interface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C719FD-4485-47FE-A43C-3CD9AE1BA909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C6D2C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CB"/>
                </a:solidFill>
                <a:latin typeface="Aptos"/>
                <a:ea typeface="Aptos"/>
                <a:cs typeface="Aptos"/>
              </a:rPr>
              <a:t>TypeScript owns the NL2SQL browser experience and keeps user-interface state and API responses typed.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3C4E7-E9CD-4E69-92C0-EECD3896A080}"/>
              </a:ext>
            </a:extLst>
          </p:cNvPr>
          <p:cNvSpPr>
            <a:spLocks noGrp="1"/>
          </p:cNvSpPr>
          <p:nvPr/>
        </p:nvSpPr>
        <p:spPr>
          <a:xfrm>
            <a:off x="952500" y="2638425"/>
            <a:ext cx="114300" cy="114300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3902B9-E4CE-4821-981E-4E47B53ADEA6}"/>
              </a:ext>
            </a:extLst>
          </p:cNvPr>
          <p:cNvSpPr>
            <a:spLocks noGrp="1"/>
          </p:cNvSpPr>
          <p:nvPr/>
        </p:nvSpPr>
        <p:spPr>
          <a:xfrm>
            <a:off x="1219200" y="25717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we chose it: TypeScript catches UI mistakes during builds, React fits interactive forms, and Vite provides a fast build loop.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CF0192-1C67-496C-8489-AB52E986B7F0}"/>
              </a:ext>
            </a:extLst>
          </p:cNvPr>
          <p:cNvSpPr>
            <a:spLocks noGrp="1"/>
          </p:cNvSpPr>
          <p:nvPr/>
        </p:nvSpPr>
        <p:spPr>
          <a:xfrm>
            <a:off x="952500" y="3171825"/>
            <a:ext cx="114300" cy="114300"/>
          </a:xfrm>
          <a:prstGeom prst="rect">
            <a:avLst/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945A9F-8AF4-453E-954A-FCD0A39EE192}"/>
              </a:ext>
            </a:extLst>
          </p:cNvPr>
          <p:cNvSpPr>
            <a:spLocks noGrp="1"/>
          </p:cNvSpPr>
          <p:nvPr/>
        </p:nvSpPr>
        <p:spPr>
          <a:xfrm>
            <a:off x="1219200" y="31051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does: The UI captures the question, schema, and sample data, calls the backend, and displays SQL with the DAgents trace.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9F904-8290-4D6A-96BC-893EEC488B66}"/>
              </a:ext>
            </a:extLst>
          </p:cNvPr>
          <p:cNvSpPr>
            <a:spLocks noGrp="1"/>
          </p:cNvSpPr>
          <p:nvPr/>
        </p:nvSpPr>
        <p:spPr>
          <a:xfrm>
            <a:off x="952500" y="3705225"/>
            <a:ext cx="114300" cy="114300"/>
          </a:xfrm>
          <a:prstGeom prst="rect">
            <a:avLst/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81728D-6165-4585-BF27-8B33FCF7ED21}"/>
              </a:ext>
            </a:extLst>
          </p:cNvPr>
          <p:cNvSpPr>
            <a:spLocks noGrp="1"/>
          </p:cNvSpPr>
          <p:nvPr/>
        </p:nvSpPr>
        <p:spPr>
          <a:xfrm>
            <a:off x="1219200" y="36385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it is used: React stores input and response state, sends a typed request to /api/v1/generate, and renders the returned result.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473A43-257C-44D7-9BC5-2FFE6C647DCC}"/>
              </a:ext>
            </a:extLst>
          </p:cNvPr>
          <p:cNvSpPr>
            <a:spLocks noGrp="1"/>
          </p:cNvSpPr>
          <p:nvPr/>
        </p:nvSpPr>
        <p:spPr>
          <a:xfrm>
            <a:off x="952500" y="4238625"/>
            <a:ext cx="114300" cy="114300"/>
          </a:xfrm>
          <a:prstGeom prst="rect">
            <a:avLst/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6F567E-A363-4F76-A48A-2F859DCD5446}"/>
              </a:ext>
            </a:extLst>
          </p:cNvPr>
          <p:cNvSpPr>
            <a:spLocks noGrp="1"/>
          </p:cNvSpPr>
          <p:nvPr/>
        </p:nvSpPr>
        <p:spPr>
          <a:xfrm>
            <a:off x="1219200" y="4171950"/>
            <a:ext cx="70675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stays outside: The browser does not run agents, planners, models, or database queries. Sensitive work stays in backend services.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43DD60D-D05A-4E1A-99BC-C7AE20FC6A88}"/>
              </a:ext>
            </a:extLst>
          </p:cNvPr>
          <p:cNvSpPr>
            <a:spLocks noGrp="1"/>
          </p:cNvSpPr>
          <p:nvPr/>
        </p:nvSpPr>
        <p:spPr>
          <a:xfrm>
            <a:off x="8858250" y="2552700"/>
            <a:ext cx="2286000" cy="2000250"/>
          </a:xfrm>
          <a:prstGeom prst="roundRect">
            <a:avLst>
              <a:gd name="adj" fmla="val 1905"/>
            </a:avLst>
          </a:prstGeom>
          <a:solidFill>
            <a:srgbClr val="E9E1FA"/>
          </a:solidFill>
          <a:ln w="9525">
            <a:solidFill>
              <a:srgbClr val="AFA4CE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TypeScript's job</a:t>
            </a:r>
          </a:p>
          <a:p>
            <a:endParaRPr sz="1400" b="0">
              <a:solidFill>
                <a:srgbClr val="15201B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input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backend calls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render SQL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show trace</a:t>
            </a:r>
          </a:p>
          <a:p>
            <a:pPr algn="ctr">
              <a:buNone/>
            </a:pPr>
            <a:r>
              <a:t>UI state</a:t>
            </a:r>
            <a:endParaRPr sz="1200" b="0">
              <a:solidFill>
                <a:srgbClr val="15201B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endParaRPr sz="1200" b="0">
              <a:solidFill>
                <a:srgbClr val="15201B"/>
              </a:solidFill>
              <a:latin typeface="Aptos"/>
              <a:ea typeface="Aptos"/>
              <a:cs typeface="Aptos"/>
            </a:endParaRP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React 19</a:t>
            </a:r>
          </a:p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1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Vite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FF7CA3-247B-4DB8-9383-3012CB33590F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94A3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9A"/>
                </a:solidFill>
                <a:latin typeface="Aptos"/>
                <a:ea typeface="Aptos"/>
                <a:cs typeface="Aptos"/>
              </a:rPr>
              <a:t>DAgents / TypeScript layer</a:t>
            </a:r>
          </a:p>
        </p:txBody>
      </p:sp>
    </p:spTree>
    <p:extLst>
      <p:ext uri="{BB962C8B-B14F-4D97-AF65-F5344CB8AC3E}">
        <p14:creationId xmlns:p14="http://schemas.microsoft.com/office/powerpoint/2010/main" val="8402373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4E8989-E57F-4626-85F5-D8BB0621247D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TYPESCRIPT MODULES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5C766-C07D-40C3-8F6C-307209C139EF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frontend makes framework results usable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B5261-56CE-4F96-91CB-9740E59EC576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UI is deliberately small and keeps the backend contract visible.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F1805F-EF62-40CE-BCC7-2EA7A166CF07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2852928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4D3499-D0BC-4ABC-A3C7-D355723F9CAF}"/>
              </a:ext>
            </a:extLst>
          </p:cNvPr>
          <p:cNvSpPr>
            <a:spLocks noGrp="1"/>
          </p:cNvSpPr>
          <p:nvPr/>
        </p:nvSpPr>
        <p:spPr>
          <a:xfrm>
            <a:off x="621792" y="176479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68C4C9-3A06-4D8E-9457-27812CB3FD93}"/>
              </a:ext>
            </a:extLst>
          </p:cNvPr>
          <p:cNvSpPr>
            <a:spLocks noGrp="1"/>
          </p:cNvSpPr>
          <p:nvPr/>
        </p:nvSpPr>
        <p:spPr>
          <a:xfrm>
            <a:off x="3401568" y="1691640"/>
            <a:ext cx="4059935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8EDBD8-A00D-4F14-B5B3-60D7F12E8467}"/>
              </a:ext>
            </a:extLst>
          </p:cNvPr>
          <p:cNvSpPr>
            <a:spLocks noGrp="1"/>
          </p:cNvSpPr>
          <p:nvPr/>
        </p:nvSpPr>
        <p:spPr>
          <a:xfrm>
            <a:off x="3474720" y="17647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What it owns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E3E1CA-6083-4A33-8D95-CA2C3D0D0CAE}"/>
              </a:ext>
            </a:extLst>
          </p:cNvPr>
          <p:cNvSpPr>
            <a:spLocks noGrp="1"/>
          </p:cNvSpPr>
          <p:nvPr/>
        </p:nvSpPr>
        <p:spPr>
          <a:xfrm>
            <a:off x="7461504" y="1691640"/>
            <a:ext cx="4059935" cy="70866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9FA0D1-4AF6-4EE6-BCBF-ED4B4BA258E3}"/>
              </a:ext>
            </a:extLst>
          </p:cNvPr>
          <p:cNvSpPr>
            <a:spLocks noGrp="1"/>
          </p:cNvSpPr>
          <p:nvPr/>
        </p:nvSpPr>
        <p:spPr>
          <a:xfrm>
            <a:off x="7534656" y="17647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44D66-81C0-4F26-A06F-E69907D2A2C4}"/>
              </a:ext>
            </a:extLst>
          </p:cNvPr>
          <p:cNvSpPr>
            <a:spLocks noGrp="1"/>
          </p:cNvSpPr>
          <p:nvPr/>
        </p:nvSpPr>
        <p:spPr>
          <a:xfrm>
            <a:off x="548640" y="240030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E5DD4A-EB51-4AD5-A0CA-86FC255DDF91}"/>
              </a:ext>
            </a:extLst>
          </p:cNvPr>
          <p:cNvSpPr>
            <a:spLocks noGrp="1"/>
          </p:cNvSpPr>
          <p:nvPr/>
        </p:nvSpPr>
        <p:spPr>
          <a:xfrm>
            <a:off x="621792" y="247345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App.tsx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848C07-0190-44A9-94C2-153602F25B14}"/>
              </a:ext>
            </a:extLst>
          </p:cNvPr>
          <p:cNvSpPr>
            <a:spLocks noGrp="1"/>
          </p:cNvSpPr>
          <p:nvPr/>
        </p:nvSpPr>
        <p:spPr>
          <a:xfrm>
            <a:off x="3401568" y="240030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5CCE3-CCB8-45CB-9D13-41B0F49DB43B}"/>
              </a:ext>
            </a:extLst>
          </p:cNvPr>
          <p:cNvSpPr>
            <a:spLocks noGrp="1"/>
          </p:cNvSpPr>
          <p:nvPr/>
        </p:nvSpPr>
        <p:spPr>
          <a:xfrm>
            <a:off x="3474720" y="247345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Prompt, schema, sample, response state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DD7280-F293-4742-A23C-F4BA857B98C4}"/>
              </a:ext>
            </a:extLst>
          </p:cNvPr>
          <p:cNvSpPr>
            <a:spLocks noGrp="1"/>
          </p:cNvSpPr>
          <p:nvPr/>
        </p:nvSpPr>
        <p:spPr>
          <a:xfrm>
            <a:off x="7461504" y="240030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7D715B-A37D-41DE-8799-5723E13FBB3B}"/>
              </a:ext>
            </a:extLst>
          </p:cNvPr>
          <p:cNvSpPr>
            <a:spLocks noGrp="1"/>
          </p:cNvSpPr>
          <p:nvPr/>
        </p:nvSpPr>
        <p:spPr>
          <a:xfrm>
            <a:off x="7534656" y="247345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Main demo experience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6B42DB-0925-4B13-9BDF-D84C345503F4}"/>
              </a:ext>
            </a:extLst>
          </p:cNvPr>
          <p:cNvSpPr>
            <a:spLocks noGrp="1"/>
          </p:cNvSpPr>
          <p:nvPr/>
        </p:nvSpPr>
        <p:spPr>
          <a:xfrm>
            <a:off x="548640" y="310896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76EFD7-E340-4FB2-BC76-B94625762EF7}"/>
              </a:ext>
            </a:extLst>
          </p:cNvPr>
          <p:cNvSpPr>
            <a:spLocks noGrp="1"/>
          </p:cNvSpPr>
          <p:nvPr/>
        </p:nvSpPr>
        <p:spPr>
          <a:xfrm>
            <a:off x="621792" y="318211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main.tsx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769EAF-01DB-4FB3-A301-3E373765833F}"/>
              </a:ext>
            </a:extLst>
          </p:cNvPr>
          <p:cNvSpPr>
            <a:spLocks noGrp="1"/>
          </p:cNvSpPr>
          <p:nvPr/>
        </p:nvSpPr>
        <p:spPr>
          <a:xfrm>
            <a:off x="3401568" y="310896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E32270-6044-458E-9EA3-F00CDCD3710F}"/>
              </a:ext>
            </a:extLst>
          </p:cNvPr>
          <p:cNvSpPr>
            <a:spLocks noGrp="1"/>
          </p:cNvSpPr>
          <p:nvPr/>
        </p:nvSpPr>
        <p:spPr>
          <a:xfrm>
            <a:off x="3474720" y="318211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React application bootstrap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7CC1B5-E443-4F95-95D5-DB135876C29E}"/>
              </a:ext>
            </a:extLst>
          </p:cNvPr>
          <p:cNvSpPr>
            <a:spLocks noGrp="1"/>
          </p:cNvSpPr>
          <p:nvPr/>
        </p:nvSpPr>
        <p:spPr>
          <a:xfrm>
            <a:off x="7461504" y="310896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98D1C9-37AF-4BEA-91FB-A63BEF14D797}"/>
              </a:ext>
            </a:extLst>
          </p:cNvPr>
          <p:cNvSpPr>
            <a:spLocks noGrp="1"/>
          </p:cNvSpPr>
          <p:nvPr/>
        </p:nvSpPr>
        <p:spPr>
          <a:xfrm>
            <a:off x="7534656" y="318211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Small composition root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5F381D-1153-47FA-A0BB-109C5DD96653}"/>
              </a:ext>
            </a:extLst>
          </p:cNvPr>
          <p:cNvSpPr>
            <a:spLocks noGrp="1"/>
          </p:cNvSpPr>
          <p:nvPr/>
        </p:nvSpPr>
        <p:spPr>
          <a:xfrm>
            <a:off x="548640" y="381762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AF97B7-0EC7-492E-8216-12B43368AEDD}"/>
              </a:ext>
            </a:extLst>
          </p:cNvPr>
          <p:cNvSpPr>
            <a:spLocks noGrp="1"/>
          </p:cNvSpPr>
          <p:nvPr/>
        </p:nvSpPr>
        <p:spPr>
          <a:xfrm>
            <a:off x="621792" y="389077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API request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E449BD-0545-4D14-92B0-C0C03BBAFF33}"/>
              </a:ext>
            </a:extLst>
          </p:cNvPr>
          <p:cNvSpPr>
            <a:spLocks noGrp="1"/>
          </p:cNvSpPr>
          <p:nvPr/>
        </p:nvSpPr>
        <p:spPr>
          <a:xfrm>
            <a:off x="3401568" y="381762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8A814C-2F17-404B-A854-B3C72CE13365}"/>
              </a:ext>
            </a:extLst>
          </p:cNvPr>
          <p:cNvSpPr>
            <a:spLocks noGrp="1"/>
          </p:cNvSpPr>
          <p:nvPr/>
        </p:nvSpPr>
        <p:spPr>
          <a:xfrm>
            <a:off x="3474720" y="389077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POST /api/v1/generate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1C8B34-EAA6-4DE3-B12F-AA600A1B12A1}"/>
              </a:ext>
            </a:extLst>
          </p:cNvPr>
          <p:cNvSpPr>
            <a:spLocks noGrp="1"/>
          </p:cNvSpPr>
          <p:nvPr/>
        </p:nvSpPr>
        <p:spPr>
          <a:xfrm>
            <a:off x="7461504" y="381762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CB038B-9458-4F3C-B60D-C76CC950198B}"/>
              </a:ext>
            </a:extLst>
          </p:cNvPr>
          <p:cNvSpPr>
            <a:spLocks noGrp="1"/>
          </p:cNvSpPr>
          <p:nvPr/>
        </p:nvSpPr>
        <p:spPr>
          <a:xfrm>
            <a:off x="7534656" y="389077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Explicit UI and backend contract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BFFB0F-F26A-4B25-BDDE-4A02E13B10D4}"/>
              </a:ext>
            </a:extLst>
          </p:cNvPr>
          <p:cNvSpPr>
            <a:spLocks noGrp="1"/>
          </p:cNvSpPr>
          <p:nvPr/>
        </p:nvSpPr>
        <p:spPr>
          <a:xfrm>
            <a:off x="548640" y="452628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F68200-F02A-4EF6-8662-A4CB7975F2EB}"/>
              </a:ext>
            </a:extLst>
          </p:cNvPr>
          <p:cNvSpPr>
            <a:spLocks noGrp="1"/>
          </p:cNvSpPr>
          <p:nvPr/>
        </p:nvSpPr>
        <p:spPr>
          <a:xfrm>
            <a:off x="621792" y="459943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Trace view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2033B15-3D32-4139-9093-C3EC0D52C72B}"/>
              </a:ext>
            </a:extLst>
          </p:cNvPr>
          <p:cNvSpPr>
            <a:spLocks noGrp="1"/>
          </p:cNvSpPr>
          <p:nvPr/>
        </p:nvSpPr>
        <p:spPr>
          <a:xfrm>
            <a:off x="3401568" y="452628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B4A3BF-0609-4D48-BB1C-CAAF8C3117CD}"/>
              </a:ext>
            </a:extLst>
          </p:cNvPr>
          <p:cNvSpPr>
            <a:spLocks noGrp="1"/>
          </p:cNvSpPr>
          <p:nvPr/>
        </p:nvSpPr>
        <p:spPr>
          <a:xfrm>
            <a:off x="3474720" y="459943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Planner steps, calls, fallback details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367BC6-3FF2-4B63-8123-85C14F4AE04D}"/>
              </a:ext>
            </a:extLst>
          </p:cNvPr>
          <p:cNvSpPr>
            <a:spLocks noGrp="1"/>
          </p:cNvSpPr>
          <p:nvPr/>
        </p:nvSpPr>
        <p:spPr>
          <a:xfrm>
            <a:off x="7461504" y="452628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117802-2B97-47AE-A1C3-A536E4CCB58D}"/>
              </a:ext>
            </a:extLst>
          </p:cNvPr>
          <p:cNvSpPr>
            <a:spLocks noGrp="1"/>
          </p:cNvSpPr>
          <p:nvPr/>
        </p:nvSpPr>
        <p:spPr>
          <a:xfrm>
            <a:off x="7534656" y="459943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Makes DAgents explainable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6EFD778-B6C6-47AA-84F1-9B01BBEC5F74}"/>
              </a:ext>
            </a:extLst>
          </p:cNvPr>
          <p:cNvSpPr>
            <a:spLocks noGrp="1"/>
          </p:cNvSpPr>
          <p:nvPr/>
        </p:nvSpPr>
        <p:spPr>
          <a:xfrm>
            <a:off x="548640" y="5234940"/>
            <a:ext cx="2852928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1FE5C2-7C69-4B76-AFAD-6C3053287881}"/>
              </a:ext>
            </a:extLst>
          </p:cNvPr>
          <p:cNvSpPr>
            <a:spLocks noGrp="1"/>
          </p:cNvSpPr>
          <p:nvPr/>
        </p:nvSpPr>
        <p:spPr>
          <a:xfrm>
            <a:off x="621792" y="5308092"/>
            <a:ext cx="2706624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Vite + Docker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7A16C5C-A3F7-4D95-919C-C36CB3FC5A8D}"/>
              </a:ext>
            </a:extLst>
          </p:cNvPr>
          <p:cNvSpPr>
            <a:spLocks noGrp="1"/>
          </p:cNvSpPr>
          <p:nvPr/>
        </p:nvSpPr>
        <p:spPr>
          <a:xfrm>
            <a:off x="3401568" y="523494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9917C-CB0F-42EF-A94E-9F39FAF1E497}"/>
              </a:ext>
            </a:extLst>
          </p:cNvPr>
          <p:cNvSpPr>
            <a:spLocks noGrp="1"/>
          </p:cNvSpPr>
          <p:nvPr/>
        </p:nvSpPr>
        <p:spPr>
          <a:xfrm>
            <a:off x="3474720" y="53080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Dev server and production build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1E8843-AA41-4085-AB1E-55C106CB7396}"/>
              </a:ext>
            </a:extLst>
          </p:cNvPr>
          <p:cNvSpPr>
            <a:spLocks noGrp="1"/>
          </p:cNvSpPr>
          <p:nvPr/>
        </p:nvSpPr>
        <p:spPr>
          <a:xfrm>
            <a:off x="7461504" y="5234940"/>
            <a:ext cx="4059935" cy="70866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852803-0465-4E91-BB33-E4EA6A463B73}"/>
              </a:ext>
            </a:extLst>
          </p:cNvPr>
          <p:cNvSpPr>
            <a:spLocks noGrp="1"/>
          </p:cNvSpPr>
          <p:nvPr/>
        </p:nvSpPr>
        <p:spPr>
          <a:xfrm>
            <a:off x="7534656" y="5308092"/>
            <a:ext cx="3913631" cy="598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Repeatable local demo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5CA374-23DB-499D-BD95-A09CAB022F85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/ TypeScript modules</a:t>
            </a:r>
          </a:p>
        </p:txBody>
      </p:sp>
    </p:spTree>
    <p:extLst>
      <p:ext uri="{BB962C8B-B14F-4D97-AF65-F5344CB8AC3E}">
        <p14:creationId xmlns:p14="http://schemas.microsoft.com/office/powerpoint/2010/main" val="2019090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7D1158-DC0C-4870-9A1F-691F8C825EE8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89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TYPESCRIPT USER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56273-0838-4E98-9C35-87AA81425751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NL2SQL keeps the demo path short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DD751-E4A4-4D59-8F78-D01EFE7D22D5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One screen shows the user input, generated SQL, and the framework trace.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36FB3-EF4F-4471-8C0C-A6391FFA5999}"/>
              </a:ext>
            </a:extLst>
          </p:cNvPr>
          <p:cNvSpPr>
            <a:spLocks noGrp="1"/>
          </p:cNvSpPr>
          <p:nvPr/>
        </p:nvSpPr>
        <p:spPr>
          <a:xfrm>
            <a:off x="685800" y="1874519"/>
            <a:ext cx="2423160" cy="2560320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54123-D6D6-43E5-8E10-D9956C94BDCE}"/>
              </a:ext>
            </a:extLst>
          </p:cNvPr>
          <p:cNvSpPr>
            <a:spLocks noGrp="1"/>
          </p:cNvSpPr>
          <p:nvPr/>
        </p:nvSpPr>
        <p:spPr>
          <a:xfrm>
            <a:off x="85039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EDIT INPUT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5C917-0DA9-4A9D-81A2-91E6CAEF835A}"/>
              </a:ext>
            </a:extLst>
          </p:cNvPr>
          <p:cNvSpPr>
            <a:spLocks noGrp="1"/>
          </p:cNvSpPr>
          <p:nvPr/>
        </p:nvSpPr>
        <p:spPr>
          <a:xfrm>
            <a:off x="85039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user enters a question, schema, and optional sample.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583F2-18F8-47B5-B953-1BE32838718A}"/>
              </a:ext>
            </a:extLst>
          </p:cNvPr>
          <p:cNvSpPr>
            <a:spLocks noGrp="1"/>
          </p:cNvSpPr>
          <p:nvPr/>
        </p:nvSpPr>
        <p:spPr>
          <a:xfrm>
            <a:off x="315468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B06795-DCE9-4C8D-B015-25CADBD41A99}"/>
              </a:ext>
            </a:extLst>
          </p:cNvPr>
          <p:cNvSpPr>
            <a:spLocks noGrp="1"/>
          </p:cNvSpPr>
          <p:nvPr/>
        </p:nvSpPr>
        <p:spPr>
          <a:xfrm>
            <a:off x="3474720" y="1874519"/>
            <a:ext cx="2423160" cy="2560320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360983-67AA-4183-B04A-ACC05DF791ED}"/>
              </a:ext>
            </a:extLst>
          </p:cNvPr>
          <p:cNvSpPr>
            <a:spLocks noGrp="1"/>
          </p:cNvSpPr>
          <p:nvPr/>
        </p:nvSpPr>
        <p:spPr>
          <a:xfrm>
            <a:off x="3639312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SUBMIT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D09C7A-CE49-4C0C-BAB7-7F16C2331F9C}"/>
              </a:ext>
            </a:extLst>
          </p:cNvPr>
          <p:cNvSpPr>
            <a:spLocks noGrp="1"/>
          </p:cNvSpPr>
          <p:nvPr/>
        </p:nvSpPr>
        <p:spPr>
          <a:xfrm>
            <a:off x="3639312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browser posts a generate request to the backend.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FFCDD-207D-447E-AD8D-0C3AEB782266}"/>
              </a:ext>
            </a:extLst>
          </p:cNvPr>
          <p:cNvSpPr>
            <a:spLocks noGrp="1"/>
          </p:cNvSpPr>
          <p:nvPr/>
        </p:nvSpPr>
        <p:spPr>
          <a:xfrm>
            <a:off x="594360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F266D72-A8AA-4D4D-B477-7E6D7F171E6D}"/>
              </a:ext>
            </a:extLst>
          </p:cNvPr>
          <p:cNvSpPr>
            <a:spLocks noGrp="1"/>
          </p:cNvSpPr>
          <p:nvPr/>
        </p:nvSpPr>
        <p:spPr>
          <a:xfrm>
            <a:off x="6263640" y="1874519"/>
            <a:ext cx="2423160" cy="2560320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4BA714-596E-48B7-B7FB-8173266FCE0E}"/>
              </a:ext>
            </a:extLst>
          </p:cNvPr>
          <p:cNvSpPr>
            <a:spLocks noGrp="1"/>
          </p:cNvSpPr>
          <p:nvPr/>
        </p:nvSpPr>
        <p:spPr>
          <a:xfrm>
            <a:off x="642823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RECEIVE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1A9390-FE67-4674-85D7-F68E58244653}"/>
              </a:ext>
            </a:extLst>
          </p:cNvPr>
          <p:cNvSpPr>
            <a:spLocks noGrp="1"/>
          </p:cNvSpPr>
          <p:nvPr/>
        </p:nvSpPr>
        <p:spPr>
          <a:xfrm>
            <a:off x="642823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API returns SQL, trace steps, and model status.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7B0A54-6410-4C3C-9E18-B02B32C485DB}"/>
              </a:ext>
            </a:extLst>
          </p:cNvPr>
          <p:cNvSpPr>
            <a:spLocks noGrp="1"/>
          </p:cNvSpPr>
          <p:nvPr/>
        </p:nvSpPr>
        <p:spPr>
          <a:xfrm>
            <a:off x="873252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8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07F04C6-72CF-4D13-82CA-222128D1F2CF}"/>
              </a:ext>
            </a:extLst>
          </p:cNvPr>
          <p:cNvSpPr>
            <a:spLocks noGrp="1"/>
          </p:cNvSpPr>
          <p:nvPr/>
        </p:nvSpPr>
        <p:spPr>
          <a:xfrm>
            <a:off x="9052559" y="1874519"/>
            <a:ext cx="2423160" cy="2560320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E6E707-0227-4865-8B3F-1C65728A0F1A}"/>
              </a:ext>
            </a:extLst>
          </p:cNvPr>
          <p:cNvSpPr>
            <a:spLocks noGrp="1"/>
          </p:cNvSpPr>
          <p:nvPr/>
        </p:nvSpPr>
        <p:spPr>
          <a:xfrm>
            <a:off x="9217151" y="20208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5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RENDER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8E6459-BE37-4D1A-BC1C-440076936B49}"/>
              </a:ext>
            </a:extLst>
          </p:cNvPr>
          <p:cNvSpPr>
            <a:spLocks noGrp="1"/>
          </p:cNvSpPr>
          <p:nvPr/>
        </p:nvSpPr>
        <p:spPr>
          <a:xfrm>
            <a:off x="9217151" y="2404872"/>
            <a:ext cx="2103120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React displays the SQL and explains how DAgents produced it.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002B24-9FFE-495E-9B87-E5DD1FE8718C}"/>
              </a:ext>
            </a:extLst>
          </p:cNvPr>
          <p:cNvSpPr>
            <a:spLocks noGrp="1"/>
          </p:cNvSpPr>
          <p:nvPr/>
        </p:nvSpPr>
        <p:spPr>
          <a:xfrm>
            <a:off x="914400" y="48006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  <a:defRPr sz="150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t>The frontend demonstrates framework use without duplicating backend intelligence.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564141-C074-4DC7-BBE3-D0FC1209659F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TypeScript flow</a:t>
            </a:r>
          </a:p>
        </p:txBody>
      </p:sp>
    </p:spTree>
    <p:extLst>
      <p:ext uri="{BB962C8B-B14F-4D97-AF65-F5344CB8AC3E}">
        <p14:creationId xmlns:p14="http://schemas.microsoft.com/office/powerpoint/2010/main" val="15303839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4F4BEC-8591-4FDA-B68B-712868AE2F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45F1AD-0231-4989-B7DA-FC71E83C67D4}"/>
              </a:ext>
            </a:extLst>
          </p:cNvPr>
          <p:cNvSpPr>
            <a:spLocks noGrp="1"/>
          </p:cNvSpPr>
          <p:nvPr/>
        </p:nvSpPr>
        <p:spPr>
          <a:xfrm>
            <a:off x="502920" y="29260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9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TYPESCRIPT BUILD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C313A-C75B-4C16-AA9A-A629382812A2}"/>
              </a:ext>
            </a:extLst>
          </p:cNvPr>
          <p:cNvSpPr>
            <a:spLocks noGrp="1"/>
          </p:cNvSpPr>
          <p:nvPr/>
        </p:nvSpPr>
        <p:spPr>
          <a:xfrm>
            <a:off x="502920" y="566928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23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TypeScript builds catch UI errors early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E0EDEA-843F-4DDD-A6AB-202D9CC65941}"/>
              </a:ext>
            </a:extLst>
          </p:cNvPr>
          <p:cNvSpPr>
            <a:spLocks noGrp="1"/>
          </p:cNvSpPr>
          <p:nvPr/>
        </p:nvSpPr>
        <p:spPr>
          <a:xfrm>
            <a:off x="521207" y="1024128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frontend is checked through TypeScript compilation, Vite bundling, and browser smoke tests.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10F601-C62F-4A9B-8651-F70F0C3155D9}"/>
              </a:ext>
            </a:extLst>
          </p:cNvPr>
          <p:cNvSpPr>
            <a:spLocks noGrp="1"/>
          </p:cNvSpPr>
          <p:nvPr/>
        </p:nvSpPr>
        <p:spPr>
          <a:xfrm>
            <a:off x="10561320" y="6345936"/>
            <a:ext cx="1051560" cy="243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DAgents / TypeScript verification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BB1536C-936D-4086-B81A-373F409C3BBE}"/>
              </a:ext>
            </a:extLst>
          </p:cNvPr>
          <p:cNvSpPr>
            <a:spLocks noGrp="1"/>
          </p:cNvSpPr>
          <p:nvPr/>
        </p:nvSpPr>
        <p:spPr>
          <a:xfrm>
            <a:off x="594360" y="1508760"/>
            <a:ext cx="3246120" cy="713232"/>
          </a:xfrm>
          <a:prstGeom prst="roundRect">
            <a:avLst/>
          </a:prstGeom>
          <a:solidFill>
            <a:srgbClr val="DCE7F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465CA-951A-4170-90BC-E8A8083AB6B9}"/>
              </a:ext>
            </a:extLst>
          </p:cNvPr>
          <p:cNvSpPr>
            <a:spLocks noGrp="1"/>
          </p:cNvSpPr>
          <p:nvPr/>
        </p:nvSpPr>
        <p:spPr>
          <a:xfrm>
            <a:off x="758952" y="1636776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1. Install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2E6BC8-1EBF-41E7-B200-7686D49E2A72}"/>
              </a:ext>
            </a:extLst>
          </p:cNvPr>
          <p:cNvSpPr>
            <a:spLocks noGrp="1"/>
          </p:cNvSpPr>
          <p:nvPr/>
        </p:nvSpPr>
        <p:spPr>
          <a:xfrm>
            <a:off x="758952" y="1947672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npm ci</a:t>
            </a:r>
          </a:p>
        </p:txBody>
      </p:sp>
      <p:sp>
        <p:nvSpPr>
          <p:cNvPr id="10" name="Connector 9">
            <a:extLst>
              <a:ext uri="{FF2B5EF4-FFF2-40B4-BE49-F238E27FC236}">
                <a16:creationId xmlns:a16="http://schemas.microsoft.com/office/drawing/2014/main" id="{43B39921-3B73-418F-BB2C-5D01BE50E3C0}"/>
              </a:ext>
            </a:extLst>
          </p:cNvPr>
          <p:cNvSpPr>
            <a:spLocks noGrp="1"/>
          </p:cNvSpPr>
          <p:nvPr/>
        </p:nvSpPr>
        <p:spPr>
          <a:xfrm>
            <a:off x="2221992" y="2258568"/>
            <a:ext cx="0" cy="210312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76F7EB2-1C5C-4C98-BFCB-A991742DC2D4}"/>
              </a:ext>
            </a:extLst>
          </p:cNvPr>
          <p:cNvSpPr>
            <a:spLocks noGrp="1"/>
          </p:cNvSpPr>
          <p:nvPr/>
        </p:nvSpPr>
        <p:spPr>
          <a:xfrm>
            <a:off x="594360" y="2478024"/>
            <a:ext cx="3246120" cy="713232"/>
          </a:xfrm>
          <a:prstGeom prst="roundRect">
            <a:avLst/>
          </a:prstGeom>
          <a:solidFill>
            <a:srgbClr val="E9E1FA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77D726-5277-4805-9789-186D2213920A}"/>
              </a:ext>
            </a:extLst>
          </p:cNvPr>
          <p:cNvSpPr>
            <a:spLocks noGrp="1"/>
          </p:cNvSpPr>
          <p:nvPr/>
        </p:nvSpPr>
        <p:spPr>
          <a:xfrm>
            <a:off x="758952" y="2606040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2. Type-check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BCAF8B-CC90-44C7-BA16-5E3BC4133BC2}"/>
              </a:ext>
            </a:extLst>
          </p:cNvPr>
          <p:cNvSpPr>
            <a:spLocks noGrp="1"/>
          </p:cNvSpPr>
          <p:nvPr/>
        </p:nvSpPr>
        <p:spPr>
          <a:xfrm>
            <a:off x="758952" y="2916936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tsc -b</a:t>
            </a:r>
          </a:p>
        </p:txBody>
      </p:sp>
      <p:sp>
        <p:nvSpPr>
          <p:cNvPr id="14" name="Connector 13">
            <a:extLst>
              <a:ext uri="{FF2B5EF4-FFF2-40B4-BE49-F238E27FC236}">
                <a16:creationId xmlns:a16="http://schemas.microsoft.com/office/drawing/2014/main" id="{0C1E1C3C-7E0A-4EBF-AA48-D617D8CE1106}"/>
              </a:ext>
            </a:extLst>
          </p:cNvPr>
          <p:cNvSpPr>
            <a:spLocks noGrp="1"/>
          </p:cNvSpPr>
          <p:nvPr/>
        </p:nvSpPr>
        <p:spPr>
          <a:xfrm>
            <a:off x="2221992" y="3227832"/>
            <a:ext cx="0" cy="210312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2692106-F0CC-4D06-BE3C-B1464DED83C9}"/>
              </a:ext>
            </a:extLst>
          </p:cNvPr>
          <p:cNvSpPr>
            <a:spLocks noGrp="1"/>
          </p:cNvSpPr>
          <p:nvPr/>
        </p:nvSpPr>
        <p:spPr>
          <a:xfrm>
            <a:off x="594360" y="3447288"/>
            <a:ext cx="3246120" cy="713232"/>
          </a:xfrm>
          <a:prstGeom prst="roundRect">
            <a:avLst/>
          </a:prstGeom>
          <a:solidFill>
            <a:srgbClr val="DCEBE1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B71E9C-AFDD-4796-9992-2F51FC5626FA}"/>
              </a:ext>
            </a:extLst>
          </p:cNvPr>
          <p:cNvSpPr>
            <a:spLocks noGrp="1"/>
          </p:cNvSpPr>
          <p:nvPr/>
        </p:nvSpPr>
        <p:spPr>
          <a:xfrm>
            <a:off x="758952" y="3575304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3. Bundle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BF6BA9-AEEF-43C2-B33D-7F64939FECF7}"/>
              </a:ext>
            </a:extLst>
          </p:cNvPr>
          <p:cNvSpPr>
            <a:spLocks noGrp="1"/>
          </p:cNvSpPr>
          <p:nvPr/>
        </p:nvSpPr>
        <p:spPr>
          <a:xfrm>
            <a:off x="758952" y="3886200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vite build</a:t>
            </a:r>
          </a:p>
        </p:txBody>
      </p:sp>
      <p:sp>
        <p:nvSpPr>
          <p:cNvPr id="18" name="Connector 17">
            <a:extLst>
              <a:ext uri="{FF2B5EF4-FFF2-40B4-BE49-F238E27FC236}">
                <a16:creationId xmlns:a16="http://schemas.microsoft.com/office/drawing/2014/main" id="{FAE5679B-3E0F-497D-ADFD-9763822C8AC4}"/>
              </a:ext>
            </a:extLst>
          </p:cNvPr>
          <p:cNvSpPr>
            <a:spLocks noGrp="1"/>
          </p:cNvSpPr>
          <p:nvPr/>
        </p:nvSpPr>
        <p:spPr>
          <a:xfrm>
            <a:off x="2221992" y="4197096"/>
            <a:ext cx="0" cy="210312"/>
          </a:xfrm>
          <a:prstGeom prst="line">
            <a:avLst/>
          </a:prstGeom>
          <a:ln w="21590">
            <a:solidFill>
              <a:srgbClr val="536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5815946-215F-4599-A173-50DE25AF1BE4}"/>
              </a:ext>
            </a:extLst>
          </p:cNvPr>
          <p:cNvSpPr>
            <a:spLocks noGrp="1"/>
          </p:cNvSpPr>
          <p:nvPr/>
        </p:nvSpPr>
        <p:spPr>
          <a:xfrm>
            <a:off x="594360" y="4416552"/>
            <a:ext cx="3246120" cy="713232"/>
          </a:xfrm>
          <a:prstGeom prst="roundRect">
            <a:avLst/>
          </a:prstGeom>
          <a:solidFill>
            <a:srgbClr val="F4E8D0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DDC752-B222-4888-8CDF-5275B6B0CEF9}"/>
              </a:ext>
            </a:extLst>
          </p:cNvPr>
          <p:cNvSpPr>
            <a:spLocks noGrp="1"/>
          </p:cNvSpPr>
          <p:nvPr/>
        </p:nvSpPr>
        <p:spPr>
          <a:xfrm>
            <a:off x="758952" y="4544568"/>
            <a:ext cx="291693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4. Demo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9D3A4E-C404-441A-8FDB-E4495ADEFB2B}"/>
              </a:ext>
            </a:extLst>
          </p:cNvPr>
          <p:cNvSpPr>
            <a:spLocks noGrp="1"/>
          </p:cNvSpPr>
          <p:nvPr/>
        </p:nvSpPr>
        <p:spPr>
          <a:xfrm>
            <a:off x="758952" y="4855464"/>
            <a:ext cx="2926079" cy="2011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Vite or Docker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C63A73-CDDC-4B61-ABAE-07C788E69C86}"/>
              </a:ext>
            </a:extLst>
          </p:cNvPr>
          <p:cNvSpPr>
            <a:spLocks noGrp="1"/>
          </p:cNvSpPr>
          <p:nvPr/>
        </p:nvSpPr>
        <p:spPr>
          <a:xfrm>
            <a:off x="4434840" y="144475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4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WHAT WE VERIFY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A1E464-8D1F-440D-9112-3789C6CE066D}"/>
              </a:ext>
            </a:extLst>
          </p:cNvPr>
          <p:cNvSpPr>
            <a:spLocks noGrp="1"/>
          </p:cNvSpPr>
          <p:nvPr/>
        </p:nvSpPr>
        <p:spPr>
          <a:xfrm>
            <a:off x="4480560" y="1856231"/>
            <a:ext cx="379476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React entrypoint compiles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Prompt and schema state is typed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API responses are handled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Production assets are emitted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Frontend reaches the backend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80">
                <a:solidFill>
                  <a:srgbClr val="53635B"/>
                </a:solidFill>
                <a:latin typeface="Aptos"/>
                <a:ea typeface="Aptos"/>
                <a:cs typeface="Aptos"/>
              </a:rPr>
              <a:t>SQL and trace remain readable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007686B-DBC9-46B9-A676-1D91A587A96D}"/>
              </a:ext>
            </a:extLst>
          </p:cNvPr>
          <p:cNvSpPr>
            <a:spLocks noGrp="1"/>
          </p:cNvSpPr>
          <p:nvPr/>
        </p:nvSpPr>
        <p:spPr>
          <a:xfrm>
            <a:off x="8503920" y="1554480"/>
            <a:ext cx="2697480" cy="192024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35D221E-CBB9-4AB2-9140-F37823E641DD}"/>
              </a:ext>
            </a:extLst>
          </p:cNvPr>
          <p:cNvSpPr>
            <a:spLocks noGrp="1"/>
          </p:cNvSpPr>
          <p:nvPr/>
        </p:nvSpPr>
        <p:spPr>
          <a:xfrm>
            <a:off x="8650224" y="1691639"/>
            <a:ext cx="2404872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cd services/nl2sql-demo/frontend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npm ci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npm run build</a:t>
            </a:r>
          </a:p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919">
                <a:solidFill>
                  <a:srgbClr val="ECEFF4"/>
                </a:solidFill>
                <a:latin typeface="Cascadia Mono"/>
                <a:ea typeface="Cascadia Mono"/>
                <a:cs typeface="Cascadia Mono"/>
              </a:rPr>
              <a:t>npm run dev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1B236E9-5841-458A-AFFF-6E20263C974E}"/>
              </a:ext>
            </a:extLst>
          </p:cNvPr>
          <p:cNvSpPr>
            <a:spLocks noGrp="1"/>
          </p:cNvSpPr>
          <p:nvPr/>
        </p:nvSpPr>
        <p:spPr>
          <a:xfrm>
            <a:off x="4434840" y="4892040"/>
            <a:ext cx="67665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2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A9777D-0F4C-4E6D-87FB-12FE898A265B}"/>
              </a:ext>
            </a:extLst>
          </p:cNvPr>
          <p:cNvSpPr>
            <a:spLocks noGrp="1"/>
          </p:cNvSpPr>
          <p:nvPr/>
        </p:nvSpPr>
        <p:spPr>
          <a:xfrm>
            <a:off x="4434840" y="4892040"/>
            <a:ext cx="73152" cy="777240"/>
          </a:xfrm>
          <a:prstGeom prst="rect">
            <a:avLst/>
          </a:prstGeom>
          <a:solidFill>
            <a:srgbClr val="2E6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4B101F-B5C2-4F1D-918D-31894D869325}"/>
              </a:ext>
            </a:extLst>
          </p:cNvPr>
          <p:cNvSpPr>
            <a:spLocks noGrp="1"/>
          </p:cNvSpPr>
          <p:nvPr/>
        </p:nvSpPr>
        <p:spPr>
          <a:xfrm>
            <a:off x="4599431" y="5020055"/>
            <a:ext cx="64373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</a:pPr>
            <a:r>
              <a:rPr sz="125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A clear responsibility boundary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A4B293-CAD7-4785-A7A4-0F0512948356}"/>
              </a:ext>
            </a:extLst>
          </p:cNvPr>
          <p:cNvSpPr>
            <a:spLocks noGrp="1"/>
          </p:cNvSpPr>
          <p:nvPr/>
        </p:nvSpPr>
        <p:spPr>
          <a:xfrm>
            <a:off x="4599431" y="5330952"/>
            <a:ext cx="6446520" cy="2651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  <a:buNone/>
            </a:pPr>
            <a:r>
              <a:rPr sz="1019">
                <a:solidFill>
                  <a:srgbClr val="53635B"/>
                </a:solidFill>
                <a:latin typeface="Aptos"/>
                <a:ea typeface="Aptos"/>
                <a:cs typeface="Aptos"/>
              </a:rPr>
              <a:t>The UI proves the framework is consumable. It does not duplicate planner or model logic.</a:t>
            </a:r>
          </a:p>
        </p:txBody>
      </p:sp>
    </p:spTree>
    <p:extLst>
      <p:ext uri="{BB962C8B-B14F-4D97-AF65-F5344CB8AC3E}">
        <p14:creationId xmlns:p14="http://schemas.microsoft.com/office/powerpoint/2010/main" val="78499714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C63FBE5-C626-41B1-834D-B56FC503DF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 w="9525">
            <a:solidFill>
              <a:srgbClr val="F7F3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4314A2-7553-4707-BA61-1A2C01311318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15201B"/>
          </a:solidFill>
          <a:ln w="9525">
            <a:solidFill>
              <a:srgbClr val="15201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VALUE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0841AD-BB7E-422E-8CA3-CAD06D59E740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15201B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15201B"/>
                </a:solidFill>
                <a:latin typeface="Georgia"/>
                <a:ea typeface="Georgia"/>
                <a:cs typeface="Georgia"/>
              </a:rPr>
              <a:t>In NL2SQL, the functional layer makes the demo safer and easier to explain.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9435E2-B318-4F87-99CE-9D301C9D0918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The UI can show exactly what Dagents checked and planned before returning SQL.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12B0A2A-6AC7-4A41-91BD-B99B7BED06A4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2381250" cy="1571625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FA1152-9405-4B85-9A01-7832DD90E03B}"/>
              </a:ext>
            </a:extLst>
          </p:cNvPr>
          <p:cNvSpPr>
            <a:spLocks noGrp="1"/>
          </p:cNvSpPr>
          <p:nvPr/>
        </p:nvSpPr>
        <p:spPr>
          <a:xfrm>
            <a:off x="800100" y="2381250"/>
            <a:ext cx="2381250" cy="361950"/>
          </a:xfrm>
          <a:prstGeom prst="roundRect">
            <a:avLst>
              <a:gd name="adj" fmla="val 10526"/>
            </a:avLst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Useful for schema input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9BECB5-B4F2-4648-9A76-1A63463609A5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2076450" cy="962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Source validation, extraction planning, schema contract checks, and quality rules run over the table metadata.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21FCF3A-834A-4D78-802E-4F2CFFCF6853}"/>
              </a:ext>
            </a:extLst>
          </p:cNvPr>
          <p:cNvSpPr>
            <a:spLocks noGrp="1"/>
          </p:cNvSpPr>
          <p:nvPr/>
        </p:nvSpPr>
        <p:spPr>
          <a:xfrm>
            <a:off x="3562350" y="2381250"/>
            <a:ext cx="2381250" cy="1571625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89F5FC8-5A0B-4478-94D9-0E8A5E8BB829}"/>
              </a:ext>
            </a:extLst>
          </p:cNvPr>
          <p:cNvSpPr>
            <a:spLocks noGrp="1"/>
          </p:cNvSpPr>
          <p:nvPr/>
        </p:nvSpPr>
        <p:spPr>
          <a:xfrm>
            <a:off x="3562350" y="2381250"/>
            <a:ext cx="2381250" cy="361950"/>
          </a:xfrm>
          <a:prstGeom prst="roundRect">
            <a:avLst>
              <a:gd name="adj" fmla="val 10526"/>
            </a:avLst>
          </a:prstGeom>
          <a:solidFill>
            <a:srgbClr val="2D5B7C"/>
          </a:solidFill>
          <a:ln w="9525">
            <a:solidFill>
              <a:srgbClr val="2D5B7C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Useful for workflow safety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4671BE-572B-4DEE-9E2F-7FFF3B59AE1F}"/>
              </a:ext>
            </a:extLst>
          </p:cNvPr>
          <p:cNvSpPr>
            <a:spLocks noGrp="1"/>
          </p:cNvSpPr>
          <p:nvPr/>
        </p:nvSpPr>
        <p:spPr>
          <a:xfrm>
            <a:off x="3714750" y="2895600"/>
            <a:ext cx="2076450" cy="962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Pipeline DAG planning rejects invalid graph structure before a workflow is executed.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EC08E47-32A9-4CD9-955F-2DB506ECE664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2381250" cy="1571625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F236475-8127-421D-9885-06D61E55F8CE}"/>
              </a:ext>
            </a:extLst>
          </p:cNvPr>
          <p:cNvSpPr>
            <a:spLocks noGrp="1"/>
          </p:cNvSpPr>
          <p:nvPr/>
        </p:nvSpPr>
        <p:spPr>
          <a:xfrm>
            <a:off x="6324600" y="2381250"/>
            <a:ext cx="2381250" cy="361950"/>
          </a:xfrm>
          <a:prstGeom prst="roundRect">
            <a:avLst>
              <a:gd name="adj" fmla="val 10526"/>
            </a:avLst>
          </a:prstGeom>
          <a:solidFill>
            <a:srgbClr val="B4842B"/>
          </a:solidFill>
          <a:ln w="9525">
            <a:solidFill>
              <a:srgbClr val="B4842B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Useful for deployment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B41B6D-0ED8-4325-8CB7-98268F0CDD03}"/>
              </a:ext>
            </a:extLst>
          </p:cNvPr>
          <p:cNvSpPr>
            <a:spLocks noGrp="1"/>
          </p:cNvSpPr>
          <p:nvPr/>
        </p:nvSpPr>
        <p:spPr>
          <a:xfrm>
            <a:off x="6477000" y="2895600"/>
            <a:ext cx="2076450" cy="962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Core service compiles the NL2SQL backend into a workload plan and manifest bundle.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FC1EA75-06CF-4B2A-9D10-FA7A310220FE}"/>
              </a:ext>
            </a:extLst>
          </p:cNvPr>
          <p:cNvSpPr>
            <a:spLocks noGrp="1"/>
          </p:cNvSpPr>
          <p:nvPr/>
        </p:nvSpPr>
        <p:spPr>
          <a:xfrm>
            <a:off x="9086850" y="2381250"/>
            <a:ext cx="2381250" cy="1571625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5CDB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38F955C-90D6-4A0F-A516-D6F566A988DF}"/>
              </a:ext>
            </a:extLst>
          </p:cNvPr>
          <p:cNvSpPr>
            <a:spLocks noGrp="1"/>
          </p:cNvSpPr>
          <p:nvPr/>
        </p:nvSpPr>
        <p:spPr>
          <a:xfrm>
            <a:off x="9086850" y="2381250"/>
            <a:ext cx="2381250" cy="361950"/>
          </a:xfrm>
          <a:prstGeom prst="roundRect">
            <a:avLst>
              <a:gd name="adj" fmla="val 10526"/>
            </a:avLst>
          </a:prstGeom>
          <a:solidFill>
            <a:srgbClr val="A34D3E"/>
          </a:solidFill>
          <a:ln w="9525">
            <a:solidFill>
              <a:srgbClr val="A34D3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Useful for traceability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BBC99B-BC3B-4E24-AA53-A30B1535CE55}"/>
              </a:ext>
            </a:extLst>
          </p:cNvPr>
          <p:cNvSpPr>
            <a:spLocks noGrp="1"/>
          </p:cNvSpPr>
          <p:nvPr/>
        </p:nvSpPr>
        <p:spPr>
          <a:xfrm>
            <a:off x="9239250" y="2895600"/>
            <a:ext cx="2076450" cy="962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The response includes planner and service trace steps, so the demo can show what happened.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959F38-00BA-40E6-8593-451DD7E0B7F3}"/>
              </a:ext>
            </a:extLst>
          </p:cNvPr>
          <p:cNvSpPr>
            <a:spLocks noGrp="1"/>
          </p:cNvSpPr>
          <p:nvPr/>
        </p:nvSpPr>
        <p:spPr>
          <a:xfrm>
            <a:off x="1276350" y="4762500"/>
            <a:ext cx="9620250" cy="552450"/>
          </a:xfrm>
          <a:prstGeom prst="rect">
            <a:avLst/>
          </a:prstGeom>
          <a:solidFill>
            <a:srgbClr val="ECE6D9"/>
          </a:solidFill>
          <a:ln w="9525">
            <a:solidFill>
              <a:srgbClr val="D5CDBF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0">
                <a:solidFill>
                  <a:srgbClr val="15201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Short answer for Q&amp;A: OCaml is called as needed by the app/services. It is not the SQL model and not a separate ML server.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C17DE7-C314-4D32-8628-AA9D60E46998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E6B6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4"/>
                </a:solidFill>
                <a:latin typeface="Aptos"/>
                <a:ea typeface="Aptos"/>
                <a:cs typeface="Aptos"/>
              </a:rPr>
              <a:t>Dagents / 14</a:t>
            </a:r>
          </a:p>
        </p:txBody>
      </p:sp>
    </p:spTree>
    <p:extLst>
      <p:ext uri="{BB962C8B-B14F-4D97-AF65-F5344CB8AC3E}">
        <p14:creationId xmlns:p14="http://schemas.microsoft.com/office/powerpoint/2010/main" val="19867051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DBD12-B4E5-4D50-862A-EE95276939B5}"/>
              </a:ext>
            </a:extLst>
          </p:cNvPr>
          <p:cNvSpPr>
            <a:spLocks noGrp="1"/>
          </p:cNvSpPr>
          <p:nvPr/>
        </p:nvSpPr>
        <p:spPr>
          <a:xfrm>
            <a:off x="548640" y="320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300" b="1">
                <a:solidFill>
                  <a:srgbClr val="53635B"/>
                </a:solidFill>
                <a:latin typeface="Aptos"/>
                <a:ea typeface="Aptos"/>
                <a:cs typeface="Aptos"/>
              </a:rPr>
              <a:t>DEVELOPMENT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A5135A-B7C2-4A3F-A4B9-1A19657118BC}"/>
              </a:ext>
            </a:extLst>
          </p:cNvPr>
          <p:cNvSpPr>
            <a:spLocks noGrp="1"/>
          </p:cNvSpPr>
          <p:nvPr/>
        </p:nvSpPr>
        <p:spPr>
          <a:xfrm>
            <a:off x="548640" y="65836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29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Challenges and steering decisions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4F016E-D41B-49E9-9DA2-D7111539AAC2}"/>
              </a:ext>
            </a:extLst>
          </p:cNvPr>
          <p:cNvSpPr>
            <a:spLocks noGrp="1"/>
          </p:cNvSpPr>
          <p:nvPr/>
        </p:nvSpPr>
        <p:spPr>
          <a:xfrm>
            <a:off x="566928" y="1225296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4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We used the AI assistant as an implementation partner, but kept decisions grounded in test results and logs.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E8E996-E424-4293-8C1C-AF9D6E1AB446}"/>
              </a:ext>
            </a:extLst>
          </p:cNvPr>
          <p:cNvSpPr>
            <a:spLocks noGrp="1"/>
          </p:cNvSpPr>
          <p:nvPr/>
        </p:nvSpPr>
        <p:spPr>
          <a:xfrm>
            <a:off x="502920" y="1627632"/>
            <a:ext cx="2888589" cy="7543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5342B3-FAB8-43E7-96EC-D556D6737311}"/>
              </a:ext>
            </a:extLst>
          </p:cNvPr>
          <p:cNvSpPr>
            <a:spLocks noGrp="1"/>
          </p:cNvSpPr>
          <p:nvPr/>
        </p:nvSpPr>
        <p:spPr>
          <a:xfrm>
            <a:off x="576072" y="170078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Challenge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2CF242-7638-4E68-8FA8-D78A0F42581E}"/>
              </a:ext>
            </a:extLst>
          </p:cNvPr>
          <p:cNvSpPr>
            <a:spLocks noGrp="1"/>
          </p:cNvSpPr>
          <p:nvPr/>
        </p:nvSpPr>
        <p:spPr>
          <a:xfrm>
            <a:off x="3391509" y="1627632"/>
            <a:ext cx="4110685" cy="7543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779A8A-1ADC-407D-865C-BB8D994150C0}"/>
              </a:ext>
            </a:extLst>
          </p:cNvPr>
          <p:cNvSpPr>
            <a:spLocks noGrp="1"/>
          </p:cNvSpPr>
          <p:nvPr/>
        </p:nvSpPr>
        <p:spPr>
          <a:xfrm>
            <a:off x="3464661" y="17007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How we steered 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467CD7-205E-45FC-9D3C-702CF1606E65}"/>
              </a:ext>
            </a:extLst>
          </p:cNvPr>
          <p:cNvSpPr>
            <a:spLocks noGrp="1"/>
          </p:cNvSpPr>
          <p:nvPr/>
        </p:nvSpPr>
        <p:spPr>
          <a:xfrm>
            <a:off x="7502194" y="1627632"/>
            <a:ext cx="4110685" cy="754380"/>
          </a:xfrm>
          <a:prstGeom prst="rect">
            <a:avLst/>
          </a:prstGeom>
          <a:solidFill>
            <a:srgbClr val="F4E8D0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D5641A-7A5E-448B-8A7F-B80482867BF1}"/>
              </a:ext>
            </a:extLst>
          </p:cNvPr>
          <p:cNvSpPr>
            <a:spLocks noGrp="1"/>
          </p:cNvSpPr>
          <p:nvPr/>
        </p:nvSpPr>
        <p:spPr>
          <a:xfrm>
            <a:off x="7575346" y="17007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100" b="1">
                <a:solidFill>
                  <a:srgbClr val="15201B"/>
                </a:solidFill>
                <a:latin typeface="Aptos"/>
                <a:ea typeface="Aptos"/>
                <a:cs typeface="Aptos"/>
              </a:rPr>
              <a:t>State change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FEFA45-D8D3-4A9C-96A4-DF0C960481D7}"/>
              </a:ext>
            </a:extLst>
          </p:cNvPr>
          <p:cNvSpPr>
            <a:spLocks noGrp="1"/>
          </p:cNvSpPr>
          <p:nvPr/>
        </p:nvSpPr>
        <p:spPr>
          <a:xfrm>
            <a:off x="502920" y="238201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780A78-0661-4E04-B7B9-70E32540089F}"/>
              </a:ext>
            </a:extLst>
          </p:cNvPr>
          <p:cNvSpPr>
            <a:spLocks noGrp="1"/>
          </p:cNvSpPr>
          <p:nvPr/>
        </p:nvSpPr>
        <p:spPr>
          <a:xfrm>
            <a:off x="576072" y="245516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Docker model deps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1933A7-9FF4-435B-B5FF-A7C3853C93C5}"/>
              </a:ext>
            </a:extLst>
          </p:cNvPr>
          <p:cNvSpPr>
            <a:spLocks noGrp="1"/>
          </p:cNvSpPr>
          <p:nvPr/>
        </p:nvSpPr>
        <p:spPr>
          <a:xfrm>
            <a:off x="3391509" y="238201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842238-9A3F-4E78-B85C-E0D55061F392}"/>
              </a:ext>
            </a:extLst>
          </p:cNvPr>
          <p:cNvSpPr>
            <a:spLocks noGrp="1"/>
          </p:cNvSpPr>
          <p:nvPr/>
        </p:nvSpPr>
        <p:spPr>
          <a:xfrm>
            <a:off x="3464661" y="245516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Use logs, identify CUDA wheel blow-up, pin CPU-friendly Torch line.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451E3A-FC4E-40B7-BC28-6148F8CF2167}"/>
              </a:ext>
            </a:extLst>
          </p:cNvPr>
          <p:cNvSpPr>
            <a:spLocks noGrp="1"/>
          </p:cNvSpPr>
          <p:nvPr/>
        </p:nvSpPr>
        <p:spPr>
          <a:xfrm>
            <a:off x="7502194" y="238201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74E3E5-309C-446F-98C9-71A8971D04D0}"/>
              </a:ext>
            </a:extLst>
          </p:cNvPr>
          <p:cNvSpPr>
            <a:spLocks noGrp="1"/>
          </p:cNvSpPr>
          <p:nvPr/>
        </p:nvSpPr>
        <p:spPr>
          <a:xfrm>
            <a:off x="7575346" y="245516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Backend image now builds with model deps.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5E18DC-73DC-4E75-9B6E-E9FD5FA926E0}"/>
              </a:ext>
            </a:extLst>
          </p:cNvPr>
          <p:cNvSpPr>
            <a:spLocks noGrp="1"/>
          </p:cNvSpPr>
          <p:nvPr/>
        </p:nvSpPr>
        <p:spPr>
          <a:xfrm>
            <a:off x="502920" y="313639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18314E-8CA6-45E6-9DB4-5A0A01FE4EF5}"/>
              </a:ext>
            </a:extLst>
          </p:cNvPr>
          <p:cNvSpPr>
            <a:spLocks noGrp="1"/>
          </p:cNvSpPr>
          <p:nvPr/>
        </p:nvSpPr>
        <p:spPr>
          <a:xfrm>
            <a:off x="576072" y="320954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Fallback SQL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D4F55D-7290-4A1A-B1AA-1202B3E96581}"/>
              </a:ext>
            </a:extLst>
          </p:cNvPr>
          <p:cNvSpPr>
            <a:spLocks noGrp="1"/>
          </p:cNvSpPr>
          <p:nvPr/>
        </p:nvSpPr>
        <p:spPr>
          <a:xfrm>
            <a:off x="3391509" y="313639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9DA9AE-C9EA-4E8B-99E2-9C3D9CA6335A}"/>
              </a:ext>
            </a:extLst>
          </p:cNvPr>
          <p:cNvSpPr>
            <a:spLocks noGrp="1"/>
          </p:cNvSpPr>
          <p:nvPr/>
        </p:nvSpPr>
        <p:spPr>
          <a:xfrm>
            <a:off x="3464661" y="320954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Trace the exception instead of hiding it.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59F6ED-810F-4C83-86D5-41384E8BEAFA}"/>
              </a:ext>
            </a:extLst>
          </p:cNvPr>
          <p:cNvSpPr>
            <a:spLocks noGrp="1"/>
          </p:cNvSpPr>
          <p:nvPr/>
        </p:nvSpPr>
        <p:spPr>
          <a:xfrm>
            <a:off x="7502194" y="313639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A3B850-E077-4340-B122-134E8C1E3C94}"/>
              </a:ext>
            </a:extLst>
          </p:cNvPr>
          <p:cNvSpPr>
            <a:spLocks noGrp="1"/>
          </p:cNvSpPr>
          <p:nvPr/>
        </p:nvSpPr>
        <p:spPr>
          <a:xfrm>
            <a:off x="7575346" y="320954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Model adapter now loads CodeT5 artifact.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906D7F-DE00-4FB9-B671-BE04D37B5AED}"/>
              </a:ext>
            </a:extLst>
          </p:cNvPr>
          <p:cNvSpPr>
            <a:spLocks noGrp="1"/>
          </p:cNvSpPr>
          <p:nvPr/>
        </p:nvSpPr>
        <p:spPr>
          <a:xfrm>
            <a:off x="502920" y="389077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2AE019-BFA0-4AA7-AF8E-95A18B590175}"/>
              </a:ext>
            </a:extLst>
          </p:cNvPr>
          <p:cNvSpPr>
            <a:spLocks noGrp="1"/>
          </p:cNvSpPr>
          <p:nvPr/>
        </p:nvSpPr>
        <p:spPr>
          <a:xfrm>
            <a:off x="576072" y="396392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JSON key casing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1EAF58D-8638-4C52-B131-4FB895092805}"/>
              </a:ext>
            </a:extLst>
          </p:cNvPr>
          <p:cNvSpPr>
            <a:spLocks noGrp="1"/>
          </p:cNvSpPr>
          <p:nvPr/>
        </p:nvSpPr>
        <p:spPr>
          <a:xfrm>
            <a:off x="3391509" y="389077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F9B0E1-A2E7-48D6-802D-BFA82A23E450}"/>
              </a:ext>
            </a:extLst>
          </p:cNvPr>
          <p:cNvSpPr>
            <a:spLocks noGrp="1"/>
          </p:cNvSpPr>
          <p:nvPr/>
        </p:nvSpPr>
        <p:spPr>
          <a:xfrm>
            <a:off x="3464661" y="396392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Compare trace payloads and find false schema failures.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47C103-7BCD-4BBF-8FED-74868A3C3695}"/>
              </a:ext>
            </a:extLst>
          </p:cNvPr>
          <p:cNvSpPr>
            <a:spLocks noGrp="1"/>
          </p:cNvSpPr>
          <p:nvPr/>
        </p:nvSpPr>
        <p:spPr>
          <a:xfrm>
            <a:off x="7502194" y="389077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EA3D92-36D0-4F25-8F70-B08D576FB91C}"/>
              </a:ext>
            </a:extLst>
          </p:cNvPr>
          <p:cNvSpPr>
            <a:spLocks noGrp="1"/>
          </p:cNvSpPr>
          <p:nvPr/>
        </p:nvSpPr>
        <p:spPr>
          <a:xfrm>
            <a:off x="7575346" y="396392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Record field names are preserved.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C8D755-973E-4DFA-A9BB-4D1561BC8F2D}"/>
              </a:ext>
            </a:extLst>
          </p:cNvPr>
          <p:cNvSpPr>
            <a:spLocks noGrp="1"/>
          </p:cNvSpPr>
          <p:nvPr/>
        </p:nvSpPr>
        <p:spPr>
          <a:xfrm>
            <a:off x="502920" y="464515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38EB1B-F066-4BCF-8C4F-5B2A81D6B611}"/>
              </a:ext>
            </a:extLst>
          </p:cNvPr>
          <p:cNvSpPr>
            <a:spLocks noGrp="1"/>
          </p:cNvSpPr>
          <p:nvPr/>
        </p:nvSpPr>
        <p:spPr>
          <a:xfrm>
            <a:off x="576072" y="471830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OCaml readability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14006E-D9C0-4D92-BA26-C2AE0D7838DF}"/>
              </a:ext>
            </a:extLst>
          </p:cNvPr>
          <p:cNvSpPr>
            <a:spLocks noGrp="1"/>
          </p:cNvSpPr>
          <p:nvPr/>
        </p:nvSpPr>
        <p:spPr>
          <a:xfrm>
            <a:off x="3391509" y="464515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C6A327-84A3-4C0C-92BA-5BF7E6A77F30}"/>
              </a:ext>
            </a:extLst>
          </p:cNvPr>
          <p:cNvSpPr>
            <a:spLocks noGrp="1"/>
          </p:cNvSpPr>
          <p:nvPr/>
        </p:nvSpPr>
        <p:spPr>
          <a:xfrm>
            <a:off x="3464661" y="471830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Ask for modular common_ir without changing behavior.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8831F0-7FE8-4CE5-9F5C-AC01B1C74153}"/>
              </a:ext>
            </a:extLst>
          </p:cNvPr>
          <p:cNvSpPr>
            <a:spLocks noGrp="1"/>
          </p:cNvSpPr>
          <p:nvPr/>
        </p:nvSpPr>
        <p:spPr>
          <a:xfrm>
            <a:off x="7502194" y="464515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BC41C7-12CA-49DD-B21A-2842B470EEA6}"/>
              </a:ext>
            </a:extLst>
          </p:cNvPr>
          <p:cNvSpPr>
            <a:spLocks noGrp="1"/>
          </p:cNvSpPr>
          <p:nvPr/>
        </p:nvSpPr>
        <p:spPr>
          <a:xfrm>
            <a:off x="7575346" y="471830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Types are grouped while old API remains.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08C939-B03B-40D8-A0AC-F9FECE411770}"/>
              </a:ext>
            </a:extLst>
          </p:cNvPr>
          <p:cNvSpPr>
            <a:spLocks noGrp="1"/>
          </p:cNvSpPr>
          <p:nvPr/>
        </p:nvSpPr>
        <p:spPr>
          <a:xfrm>
            <a:off x="502920" y="5399532"/>
            <a:ext cx="2888589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0428393-C352-48CE-8EE3-95676E46C147}"/>
              </a:ext>
            </a:extLst>
          </p:cNvPr>
          <p:cNvSpPr>
            <a:spLocks noGrp="1"/>
          </p:cNvSpPr>
          <p:nvPr/>
        </p:nvSpPr>
        <p:spPr>
          <a:xfrm>
            <a:off x="576072" y="5472684"/>
            <a:ext cx="2742285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Demo reliability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B7E1E8-B494-4075-9967-EAC444533778}"/>
              </a:ext>
            </a:extLst>
          </p:cNvPr>
          <p:cNvSpPr>
            <a:spLocks noGrp="1"/>
          </p:cNvSpPr>
          <p:nvPr/>
        </p:nvSpPr>
        <p:spPr>
          <a:xfrm>
            <a:off x="3391509" y="539953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CB4B39-747E-485F-8D7F-1DA41FF4926A}"/>
              </a:ext>
            </a:extLst>
          </p:cNvPr>
          <p:cNvSpPr>
            <a:spLocks noGrp="1"/>
          </p:cNvSpPr>
          <p:nvPr/>
        </p:nvSpPr>
        <p:spPr>
          <a:xfrm>
            <a:off x="3464661" y="54726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Make scripts executable and probe real service behavior.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146F475-A664-45DE-8E1A-8D68FE14EB33}"/>
              </a:ext>
            </a:extLst>
          </p:cNvPr>
          <p:cNvSpPr>
            <a:spLocks noGrp="1"/>
          </p:cNvSpPr>
          <p:nvPr/>
        </p:nvSpPr>
        <p:spPr>
          <a:xfrm>
            <a:off x="7502194" y="5399532"/>
            <a:ext cx="4110685" cy="754380"/>
          </a:xfrm>
          <a:prstGeom prst="rect">
            <a:avLst/>
          </a:prstGeom>
          <a:solidFill>
            <a:srgbClr val="FFFFFF"/>
          </a:solidFill>
          <a:ln>
            <a:solidFill>
              <a:srgbClr val="BEBE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4A41FF-3F45-423C-AE62-D1955E617499}"/>
              </a:ext>
            </a:extLst>
          </p:cNvPr>
          <p:cNvSpPr>
            <a:spLocks noGrp="1"/>
          </p:cNvSpPr>
          <p:nvPr/>
        </p:nvSpPr>
        <p:spPr>
          <a:xfrm>
            <a:off x="7575346" y="5472684"/>
            <a:ext cx="3964381" cy="644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1000" b="0">
                <a:solidFill>
                  <a:srgbClr val="15201B"/>
                </a:solidFill>
                <a:latin typeface="Aptos"/>
                <a:ea typeface="Aptos"/>
                <a:cs typeface="Aptos"/>
              </a:rPr>
              <a:t>Probe validates trace and model path.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5FBFE2-8640-4A2C-801D-9487E96EEB43}"/>
              </a:ext>
            </a:extLst>
          </p:cNvPr>
          <p:cNvSpPr>
            <a:spLocks noGrp="1"/>
          </p:cNvSpPr>
          <p:nvPr/>
        </p:nvSpPr>
        <p:spPr>
          <a:xfrm>
            <a:off x="566928" y="6355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sz="800" b="0">
                <a:solidFill>
                  <a:srgbClr val="53635B"/>
                </a:solidFill>
                <a:latin typeface="Aptos"/>
                <a:ea typeface="Aptos"/>
                <a:cs typeface="Aptos"/>
              </a:rPr>
              <a:t>This slide also answers the development-challenges report request</a:t>
            </a:r>
          </a:p>
        </p:txBody>
      </p:sp>
    </p:spTree>
    <p:extLst>
      <p:ext uri="{BB962C8B-B14F-4D97-AF65-F5344CB8AC3E}">
        <p14:creationId xmlns:p14="http://schemas.microsoft.com/office/powerpoint/2010/main" val="11341472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A3C049F-F00E-4172-A6F4-254D0DCF8F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15"/>
          </a:solidFill>
          <a:ln w="9525">
            <a:solidFill>
              <a:srgbClr val="11181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1B557B-4673-460B-A689-6BE39D4F8E33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619250" cy="238125"/>
          </a:xfrm>
          <a:prstGeom prst="rect">
            <a:avLst/>
          </a:prstGeom>
          <a:solidFill>
            <a:srgbClr val="2E6F4E"/>
          </a:solidFill>
          <a:ln w="9525">
            <a:solidFill>
              <a:srgbClr val="2E6F4E"/>
            </a:solidFill>
          </a:ln>
        </p:spPr>
        <p:txBody>
          <a:bodyPr lIns="0" tIns="0" rIns="0" bIns="0" anchor="ctr"/>
          <a:lstStyle/>
          <a:p>
            <a:pPr algn="ctr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RUNBOOK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7810EE-5625-445A-B7EB-E15E74D66134}"/>
              </a:ext>
            </a:extLst>
          </p:cNvPr>
          <p:cNvSpPr>
            <a:spLocks noGrp="1"/>
          </p:cNvSpPr>
          <p:nvPr/>
        </p:nvSpPr>
        <p:spPr>
          <a:xfrm>
            <a:off x="666750" y="781050"/>
            <a:ext cx="8191500" cy="8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25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Run the demo with one terminal for the app and one terminal for the probe.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60A5EE-2B6E-46F0-8070-08E9C1038CA1}"/>
              </a:ext>
            </a:extLst>
          </p:cNvPr>
          <p:cNvSpPr>
            <a:spLocks noGrp="1"/>
          </p:cNvSpPr>
          <p:nvPr/>
        </p:nvSpPr>
        <p:spPr>
          <a:xfrm>
            <a:off x="685800" y="1676400"/>
            <a:ext cx="8763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C6D2C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6D2CB"/>
                </a:solidFill>
                <a:latin typeface="Aptos"/>
                <a:ea typeface="Aptos"/>
                <a:cs typeface="Aptos"/>
              </a:rPr>
              <a:t>Use local mode for speed. Use compose mode when you want to show the whole Dagents stack.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63E15A-8DCF-4A0B-B5F9-5ECC6785ACD4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4762500" cy="2333625"/>
          </a:xfrm>
          <a:prstGeom prst="roundRect">
            <a:avLst>
              <a:gd name="adj" fmla="val 2449"/>
            </a:avLst>
          </a:prstGeom>
          <a:solidFill>
            <a:srgbClr val="14211D"/>
          </a:solidFill>
          <a:ln w="9525">
            <a:solidFill>
              <a:srgbClr val="32443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4ECD63-23C8-437C-BE6C-6D9BDE1B6856}"/>
              </a:ext>
            </a:extLst>
          </p:cNvPr>
          <p:cNvSpPr>
            <a:spLocks noGrp="1"/>
          </p:cNvSpPr>
          <p:nvPr/>
        </p:nvSpPr>
        <p:spPr>
          <a:xfrm>
            <a:off x="1047750" y="2514600"/>
            <a:ext cx="44196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9EB5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EB5A6"/>
                </a:solidFill>
                <a:latin typeface="Aptos"/>
                <a:ea typeface="Aptos"/>
                <a:cs typeface="Aptos"/>
              </a:rPr>
              <a:t>local mode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5B86F4-8CF9-48A5-9118-C236526B5D29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4419600" cy="1819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# Fast local demo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services/nl2sql-demo/scripts/run_local_demo.sh</a:t>
            </a:r>
          </a:p>
          <a:p>
            <a:endParaRPr sz="1050" b="0">
              <a:solidFill>
                <a:srgbClr val="DCE9E0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# Probe the backend and save the response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services/nl2sql-demo/scripts/probe_api.sh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794739E-CE7E-4CE1-A3EC-5D85CCE883D6}"/>
              </a:ext>
            </a:extLst>
          </p:cNvPr>
          <p:cNvSpPr>
            <a:spLocks noGrp="1"/>
          </p:cNvSpPr>
          <p:nvPr/>
        </p:nvSpPr>
        <p:spPr>
          <a:xfrm>
            <a:off x="6572250" y="2381250"/>
            <a:ext cx="4762500" cy="2333625"/>
          </a:xfrm>
          <a:prstGeom prst="roundRect">
            <a:avLst>
              <a:gd name="adj" fmla="val 2449"/>
            </a:avLst>
          </a:prstGeom>
          <a:solidFill>
            <a:srgbClr val="14211D"/>
          </a:solidFill>
          <a:ln w="9525">
            <a:solidFill>
              <a:srgbClr val="32443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5D6926-CAB1-44DB-8F43-B15C4F646BB4}"/>
              </a:ext>
            </a:extLst>
          </p:cNvPr>
          <p:cNvSpPr>
            <a:spLocks noGrp="1"/>
          </p:cNvSpPr>
          <p:nvPr/>
        </p:nvSpPr>
        <p:spPr>
          <a:xfrm>
            <a:off x="6743700" y="2514600"/>
            <a:ext cx="44196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9EB5A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EB5A6"/>
                </a:solidFill>
                <a:latin typeface="Aptos"/>
                <a:ea typeface="Aptos"/>
                <a:cs typeface="Aptos"/>
              </a:rPr>
              <a:t>compose and functional demo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F9DA4E-E77F-4547-AF42-6CB780F5C172}"/>
              </a:ext>
            </a:extLst>
          </p:cNvPr>
          <p:cNvSpPr>
            <a:spLocks noGrp="1"/>
          </p:cNvSpPr>
          <p:nvPr/>
        </p:nvSpPr>
        <p:spPr>
          <a:xfrm>
            <a:off x="6743700" y="2781300"/>
            <a:ext cx="4419600" cy="1819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# Full Dagents stack with NL2SQL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services/nl2sql-demo/scripts/run_compose_demo.sh</a:t>
            </a:r>
          </a:p>
          <a:p>
            <a:endParaRPr sz="1050" b="0">
              <a:solidFill>
                <a:srgbClr val="DCE9E0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# Stop containers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services/nl2sql-demo/scripts/stop_compose_demo.sh</a:t>
            </a:r>
          </a:p>
          <a:p>
            <a:endParaRPr sz="1050" b="0">
              <a:solidFill>
                <a:srgbClr val="DCE9E0"/>
              </a:solidFill>
              <a:latin typeface="Menlo"/>
              <a:ea typeface="Menlo"/>
              <a:cs typeface="Menlo"/>
            </a:endParaRP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# Functional layer output screenshots</a:t>
            </a:r>
          </a:p>
          <a:p>
            <a:pPr algn="l">
              <a:buNone/>
              <a:defRPr sz="1050" b="0">
                <a:solidFill>
                  <a:srgbClr val="DCE9E0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DCE9E0"/>
                </a:solidFill>
                <a:latin typeface="Menlo"/>
                <a:ea typeface="Menlo"/>
                <a:cs typeface="Menlo"/>
              </a:rPr>
              <a:t>docs/demo/run_functional_layer_demo.sh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669BAD-512F-487F-AD5F-B71B5090464C}"/>
              </a:ext>
            </a:extLst>
          </p:cNvPr>
          <p:cNvSpPr>
            <a:spLocks noGrp="1"/>
          </p:cNvSpPr>
          <p:nvPr/>
        </p:nvSpPr>
        <p:spPr>
          <a:xfrm>
            <a:off x="1762125" y="5191125"/>
            <a:ext cx="8667750" cy="428625"/>
          </a:xfrm>
          <a:prstGeom prst="rect">
            <a:avLst/>
          </a:prstGeom>
          <a:solidFill>
            <a:srgbClr val="24342D"/>
          </a:solidFill>
          <a:ln w="9525">
            <a:solidFill>
              <a:srgbClr val="43584D"/>
            </a:solidFill>
          </a:ln>
        </p:spPr>
        <p:txBody>
          <a:bodyPr lIns="95250" tIns="76200" rIns="95250" bIns="76200" anchor="ctr"/>
          <a:lstStyle/>
          <a:p>
            <a:pPr algn="ctr"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</a:t>
            </a: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  <a:hlinkClick r:id="rId3"/>
              </a:rPr>
              <a:t>http://127.0.0.1:5173 </a:t>
            </a:r>
            <a:endParaRPr sz="1650" b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388DD7-2A19-438D-9F76-3573C3E5CE74}"/>
              </a:ext>
            </a:extLst>
          </p:cNvPr>
          <p:cNvSpPr>
            <a:spLocks noGrp="1"/>
          </p:cNvSpPr>
          <p:nvPr/>
        </p:nvSpPr>
        <p:spPr>
          <a:xfrm>
            <a:off x="666750" y="6457950"/>
            <a:ext cx="2476500" cy="171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94A39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94A39A"/>
                </a:solidFill>
                <a:latin typeface="Aptos"/>
                <a:ea typeface="Aptos"/>
                <a:cs typeface="Aptos"/>
              </a:rPr>
              <a:t>Dagents / 15</a:t>
            </a:r>
          </a:p>
        </p:txBody>
      </p:sp>
    </p:spTree>
    <p:extLst>
      <p:ext uri="{BB962C8B-B14F-4D97-AF65-F5344CB8AC3E}">
        <p14:creationId xmlns:p14="http://schemas.microsoft.com/office/powerpoint/2010/main" val="1075908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6772</Words>
  <Application>Microsoft Macintosh PowerPoint</Application>
  <DocSecurity>0</DocSecurity>
  <PresentationFormat>Widescreen</PresentationFormat>
  <Paragraphs>1020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Aptos</vt:lpstr>
      <vt:lpstr>Calibri</vt:lpstr>
      <vt:lpstr>Cascadia Mono</vt:lpstr>
      <vt:lpstr>Georgia</vt:lpstr>
      <vt:lpstr>Menlo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IMT2022525 Devarakonda Pradyun</cp:lastModifiedBy>
  <cp:revision>15</cp:revision>
  <dcterms:created xsi:type="dcterms:W3CDTF">2026-08-07T08:10:19Z</dcterms:created>
  <dcterms:modified xsi:type="dcterms:W3CDTF">2026-08-07T10:48:56Z</dcterms:modified>
</cp:coreProperties>
</file>