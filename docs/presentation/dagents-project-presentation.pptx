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3" r:id="rId4"/>
    <p:sldId id="274" r:id="rId5"/>
    <p:sldId id="275" r:id="rId6"/>
    <p:sldId id="276" r:id="rId7"/>
    <p:sldId id="258" r:id="rId8"/>
    <p:sldId id="259" r:id="rId9"/>
    <p:sldId id="260" r:id="rId10"/>
    <p:sldId id="261" r:id="rId11"/>
    <p:sldId id="277" r:id="rId28"/>
    <p:sldId id="262" r:id="rId12"/>
    <p:sldId id="263" r:id="rId13"/>
    <p:sldId id="264" r:id="rId14"/>
    <p:sldId id="278" r:id="rId29"/>
    <p:sldId id="265" r:id="rId15"/>
    <p:sldId id="266" r:id="rId16"/>
    <p:sldId id="267" r:id="rId17"/>
    <p:sldId id="279" r:id="rId30"/>
    <p:sldId id="280" r:id="rId31"/>
    <p:sldId id="268" r:id="rId18"/>
    <p:sldId id="269" r:id="rId19"/>
    <p:sldId id="270" r:id="rId20"/>
    <p:sldId id="271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D86B8E-0041-62EC-D063-D6CA71D745AD}" v="14" dt="2026-05-08T20:34:4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1973A-2294-0BB7-3833-92030886B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B47CF-A4A5-0CCF-3CAE-D7EAA1DDF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752DC9-E261-316F-6A6D-FD02F4388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A21DD-C80F-F859-D784-E62D612B331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549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2D461-DAEF-966B-2AC7-BBC820FF2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91E27-F8D4-46BB-A20B-3B43CF869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F13D1-B8AC-3F5F-0231-0A56623A4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03BE-08A2-35AF-1D3F-8573EFEA5CF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98690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E31B1-0D1A-1A4B-70EF-1FA5A7C3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58FA5-7AF0-9343-F8C0-77B55B0F0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3AF12-298F-D405-6FC7-545FBF552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39E7C-CF50-ACA1-6812-534D2E07ABE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7219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8C69-BE6C-2259-7944-45B539C8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51946-49B3-5DC6-D806-5545433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EA87DE-2C5D-2D65-C1F2-877065001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8D877-A500-0F79-9B30-CE73FEEC0C5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43287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127.0.0.1:5173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BAD7086-21FE-4FD0-95D7-1188A3E82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684ED2-C417-447E-BC93-3DDECEBC401B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DAGENTS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2AADAB-1301-46D6-B41A-E64CF809AE50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8382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Data computation agents for source-level and multi-source workloads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5700B-61E4-42B5-88FF-89C9CE76EE4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7239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A reusable framework for deploying one computation agent per source, combining their outputs through a global agent, and producing workload plans for real backend systems.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D4DF1-5B75-4D5B-B480-0169FB7D537F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data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0A53B9-A4E7-484F-8034-98A213935481}"/>
              </a:ext>
            </a:extLst>
          </p:cNvPr>
          <p:cNvSpPr>
            <a:spLocks noGrp="1"/>
          </p:cNvSpPr>
          <p:nvPr/>
        </p:nvSpPr>
        <p:spPr>
          <a:xfrm>
            <a:off x="298704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66A10A-F573-49D6-877E-CE49EE18CAEE}"/>
              </a:ext>
            </a:extLst>
          </p:cNvPr>
          <p:cNvSpPr>
            <a:spLocks noGrp="1"/>
          </p:cNvSpPr>
          <p:nvPr/>
        </p:nvSpPr>
        <p:spPr>
          <a:xfrm>
            <a:off x="505968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95250" tIns="76200" rIns="95250" bIns="76200" anchor="ctr"/>
          <a:lstStyle/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63E76E-89CD-4533-B12B-BA23CA95D353}"/>
              </a:ext>
            </a:extLst>
          </p:cNvPr>
          <p:cNvSpPr>
            <a:spLocks noGrp="1"/>
          </p:cNvSpPr>
          <p:nvPr/>
        </p:nvSpPr>
        <p:spPr>
          <a:xfrm>
            <a:off x="713232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95250" tIns="76200" rIns="95250" bIns="76200" anchor="ctr"/>
          <a:lstStyle/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 services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B2C03F-8B20-492A-AE4E-3EBDA2782D40}"/>
              </a:ext>
            </a:extLst>
          </p:cNvPr>
          <p:cNvSpPr>
            <a:spLocks noGrp="1"/>
          </p:cNvSpPr>
          <p:nvPr/>
        </p:nvSpPr>
        <p:spPr>
          <a:xfrm>
            <a:off x="920496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95250" tIns="76200" rIns="95250" bIns="76200" anchor="ctr"/>
          <a:lstStyle/>
          <a:p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Workloads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E66650-CFE7-4B7A-A510-5BEC7C131A0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63BD50-1495-DE9C-D046-E7C5F535B0B9}"/>
              </a:ext>
            </a:extLst>
          </p:cNvPr>
          <p:cNvSpPr txBox="1"/>
          <p:nvPr/>
        </p:nvSpPr>
        <p:spPr>
          <a:xfrm>
            <a:off x="9734550" y="6044625"/>
            <a:ext cx="3581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bg2">
                    <a:lumMod val="75000"/>
                  </a:schemeClr>
                </a:solidFill>
              </a:rPr>
              <a:t>Pradyun Devarakonda</a:t>
            </a:r>
          </a:p>
          <a:p>
            <a:r>
              <a:rPr lang="en-US" sz="1600">
                <a:solidFill>
                  <a:schemeClr val="bg2">
                    <a:lumMod val="75000"/>
                  </a:schemeClr>
                </a:solidFill>
              </a:rPr>
              <a:t>Rajanala Dheeraj</a:t>
            </a:r>
          </a:p>
        </p:txBody>
      </p:sp>
    </p:spTree>
    <p:extLst>
      <p:ext uri="{BB962C8B-B14F-4D97-AF65-F5344CB8AC3E}">
        <p14:creationId xmlns:p14="http://schemas.microsoft.com/office/powerpoint/2010/main" val="186166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5AB7B7-DB75-496C-AF33-7FDD3DC5DDB8}"/>
              </a:ext>
            </a:extLst>
          </p:cNvPr>
          <p:cNvSpPr>
            <a:spLocks noGrp="1"/>
          </p:cNvSpPr>
          <p:nvPr/>
        </p:nvSpPr>
        <p:spPr>
          <a:xfrm>
            <a:off x="0" y="1016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0CB6B-1963-477D-B18C-AB79936C089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C1414-F0F6-4931-BEC7-D0662752965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deploys computation agents near data sources, then combines their work globally.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7BF40-0B73-4C09-A35E-0D4ED4DD4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</a:t>
            </a:r>
            <a:r>
              <a:rPr lang="en-US"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 The outputs produced by them are combined 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65F7-D72B-4FC0-8B6C-84B3DA6B0C7C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9396F-9F48-4223-9DC1-50C44F9FC983}"/>
              </a:ext>
            </a:extLst>
          </p:cNvPr>
          <p:cNvSpPr>
            <a:spLocks noGrp="1"/>
          </p:cNvSpPr>
          <p:nvPr/>
        </p:nvSpPr>
        <p:spPr>
          <a:xfrm>
            <a:off x="1162050" y="25527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LMA is attached to each source boundary: tenant, database, service, event stream, or environment.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DD299-2942-409C-BFC4-E2056759A9B7}"/>
              </a:ext>
            </a:extLst>
          </p:cNvPr>
          <p:cNvSpPr>
            <a:spLocks noGrp="1"/>
          </p:cNvSpPr>
          <p:nvPr/>
        </p:nvSpPr>
        <p:spPr>
          <a:xfrm>
            <a:off x="8953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482D2-0A91-47D9-A818-77C822FA6B14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Each local agent profiles data, partitions work, runs source-level models, and publishes summaries or artifacts.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AE66C-3EE0-4B2E-9E99-FDA787C86E27}"/>
              </a:ext>
            </a:extLst>
          </p:cNvPr>
          <p:cNvSpPr>
            <a:spLocks noGrp="1"/>
          </p:cNvSpPr>
          <p:nvPr/>
        </p:nvSpPr>
        <p:spPr>
          <a:xfrm>
            <a:off x="8953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3A9C4-A310-4B43-8A33-95A416DEEACF}"/>
              </a:ext>
            </a:extLst>
          </p:cNvPr>
          <p:cNvSpPr>
            <a:spLocks noGrp="1"/>
          </p:cNvSpPr>
          <p:nvPr/>
        </p:nvSpPr>
        <p:spPr>
          <a:xfrm>
            <a:off x="1162050" y="36195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GMA registers local agents and combines their outputs for multi-source computation.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55E17F-99CE-40DB-9406-767DA14F48F5}"/>
              </a:ext>
            </a:extLst>
          </p:cNvPr>
          <p:cNvSpPr>
            <a:spLocks noGrp="1"/>
          </p:cNvSpPr>
          <p:nvPr/>
        </p:nvSpPr>
        <p:spPr>
          <a:xfrm>
            <a:off x="895350" y="42195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6EEE6-1447-4276-909E-B92E08A9697B}"/>
              </a:ext>
            </a:extLst>
          </p:cNvPr>
          <p:cNvSpPr>
            <a:spLocks noGrp="1"/>
          </p:cNvSpPr>
          <p:nvPr/>
        </p:nvSpPr>
        <p:spPr>
          <a:xfrm>
            <a:off x="1162050" y="41529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services turn those plans into workflows, model jobs, and Kubernetes workload manifests.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F5ED820-7FB5-428B-8432-AE58353A927D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C1672-6BDD-43C0-9DA7-5B38D6D9634F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3ADD2C-E510-4357-90C6-78A126127BF2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024E7-A8F2-449F-B740-B0F40BDA2C9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</p:spTree>
    <p:extLst>
      <p:ext uri="{BB962C8B-B14F-4D97-AF65-F5344CB8AC3E}">
        <p14:creationId xmlns:p14="http://schemas.microsoft.com/office/powerpoint/2010/main" val="3233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E63F-7208-EBFA-DC7A-DAC699F6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FE00EB-5800-06AC-ECB3-4E3DC01E3B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0AEFF-DF27-C098-FF9C-D3EEA5720CD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3A5707-EF8A-256C-C6A0-216A89842B2A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lang="en-US"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do…</a:t>
            </a:r>
            <a:endParaRPr sz="2550" b="0">
              <a:solidFill>
                <a:srgbClr val="15201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3A9457-0305-A92C-1B54-F227B0C18C2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</a:t>
            </a:r>
            <a:r>
              <a:rPr lang="en-US"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 The outputs produced by them are combined 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4E1ECF-CECE-6BF8-2C52-D9912A905E10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F587B-DAF7-10D3-76C3-5042D1F8BA36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lang="en-US" sz="1500" b="1"/>
              <a:t>Source Profiling - </a:t>
            </a:r>
            <a:r>
              <a:rPr lang="en-US" sz="1500"/>
              <a:t>Inspecting a data source and producing a structured summary before running heavier computation.</a:t>
            </a:r>
            <a:endParaRPr sz="15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A2AB775-5175-1E7F-A890-6A28A7E01617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641027-0987-C018-E91A-A7370F4A9F2B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407AE3-CE59-333C-5D50-7EBE2C484283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E22077-26F0-E118-29E0-D5A04022BF01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F18E8-37C5-4322-C946-91118D2C622F}"/>
              </a:ext>
            </a:extLst>
          </p:cNvPr>
          <p:cNvSpPr txBox="1"/>
          <p:nvPr/>
        </p:nvSpPr>
        <p:spPr>
          <a:xfrm>
            <a:off x="895350" y="2997200"/>
            <a:ext cx="7239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Example:</a:t>
            </a:r>
            <a:br>
              <a:rPr lang="en-US" sz="1400"/>
            </a:br>
            <a:endParaRPr lang="en-US" sz="1400"/>
          </a:p>
          <a:p>
            <a:pPr lvl="1"/>
            <a:r>
              <a:rPr lang="en-US" sz="1400"/>
              <a:t>A company has an orders table in Postgres.</a:t>
            </a:r>
          </a:p>
          <a:p>
            <a:pPr lvl="1"/>
            <a:r>
              <a:rPr lang="en-US" sz="1400" err="1"/>
              <a:t>Dagents</a:t>
            </a:r>
            <a:r>
              <a:rPr lang="en-US" sz="1400"/>
              <a:t> can profile it and return: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number of records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available fields: </a:t>
            </a:r>
            <a:r>
              <a:rPr lang="en-US" sz="1400" err="1"/>
              <a:t>order_id</a:t>
            </a:r>
            <a:r>
              <a:rPr lang="en-US" sz="1400"/>
              <a:t>, </a:t>
            </a:r>
            <a:r>
              <a:rPr lang="en-US" sz="1400" err="1"/>
              <a:t>customer_id</a:t>
            </a:r>
            <a:r>
              <a:rPr lang="en-US" sz="1400"/>
              <a:t>, amount, </a:t>
            </a:r>
            <a:r>
              <a:rPr lang="en-US" sz="1400" err="1"/>
              <a:t>created_at</a:t>
            </a:r>
            <a:endParaRPr lang="en-US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numeric fields: amount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categorical fields: region, status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missing-value checks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partition suggestion, such as batch by </a:t>
            </a:r>
            <a:r>
              <a:rPr lang="en-US" sz="1400" err="1"/>
              <a:t>created_at</a:t>
            </a:r>
            <a:endParaRPr lang="en-US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possible model tasks, such as anomaly detection on order amount</a:t>
            </a:r>
          </a:p>
          <a:p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540918-90EB-E50C-8D98-AC0A77306E4D}"/>
              </a:ext>
            </a:extLst>
          </p:cNvPr>
          <p:cNvSpPr txBox="1"/>
          <p:nvPr/>
        </p:nvSpPr>
        <p:spPr>
          <a:xfrm>
            <a:off x="1162050" y="5674856"/>
            <a:ext cx="6732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“Before running a model, </a:t>
            </a:r>
            <a:r>
              <a:rPr lang="en-US" err="1"/>
              <a:t>Dagents</a:t>
            </a:r>
            <a:r>
              <a:rPr lang="en-US"/>
              <a:t> first understands what kind of data it is dealing with.”</a:t>
            </a:r>
          </a:p>
        </p:txBody>
      </p:sp>
    </p:spTree>
    <p:extLst>
      <p:ext uri="{BB962C8B-B14F-4D97-AF65-F5344CB8AC3E}">
        <p14:creationId xmlns:p14="http://schemas.microsoft.com/office/powerpoint/2010/main" val="147270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7C814-57E8-CD2D-3D73-A460BAEDC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DD7739F-F727-8DA8-139B-1ACD223B5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A773FB-F30A-CB63-32CD-17D1CBA4300D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F2B0F-4699-5653-4147-82E39FB72B42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lang="en-US"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do…</a:t>
            </a:r>
            <a:endParaRPr sz="2550" b="0">
              <a:solidFill>
                <a:srgbClr val="15201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3B5793-51BB-98ED-F4C4-5D36B037C5B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</a:t>
            </a:r>
            <a:r>
              <a:rPr lang="en-US"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 The outputs produced by them are combined 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193995-A434-6FDB-4463-FAFD379BAE6E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546F79-80EE-3FC1-5BAB-D71762E19494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lang="en-US" sz="1500" b="1"/>
              <a:t>Pipeline Orchestration - </a:t>
            </a:r>
            <a:r>
              <a:rPr lang="en-US" sz="1500"/>
              <a:t>Defining a workflow as steps, validating the order, and running those steps.</a:t>
            </a:r>
            <a:endParaRPr sz="15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1D4BEDB-080C-071F-2C85-DE05C98449D0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78823A-7F8E-A559-0732-F3D64921EAB3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750E3-9B7C-3475-B909-AD626B20DD0F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A90AC2-D271-05C5-481B-39CF310B3823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1389C2-209C-3791-81AD-7E983AB85CF0}"/>
              </a:ext>
            </a:extLst>
          </p:cNvPr>
          <p:cNvSpPr txBox="1"/>
          <p:nvPr/>
        </p:nvSpPr>
        <p:spPr>
          <a:xfrm>
            <a:off x="895350" y="2997200"/>
            <a:ext cx="7239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Example Pipeline:</a:t>
            </a:r>
            <a:br>
              <a:rPr lang="en-US" sz="1400"/>
            </a:br>
            <a:endParaRPr lang="en-US" sz="1400"/>
          </a:p>
          <a:p>
            <a:pPr marL="800100" lvl="1" indent="-342900">
              <a:buFont typeface="+mj-lt"/>
              <a:buAutoNum type="arabicPeriod"/>
            </a:pPr>
            <a:r>
              <a:rPr lang="en-US" sz="1400"/>
              <a:t>Load order records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/>
              <a:t>Filter failed or risky transactions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/>
              <a:t>Profile the filtered dataset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/>
              <a:t>Route it to a suitable model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/>
              <a:t>Save or publish the result</a:t>
            </a:r>
          </a:p>
          <a:p>
            <a:endParaRPr lang="en-US" sz="1400"/>
          </a:p>
          <a:p>
            <a:r>
              <a:rPr lang="en-US" sz="1400" err="1"/>
              <a:t>Dagents</a:t>
            </a:r>
            <a:r>
              <a:rPr lang="en-US" sz="1400"/>
              <a:t> checks:</a:t>
            </a:r>
          </a:p>
          <a:p>
            <a:endParaRPr lang="en-US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Are all step IDs unique?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Does every dependency exist?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Is there a cycle?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What order should the steps run in?</a:t>
            </a:r>
          </a:p>
          <a:p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ABFA98-C8CA-396F-967A-35D51DAFDBCB}"/>
              </a:ext>
            </a:extLst>
          </p:cNvPr>
          <p:cNvSpPr txBox="1"/>
          <p:nvPr/>
        </p:nvSpPr>
        <p:spPr>
          <a:xfrm>
            <a:off x="4951730" y="5531534"/>
            <a:ext cx="673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</a:t>
            </a:r>
            <a:r>
              <a:rPr lang="en-US" err="1"/>
              <a:t>Dagents</a:t>
            </a:r>
            <a:r>
              <a:rPr lang="en-US"/>
              <a:t> makes sure the workflow is valid before executing it.”</a:t>
            </a:r>
          </a:p>
        </p:txBody>
      </p:sp>
    </p:spTree>
    <p:extLst>
      <p:ext uri="{BB962C8B-B14F-4D97-AF65-F5344CB8AC3E}">
        <p14:creationId xmlns:p14="http://schemas.microsoft.com/office/powerpoint/2010/main" val="896719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519C8-0D76-6926-4940-407CBF145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E54A9FE-D206-9492-E8FE-25614D9EFD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0143F-60EC-64F0-2706-C58A71DC4DDC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A7EF5-3774-919E-02DB-9CFC4E229D37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lang="en-US"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do…</a:t>
            </a:r>
            <a:endParaRPr sz="2550" b="0">
              <a:solidFill>
                <a:srgbClr val="15201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0A7DC1-B2D6-983C-009A-4A47C589597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</a:t>
            </a:r>
            <a:r>
              <a:rPr lang="en-US"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 The outputs produced by them are combined 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FB0A1B-3C0A-DF3B-A212-1D7983B43C77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77BDD9-447D-60E4-9A76-0F11ADED93F6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lang="en-US" sz="1500" b="1"/>
              <a:t>Model Routing - </a:t>
            </a:r>
            <a:r>
              <a:rPr lang="en-US" sz="1500"/>
              <a:t>Choosing which model family should handle a task based on the dataset profile and requested task.</a:t>
            </a:r>
            <a:endParaRPr sz="15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DEE967-B7B5-C147-216D-6CB716007F91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C473DF-748E-35A6-3A0E-727019E2C81E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7A69C4-44B2-E591-3BEB-F635B86384AF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8B7990-4FC4-B565-9B39-291F17750F61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9EF583-1B1B-1C03-7667-FB76FE393632}"/>
              </a:ext>
            </a:extLst>
          </p:cNvPr>
          <p:cNvSpPr txBox="1"/>
          <p:nvPr/>
        </p:nvSpPr>
        <p:spPr>
          <a:xfrm>
            <a:off x="895350" y="2997200"/>
            <a:ext cx="72390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Example:</a:t>
            </a:r>
            <a:br>
              <a:rPr lang="en-US" sz="1400"/>
            </a:br>
            <a:endParaRPr lang="en-US" sz="1400"/>
          </a:p>
          <a:p>
            <a:pPr lvl="1"/>
            <a:r>
              <a:rPr lang="en-US" sz="1400"/>
              <a:t>If the task is anomaly detection over tabular transaction data, </a:t>
            </a:r>
            <a:r>
              <a:rPr lang="en-US" sz="1400" err="1"/>
              <a:t>Dagents</a:t>
            </a:r>
            <a:r>
              <a:rPr lang="en-US" sz="1400"/>
              <a:t> may route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autoencoder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variational autoencoder</a:t>
            </a:r>
          </a:p>
          <a:p>
            <a:endParaRPr lang="en-US" sz="1400"/>
          </a:p>
          <a:p>
            <a:pPr lvl="1"/>
            <a:r>
              <a:rPr lang="en-US" sz="1400"/>
              <a:t>If the task is forecasting over time-series data, it may route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sequence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/>
              <a:t>forecasting model</a:t>
            </a:r>
          </a:p>
          <a:p>
            <a:endParaRPr lang="en-US" sz="1400"/>
          </a:p>
          <a:p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B2F6CB-FA8A-B465-4D8B-C712519A2840}"/>
              </a:ext>
            </a:extLst>
          </p:cNvPr>
          <p:cNvSpPr txBox="1"/>
          <p:nvPr/>
        </p:nvSpPr>
        <p:spPr>
          <a:xfrm>
            <a:off x="1162050" y="5580063"/>
            <a:ext cx="6732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“Instead of every app hardcoding model choices, </a:t>
            </a:r>
            <a:r>
              <a:rPr lang="en-US" err="1"/>
              <a:t>Dagents</a:t>
            </a:r>
            <a:r>
              <a:rPr lang="en-US"/>
              <a:t> centralizes the model-selection policy.”</a:t>
            </a:r>
          </a:p>
        </p:txBody>
      </p:sp>
    </p:spTree>
    <p:extLst>
      <p:ext uri="{BB962C8B-B14F-4D97-AF65-F5344CB8AC3E}">
        <p14:creationId xmlns:p14="http://schemas.microsoft.com/office/powerpoint/2010/main" val="37589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42061-08AF-057A-927B-CCEE74747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583850-8734-4A7E-1DA1-E95612821A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E5B7E-675B-A533-E349-AF4F98D60FC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071DC7-1BD2-3A3C-2B85-216F8822A0B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lang="en-US"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Some Tasks you can do…</a:t>
            </a:r>
            <a:endParaRPr sz="2550" b="0">
              <a:solidFill>
                <a:srgbClr val="15201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33D89A-48FA-9DAE-FCD8-957306A15FA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In the codebase, the per-source agent is called LMA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 ( Local Monitoring Agent) or the CMA (Constraint Monitoring Agent)</a:t>
            </a: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.</a:t>
            </a:r>
            <a:r>
              <a:rPr lang="en-US"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 The outputs produced by them are combined </a:t>
            </a:r>
            <a:r>
              <a:rPr lang="en-US" sz="1200">
                <a:solidFill>
                  <a:srgbClr val="5E6B64"/>
                </a:solidFill>
                <a:latin typeface="Aptos"/>
                <a:ea typeface="Aptos"/>
                <a:cs typeface="Aptos"/>
              </a:rPr>
              <a:t>and computations on the combined data are then done by the GMA ( Global Monitoring Agent).</a:t>
            </a:r>
            <a:endParaRPr sz="1200" b="0">
              <a:solidFill>
                <a:srgbClr val="5E6B6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D9328-1E06-C8BA-7936-2182878B91DF}"/>
              </a:ext>
            </a:extLst>
          </p:cNvPr>
          <p:cNvSpPr>
            <a:spLocks noGrp="1"/>
          </p:cNvSpPr>
          <p:nvPr/>
        </p:nvSpPr>
        <p:spPr>
          <a:xfrm>
            <a:off x="895350" y="2447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F2F38-1174-B751-7F34-BB877ADD333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lang="en-US" sz="1500" b="1"/>
              <a:t>Manifest Generation- </a:t>
            </a:r>
            <a:r>
              <a:rPr lang="en-US" sz="1500"/>
              <a:t>Producing deployable Kubernetes YAML from a typed workload description.</a:t>
            </a:r>
            <a:endParaRPr sz="15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AFB8F49-4209-38A2-810C-0A538612DFC4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 source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DE20-AB7E-3110-209F-8F974B11DC07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send results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A51B492-F405-38C1-BCDA-12EBF5386634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multi-source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D676C9-99CC-6284-FC0C-EC78ED1F247E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FAC8C-D472-6887-F476-FEF1A6A23789}"/>
              </a:ext>
            </a:extLst>
          </p:cNvPr>
          <p:cNvSpPr txBox="1"/>
          <p:nvPr/>
        </p:nvSpPr>
        <p:spPr>
          <a:xfrm>
            <a:off x="895350" y="2997200"/>
            <a:ext cx="7239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Example input:</a:t>
            </a:r>
          </a:p>
          <a:p>
            <a:br>
              <a:rPr lang="en-US" sz="1400"/>
            </a:br>
            <a:r>
              <a:rPr lang="en-US" sz="1400"/>
              <a:t>“We need to deploy an orders-risk-worker with 2 replicas, image </a:t>
            </a:r>
            <a:r>
              <a:rPr lang="en-US" sz="1400" err="1"/>
              <a:t>orders-risk-worker:demo</a:t>
            </a:r>
            <a:r>
              <a:rPr lang="en-US" sz="1400"/>
              <a:t>, port 8080, and environment variable APP_ENV=demo.”</a:t>
            </a:r>
          </a:p>
          <a:p>
            <a:endParaRPr lang="en-US" sz="1400"/>
          </a:p>
          <a:p>
            <a:r>
              <a:rPr lang="en-US" sz="1400" err="1"/>
              <a:t>Dagents</a:t>
            </a:r>
            <a:r>
              <a:rPr lang="en-US" sz="1400"/>
              <a:t> can generate: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Kubernetes 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err="1"/>
              <a:t>ConfigMap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sometimes Job or </a:t>
            </a:r>
            <a:r>
              <a:rPr lang="en-US" sz="1400" err="1"/>
              <a:t>CronJob</a:t>
            </a:r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4CBA74-FBE8-B672-9480-B90E84FD2C4D}"/>
              </a:ext>
            </a:extLst>
          </p:cNvPr>
          <p:cNvSpPr txBox="1"/>
          <p:nvPr/>
        </p:nvSpPr>
        <p:spPr>
          <a:xfrm>
            <a:off x="1148715" y="5527794"/>
            <a:ext cx="6732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“</a:t>
            </a:r>
            <a:r>
              <a:rPr lang="en-US" err="1"/>
              <a:t>Dagents</a:t>
            </a:r>
            <a:r>
              <a:rPr lang="en-US"/>
              <a:t> converts a clean workload description into Kubernetes deployment files.”</a:t>
            </a:r>
          </a:p>
        </p:txBody>
      </p:sp>
    </p:spTree>
    <p:extLst>
      <p:ext uri="{BB962C8B-B14F-4D97-AF65-F5344CB8AC3E}">
        <p14:creationId xmlns:p14="http://schemas.microsoft.com/office/powerpoint/2010/main" val="3985377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55E98F-5E53-45A3-B710-C479446F57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6EC36A-0FD9-442A-B7A1-A8DE348F130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BD3491-C736-49FA-8A7C-16BB18027A7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Non-technical view: local computation first, combined computation second.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D92106-81F4-40BC-9FDA-053D81E4CB4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framework sits between consumer apps, data sources, operators, and the runtime where workloads are deployed.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" y="2897757"/>
            <a:ext cx="10668000" cy="231978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BC064B4-2A25-420C-912E-01DBA415A96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03</a:t>
            </a:r>
          </a:p>
        </p:txBody>
      </p:sp>
    </p:spTree>
    <p:extLst>
      <p:ext uri="{BB962C8B-B14F-4D97-AF65-F5344CB8AC3E}">
        <p14:creationId xmlns:p14="http://schemas.microsoft.com/office/powerpoint/2010/main" val="179631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479A346-CD14-411A-AFB6-6934DCA38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29DDB-6D69-4CA7-A898-3289B0DC06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7BB917-2BF2-4DEC-9B37-1BA2E428C27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is not one product backend. It is a reusable service framework.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704B30-3E55-43AC-B117-A3BC57094B3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Consumer apps plug into it when they need agent orchestration, ML workflow services, or workload generation.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3081A4-6899-453F-BDDB-D3AF6CA62CF7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3E67488-16FF-4721-B16B-EED624647858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Core 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A21E9-90FD-423B-94CD-5AE2604AE6C4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Catalog, topology, workload compilation, and Kubernetes manifest generation.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EBE119-5A68-4F66-9ECE-171920DB925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2C0DF7-A365-4208-97B7-95B9C2846808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 service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66C7E8-D30E-4F8F-A2A3-A470D4067A7E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JSON workflows, validate them, and run them against payloads.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2E24A4-0141-4B37-8928-691636878792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327AB3-C9C1-4F2A-A6D0-10D7A4A645FF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service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56E01-AE91-43A1-8163-B51B0EF3698D}"/>
              </a:ext>
            </a:extLst>
          </p:cNvPr>
          <p:cNvSpPr>
            <a:spLocks noGrp="1"/>
          </p:cNvSpPr>
          <p:nvPr/>
        </p:nvSpPr>
        <p:spPr>
          <a:xfrm>
            <a:off x="54292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Python-first training, checks, benchmark data, and reusable ML jobs.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F730831-E735-4AF3-8B89-EC1D8BA5E7F2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4B2B6C-E9FC-4DAE-AEEF-1C30741DD9A8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 / CMA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AE6955-92C1-481D-8741-E1B4ACD11D07}"/>
              </a:ext>
            </a:extLst>
          </p:cNvPr>
          <p:cNvSpPr>
            <a:spLocks noGrp="1"/>
          </p:cNvSpPr>
          <p:nvPr/>
        </p:nvSpPr>
        <p:spPr>
          <a:xfrm>
            <a:off x="773430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Source-scoped dataset profiling and local model execution.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DFFB37-32AB-426D-936F-2F09D6103545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14287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7216B4A-3BF2-4504-852C-8A99711EC0E0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5BB77E-A396-45E8-81E6-0554EE3EAA7C}"/>
              </a:ext>
            </a:extLst>
          </p:cNvPr>
          <p:cNvSpPr>
            <a:spLocks noGrp="1"/>
          </p:cNvSpPr>
          <p:nvPr/>
        </p:nvSpPr>
        <p:spPr>
          <a:xfrm>
            <a:off x="973455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Agent registration, aggregation, dispatch tracking, and multi-source profiles.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02936F-D2E1-4B65-BA8E-7DDEA9BF716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9620250" cy="7429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important idea: backend teams call stable service APIs instead of rebuilding source profiling, pipeline orchestration, model routing, and manifest generation in every app.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41F84D-20B4-45ED-993A-A1BBBB1ECECB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04</a:t>
            </a:r>
          </a:p>
        </p:txBody>
      </p:sp>
    </p:spTree>
    <p:extLst>
      <p:ext uri="{BB962C8B-B14F-4D97-AF65-F5344CB8AC3E}">
        <p14:creationId xmlns:p14="http://schemas.microsoft.com/office/powerpoint/2010/main" val="1579118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E53F3A-15C4-4E87-B1FC-FD206D4F9D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84829-7899-4AD9-909A-707E198CB69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7AFF5-32B7-4744-9598-EC73A05D289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High-level software view: runtime services outside, functional planners inside.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0B3257-4C1E-4555-8FD9-857EDB8DB61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purple block is the OCaml functional programming layer. Services call it through dagentsc.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936730"/>
            <a:ext cx="11049000" cy="34131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9A9093-40E4-42D4-AA15-CBE19544F38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05</a:t>
            </a:r>
          </a:p>
        </p:txBody>
      </p:sp>
    </p:spTree>
    <p:extLst>
      <p:ext uri="{BB962C8B-B14F-4D97-AF65-F5344CB8AC3E}">
        <p14:creationId xmlns:p14="http://schemas.microsoft.com/office/powerpoint/2010/main" val="738132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75A3DA2-D556-4E9F-91B7-D6E98684AC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499DF2-FCC1-4C0D-B6C3-8D26D6DA034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DB5323-C24B-4B64-AC06-B7AB0331786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A backend integrates by calling Dagents APIs at the points where it needs planning or execution.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80D7D7-1E72-4CDC-97DB-6A27824932E2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system is useful because integration is service-based, not a codebase fork.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B38F37C-CA19-450E-83E1-68B4D7EE92B5}"/>
              </a:ext>
            </a:extLst>
          </p:cNvPr>
          <p:cNvSpPr>
            <a:spLocks noGrp="1"/>
          </p:cNvSpPr>
          <p:nvPr/>
        </p:nvSpPr>
        <p:spPr>
          <a:xfrm>
            <a:off x="838199" y="2381250"/>
            <a:ext cx="4781549" cy="298323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021B73-AF66-4D04-9B04-901E29C4A84B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Architectural points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0AD8FF-B5BE-40E2-9BE7-EE88558A771B}"/>
              </a:ext>
            </a:extLst>
          </p:cNvPr>
          <p:cNvSpPr>
            <a:spLocks noGrp="1"/>
          </p:cNvSpPr>
          <p:nvPr/>
        </p:nvSpPr>
        <p:spPr>
          <a:xfrm>
            <a:off x="1104900" y="3209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07987A-B56D-4CAB-87E6-1E0F9AA1AD2E}"/>
              </a:ext>
            </a:extLst>
          </p:cNvPr>
          <p:cNvSpPr>
            <a:spLocks noGrp="1"/>
          </p:cNvSpPr>
          <p:nvPr/>
        </p:nvSpPr>
        <p:spPr>
          <a:xfrm>
            <a:off x="1371600" y="3143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 owns local/source execution.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970ED0-7214-4148-993C-589B94E1E878}"/>
              </a:ext>
            </a:extLst>
          </p:cNvPr>
          <p:cNvSpPr>
            <a:spLocks noGrp="1"/>
          </p:cNvSpPr>
          <p:nvPr/>
        </p:nvSpPr>
        <p:spPr>
          <a:xfrm>
            <a:off x="1104900" y="35909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59A94E-BDAF-4349-9E35-8EDA1387F48B}"/>
              </a:ext>
            </a:extLst>
          </p:cNvPr>
          <p:cNvSpPr>
            <a:spLocks noGrp="1"/>
          </p:cNvSpPr>
          <p:nvPr/>
        </p:nvSpPr>
        <p:spPr>
          <a:xfrm>
            <a:off x="1371600" y="3524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GMA owns aggregate coordination.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222E76-4CD8-4375-A0A8-B4EB044CD57F}"/>
              </a:ext>
            </a:extLst>
          </p:cNvPr>
          <p:cNvSpPr>
            <a:spLocks noGrp="1"/>
          </p:cNvSpPr>
          <p:nvPr/>
        </p:nvSpPr>
        <p:spPr>
          <a:xfrm>
            <a:off x="1104900" y="39719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3F7745-48CF-4841-90CC-1BC77F91DA9A}"/>
              </a:ext>
            </a:extLst>
          </p:cNvPr>
          <p:cNvSpPr>
            <a:spLocks noGrp="1"/>
          </p:cNvSpPr>
          <p:nvPr/>
        </p:nvSpPr>
        <p:spPr>
          <a:xfrm>
            <a:off x="1371600" y="3905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 is the deployment facade.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D1DA1D-22FB-4072-A703-AD779A3186BF}"/>
              </a:ext>
            </a:extLst>
          </p:cNvPr>
          <p:cNvSpPr>
            <a:spLocks noGrp="1"/>
          </p:cNvSpPr>
          <p:nvPr/>
        </p:nvSpPr>
        <p:spPr>
          <a:xfrm>
            <a:off x="1104900" y="43529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25A61-DE13-4920-B9EA-827D2F453746}"/>
              </a:ext>
            </a:extLst>
          </p:cNvPr>
          <p:cNvSpPr>
            <a:spLocks noGrp="1"/>
          </p:cNvSpPr>
          <p:nvPr/>
        </p:nvSpPr>
        <p:spPr>
          <a:xfrm>
            <a:off x="1371600" y="4286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 service executes reusable workflows.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CCDCC3-7393-45CB-952E-72B84B82F995}"/>
              </a:ext>
            </a:extLst>
          </p:cNvPr>
          <p:cNvSpPr>
            <a:spLocks noGrp="1"/>
          </p:cNvSpPr>
          <p:nvPr/>
        </p:nvSpPr>
        <p:spPr>
          <a:xfrm>
            <a:off x="1104900" y="473392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B43EA8-80F7-47A0-805C-5022B663BA3A}"/>
              </a:ext>
            </a:extLst>
          </p:cNvPr>
          <p:cNvSpPr>
            <a:spLocks noGrp="1"/>
          </p:cNvSpPr>
          <p:nvPr/>
        </p:nvSpPr>
        <p:spPr>
          <a:xfrm>
            <a:off x="1371600" y="4667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OCaml planners keep validation deterministic.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D3268C-0224-4B60-8575-A2A9AB2F2262}"/>
              </a:ext>
            </a:extLst>
          </p:cNvPr>
          <p:cNvSpPr>
            <a:spLocks noGrp="1"/>
          </p:cNvSpPr>
          <p:nvPr/>
        </p:nvSpPr>
        <p:spPr>
          <a:xfrm>
            <a:off x="6572250" y="2381250"/>
            <a:ext cx="4781550" cy="298323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17BC61-526C-45B6-8A21-333443FDA752}"/>
              </a:ext>
            </a:extLst>
          </p:cNvPr>
          <p:cNvSpPr>
            <a:spLocks noGrp="1"/>
          </p:cNvSpPr>
          <p:nvPr/>
        </p:nvSpPr>
        <p:spPr>
          <a:xfrm>
            <a:off x="6800850" y="2609850"/>
            <a:ext cx="1619250" cy="24765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to integrate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050FD5-9609-4BFB-83D9-76AFC17A8479}"/>
              </a:ext>
            </a:extLst>
          </p:cNvPr>
          <p:cNvSpPr>
            <a:spLocks noGrp="1"/>
          </p:cNvSpPr>
          <p:nvPr/>
        </p:nvSpPr>
        <p:spPr>
          <a:xfrm>
            <a:off x="6838950" y="32099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FD4261-2113-4CA3-BE09-F1AFE802ECD5}"/>
              </a:ext>
            </a:extLst>
          </p:cNvPr>
          <p:cNvSpPr>
            <a:spLocks noGrp="1"/>
          </p:cNvSpPr>
          <p:nvPr/>
        </p:nvSpPr>
        <p:spPr>
          <a:xfrm>
            <a:off x="7105650" y="3143250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Call /api/v1/services or /topology to discover framework services.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8F2A6D-5A4D-43A0-861B-49BD8F5933F6}"/>
              </a:ext>
            </a:extLst>
          </p:cNvPr>
          <p:cNvSpPr>
            <a:spLocks noGrp="1"/>
          </p:cNvSpPr>
          <p:nvPr/>
        </p:nvSpPr>
        <p:spPr>
          <a:xfrm>
            <a:off x="6838950" y="3661411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03D6CB6-2C24-46AF-9815-0E7959C07FD1}"/>
              </a:ext>
            </a:extLst>
          </p:cNvPr>
          <p:cNvSpPr>
            <a:spLocks noGrp="1"/>
          </p:cNvSpPr>
          <p:nvPr/>
        </p:nvSpPr>
        <p:spPr>
          <a:xfrm>
            <a:off x="7105650" y="3594736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a source or pipeline definition.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9F7E2D-C45A-482F-849D-8F4B3FEDE3DD}"/>
              </a:ext>
            </a:extLst>
          </p:cNvPr>
          <p:cNvSpPr>
            <a:spLocks noGrp="1"/>
          </p:cNvSpPr>
          <p:nvPr/>
        </p:nvSpPr>
        <p:spPr>
          <a:xfrm>
            <a:off x="6838950" y="3899536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B085DD-CC02-4AA8-9D70-AA3F18EE7EF1}"/>
              </a:ext>
            </a:extLst>
          </p:cNvPr>
          <p:cNvSpPr>
            <a:spLocks noGrp="1"/>
          </p:cNvSpPr>
          <p:nvPr/>
        </p:nvSpPr>
        <p:spPr>
          <a:xfrm>
            <a:off x="7105650" y="3832860"/>
            <a:ext cx="38290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LMA/GMA /</a:t>
            </a:r>
            <a:r>
              <a:rPr sz="1500" b="0" err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datasets:profile</a:t>
            </a: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 for local or aggregate profiles.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86058-5659-4C0A-9E7C-6CA0B10E88CA}"/>
              </a:ext>
            </a:extLst>
          </p:cNvPr>
          <p:cNvSpPr>
            <a:spLocks noGrp="1"/>
          </p:cNvSpPr>
          <p:nvPr/>
        </p:nvSpPr>
        <p:spPr>
          <a:xfrm>
            <a:off x="6838950" y="4404361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9114A7-518F-42DD-A217-D230FF0EAE02}"/>
              </a:ext>
            </a:extLst>
          </p:cNvPr>
          <p:cNvSpPr>
            <a:spLocks noGrp="1"/>
          </p:cNvSpPr>
          <p:nvPr/>
        </p:nvSpPr>
        <p:spPr>
          <a:xfrm>
            <a:off x="7105650" y="4337686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/</a:t>
            </a:r>
            <a:r>
              <a:rPr sz="1500" b="0" err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workloads:compile</a:t>
            </a: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 to turn app components into deployable manifests.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C635E-9B06-45C9-8428-F8121BC82A2E}"/>
              </a:ext>
            </a:extLst>
          </p:cNvPr>
          <p:cNvSpPr>
            <a:spLocks noGrp="1"/>
          </p:cNvSpPr>
          <p:nvPr/>
        </p:nvSpPr>
        <p:spPr>
          <a:xfrm>
            <a:off x="6838950" y="4842510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p/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598FE1-EB70-4CB5-A7FC-365A6F3FB72F}"/>
              </a:ext>
            </a:extLst>
          </p:cNvPr>
          <p:cNvSpPr>
            <a:spLocks noGrp="1"/>
          </p:cNvSpPr>
          <p:nvPr/>
        </p:nvSpPr>
        <p:spPr>
          <a:xfrm>
            <a:off x="7105650" y="4775835"/>
            <a:ext cx="38290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Read returned plans and traces in your own backend/UI.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EC3D9F-17BE-4661-BFB1-903BEBAA4C7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06</a:t>
            </a:r>
          </a:p>
        </p:txBody>
      </p:sp>
    </p:spTree>
    <p:extLst>
      <p:ext uri="{BB962C8B-B14F-4D97-AF65-F5344CB8AC3E}">
        <p14:creationId xmlns:p14="http://schemas.microsoft.com/office/powerpoint/2010/main" val="837721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A913A39-146D-4835-9300-2119C66846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61A1D0-CA28-4F72-AF94-A63153D216A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READY API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A22EC3-C495-4547-9AF9-743021049E1A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Core service already exposes a deployment planning API.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0B2686-6495-4905-B9A7-A1CB4BF6A9BE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This is a real FastAPI route from services/core-service/app/api/routes.py.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C3E6AE-B5FB-413C-9A1A-538C5EABA6EF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5143500" cy="2400300"/>
          </a:xfrm>
          <a:prstGeom prst="roundRect">
            <a:avLst>
              <a:gd name="adj" fmla="val 2381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DDFA0-3E6E-421C-9163-9F3EC9CDD174}"/>
              </a:ext>
            </a:extLst>
          </p:cNvPr>
          <p:cNvSpPr>
            <a:spLocks noGrp="1"/>
          </p:cNvSpPr>
          <p:nvPr/>
        </p:nvSpPr>
        <p:spPr>
          <a:xfrm>
            <a:off x="1047750" y="2495550"/>
            <a:ext cx="4800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ready service 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C25361-C2F3-433A-B930-0C57F578D4C1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4800600" cy="1885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@router.post("/workloads:compile", response_model=WorkloadPlanResponse)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def compile_workloads(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request: WorkloadCompileRequest,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service: ManifestService = Depends(get_manifest_service),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) -&gt; WorkloadPlanResponse: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return service.compile(request)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B92E36-FDB2-4B78-9EC7-4A9D9935B8ED}"/>
              </a:ext>
            </a:extLst>
          </p:cNvPr>
          <p:cNvSpPr>
            <a:spLocks noGrp="1"/>
          </p:cNvSpPr>
          <p:nvPr/>
        </p:nvSpPr>
        <p:spPr>
          <a:xfrm>
            <a:off x="6515100" y="2362200"/>
            <a:ext cx="4762500" cy="2400300"/>
          </a:xfrm>
          <a:prstGeom prst="roundRect">
            <a:avLst>
              <a:gd name="adj" fmla="val 2381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803ADE-1D1D-4D4C-B44F-F25F013B7905}"/>
              </a:ext>
            </a:extLst>
          </p:cNvPr>
          <p:cNvSpPr>
            <a:spLocks noGrp="1"/>
          </p:cNvSpPr>
          <p:nvPr/>
        </p:nvSpPr>
        <p:spPr>
          <a:xfrm>
            <a:off x="6686550" y="249555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consumer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90011-932B-408E-84A3-9336FC1B4372}"/>
              </a:ext>
            </a:extLst>
          </p:cNvPr>
          <p:cNvSpPr>
            <a:spLocks noGrp="1"/>
          </p:cNvSpPr>
          <p:nvPr/>
        </p:nvSpPr>
        <p:spPr>
          <a:xfrm>
            <a:off x="6686550" y="2762250"/>
            <a:ext cx="4419600" cy="1885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curl -X POST http://127.0.0.1:8040/api/v1/workloads:compile \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-H "Content-Type: application/json" \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-d @docs/demo/inputs/core-workload-compile.json</a:t>
            </a: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returns a stored workload plan plus Kubernetes YAML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for Deployment, Service, and ConfigMap resources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47C2B-FAD6-4853-A81E-5F279320344C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76250"/>
          </a:xfrm>
          <a:prstGeom prst="rect">
            <a:avLst/>
          </a:prstGeom>
          <a:solidFill>
            <a:srgbClr val="24342D"/>
          </a:solidFill>
          <a:ln w="9525">
            <a:solidFill>
              <a:srgbClr val="43584D"/>
            </a:solidFill>
          </a:ln>
        </p:spPr>
        <p:txBody>
          <a:bodyPr lIns="95250" tIns="76200" rIns="95250" bIns="76200" anchor="ctr"/>
          <a:lstStyle/>
          <a:p>
            <a:pPr algn="ctr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same pattern exists across the framework: register a workflow, validate a source, profile a dataset, route a model, or compile a workload.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8A4CB4-7E0E-4442-9C8E-3D627D0BAA27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07</a:t>
            </a:r>
          </a:p>
        </p:txBody>
      </p:sp>
    </p:spTree>
    <p:extLst>
      <p:ext uri="{BB962C8B-B14F-4D97-AF65-F5344CB8AC3E}">
        <p14:creationId xmlns:p14="http://schemas.microsoft.com/office/powerpoint/2010/main" val="1681801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8B48FC-9270-4076-9A92-5F325507F4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D29095-B911-4C0F-9706-953925DACA1B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NL2SQL INTEGRATION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7563A6-3EEA-4EA1-93BF-427934C4E52E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demo app plugs into Dagents through a thin backend orchestration layer.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EEC8F3-CC9A-4702-9695-E73DE7355E6A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app still owns the UI and SQL generation. Dagents owns traceable planning, validation, service checks, and workload compilation.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66800" y="2144596"/>
            <a:ext cx="10001250" cy="39023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C4E16F4-365B-4351-B147-372A06CF9F1D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08</a:t>
            </a:r>
          </a:p>
        </p:txBody>
      </p:sp>
    </p:spTree>
    <p:extLst>
      <p:ext uri="{BB962C8B-B14F-4D97-AF65-F5344CB8AC3E}">
        <p14:creationId xmlns:p14="http://schemas.microsoft.com/office/powerpoint/2010/main" val="421889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E6CB4F0-11B9-4E9B-AAD6-6D4BC08A8A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0B9B43-F962-4E4B-954E-89158AF7DEFF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 WIRING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A04E3-2917-45F5-8308-00D749BF1C9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NL2SQL calls Dagents while handling a normal /generate request.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B6A905-DEE8-4F5B-AAFA-BED707E19BBF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trace returned to the UI is built from actual planner and service calls.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12414BE-AB6C-4973-836D-0EEC728EA381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6096000" cy="2952750"/>
          </a:xfrm>
          <a:prstGeom prst="roundRect">
            <a:avLst>
              <a:gd name="adj" fmla="val 1935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5C7550-5B80-4EAE-AAC1-5DA884A6752C}"/>
              </a:ext>
            </a:extLst>
          </p:cNvPr>
          <p:cNvSpPr>
            <a:spLocks noGrp="1"/>
          </p:cNvSpPr>
          <p:nvPr/>
        </p:nvSpPr>
        <p:spPr>
          <a:xfrm>
            <a:off x="895350" y="2533650"/>
            <a:ext cx="57531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services/nl2sql-demo/backend/app/services/dagents_orchestrator.py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90AC8F-5363-49BD-9277-09CE7DE41F39}"/>
              </a:ext>
            </a:extLst>
          </p:cNvPr>
          <p:cNvSpPr>
            <a:spLocks noGrp="1"/>
          </p:cNvSpPr>
          <p:nvPr/>
        </p:nvSpPr>
        <p:spPr>
          <a:xfrm>
            <a:off x="895350" y="2800350"/>
            <a:ext cx="5753100" cy="243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SourceSpec validation",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validate_dataset_source(inline_source))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extraction planning",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compile_dataset_extraction(inline_source))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"Dagents pipeline DAG planning",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self._pipeline_plan_payload())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self._append_trace(trace, "core-service workload compile",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   lambda: self._compile_demo_workload())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87A338-84E3-442F-8D0F-84EADC5B266E}"/>
              </a:ext>
            </a:extLst>
          </p:cNvPr>
          <p:cNvSpPr>
            <a:spLocks noGrp="1"/>
          </p:cNvSpPr>
          <p:nvPr/>
        </p:nvSpPr>
        <p:spPr>
          <a:xfrm>
            <a:off x="733425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9A0C13-0867-4234-9514-476EAA8346B5}"/>
              </a:ext>
            </a:extLst>
          </p:cNvPr>
          <p:cNvSpPr>
            <a:spLocks noGrp="1"/>
          </p:cNvSpPr>
          <p:nvPr/>
        </p:nvSpPr>
        <p:spPr>
          <a:xfrm>
            <a:off x="7600950" y="257175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schema is converted into records for validation and profiling.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7F6531-D112-4DF9-A8C4-654356490148}"/>
              </a:ext>
            </a:extLst>
          </p:cNvPr>
          <p:cNvSpPr>
            <a:spLocks noGrp="1"/>
          </p:cNvSpPr>
          <p:nvPr/>
        </p:nvSpPr>
        <p:spPr>
          <a:xfrm>
            <a:off x="73342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DB52C6-D780-48D3-811C-03DEDD4C3C81}"/>
              </a:ext>
            </a:extLst>
          </p:cNvPr>
          <p:cNvSpPr>
            <a:spLocks noGrp="1"/>
          </p:cNvSpPr>
          <p:nvPr/>
        </p:nvSpPr>
        <p:spPr>
          <a:xfrm>
            <a:off x="7600950" y="308610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dagentsc plans the schema and pipeline parts through JSON.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37D0-7258-4C08-B12F-D23D4E2D65F9}"/>
              </a:ext>
            </a:extLst>
          </p:cNvPr>
          <p:cNvSpPr>
            <a:spLocks noGrp="1"/>
          </p:cNvSpPr>
          <p:nvPr/>
        </p:nvSpPr>
        <p:spPr>
          <a:xfrm>
            <a:off x="7334250" y="36671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212C6D-AA98-45B2-9B92-9AE712067DE9}"/>
              </a:ext>
            </a:extLst>
          </p:cNvPr>
          <p:cNvSpPr>
            <a:spLocks noGrp="1"/>
          </p:cNvSpPr>
          <p:nvPr/>
        </p:nvSpPr>
        <p:spPr>
          <a:xfrm>
            <a:off x="7600950" y="360045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Core, pipeline, model, LMA, and GMA services are touched in the trace.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E9661B-3B66-407F-8C44-532C5AF0C19D}"/>
              </a:ext>
            </a:extLst>
          </p:cNvPr>
          <p:cNvSpPr>
            <a:spLocks noGrp="1"/>
          </p:cNvSpPr>
          <p:nvPr/>
        </p:nvSpPr>
        <p:spPr>
          <a:xfrm>
            <a:off x="7334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04FB9A-2574-4D56-88A5-78048FF4B3C9}"/>
              </a:ext>
            </a:extLst>
          </p:cNvPr>
          <p:cNvSpPr>
            <a:spLocks noGrp="1"/>
          </p:cNvSpPr>
          <p:nvPr/>
        </p:nvSpPr>
        <p:spPr>
          <a:xfrm>
            <a:off x="7600950" y="4114800"/>
            <a:ext cx="34004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SQL model adapter remains app-specific.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4FC366-77FA-4D7F-A96C-FD7325F91FAC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09</a:t>
            </a:r>
          </a:p>
        </p:txBody>
      </p:sp>
    </p:spTree>
    <p:extLst>
      <p:ext uri="{BB962C8B-B14F-4D97-AF65-F5344CB8AC3E}">
        <p14:creationId xmlns:p14="http://schemas.microsoft.com/office/powerpoint/2010/main" val="995668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9AF9D45-96E0-4AEF-9343-56C453755A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C1EEFE-ACB5-4C94-912B-00F796A8147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FUNCTIONAL PROGRAMMING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3BC69-EE4D-4BE2-890A-092AE334069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OCaml is used where Dagents needs precise planning, not where it needs long-running services.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719FD-4485-47FE-A43C-3CD9AE1BA90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This keeps the functional layer small, typed, deterministic, and easy to test.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3C4E7-E9CD-4E69-92C0-EECD3896A080}"/>
              </a:ext>
            </a:extLst>
          </p:cNvPr>
          <p:cNvSpPr>
            <a:spLocks noGrp="1"/>
          </p:cNvSpPr>
          <p:nvPr/>
        </p:nvSpPr>
        <p:spPr>
          <a:xfrm>
            <a:off x="952500" y="263842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902B9-E4CE-4821-981E-4E47B53ADEA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Why: source specs, pipeline DAGs, model routes, and manifests are structured transformations.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CF0192-1C67-496C-8489-AB52E986B7F0}"/>
              </a:ext>
            </a:extLst>
          </p:cNvPr>
          <p:cNvSpPr>
            <a:spLocks noGrp="1"/>
          </p:cNvSpPr>
          <p:nvPr/>
        </p:nvSpPr>
        <p:spPr>
          <a:xfrm>
            <a:off x="952500" y="317182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45A9F-8AF4-453E-954A-FCD0A39EE19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Where: common_ir, dataset_compiler, pipeline_compiler, model_router, and manifest_compiler.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9F904-8290-4D6A-96BC-893EEC488B66}"/>
              </a:ext>
            </a:extLst>
          </p:cNvPr>
          <p:cNvSpPr>
            <a:spLocks noGrp="1"/>
          </p:cNvSpPr>
          <p:nvPr/>
        </p:nvSpPr>
        <p:spPr>
          <a:xfrm>
            <a:off x="952500" y="370522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1728D-6165-4585-BF27-8B33FCF7ED21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How: services call dagentsc with JSON and receive a plan, validation report, or YAML bundle.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473A43-257C-44D7-9BC5-2FFE6C647DCC}"/>
              </a:ext>
            </a:extLst>
          </p:cNvPr>
          <p:cNvSpPr>
            <a:spLocks noGrp="1"/>
          </p:cNvSpPr>
          <p:nvPr/>
        </p:nvSpPr>
        <p:spPr>
          <a:xfrm>
            <a:off x="952500" y="423862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6F567E-A363-4F76-A48A-2F859DCD5446}"/>
              </a:ext>
            </a:extLst>
          </p:cNvPr>
          <p:cNvSpPr>
            <a:spLocks noGrp="1"/>
          </p:cNvSpPr>
          <p:nvPr/>
        </p:nvSpPr>
        <p:spPr>
          <a:xfrm>
            <a:off x="1219200" y="4171950"/>
            <a:ext cx="70675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Boundary: Python and Spring still handle APIs, I/O, model training, persistence, and orchestration state.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43DD60D-D05A-4E1A-99BC-C7AE20FC6A88}"/>
              </a:ext>
            </a:extLst>
          </p:cNvPr>
          <p:cNvSpPr>
            <a:spLocks noGrp="1"/>
          </p:cNvSpPr>
          <p:nvPr/>
        </p:nvSpPr>
        <p:spPr>
          <a:xfrm>
            <a:off x="8858250" y="2552700"/>
            <a:ext cx="2286000" cy="2000250"/>
          </a:xfrm>
          <a:prstGeom prst="roundRect">
            <a:avLst>
              <a:gd name="adj" fmla="val 1905"/>
            </a:avLst>
          </a:prstGeom>
          <a:solidFill>
            <a:srgbClr val="E9E1FA"/>
          </a:solidFill>
          <a:ln w="9525">
            <a:solidFill>
              <a:srgbClr val="AFA4CE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Functional layer</a:t>
            </a:r>
          </a:p>
          <a:p>
            <a:endParaRPr sz="14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compile</a:t>
            </a: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validate</a:t>
            </a: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route</a:t>
            </a: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render</a:t>
            </a:r>
          </a:p>
          <a:p>
            <a:pPr algn="ctr"/>
            <a:endParaRPr sz="1200" b="0">
              <a:solidFill>
                <a:srgbClr val="15201B"/>
              </a:solidFill>
              <a:latin typeface="Aptos"/>
              <a:ea typeface="Aptos"/>
              <a:cs typeface="Aptos"/>
            </a:endParaRP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No database sockets</a:t>
            </a: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No training loop</a:t>
            </a:r>
          </a:p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No API server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FF7CA3-247B-4DB8-9383-3012CB33590F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10</a:t>
            </a:r>
          </a:p>
        </p:txBody>
      </p:sp>
    </p:spTree>
    <p:extLst>
      <p:ext uri="{BB962C8B-B14F-4D97-AF65-F5344CB8AC3E}">
        <p14:creationId xmlns:p14="http://schemas.microsoft.com/office/powerpoint/2010/main" val="840237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78D617A-50C9-4520-9997-A51B40DF850C}"/>
              </a:ext>
            </a:extLst>
          </p:cNvPr>
          <p:cNvSpPr>
            <a:spLocks noGrp="1"/>
          </p:cNvSpPr>
          <p:nvPr/>
        </p:nvSpPr>
        <p:spPr>
          <a:xfrm>
            <a:off x="0" y="1905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C01A78-3C33-4729-9FDA-8AAD2EDE54A0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HIGHLIGHTED LAYER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B4EDFC-5D23-46F2-BCED-D153A9FDB0FE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In the high-level architecture, the OCaml modules are the purple planning layer.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82700C-7D87-4399-85AE-8889629507C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They are called by services when a request needs deterministic validation or planning.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886200" y="2428991"/>
            <a:ext cx="8139438" cy="25143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6494BB-6231-404E-AE6D-E743C0D29DC7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619250" cy="24765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OCaml modules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36ACB0-A21C-4BC8-80C3-F0E628BE7E23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107BB-6817-4204-A4F5-85973EC17B5B}"/>
              </a:ext>
            </a:extLst>
          </p:cNvPr>
          <p:cNvSpPr>
            <a:spLocks noGrp="1"/>
          </p:cNvSpPr>
          <p:nvPr/>
        </p:nvSpPr>
        <p:spPr>
          <a:xfrm>
            <a:off x="1143000" y="3028950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common_ir gives one typed language for all planners.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77C083-D567-417E-A82D-7D30CC277FD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46587F-0F88-4100-878B-D141FC1E3A03}"/>
              </a:ext>
            </a:extLst>
          </p:cNvPr>
          <p:cNvSpPr>
            <a:spLocks noGrp="1"/>
          </p:cNvSpPr>
          <p:nvPr/>
        </p:nvSpPr>
        <p:spPr>
          <a:xfrm>
            <a:off x="1143000" y="3505200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dataset_compiler checks sources and schema work.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A78A0C-4C7E-485D-87FD-0D39310C00F0}"/>
              </a:ext>
            </a:extLst>
          </p:cNvPr>
          <p:cNvSpPr>
            <a:spLocks noGrp="1"/>
          </p:cNvSpPr>
          <p:nvPr/>
        </p:nvSpPr>
        <p:spPr>
          <a:xfrm>
            <a:off x="876300" y="399542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0AD159-64A9-44FC-9B64-E10C925F9B6E}"/>
              </a:ext>
            </a:extLst>
          </p:cNvPr>
          <p:cNvSpPr>
            <a:spLocks noGrp="1"/>
          </p:cNvSpPr>
          <p:nvPr/>
        </p:nvSpPr>
        <p:spPr>
          <a:xfrm>
            <a:off x="1143000" y="3928745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 err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pipeline_compiler</a:t>
            </a: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 validates workflow graphs.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0933EA-AB4F-498F-9EBD-B4531A8535BD}"/>
              </a:ext>
            </a:extLst>
          </p:cNvPr>
          <p:cNvSpPr>
            <a:spLocks noGrp="1"/>
          </p:cNvSpPr>
          <p:nvPr/>
        </p:nvSpPr>
        <p:spPr>
          <a:xfrm>
            <a:off x="876300" y="4449762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AC8C3B-55EB-433D-A15A-46E0E2181CD6}"/>
              </a:ext>
            </a:extLst>
          </p:cNvPr>
          <p:cNvSpPr>
            <a:spLocks noGrp="1"/>
          </p:cNvSpPr>
          <p:nvPr/>
        </p:nvSpPr>
        <p:spPr>
          <a:xfrm>
            <a:off x="1143000" y="4383087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 err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model_router</a:t>
            </a: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 standardizes model selection policy.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166A0F-B1CE-425D-8BEA-C758457CF539}"/>
              </a:ext>
            </a:extLst>
          </p:cNvPr>
          <p:cNvSpPr>
            <a:spLocks noGrp="1"/>
          </p:cNvSpPr>
          <p:nvPr/>
        </p:nvSpPr>
        <p:spPr>
          <a:xfrm>
            <a:off x="876300" y="4938713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40DDFC-FB1D-4BFD-AFF1-6560208D43FB}"/>
              </a:ext>
            </a:extLst>
          </p:cNvPr>
          <p:cNvSpPr>
            <a:spLocks noGrp="1"/>
          </p:cNvSpPr>
          <p:nvPr/>
        </p:nvSpPr>
        <p:spPr>
          <a:xfrm>
            <a:off x="1143000" y="4872038"/>
            <a:ext cx="2590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 err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manifest_compiler</a:t>
            </a: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 renders Kubernetes workload plans.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6AC8D9-9C49-4D49-AC2E-72F502D707DC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11</a:t>
            </a:r>
          </a:p>
        </p:txBody>
      </p:sp>
    </p:spTree>
    <p:extLst>
      <p:ext uri="{BB962C8B-B14F-4D97-AF65-F5344CB8AC3E}">
        <p14:creationId xmlns:p14="http://schemas.microsoft.com/office/powerpoint/2010/main" val="1791523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6B89B64-26FB-4643-885F-A63A6A8B5C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5A3CA9-B594-4BBC-90C0-DB23FFB0E71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LOW-LEVEL OCAML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6131D6-FD4D-4DE4-8E2D-49E6CB3F7EF7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OCaml layer is a compiler stack over shared typed contracts.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E9513D-70FF-47B5-8034-BB5F95F9600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diagram shows how services enter through dagentsc and leave with reports, plans, routes, or manifests.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28542" y="2247900"/>
            <a:ext cx="6315365" cy="36671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E4EE85-DECA-4E8C-BE8E-0411787AF2B0}"/>
              </a:ext>
            </a:extLst>
          </p:cNvPr>
          <p:cNvSpPr>
            <a:spLocks noGrp="1"/>
          </p:cNvSpPr>
          <p:nvPr/>
        </p:nvSpPr>
        <p:spPr>
          <a:xfrm>
            <a:off x="8048625" y="25908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p/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9A5B6-CDF7-465A-9545-75E55D0D8A54}"/>
              </a:ext>
            </a:extLst>
          </p:cNvPr>
          <p:cNvSpPr>
            <a:spLocks noGrp="1"/>
          </p:cNvSpPr>
          <p:nvPr/>
        </p:nvSpPr>
        <p:spPr>
          <a:xfrm>
            <a:off x="8315325" y="252412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common_ir owns the domain shapes and JSON codecs.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8CFC1C-AE1B-464C-9EFE-E740783CA075}"/>
              </a:ext>
            </a:extLst>
          </p:cNvPr>
          <p:cNvSpPr>
            <a:spLocks noGrp="1"/>
          </p:cNvSpPr>
          <p:nvPr/>
        </p:nvSpPr>
        <p:spPr>
          <a:xfrm>
            <a:off x="8048625" y="3143250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93257A-45C3-4C02-BA4B-00D8E69B94D7}"/>
              </a:ext>
            </a:extLst>
          </p:cNvPr>
          <p:cNvSpPr>
            <a:spLocks noGrp="1"/>
          </p:cNvSpPr>
          <p:nvPr/>
        </p:nvSpPr>
        <p:spPr>
          <a:xfrm>
            <a:off x="8315325" y="307657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Each compiler module is a pure planning kernel.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E492F6-7039-4BB0-AF38-B246221B1E0E}"/>
              </a:ext>
            </a:extLst>
          </p:cNvPr>
          <p:cNvSpPr>
            <a:spLocks noGrp="1"/>
          </p:cNvSpPr>
          <p:nvPr/>
        </p:nvSpPr>
        <p:spPr>
          <a:xfrm>
            <a:off x="8048625" y="369570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p/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6DA0D6-68FB-4540-A070-9D610C7069F3}"/>
              </a:ext>
            </a:extLst>
          </p:cNvPr>
          <p:cNvSpPr>
            <a:spLocks noGrp="1"/>
          </p:cNvSpPr>
          <p:nvPr/>
        </p:nvSpPr>
        <p:spPr>
          <a:xfrm>
            <a:off x="8315325" y="362902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Outputs are explicit artifacts that runtime services can execute.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903E28-5606-4C92-BC33-55B8743FA3EA}"/>
              </a:ext>
            </a:extLst>
          </p:cNvPr>
          <p:cNvSpPr>
            <a:spLocks noGrp="1"/>
          </p:cNvSpPr>
          <p:nvPr/>
        </p:nvSpPr>
        <p:spPr>
          <a:xfrm>
            <a:off x="8048625" y="4248150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4DCC62-A6ED-4267-972F-9DC2398EDE9A}"/>
              </a:ext>
            </a:extLst>
          </p:cNvPr>
          <p:cNvSpPr>
            <a:spLocks noGrp="1"/>
          </p:cNvSpPr>
          <p:nvPr/>
        </p:nvSpPr>
        <p:spPr>
          <a:xfrm>
            <a:off x="8315325" y="4181475"/>
            <a:ext cx="27336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Invalid inputs fail before the runtime does expensive work.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70C0DD-4427-4F60-A156-66382D44B13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12</a:t>
            </a:r>
          </a:p>
        </p:txBody>
      </p:sp>
    </p:spTree>
    <p:extLst>
      <p:ext uri="{BB962C8B-B14F-4D97-AF65-F5344CB8AC3E}">
        <p14:creationId xmlns:p14="http://schemas.microsoft.com/office/powerpoint/2010/main" val="9291670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64A5219-3916-445B-B6DA-28BCC5DF2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07193C-6B62-4C6C-90D4-8653D253DEB9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WHEN IT RUNS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B89F4-0119-4897-9002-FC6112A0E1D8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The OCaml modules are not project ML APIs. They are planner calls used before and during runtime.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BD47D2-0F98-46DD-8F6A-F5B1002BE6B4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They can run before the app starts as a build artifact, and during app requests when a service needs a plan.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7769" y="2190750"/>
            <a:ext cx="3900488" cy="3714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C3B15-6186-4242-B8CA-2F8179630AA8}"/>
              </a:ext>
            </a:extLst>
          </p:cNvPr>
          <p:cNvSpPr>
            <a:spLocks noGrp="1"/>
          </p:cNvSpPr>
          <p:nvPr/>
        </p:nvSpPr>
        <p:spPr>
          <a:xfrm>
            <a:off x="5953125" y="2400300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687B4E-2D81-45C4-8544-0004FC96EBBE}"/>
              </a:ext>
            </a:extLst>
          </p:cNvPr>
          <p:cNvSpPr>
            <a:spLocks noGrp="1"/>
          </p:cNvSpPr>
          <p:nvPr/>
        </p:nvSpPr>
        <p:spPr>
          <a:xfrm>
            <a:off x="6219825" y="233362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Before running: Dockerfiles and scripts build dagentsc with dune.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0AF45B-3585-4489-9607-B839E626AED7}"/>
              </a:ext>
            </a:extLst>
          </p:cNvPr>
          <p:cNvSpPr>
            <a:spLocks noGrp="1"/>
          </p:cNvSpPr>
          <p:nvPr/>
        </p:nvSpPr>
        <p:spPr>
          <a:xfrm>
            <a:off x="5953125" y="3105150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489B60-ABCE-4BDB-9E72-FB71FADC6759}"/>
              </a:ext>
            </a:extLst>
          </p:cNvPr>
          <p:cNvSpPr>
            <a:spLocks noGrp="1"/>
          </p:cNvSpPr>
          <p:nvPr/>
        </p:nvSpPr>
        <p:spPr>
          <a:xfrm>
            <a:off x="6219825" y="303847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At startup: services receive DAGENTSC_BIN and service URLs.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2D2AB2-D0DA-4238-AD9F-6D243E38BCC7}"/>
              </a:ext>
            </a:extLst>
          </p:cNvPr>
          <p:cNvSpPr>
            <a:spLocks noGrp="1"/>
          </p:cNvSpPr>
          <p:nvPr/>
        </p:nvSpPr>
        <p:spPr>
          <a:xfrm>
            <a:off x="5953125" y="3810000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C3E043-FB86-4F5A-B76C-06805E5DABF5}"/>
              </a:ext>
            </a:extLst>
          </p:cNvPr>
          <p:cNvSpPr>
            <a:spLocks noGrp="1"/>
          </p:cNvSpPr>
          <p:nvPr/>
        </p:nvSpPr>
        <p:spPr>
          <a:xfrm>
            <a:off x="6219825" y="374332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During requests: services invoke dagentsc for validation, routing, DAG planning, or manifest rendering.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DAC827-3DEE-42A3-8C9F-B6437A678CA1}"/>
              </a:ext>
            </a:extLst>
          </p:cNvPr>
          <p:cNvSpPr>
            <a:spLocks noGrp="1"/>
          </p:cNvSpPr>
          <p:nvPr/>
        </p:nvSpPr>
        <p:spPr>
          <a:xfrm>
            <a:off x="5953125" y="4514850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92DEB4-9B0D-4A5F-BF06-86A9D77F2283}"/>
              </a:ext>
            </a:extLst>
          </p:cNvPr>
          <p:cNvSpPr>
            <a:spLocks noGrp="1"/>
          </p:cNvSpPr>
          <p:nvPr/>
        </p:nvSpPr>
        <p:spPr>
          <a:xfrm>
            <a:off x="6219825" y="4448175"/>
            <a:ext cx="46863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Runtime work still belongs to Python/Spring: reading data, training models, serving APIs, and storing results.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726BD3-AAD5-43C2-A31F-0FDA25688FE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13</a:t>
            </a:r>
          </a:p>
        </p:txBody>
      </p:sp>
    </p:spTree>
    <p:extLst>
      <p:ext uri="{BB962C8B-B14F-4D97-AF65-F5344CB8AC3E}">
        <p14:creationId xmlns:p14="http://schemas.microsoft.com/office/powerpoint/2010/main" val="962011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C63FBE5-C626-41B1-834D-B56FC503DF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4314A2-7553-4707-BA61-1A2C0131131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VALUE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0841AD-BB7E-422E-8CA3-CAD06D59E74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In NL2SQL, the functional layer makes the demo safer and easier to explain.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9435E2-B318-4F87-99CE-9D301C9D091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The UI can show exactly what Dagents checked and planned before returning SQL.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12B0A2A-6AC7-4A41-91BD-B99B7BED06A4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FA1152-9405-4B85-9A01-7832DD90E03B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schema input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9BECB5-B4F2-4648-9A76-1A63463609A5}"/>
              </a:ext>
            </a:extLst>
          </p:cNvPr>
          <p:cNvSpPr>
            <a:spLocks noGrp="1"/>
          </p:cNvSpPr>
          <p:nvPr/>
        </p:nvSpPr>
        <p:spPr>
          <a:xfrm>
            <a:off x="95250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 validation, extraction planning, schema contract checks, and quality rules run over the table metadata.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1FCF3A-834A-4D78-802E-4F2CFFCF6853}"/>
              </a:ext>
            </a:extLst>
          </p:cNvPr>
          <p:cNvSpPr>
            <a:spLocks noGrp="1"/>
          </p:cNvSpPr>
          <p:nvPr/>
        </p:nvSpPr>
        <p:spPr>
          <a:xfrm>
            <a:off x="356235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9F5FC8-5A0B-4478-94D9-0E8A5E8BB829}"/>
              </a:ext>
            </a:extLst>
          </p:cNvPr>
          <p:cNvSpPr>
            <a:spLocks noGrp="1"/>
          </p:cNvSpPr>
          <p:nvPr/>
        </p:nvSpPr>
        <p:spPr>
          <a:xfrm>
            <a:off x="356235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workflow safety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4671BE-572B-4DEE-9E2F-7FFF3B59AE1F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Pipeline DAG planning rejects invalid graph structure before a workflow is executed.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C08E47-32A9-4CD9-955F-2DB506ECE664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F236475-8127-421D-9885-06D61E55F8CE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deployment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41B6D-0ED8-4325-8CB7-98268F0CDD03}"/>
              </a:ext>
            </a:extLst>
          </p:cNvPr>
          <p:cNvSpPr>
            <a:spLocks noGrp="1"/>
          </p:cNvSpPr>
          <p:nvPr/>
        </p:nvSpPr>
        <p:spPr>
          <a:xfrm>
            <a:off x="647700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Core service compiles the NL2SQL backend into a workload plan and manifest bundle.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FC1EA75-06CF-4B2A-9D10-FA7A310220FE}"/>
              </a:ext>
            </a:extLst>
          </p:cNvPr>
          <p:cNvSpPr>
            <a:spLocks noGrp="1"/>
          </p:cNvSpPr>
          <p:nvPr/>
        </p:nvSpPr>
        <p:spPr>
          <a:xfrm>
            <a:off x="9086850" y="2381250"/>
            <a:ext cx="2381250" cy="157162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38F955C-90D6-4A0F-A516-D6F566A988DF}"/>
              </a:ext>
            </a:extLst>
          </p:cNvPr>
          <p:cNvSpPr>
            <a:spLocks noGrp="1"/>
          </p:cNvSpPr>
          <p:nvPr/>
        </p:nvSpPr>
        <p:spPr>
          <a:xfrm>
            <a:off x="9086850" y="2381250"/>
            <a:ext cx="23812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Useful for traceability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BBC99B-BC3B-4E24-AA53-A30B1535CE5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207645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response includes planner and service trace steps, so the demo can show what happened.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959F38-00BA-40E6-8593-451DD7E0B7F3}"/>
              </a:ext>
            </a:extLst>
          </p:cNvPr>
          <p:cNvSpPr>
            <a:spLocks noGrp="1"/>
          </p:cNvSpPr>
          <p:nvPr/>
        </p:nvSpPr>
        <p:spPr>
          <a:xfrm>
            <a:off x="1276350" y="4762500"/>
            <a:ext cx="9620250" cy="5524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Short answer for Q&amp;A: OCaml is called as needed by the app/services. It is not the SQL model and not a separate ML server.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C17DE7-C314-4D32-8628-AA9D60E46998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/ 14</a:t>
            </a:r>
          </a:p>
        </p:txBody>
      </p:sp>
    </p:spTree>
    <p:extLst>
      <p:ext uri="{BB962C8B-B14F-4D97-AF65-F5344CB8AC3E}">
        <p14:creationId xmlns:p14="http://schemas.microsoft.com/office/powerpoint/2010/main" val="1986705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A3C049F-F00E-4172-A6F4-254D0DCF8F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1B557B-4673-460B-A689-6BE39D4F8E33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RUNBOOK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7810EE-5625-445A-B7EB-E15E74D66134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Run the demo with one terminal for the app and one terminal for the probe.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60A5EE-2B6E-46F0-8070-08E9C1038CA1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Use local mode for speed. Use compose mode when you want to show the whole Dagents stack.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63E15A-8DCF-4A0B-B5F9-5ECC6785ACD4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4762500" cy="2333625"/>
          </a:xfrm>
          <a:prstGeom prst="roundRect">
            <a:avLst>
              <a:gd name="adj" fmla="val 2449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4ECD63-23C8-437C-BE6C-6D9BDE1B6856}"/>
              </a:ext>
            </a:extLst>
          </p:cNvPr>
          <p:cNvSpPr>
            <a:spLocks noGrp="1"/>
          </p:cNvSpPr>
          <p:nvPr/>
        </p:nvSpPr>
        <p:spPr>
          <a:xfrm>
            <a:off x="1047750" y="251460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local mode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5B86F4-8CF9-48A5-9118-C236526B5D29}"/>
              </a:ext>
            </a:extLst>
          </p:cNvPr>
          <p:cNvSpPr>
            <a:spLocks noGrp="1"/>
          </p:cNvSpPr>
          <p:nvPr/>
        </p:nvSpPr>
        <p:spPr>
          <a:xfrm>
            <a:off x="1047750" y="2781300"/>
            <a:ext cx="4419600" cy="1819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Fast local demo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run_local_demo.sh</a:t>
            </a:r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Probe the backend and save the response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probe_api.sh</a:t>
            </a:r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794739E-CE7E-4CE1-A3EC-5D85CCE883D6}"/>
              </a:ext>
            </a:extLst>
          </p:cNvPr>
          <p:cNvSpPr>
            <a:spLocks noGrp="1"/>
          </p:cNvSpPr>
          <p:nvPr/>
        </p:nvSpPr>
        <p:spPr>
          <a:xfrm>
            <a:off x="6572250" y="2381250"/>
            <a:ext cx="4762500" cy="2333625"/>
          </a:xfrm>
          <a:prstGeom prst="roundRect">
            <a:avLst>
              <a:gd name="adj" fmla="val 2449"/>
            </a:avLst>
          </a:prstGeom>
          <a:solidFill>
            <a:srgbClr val="14211D"/>
          </a:solidFill>
          <a:ln w="9525">
            <a:solidFill>
              <a:srgbClr val="32443C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5D6926-CAB1-44DB-8F43-B15C4F646BB4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4196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EB5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EB5A6"/>
                </a:solidFill>
                <a:latin typeface="Aptos"/>
                <a:ea typeface="Aptos"/>
                <a:cs typeface="Aptos"/>
              </a:rPr>
              <a:t>compose and functional 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F9DA4E-E77F-4547-AF42-6CB780F5C172}"/>
              </a:ext>
            </a:extLst>
          </p:cNvPr>
          <p:cNvSpPr>
            <a:spLocks noGrp="1"/>
          </p:cNvSpPr>
          <p:nvPr/>
        </p:nvSpPr>
        <p:spPr>
          <a:xfrm>
            <a:off x="6743700" y="2781300"/>
            <a:ext cx="4419600" cy="1819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Full 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Dagents</a:t>
            </a: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 stack with NL2SQL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run_compose_demo.sh</a:t>
            </a:r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Stop containers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services/nl2sql-demo/scripts/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stop_compose_demo.sh</a:t>
            </a:r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# Functional layer output screenshots</a:t>
            </a:r>
          </a:p>
          <a:p>
            <a:pPr algn="l">
              <a:defRPr sz="1050" b="0">
                <a:solidFill>
                  <a:srgbClr val="DCE9E0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CE9E0"/>
                </a:solidFill>
                <a:latin typeface="Menlo"/>
                <a:ea typeface="Menlo"/>
                <a:cs typeface="Menlo"/>
              </a:rPr>
              <a:t>docs/demo/</a:t>
            </a:r>
            <a:r>
              <a:rPr sz="1050" b="0" err="1">
                <a:solidFill>
                  <a:srgbClr val="DCE9E0"/>
                </a:solidFill>
                <a:latin typeface="Menlo"/>
                <a:ea typeface="Menlo"/>
                <a:cs typeface="Menlo"/>
              </a:rPr>
              <a:t>run_functional_layer_demo.sh</a:t>
            </a:r>
            <a:endParaRPr sz="1050" b="0">
              <a:solidFill>
                <a:srgbClr val="DCE9E0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669BAD-512F-487F-AD5F-B71B5090464C}"/>
              </a:ext>
            </a:extLst>
          </p:cNvPr>
          <p:cNvSpPr>
            <a:spLocks noGrp="1"/>
          </p:cNvSpPr>
          <p:nvPr/>
        </p:nvSpPr>
        <p:spPr>
          <a:xfrm>
            <a:off x="1762125" y="5191125"/>
            <a:ext cx="8667750" cy="428625"/>
          </a:xfrm>
          <a:prstGeom prst="rect">
            <a:avLst/>
          </a:prstGeom>
          <a:solidFill>
            <a:srgbClr val="24342D"/>
          </a:solidFill>
          <a:ln w="9525">
            <a:solidFill>
              <a:srgbClr val="43584D"/>
            </a:solidFill>
          </a:ln>
        </p:spPr>
        <p:txBody>
          <a:bodyPr lIns="95250" tIns="76200" rIns="95250" bIns="76200" anchor="ctr"/>
          <a:lstStyle/>
          <a:p>
            <a:pPr algn="ctr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</a:t>
            </a:r>
            <a:r>
              <a:rPr sz="1650" b="0">
                <a:solidFill>
                  <a:srgbClr val="FFFFFF"/>
                </a:solidFill>
                <a:latin typeface="Aptos"/>
                <a:ea typeface="Aptos"/>
                <a:cs typeface="Aptos"/>
                <a:hlinkClick r:id="rId3"/>
              </a:rPr>
              <a:t>http://127.0.0.1:5173 </a:t>
            </a:r>
            <a:endParaRPr sz="1650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388DD7-2A19-438D-9F76-3573C3E5CE7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15</a:t>
            </a:r>
          </a:p>
        </p:txBody>
      </p:sp>
    </p:spTree>
    <p:extLst>
      <p:ext uri="{BB962C8B-B14F-4D97-AF65-F5344CB8AC3E}">
        <p14:creationId xmlns:p14="http://schemas.microsoft.com/office/powerpoint/2010/main" val="1075908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BB9CCDB-CDB6-46D2-AAB1-924DC0F3E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B2566-7613-48BE-B8F4-6418A62A468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9FC07-4330-4143-B79D-8612B56C5543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 gives consumer backends reusable agent orchestration plus deterministic planning.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A9760-6385-4CDB-B187-EBB7C065B31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The project story is simple: compute locally, combine globally, plan with typed functional modules, and deploy through services.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072AB-1C19-4895-B0A7-4060EE04F0E8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0D9345-3D90-4ADB-8B0E-AC4618397D62}"/>
              </a:ext>
            </a:extLst>
          </p:cNvPr>
          <p:cNvSpPr>
            <a:spLocks noGrp="1"/>
          </p:cNvSpPr>
          <p:nvPr/>
        </p:nvSpPr>
        <p:spPr>
          <a:xfrm>
            <a:off x="1504950" y="26289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CMA / LMA per source keeps local computation close to the data.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22953-DC38-4E78-9226-CFA14AEE5151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1BC90-F2F2-4805-BA8E-271EFB531396}"/>
              </a:ext>
            </a:extLst>
          </p:cNvPr>
          <p:cNvSpPr>
            <a:spLocks noGrp="1"/>
          </p:cNvSpPr>
          <p:nvPr/>
        </p:nvSpPr>
        <p:spPr>
          <a:xfrm>
            <a:off x="1504950" y="31242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GMA combines many local outputs into multi-source computation.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C595F4-C3FC-4AC3-9C61-8E944966915E}"/>
              </a:ext>
            </a:extLst>
          </p:cNvPr>
          <p:cNvSpPr>
            <a:spLocks noGrp="1"/>
          </p:cNvSpPr>
          <p:nvPr/>
        </p:nvSpPr>
        <p:spPr>
          <a:xfrm>
            <a:off x="12382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88CBF-F21E-4EBF-9914-76AC84C9ADCD}"/>
              </a:ext>
            </a:extLst>
          </p:cNvPr>
          <p:cNvSpPr>
            <a:spLocks noGrp="1"/>
          </p:cNvSpPr>
          <p:nvPr/>
        </p:nvSpPr>
        <p:spPr>
          <a:xfrm>
            <a:off x="1504950" y="36195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Framework services expose catalog, pipeline, model, agent, and workload APIs.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1B8C96-263A-43AE-AA7B-D08F672A8504}"/>
              </a:ext>
            </a:extLst>
          </p:cNvPr>
          <p:cNvSpPr>
            <a:spLocks noGrp="1"/>
          </p:cNvSpPr>
          <p:nvPr/>
        </p:nvSpPr>
        <p:spPr>
          <a:xfrm>
            <a:off x="1238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351B7-7389-422E-BC6A-7BB16FE694F4}"/>
              </a:ext>
            </a:extLst>
          </p:cNvPr>
          <p:cNvSpPr>
            <a:spLocks noGrp="1"/>
          </p:cNvSpPr>
          <p:nvPr/>
        </p:nvSpPr>
        <p:spPr>
          <a:xfrm>
            <a:off x="1504950" y="41148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OCaml planners make validation and planning predictable.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051E74-2CCC-4F86-A1EB-E60028ACCA68}"/>
              </a:ext>
            </a:extLst>
          </p:cNvPr>
          <p:cNvSpPr>
            <a:spLocks noGrp="1"/>
          </p:cNvSpPr>
          <p:nvPr/>
        </p:nvSpPr>
        <p:spPr>
          <a:xfrm>
            <a:off x="1238250" y="467677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46266-EA9B-4C5E-A665-4242A6261EA6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NL2SQL proves a real app can plug into the framework without becoming the framework.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13CCE-EE3F-4E16-87AA-303D37C0990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/ 16</a:t>
            </a:r>
          </a:p>
        </p:txBody>
      </p:sp>
    </p:spTree>
    <p:extLst>
      <p:ext uri="{BB962C8B-B14F-4D97-AF65-F5344CB8AC3E}">
        <p14:creationId xmlns:p14="http://schemas.microsoft.com/office/powerpoint/2010/main" val="2484234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53635B"/>
                </a:solidFill>
                <a:latin typeface="Aptos"/>
              </a:rPr>
              <a:t>ARCHITECTURE 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15201B"/>
                </a:solidFill>
                <a:latin typeface="Aptos"/>
              </a:rPr>
              <a:t>Why Dagents is split this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3635B"/>
                </a:solidFill>
                <a:latin typeface="Aptos"/>
              </a:rPr>
              <a:t>The framework is intentionally polyglot: each layer owns the work it is best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3635B"/>
                </a:solidFill>
                <a:latin typeface="Aptos"/>
              </a:rPr>
              <a:t>Dagents / 06A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4983480" cy="1298448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73152" cy="1298448"/>
          </a:xfrm>
          <a:prstGeom prst="rect">
            <a:avLst/>
          </a:prstGeom>
          <a:solidFill>
            <a:srgbClr val="63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00784"/>
            <a:ext cx="46542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OCaml for plans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011680"/>
            <a:ext cx="4663440" cy="78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Best for closed choices: source kinds, step kinds, model families.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Pure functions make validation repeatable and easy to 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72768"/>
            <a:ext cx="4983480" cy="1298448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572768"/>
            <a:ext cx="73152" cy="1298448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00784"/>
            <a:ext cx="46542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Python for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011680"/>
            <a:ext cx="4663440" cy="78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Best for FastAPI, ML libraries, source adapters, and quick experiments.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Training and inference stay close to the Python ecosystem.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310128"/>
            <a:ext cx="4983480" cy="1298448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310128"/>
            <a:ext cx="73152" cy="1298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438144"/>
            <a:ext cx="46542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JSON process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3749039"/>
            <a:ext cx="4663440" cy="78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Services call dagentsc as a small planner process.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No FFI coupling; failures stay isolated and visible.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310128"/>
            <a:ext cx="4983480" cy="1298448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310128"/>
            <a:ext cx="73152" cy="12984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3438144"/>
            <a:ext cx="465429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Service-based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749039"/>
            <a:ext cx="4663440" cy="78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Consumer backends call stable APIs instead of copying Dagents code.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The same framework can serve Watchdog, Datalytics, and NL2SQL.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74920"/>
            <a:ext cx="107442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074920"/>
            <a:ext cx="73152" cy="594360"/>
          </a:xfrm>
          <a:prstGeom prst="rect">
            <a:avLst/>
          </a:prstGeom>
          <a:solidFill>
            <a:srgbClr val="152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202936"/>
            <a:ext cx="10415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Presenter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513831"/>
            <a:ext cx="10424160" cy="822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Dagents is not OCaml-first or Python-first. It is planner-first where planning matters, and runtime-first where side effects matter.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53635B"/>
                </a:solidFill>
                <a:latin typeface="Aptos"/>
              </a:rPr>
              <a:t>MODEL ADAPTERS +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15201B"/>
                </a:solidFill>
                <a:latin typeface="Aptos"/>
              </a:rPr>
              <a:t>NL2SQL uses app adapters plus Dagents service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3635B"/>
                </a:solidFill>
                <a:latin typeface="Aptos"/>
              </a:rPr>
              <a:t>The app owns SQL generation; Dagents owns traceable planning, validation, and orchestration.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3635B"/>
                </a:solidFill>
                <a:latin typeface="Aptos"/>
              </a:rPr>
              <a:t>Dagents / 08A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2148840" cy="1024128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/api/v1/models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5623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list adapters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0632" y="1920240"/>
            <a:ext cx="54864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29000" y="1417320"/>
            <a:ext cx="2148840" cy="1024128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545336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/api/v1/generate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185623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schema + question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05272" y="1920240"/>
            <a:ext cx="64008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417320"/>
            <a:ext cx="2148840" cy="1024128"/>
          </a:xfrm>
          <a:prstGeom prst="roundRect">
            <a:avLst/>
          </a:prstGeom>
          <a:solidFill>
            <a:srgbClr val="F3DCD3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545336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adapter selected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85623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CodeT5 / CodeQwen / fallback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31352" y="1920240"/>
            <a:ext cx="548640" cy="0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1417320"/>
            <a:ext cx="2148840" cy="1024128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1545336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SQL + trace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85623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prompt, DDL, fallback detail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788920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3635B"/>
                </a:solidFill>
                <a:latin typeface="Aptos"/>
              </a:rPr>
              <a:t>Adapter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78892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3635B"/>
                </a:solidFill>
                <a:latin typeface="Aptos"/>
              </a:rPr>
              <a:t>What it 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788920"/>
            <a:ext cx="4526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3635B"/>
                </a:solidFill>
                <a:latin typeface="Aptos"/>
              </a:rPr>
              <a:t>Demo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63240"/>
            <a:ext cx="1083564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127248"/>
            <a:ext cx="2057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15201B"/>
                </a:solidFill>
                <a:latin typeface="Aptos"/>
              </a:rPr>
              <a:t>CodeT5 seq2seq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3127248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Zip artifact with config and weights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127248"/>
            <a:ext cx="4526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Uses question/context DDL prompt for compact text-to-SQL inference.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849624"/>
            <a:ext cx="10835640" cy="694944"/>
          </a:xfrm>
          <a:prstGeom prst="roundRect">
            <a:avLst/>
          </a:prstGeom>
          <a:solidFill>
            <a:srgbClr val="FAF7F1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13632"/>
            <a:ext cx="2057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15201B"/>
                </a:solidFill>
                <a:latin typeface="Aptos"/>
              </a:rPr>
              <a:t>CodeQwen LoRA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13632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PEFT adapter over CodeQwen chat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913632"/>
            <a:ext cx="4526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Uses system + user chat prompt; needs heavier runtime resources.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636008"/>
            <a:ext cx="1083564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4700016"/>
            <a:ext cx="2057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15201B"/>
                </a:solidFill>
                <a:latin typeface="Aptos"/>
              </a:rPr>
              <a:t>heuristic_demo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700016"/>
            <a:ext cx="31546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No model artifact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700016"/>
            <a:ext cx="4526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50">
                <a:solidFill>
                  <a:srgbClr val="53635B"/>
                </a:solidFill>
                <a:latin typeface="Aptos"/>
              </a:rPr>
              <a:t>Deterministic fallback; response includes fallback_detail for clarity.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5532120"/>
            <a:ext cx="107442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5532120"/>
            <a:ext cx="73152" cy="50292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" y="5660136"/>
            <a:ext cx="10415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Dagents APIs touched during generation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" y="5971031"/>
            <a:ext cx="10424160" cy="-9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core /services + /topology + /workloads:compile   |   pipeline /pipelines + /runs   |   LMA/GMA /datasets:profile + /model-jobs   |   GMA registration + heartbeat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53635B"/>
                </a:solidFill>
                <a:latin typeface="Aptos"/>
              </a:rPr>
              <a:t>LOW-LEVEL OCAML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15201B"/>
                </a:solidFill>
                <a:latin typeface="Aptos"/>
              </a:rPr>
              <a:t>What each planner module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3635B"/>
                </a:solidFill>
                <a:latin typeface="Aptos"/>
              </a:rPr>
              <a:t>Each module has a narrow contract: typed input in, explicit artifact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3635B"/>
                </a:solidFill>
                <a:latin typeface="Aptos"/>
              </a:rPr>
              <a:t>Dagents / 12A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53635B"/>
                </a:solidFill>
                <a:latin typeface="Aptos"/>
              </a:rPr>
              <a:t>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41732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53635B"/>
                </a:solidFill>
                <a:latin typeface="Aptos"/>
              </a:rPr>
              <a:t>Input it understands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41732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53635B"/>
                </a:solidFill>
                <a:latin typeface="Aptos"/>
              </a:rPr>
              <a:t>Output it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417320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53635B"/>
                </a:solidFill>
                <a:latin typeface="Aptos"/>
              </a:rPr>
              <a:t>Used when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1709928"/>
            <a:ext cx="10972800" cy="621792"/>
          </a:xfrm>
          <a:prstGeom prst="roundRect">
            <a:avLst/>
          </a:prstGeom>
          <a:solidFill>
            <a:srgbClr val="E9E1FA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8308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dagentsc.ml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78308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CLI args +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78308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JSON report, plan, route, or 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783080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Python/Java services need a planner 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2423160"/>
            <a:ext cx="10972800" cy="621792"/>
          </a:xfrm>
          <a:prstGeom prst="roundRect">
            <a:avLst/>
          </a:prstGeom>
          <a:solidFill>
            <a:srgbClr val="DCE7F1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496312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common_ir + json_codec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249631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Source, pipeline, profile, workload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49631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Typed records and variants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496312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Every planner needs the same domain language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3136391"/>
            <a:ext cx="10972800" cy="621792"/>
          </a:xfrm>
          <a:prstGeom prst="roundRect">
            <a:avLst/>
          </a:prstGeom>
          <a:solidFill>
            <a:srgbClr val="DCEBE1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209544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dataset_compiler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209544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Sources, records, schema rules, transforms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09544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Profiles, extraction plans, quality reports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3209544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Before LMA/GMA/model/pipeline data work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3849624"/>
            <a:ext cx="10972800" cy="621792"/>
          </a:xfrm>
          <a:prstGeom prst="roundRect">
            <a:avLst/>
          </a:prstGeom>
          <a:solidFill>
            <a:srgbClr val="F4E8D0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922776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pipeline_compiler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227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Workflow DAG with dependencies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922776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Ordered steps or validation 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922776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Before pipeline registration or 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4562856"/>
            <a:ext cx="10972800" cy="621792"/>
          </a:xfrm>
          <a:prstGeom prst="roundRect">
            <a:avLst/>
          </a:prstGeom>
          <a:solidFill>
            <a:srgbClr val="F3DCD3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636008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model_router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4636008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Dataset profile + task type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636008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Candidate models + packaging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636008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Before model job selection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5276088"/>
            <a:ext cx="10972800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534924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15201B"/>
                </a:solidFill>
                <a:latin typeface="Aptos"/>
              </a:rPr>
              <a:t>manifest_compiler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534924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Workload spec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4924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Kubernetes YAML bundle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349240"/>
            <a:ext cx="36118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40">
                <a:solidFill>
                  <a:srgbClr val="53635B"/>
                </a:solidFill>
                <a:latin typeface="Aptos"/>
              </a:rPr>
              <a:t>Core-service workload compilation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806440"/>
            <a:ext cx="10744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5806440"/>
            <a:ext cx="73152" cy="438912"/>
          </a:xfrm>
          <a:prstGeom prst="rect">
            <a:avLst/>
          </a:prstGeom>
          <a:solidFill>
            <a:srgbClr val="63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934455"/>
            <a:ext cx="10415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Q&amp;A shortcut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" y="6245352"/>
            <a:ext cx="10424160" cy="-7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These are not long-running ML services. They are deterministic planning kernels that runtime services call when needed.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53635B"/>
                </a:solidFill>
                <a:latin typeface="Aptos"/>
              </a:rPr>
              <a:t>TESTING +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15201B"/>
                </a:solidFill>
                <a:latin typeface="Aptos"/>
              </a:rPr>
              <a:t>Dune runs the OCaml workspace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24128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3635B"/>
                </a:solidFill>
                <a:latin typeface="Aptos"/>
              </a:rPr>
              <a:t>Dune is the OCaml build and test tool: it compiles libraries, builds dagentsc, and runs test executables.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459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3635B"/>
                </a:solidFill>
                <a:latin typeface="Aptos"/>
              </a:rPr>
              <a:t>Dagents / 12B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246120" cy="713232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36776"/>
            <a:ext cx="29169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Typed test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947672"/>
            <a:ext cx="2926079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records, sources, pipelines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21992" y="2258568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2478024"/>
            <a:ext cx="3246120" cy="713232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606040"/>
            <a:ext cx="29169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Dune builds modules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916936"/>
            <a:ext cx="2926079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common_ir + compilers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21992" y="3227832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" y="3447288"/>
            <a:ext cx="3246120" cy="713232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575304"/>
            <a:ext cx="29169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Test executable 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886200"/>
            <a:ext cx="2926079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assertions fail fast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21992" y="4197096"/>
            <a:ext cx="0" cy="210312"/>
          </a:xfrm>
          <a:prstGeom prst="line">
            <a:avLst/>
          </a:prstGeom>
          <a:ln w="21590">
            <a:solidFill>
              <a:srgbClr val="5363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4416552"/>
            <a:ext cx="3246120" cy="713232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544568"/>
            <a:ext cx="29169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CLI build checked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855464"/>
            <a:ext cx="2926079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dagentsc.exe for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14447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5201B"/>
                </a:solidFill>
                <a:latin typeface="Aptos"/>
              </a:rPr>
              <a:t>What the tests cover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1856231"/>
            <a:ext cx="379476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source validation + invalid source rejection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time-window and hash partition planning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schema contracts and quality reports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record transforms and output schema checks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pipeline duplicate, missing dependency, and cycle checks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model routing and packaging modes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80">
                <a:solidFill>
                  <a:srgbClr val="53635B"/>
                </a:solidFill>
                <a:latin typeface="Aptos"/>
              </a:rPr>
              <a:t>• manifest rendering and JSON codec round trips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1554480"/>
            <a:ext cx="2697480" cy="192024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50224" y="1691639"/>
            <a:ext cx="240487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>
                <a:solidFill>
                  <a:srgbClr val="ECEFF4"/>
                </a:solidFill>
                <a:latin typeface="Cascadia Mono"/>
              </a:rPr>
              <a:t>cd bindings/ocaml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>
                <a:solidFill>
                  <a:srgbClr val="ECEFF4"/>
                </a:solidFill>
                <a:latin typeface="Cascadia Mono"/>
              </a:rPr>
              <a:t>opam exec -- dune test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>
                <a:solidFill>
                  <a:srgbClr val="ECEFF4"/>
                </a:solidFill>
                <a:latin typeface="Cascadia Mono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>
                <a:solidFill>
                  <a:srgbClr val="ECEFF4"/>
                </a:solidFill>
                <a:latin typeface="Cascadia Mono"/>
              </a:rPr>
              <a:t>opam exec -- dune build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>
                <a:solidFill>
                  <a:srgbClr val="ECEFF4"/>
                </a:solidFill>
                <a:latin typeface="Cascadia Mono"/>
              </a:rPr>
              <a:t>./bin/dagentsc.exe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892040"/>
            <a:ext cx="6766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4892040"/>
            <a:ext cx="73152" cy="777240"/>
          </a:xfrm>
          <a:prstGeom prst="rect">
            <a:avLst/>
          </a:prstGeom>
          <a:solidFill>
            <a:srgbClr val="2E6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1" y="5020055"/>
            <a:ext cx="643737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5201B"/>
                </a:solidFill>
                <a:latin typeface="Aptos"/>
              </a:rPr>
              <a:t>Why this matters for the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1" y="5330952"/>
            <a:ext cx="6446520" cy="265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19">
                <a:solidFill>
                  <a:srgbClr val="53635B"/>
                </a:solidFill>
                <a:latin typeface="Aptos"/>
              </a:rPr>
              <a:t>Most OCaml tests do not need Docker, databases, or GPUs because the modules are pure planners. That makes the functional layer easy to prove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2322</Words>
  <Application>Microsoft Macintosh PowerPoint</Application>
  <PresentationFormat>Widescreen</PresentationFormat>
  <Paragraphs>272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Georgia</vt:lpstr>
      <vt:lpstr>Menlo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IMT2022525 Devarakonda Pradyun</cp:lastModifiedBy>
  <cp:revision>2</cp:revision>
  <dcterms:created xsi:type="dcterms:W3CDTF">2026-05-08T14:29:18Z</dcterms:created>
  <dcterms:modified xsi:type="dcterms:W3CDTF">2026-05-09T01:27:22Z</dcterms:modified>
</cp:coreProperties>
</file>